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6.svg" ContentType="image/svg+xml"/>
  <Override PartName="/ppt/media/image91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7" r:id="rId2"/>
    <p:sldId id="260" r:id="rId3"/>
    <p:sldId id="264" r:id="rId6"/>
    <p:sldId id="323" r:id="rId53"/>
    <p:sldId id="311" r:id="rId21"/>
    <p:sldId id="324" r:id="rId54"/>
    <p:sldId id="325" r:id="rId55"/>
    <p:sldId id="326" r:id="rId56"/>
    <p:sldId id="327" r:id="rId57"/>
    <p:sldId id="328" r:id="rId58"/>
    <p:sldId id="329" r:id="rId59"/>
    <p:sldId id="330" r:id="rId60"/>
    <p:sldId id="331" r:id="rId61"/>
    <p:sldId id="320" r:id="rId50"/>
    <p:sldId id="332" r:id="rId62"/>
    <p:sldId id="333" r:id="rId63"/>
    <p:sldId id="334" r:id="rId64"/>
    <p:sldId id="335" r:id="rId65"/>
    <p:sldId id="336" r:id="rId66"/>
    <p:sldId id="307" r:id="rId33"/>
  </p:sldIdLst>
  <p:sldSz cx="12192000" cy="68580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Montserrat Light" panose="00000400000000000000" pitchFamily="2" charset="0"/>
      <p:regular r:id="rId39"/>
      <p:italic r:id="rId40"/>
    </p:embeddedFont>
    <p:embeddedFont>
      <p:font typeface="Montserrat Medium" panose="00000600000000000000" pitchFamily="2" charset="0"/>
      <p:regular r:id="rId41"/>
      <p:italic r:id="rId42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C29"/>
    <a:srgbClr val="282828"/>
    <a:srgbClr val="1A2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1" autoAdjust="0"/>
    <p:restoredTop sz="94668" autoAdjust="0"/>
  </p:normalViewPr>
  <p:slideViewPr>
    <p:cSldViewPr snapToGrid="0" showGuides="1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9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5.xml"/><Relationship Id="rId21" Type="http://schemas.openxmlformats.org/officeDocument/2006/relationships/slide" Target="slides/slide20.xml"/><Relationship Id="rId33" Type="http://schemas.openxmlformats.org/officeDocument/2006/relationships/slide" Target="slides/slide38.xml"/><Relationship Id="rId34" Type="http://schemas.openxmlformats.org/officeDocument/2006/relationships/notesMaster" Target="notesMasters/notesMaster1.xml"/><Relationship Id="rId35" Type="http://schemas.openxmlformats.org/officeDocument/2006/relationships/font" Target="fonts/font1.fntdata"/><Relationship Id="rId36" Type="http://schemas.openxmlformats.org/officeDocument/2006/relationships/font" Target="fonts/font2.fntdata"/><Relationship Id="rId37" Type="http://schemas.openxmlformats.org/officeDocument/2006/relationships/font" Target="fonts/font3.fntdata"/><Relationship Id="rId38" Type="http://schemas.openxmlformats.org/officeDocument/2006/relationships/font" Target="fonts/font4.fntdata"/><Relationship Id="rId39" Type="http://schemas.openxmlformats.org/officeDocument/2006/relationships/font" Target="fonts/font5.fntdata"/><Relationship Id="rId40" Type="http://schemas.openxmlformats.org/officeDocument/2006/relationships/font" Target="fonts/font6.fntdata"/><Relationship Id="rId41" Type="http://schemas.openxmlformats.org/officeDocument/2006/relationships/font" Target="fonts/font7.fntdata"/><Relationship Id="rId42" Type="http://schemas.openxmlformats.org/officeDocument/2006/relationships/font" Target="fonts/font8.fntdata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50" Type="http://schemas.openxmlformats.org/officeDocument/2006/relationships/slide" Target="slides/slide21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1F24"/>
                </a:solidFill>
                <a:latin typeface="Montserrat"/>
              </a:rPr>
              <a:t>Recurring time per inspection (min:s, mean of 5)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Prepare camera (M1) / start robot (R1)</c:v>
                </c:pt>
              </c:strCache>
            </c:strRef>
          </c:tx>
          <c:spPr>
            <a:solidFill>
              <a:srgbClr val="5B0F8B"/>
            </a:solidFill>
          </c:spPr>
          <c:dLbls>
            <c:numFmt formatCode="m:ss" sourceLinked="0"/>
            <c:txPr>
              <a:bodyPr/>
              <a:lstStyle/>
              <a:p>
                <a:pPr>
                  <a:defRPr sz="110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Scheduled robotic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0.001388888888888889</c:v>
                </c:pt>
                <c:pt idx="1">
                  <c:v>0.0016898148148148148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Capture and upload (M2) / mission (R2)</c:v>
                </c:pt>
              </c:strCache>
            </c:strRef>
          </c:tx>
          <c:spPr>
            <a:solidFill>
              <a:srgbClr val="B78FD9"/>
            </a:solidFill>
          </c:spPr>
          <c:dLbls>
            <c:numFmt formatCode="m:ss" sourceLinked="0"/>
            <c:txPr>
              <a:bodyPr/>
              <a:lstStyle/>
              <a:p>
                <a:pPr>
                  <a:defRPr sz="1100">
                    <a:solidFill>
                      <a:srgbClr val="1F1F24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Scheduled robotic</c:v>
                </c:pt>
                <c:pt idx="1">
                  <c:v>Manual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0.003159722222222222</c:v>
                </c:pt>
                <c:pt idx="1">
                  <c:v>0.004884259259259259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Review and publish report (C1)</c:v>
                </c:pt>
              </c:strCache>
            </c:strRef>
          </c:tx>
          <c:spPr>
            <a:solidFill>
              <a:srgbClr val="C9C9D6"/>
            </a:solidFill>
          </c:spPr>
          <c:dLbls>
            <c:numFmt formatCode="m:ss" sourceLinked="0"/>
            <c:txPr>
              <a:bodyPr/>
              <a:lstStyle/>
              <a:p>
                <a:pPr>
                  <a:defRPr sz="1100">
                    <a:solidFill>
                      <a:srgbClr val="1F1F24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Scheduled robotic</c:v>
                </c:pt>
                <c:pt idx="1">
                  <c:v>Manual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0.0006018518518518519</c:v>
                </c:pt>
                <c:pt idx="1">
                  <c:v>0.0006018518518518519</c:v>
                </c:pt>
              </c:numCache>
            </c:numRef>
          </c:val>
        </c:ser>
        <c:dLbls>
          <c:numFmt formatCode="m:ss" sourceLinked="0"/>
          <c:txPr>
            <a:bodyPr/>
            <a:lstStyle/>
            <a:p>
              <a:pPr>
                <a:defRPr sz="1000">
                  <a:solidFill>
                    <a:srgbClr val="1F1F24"/>
                  </a:solidFill>
                  <a:latin typeface="Montserra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D0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07638888888888889"/>
          <c:min val="0.0"/>
        </c:scaling>
        <c:delete val="0"/>
        <c:axPos val="b"/>
        <c:majorGridlines>
          <c:spPr>
            <a:ln>
              <a:solidFill>
                <a:srgbClr val="E4E4E8"/>
              </a:solidFill>
            </a:ln>
          </c:spPr>
        </c:majorGridlines>
        <c:numFmt formatCode="m:ss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0.001388888888888889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100">
          <a:solidFill>
            <a:srgbClr val="5A5A66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12E3D-D5E8-4289-BF58-E13AD8E68C2A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C24FA-C163-4AD1-A539-A7EB13D21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1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13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2B7198-A4A3-4860-9D39-F84D7B3C2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18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CD6642-189D-0C15-C5BB-5737769C13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5282" y="0"/>
            <a:ext cx="3569110" cy="6858000"/>
          </a:xfrm>
          <a:custGeom>
            <a:avLst/>
            <a:gdLst>
              <a:gd name="connsiteX0" fmla="*/ 0 w 3569110"/>
              <a:gd name="connsiteY0" fmla="*/ 0 h 6858000"/>
              <a:gd name="connsiteX1" fmla="*/ 3569110 w 3569110"/>
              <a:gd name="connsiteY1" fmla="*/ 0 h 6858000"/>
              <a:gd name="connsiteX2" fmla="*/ 3569110 w 3569110"/>
              <a:gd name="connsiteY2" fmla="*/ 6858000 h 6858000"/>
              <a:gd name="connsiteX3" fmla="*/ 0 w 35691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9110" h="6858000">
                <a:moveTo>
                  <a:pt x="0" y="0"/>
                </a:moveTo>
                <a:lnTo>
                  <a:pt x="3569110" y="0"/>
                </a:lnTo>
                <a:lnTo>
                  <a:pt x="35691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7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41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AAE2F7B9-BFBB-4FB2-A6FC-2053D7F1AB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350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71DF27BB-AFA8-48A2-9FDA-158B84995F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9726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2" name="Picture Placeholder 11">
            <a:extLst>
              <a:ext uri="{FF2B5EF4-FFF2-40B4-BE49-F238E27FC236}">
                <a16:creationId xmlns:a16="http://schemas.microsoft.com/office/drawing/2014/main" id="{A86930AD-A4AF-45B4-943A-0C44C3A73B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9452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35A2BA7-C589-4CB6-AB8C-BB578F067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00948" y="156051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D53B7A1-0718-4E9C-BF19-CEE2D1387B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5350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E3B75DF0-0FE5-4F56-BF6E-A12CF1F6FB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9726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6" name="Picture Placeholder 11">
            <a:extLst>
              <a:ext uri="{FF2B5EF4-FFF2-40B4-BE49-F238E27FC236}">
                <a16:creationId xmlns:a16="http://schemas.microsoft.com/office/drawing/2014/main" id="{7B8A6963-7D8D-45D7-B820-46B337D694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9452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2F11556F-66DF-410F-B1C6-030171BCC5E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00948" y="4090993"/>
            <a:ext cx="1485900" cy="1373187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484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4E4F43-2327-1F0A-78CE-226FC7F609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8" cy="3182654"/>
          </a:xfrm>
          <a:custGeom>
            <a:avLst/>
            <a:gdLst>
              <a:gd name="connsiteX0" fmla="*/ 0 w 12191998"/>
              <a:gd name="connsiteY0" fmla="*/ 0 h 3182654"/>
              <a:gd name="connsiteX1" fmla="*/ 12191998 w 12191998"/>
              <a:gd name="connsiteY1" fmla="*/ 0 h 3182654"/>
              <a:gd name="connsiteX2" fmla="*/ 12191998 w 12191998"/>
              <a:gd name="connsiteY2" fmla="*/ 2017357 h 3182654"/>
              <a:gd name="connsiteX3" fmla="*/ 6096001 w 12191998"/>
              <a:gd name="connsiteY3" fmla="*/ 3182654 h 3182654"/>
              <a:gd name="connsiteX4" fmla="*/ 0 w 12191998"/>
              <a:gd name="connsiteY4" fmla="*/ 2017357 h 3182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3182654">
                <a:moveTo>
                  <a:pt x="0" y="0"/>
                </a:moveTo>
                <a:lnTo>
                  <a:pt x="12191998" y="0"/>
                </a:lnTo>
                <a:lnTo>
                  <a:pt x="12191998" y="2017357"/>
                </a:lnTo>
                <a:lnTo>
                  <a:pt x="6096001" y="3182654"/>
                </a:lnTo>
                <a:lnTo>
                  <a:pt x="0" y="2017357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200"/>
            </a:lvl1pPr>
          </a:lstStyle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1529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ewwrg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B0F3A3-F859-4178-9628-AAD7ED63BA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960670" cy="6858000"/>
          </a:xfrm>
          <a:prstGeom prst="rect">
            <a:avLst/>
          </a:prstGeom>
        </p:spPr>
        <p:txBody>
          <a:bodyPr/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3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5643B10-764A-42B4-A85B-2E110BA18C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1030318"/>
            <a:ext cx="6096000" cy="5827682"/>
          </a:xfrm>
          <a:custGeom>
            <a:avLst/>
            <a:gdLst>
              <a:gd name="connsiteX0" fmla="*/ 0 w 10832122"/>
              <a:gd name="connsiteY0" fmla="*/ 0 h 9324291"/>
              <a:gd name="connsiteX1" fmla="*/ 10832122 w 10832122"/>
              <a:gd name="connsiteY1" fmla="*/ 0 h 9324291"/>
              <a:gd name="connsiteX2" fmla="*/ 10832122 w 10832122"/>
              <a:gd name="connsiteY2" fmla="*/ 9324291 h 9324291"/>
              <a:gd name="connsiteX3" fmla="*/ 0 w 10832122"/>
              <a:gd name="connsiteY3" fmla="*/ 9324291 h 9324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32122" h="9324291">
                <a:moveTo>
                  <a:pt x="0" y="0"/>
                </a:moveTo>
                <a:lnTo>
                  <a:pt x="10832122" y="0"/>
                </a:lnTo>
                <a:lnTo>
                  <a:pt x="10832122" y="9324291"/>
                </a:lnTo>
                <a:lnTo>
                  <a:pt x="0" y="932429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8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C52AB4-AA04-892B-7FD0-742D303D4E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03900" y="0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BBAE86-B830-D0A2-5D3F-AB6CFD9E5C4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835261" y="1905001"/>
            <a:ext cx="2805879" cy="4953000"/>
          </a:xfrm>
          <a:custGeom>
            <a:avLst/>
            <a:gdLst>
              <a:gd name="connsiteX0" fmla="*/ 0 w 2805879"/>
              <a:gd name="connsiteY0" fmla="*/ 0 h 4953000"/>
              <a:gd name="connsiteX1" fmla="*/ 2805879 w 2805879"/>
              <a:gd name="connsiteY1" fmla="*/ 0 h 4953000"/>
              <a:gd name="connsiteX2" fmla="*/ 2805879 w 2805879"/>
              <a:gd name="connsiteY2" fmla="*/ 4953000 h 4953000"/>
              <a:gd name="connsiteX3" fmla="*/ 0 w 2805879"/>
              <a:gd name="connsiteY3" fmla="*/ 4953000 h 495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5879" h="4953000">
                <a:moveTo>
                  <a:pt x="0" y="0"/>
                </a:moveTo>
                <a:lnTo>
                  <a:pt x="2805879" y="0"/>
                </a:lnTo>
                <a:lnTo>
                  <a:pt x="2805879" y="4953000"/>
                </a:lnTo>
                <a:lnTo>
                  <a:pt x="0" y="4953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5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0" marR="0" lvl="0" indent="0" algn="l" defTabSz="912971" rtl="0" eaLnBrk="1" fontAlgn="auto" latinLnBrk="0" hangingPunct="1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placeholder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07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420CF5-980C-43E3-9644-6E25F95C7282}"/>
              </a:ext>
            </a:extLst>
          </p:cNvPr>
          <p:cNvSpPr/>
          <p:nvPr userDrawn="1"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7923D0C-6220-4370-9F98-13988C29B2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47450"/>
            <a:ext cx="12192000" cy="5310550"/>
          </a:xfrm>
          <a:custGeom>
            <a:avLst/>
            <a:gdLst>
              <a:gd name="connsiteX0" fmla="*/ 8678413 w 12192000"/>
              <a:gd name="connsiteY0" fmla="*/ 231 h 5310550"/>
              <a:gd name="connsiteX1" fmla="*/ 9078496 w 12192000"/>
              <a:gd name="connsiteY1" fmla="*/ 38804 h 5310550"/>
              <a:gd name="connsiteX2" fmla="*/ 12192000 w 12192000"/>
              <a:gd name="connsiteY2" fmla="*/ 1926046 h 5310550"/>
              <a:gd name="connsiteX3" fmla="*/ 12192000 w 12192000"/>
              <a:gd name="connsiteY3" fmla="*/ 5310550 h 5310550"/>
              <a:gd name="connsiteX4" fmla="*/ 0 w 12192000"/>
              <a:gd name="connsiteY4" fmla="*/ 5310550 h 5310550"/>
              <a:gd name="connsiteX5" fmla="*/ 0 w 12192000"/>
              <a:gd name="connsiteY5" fmla="*/ 978620 h 5310550"/>
              <a:gd name="connsiteX6" fmla="*/ 7247690 w 12192000"/>
              <a:gd name="connsiteY6" fmla="*/ 139371 h 5310550"/>
              <a:gd name="connsiteX7" fmla="*/ 8678413 w 12192000"/>
              <a:gd name="connsiteY7" fmla="*/ 231 h 5310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310550">
                <a:moveTo>
                  <a:pt x="8678413" y="231"/>
                </a:moveTo>
                <a:cubicBezTo>
                  <a:pt x="8818227" y="1954"/>
                  <a:pt x="8951605" y="13460"/>
                  <a:pt x="9078496" y="38804"/>
                </a:cubicBezTo>
                <a:cubicBezTo>
                  <a:pt x="9918494" y="205875"/>
                  <a:pt x="10970113" y="1082587"/>
                  <a:pt x="12192000" y="1926046"/>
                </a:cubicBezTo>
                <a:lnTo>
                  <a:pt x="12192000" y="5310550"/>
                </a:lnTo>
                <a:lnTo>
                  <a:pt x="0" y="5310550"/>
                </a:lnTo>
                <a:lnTo>
                  <a:pt x="0" y="978620"/>
                </a:lnTo>
                <a:lnTo>
                  <a:pt x="7247690" y="139371"/>
                </a:lnTo>
                <a:cubicBezTo>
                  <a:pt x="7781609" y="77936"/>
                  <a:pt x="8258972" y="-4939"/>
                  <a:pt x="8678413" y="231"/>
                </a:cubicBezTo>
                <a:close/>
              </a:path>
            </a:pathLst>
          </a:custGeom>
          <a:solidFill>
            <a:schemeClr val="bg2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7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2247A0-311F-E038-BEF2-682E0E52A2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12844" y="2647465"/>
            <a:ext cx="872856" cy="1327573"/>
          </a:xfrm>
          <a:custGeom>
            <a:avLst/>
            <a:gdLst>
              <a:gd name="connsiteX0" fmla="*/ 845948 w 872856"/>
              <a:gd name="connsiteY0" fmla="*/ 0 h 1327573"/>
              <a:gd name="connsiteX1" fmla="*/ 840458 w 872856"/>
              <a:gd name="connsiteY1" fmla="*/ 31471 h 1327573"/>
              <a:gd name="connsiteX2" fmla="*/ 830125 w 872856"/>
              <a:gd name="connsiteY2" fmla="*/ 682619 h 1327573"/>
              <a:gd name="connsiteX3" fmla="*/ 864406 w 872856"/>
              <a:gd name="connsiteY3" fmla="*/ 1267502 h 1327573"/>
              <a:gd name="connsiteX4" fmla="*/ 872856 w 872856"/>
              <a:gd name="connsiteY4" fmla="*/ 1327573 h 1327573"/>
              <a:gd name="connsiteX5" fmla="*/ 778796 w 872856"/>
              <a:gd name="connsiteY5" fmla="*/ 1289320 h 1327573"/>
              <a:gd name="connsiteX6" fmla="*/ 496468 w 872856"/>
              <a:gd name="connsiteY6" fmla="*/ 1126585 h 1327573"/>
              <a:gd name="connsiteX7" fmla="*/ 176914 w 872856"/>
              <a:gd name="connsiteY7" fmla="*/ 744264 h 1327573"/>
              <a:gd name="connsiteX8" fmla="*/ 2979 w 872856"/>
              <a:gd name="connsiteY8" fmla="*/ 253191 h 1327573"/>
              <a:gd name="connsiteX9" fmla="*/ 17225 w 872856"/>
              <a:gd name="connsiteY9" fmla="*/ 214084 h 1327573"/>
              <a:gd name="connsiteX10" fmla="*/ 314609 w 872856"/>
              <a:gd name="connsiteY10" fmla="*/ 62989 h 1327573"/>
              <a:gd name="connsiteX11" fmla="*/ 715750 w 872856"/>
              <a:gd name="connsiteY11" fmla="*/ 6139 h 1327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2856" h="1327573">
                <a:moveTo>
                  <a:pt x="845948" y="0"/>
                </a:moveTo>
                <a:lnTo>
                  <a:pt x="840458" y="31471"/>
                </a:lnTo>
                <a:cubicBezTo>
                  <a:pt x="827391" y="139040"/>
                  <a:pt x="822690" y="390208"/>
                  <a:pt x="830125" y="682619"/>
                </a:cubicBezTo>
                <a:cubicBezTo>
                  <a:pt x="836320" y="926294"/>
                  <a:pt x="849477" y="1140938"/>
                  <a:pt x="864406" y="1267502"/>
                </a:cubicBezTo>
                <a:lnTo>
                  <a:pt x="872856" y="1327573"/>
                </a:lnTo>
                <a:lnTo>
                  <a:pt x="778796" y="1289320"/>
                </a:lnTo>
                <a:cubicBezTo>
                  <a:pt x="680348" y="1247686"/>
                  <a:pt x="584069" y="1199746"/>
                  <a:pt x="496468" y="1126585"/>
                </a:cubicBezTo>
                <a:cubicBezTo>
                  <a:pt x="379665" y="1029036"/>
                  <a:pt x="259162" y="889830"/>
                  <a:pt x="176914" y="744264"/>
                </a:cubicBezTo>
                <a:cubicBezTo>
                  <a:pt x="94666" y="598699"/>
                  <a:pt x="-19970" y="366737"/>
                  <a:pt x="2979" y="253191"/>
                </a:cubicBezTo>
                <a:cubicBezTo>
                  <a:pt x="5848" y="238998"/>
                  <a:pt x="10685" y="226016"/>
                  <a:pt x="17225" y="214084"/>
                </a:cubicBezTo>
                <a:cubicBezTo>
                  <a:pt x="63006" y="130562"/>
                  <a:pt x="192283" y="98522"/>
                  <a:pt x="314609" y="62989"/>
                </a:cubicBezTo>
                <a:cubicBezTo>
                  <a:pt x="419460" y="32532"/>
                  <a:pt x="566881" y="15474"/>
                  <a:pt x="715750" y="613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0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83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..li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2FA8E6-4F47-E593-9A7C-193DB0EE897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911280" y="2519109"/>
            <a:ext cx="1104667" cy="1413865"/>
          </a:xfrm>
          <a:custGeom>
            <a:avLst/>
            <a:gdLst>
              <a:gd name="connsiteX0" fmla="*/ 965748 w 1104667"/>
              <a:gd name="connsiteY0" fmla="*/ 0 h 1413865"/>
              <a:gd name="connsiteX1" fmla="*/ 961882 w 1104667"/>
              <a:gd name="connsiteY1" fmla="*/ 34060 h 1413865"/>
              <a:gd name="connsiteX2" fmla="*/ 1002528 w 1104667"/>
              <a:gd name="connsiteY2" fmla="*/ 729619 h 1413865"/>
              <a:gd name="connsiteX3" fmla="*/ 1089931 w 1104667"/>
              <a:gd name="connsiteY3" fmla="*/ 1350531 h 1413865"/>
              <a:gd name="connsiteX4" fmla="*/ 1104667 w 1104667"/>
              <a:gd name="connsiteY4" fmla="*/ 1413865 h 1413865"/>
              <a:gd name="connsiteX5" fmla="*/ 991679 w 1104667"/>
              <a:gd name="connsiteY5" fmla="*/ 1381397 h 1413865"/>
              <a:gd name="connsiteX6" fmla="*/ 648657 w 1104667"/>
              <a:gd name="connsiteY6" fmla="*/ 1232824 h 1413865"/>
              <a:gd name="connsiteX7" fmla="*/ 244366 w 1104667"/>
              <a:gd name="connsiteY7" fmla="*/ 853299 h 1413865"/>
              <a:gd name="connsiteX8" fmla="*/ 1399 w 1104667"/>
              <a:gd name="connsiteY8" fmla="*/ 344845 h 1413865"/>
              <a:gd name="connsiteX9" fmla="*/ 14876 w 1104667"/>
              <a:gd name="connsiteY9" fmla="*/ 301863 h 1413865"/>
              <a:gd name="connsiteX10" fmla="*/ 350080 w 1104667"/>
              <a:gd name="connsiteY10" fmla="*/ 114308 h 1413865"/>
              <a:gd name="connsiteX11" fmla="*/ 814134 w 1104667"/>
              <a:gd name="connsiteY11" fmla="*/ 18093 h 1413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04667" h="1413865">
                <a:moveTo>
                  <a:pt x="965748" y="0"/>
                </a:moveTo>
                <a:lnTo>
                  <a:pt x="961882" y="34060"/>
                </a:lnTo>
                <a:cubicBezTo>
                  <a:pt x="955325" y="149973"/>
                  <a:pt x="970167" y="418335"/>
                  <a:pt x="1002528" y="729619"/>
                </a:cubicBezTo>
                <a:cubicBezTo>
                  <a:pt x="1029494" y="989021"/>
                  <a:pt x="1062243" y="1216836"/>
                  <a:pt x="1089931" y="1350531"/>
                </a:cubicBezTo>
                <a:lnTo>
                  <a:pt x="1104667" y="1413865"/>
                </a:lnTo>
                <a:lnTo>
                  <a:pt x="991679" y="1381397"/>
                </a:lnTo>
                <a:cubicBezTo>
                  <a:pt x="873290" y="1345711"/>
                  <a:pt x="756925" y="1303105"/>
                  <a:pt x="648657" y="1232824"/>
                </a:cubicBezTo>
                <a:cubicBezTo>
                  <a:pt x="504297" y="1139115"/>
                  <a:pt x="352242" y="1001295"/>
                  <a:pt x="244366" y="853299"/>
                </a:cubicBezTo>
                <a:cubicBezTo>
                  <a:pt x="136490" y="705303"/>
                  <a:pt x="-16220" y="468011"/>
                  <a:pt x="1399" y="344845"/>
                </a:cubicBezTo>
                <a:cubicBezTo>
                  <a:pt x="3601" y="329450"/>
                  <a:pt x="8202" y="315172"/>
                  <a:pt x="14876" y="301863"/>
                </a:cubicBezTo>
                <a:cubicBezTo>
                  <a:pt x="61601" y="208703"/>
                  <a:pt x="210042" y="163060"/>
                  <a:pt x="350080" y="114308"/>
                </a:cubicBezTo>
                <a:cubicBezTo>
                  <a:pt x="470112" y="72520"/>
                  <a:pt x="640965" y="41251"/>
                  <a:pt x="814134" y="18093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EBB910C-BDAD-7F11-6CD9-57E8DFD8DC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10575" y="2594744"/>
            <a:ext cx="1429030" cy="1087508"/>
          </a:xfrm>
          <a:custGeom>
            <a:avLst/>
            <a:gdLst>
              <a:gd name="connsiteX0" fmla="*/ 1087318 w 1429030"/>
              <a:gd name="connsiteY0" fmla="*/ 1067937 h 1087508"/>
              <a:gd name="connsiteX1" fmla="*/ 1089025 w 1429030"/>
              <a:gd name="connsiteY1" fmla="*/ 1069206 h 1087508"/>
              <a:gd name="connsiteX2" fmla="*/ 1080616 w 1429030"/>
              <a:gd name="connsiteY2" fmla="*/ 1077243 h 1087508"/>
              <a:gd name="connsiteX3" fmla="*/ 663947 w 1429030"/>
              <a:gd name="connsiteY3" fmla="*/ 1935 h 1087508"/>
              <a:gd name="connsiteX4" fmla="*/ 787400 w 1429030"/>
              <a:gd name="connsiteY4" fmla="*/ 2406 h 1087508"/>
              <a:gd name="connsiteX5" fmla="*/ 1301750 w 1429030"/>
              <a:gd name="connsiteY5" fmla="*/ 148456 h 1087508"/>
              <a:gd name="connsiteX6" fmla="*/ 1425575 w 1429030"/>
              <a:gd name="connsiteY6" fmla="*/ 278631 h 1087508"/>
              <a:gd name="connsiteX7" fmla="*/ 1368425 w 1429030"/>
              <a:gd name="connsiteY7" fmla="*/ 688206 h 1087508"/>
              <a:gd name="connsiteX8" fmla="*/ 1104900 w 1429030"/>
              <a:gd name="connsiteY8" fmla="*/ 1043806 h 1087508"/>
              <a:gd name="connsiteX9" fmla="*/ 1090219 w 1429030"/>
              <a:gd name="connsiteY9" fmla="*/ 1063910 h 1087508"/>
              <a:gd name="connsiteX10" fmla="*/ 1087318 w 1429030"/>
              <a:gd name="connsiteY10" fmla="*/ 1067937 h 1087508"/>
              <a:gd name="connsiteX11" fmla="*/ 0 w 1429030"/>
              <a:gd name="connsiteY11" fmla="*/ 259581 h 1087508"/>
              <a:gd name="connsiteX12" fmla="*/ 320675 w 1429030"/>
              <a:gd name="connsiteY12" fmla="*/ 72256 h 1087508"/>
              <a:gd name="connsiteX13" fmla="*/ 663947 w 1429030"/>
              <a:gd name="connsiteY13" fmla="*/ 1935 h 1087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429030" h="1087508">
                <a:moveTo>
                  <a:pt x="1087318" y="1067937"/>
                </a:moveTo>
                <a:lnTo>
                  <a:pt x="1089025" y="1069206"/>
                </a:lnTo>
                <a:cubicBezTo>
                  <a:pt x="1077515" y="1083494"/>
                  <a:pt x="1066006" y="1097781"/>
                  <a:pt x="1080616" y="1077243"/>
                </a:cubicBezTo>
                <a:close/>
                <a:moveTo>
                  <a:pt x="663947" y="1935"/>
                </a:moveTo>
                <a:cubicBezTo>
                  <a:pt x="705115" y="-670"/>
                  <a:pt x="746522" y="-769"/>
                  <a:pt x="787400" y="2406"/>
                </a:cubicBezTo>
                <a:cubicBezTo>
                  <a:pt x="950912" y="15106"/>
                  <a:pt x="1195387" y="102418"/>
                  <a:pt x="1301750" y="148456"/>
                </a:cubicBezTo>
                <a:cubicBezTo>
                  <a:pt x="1408113" y="194494"/>
                  <a:pt x="1414463" y="188673"/>
                  <a:pt x="1425575" y="278631"/>
                </a:cubicBezTo>
                <a:cubicBezTo>
                  <a:pt x="1436687" y="368589"/>
                  <a:pt x="1421871" y="560677"/>
                  <a:pt x="1368425" y="688206"/>
                </a:cubicBezTo>
                <a:cubicBezTo>
                  <a:pt x="1314979" y="815735"/>
                  <a:pt x="1151467" y="980306"/>
                  <a:pt x="1104900" y="1043806"/>
                </a:cubicBezTo>
                <a:cubicBezTo>
                  <a:pt x="1099079" y="1051744"/>
                  <a:pt x="1094226" y="1058391"/>
                  <a:pt x="1090219" y="1063910"/>
                </a:cubicBezTo>
                <a:lnTo>
                  <a:pt x="1087318" y="1067937"/>
                </a:lnTo>
                <a:lnTo>
                  <a:pt x="0" y="259581"/>
                </a:lnTo>
                <a:cubicBezTo>
                  <a:pt x="94721" y="187349"/>
                  <a:pt x="189442" y="115118"/>
                  <a:pt x="320675" y="72256"/>
                </a:cubicBezTo>
                <a:cubicBezTo>
                  <a:pt x="419100" y="40110"/>
                  <a:pt x="540445" y="9749"/>
                  <a:pt x="663947" y="193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3529627-2306-AA26-774D-78F85B888B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36865" y="3679912"/>
            <a:ext cx="1304060" cy="1587426"/>
          </a:xfrm>
          <a:custGeom>
            <a:avLst/>
            <a:gdLst>
              <a:gd name="connsiteX0" fmla="*/ 676023 w 1304060"/>
              <a:gd name="connsiteY0" fmla="*/ 2 h 1587426"/>
              <a:gd name="connsiteX1" fmla="*/ 728752 w 1304060"/>
              <a:gd name="connsiteY1" fmla="*/ 48036 h 1587426"/>
              <a:gd name="connsiteX2" fmla="*/ 1088689 w 1304060"/>
              <a:gd name="connsiteY2" fmla="*/ 362982 h 1587426"/>
              <a:gd name="connsiteX3" fmla="*/ 1287941 w 1304060"/>
              <a:gd name="connsiteY3" fmla="*/ 819331 h 1587426"/>
              <a:gd name="connsiteX4" fmla="*/ 1268658 w 1304060"/>
              <a:gd name="connsiteY4" fmla="*/ 1346383 h 1587426"/>
              <a:gd name="connsiteX5" fmla="*/ 1082262 w 1304060"/>
              <a:gd name="connsiteY5" fmla="*/ 1513497 h 1587426"/>
              <a:gd name="connsiteX6" fmla="*/ 407379 w 1304060"/>
              <a:gd name="connsiteY6" fmla="*/ 1584199 h 1587426"/>
              <a:gd name="connsiteX7" fmla="*/ 53868 w 1304060"/>
              <a:gd name="connsiteY7" fmla="*/ 1417085 h 1587426"/>
              <a:gd name="connsiteX8" fmla="*/ 34586 w 1304060"/>
              <a:gd name="connsiteY8" fmla="*/ 1352811 h 1587426"/>
              <a:gd name="connsiteX9" fmla="*/ 376909 w 1304060"/>
              <a:gd name="connsiteY9" fmla="*/ 758737 h 1587426"/>
              <a:gd name="connsiteX10" fmla="*/ 638767 w 1304060"/>
              <a:gd name="connsiteY10" fmla="*/ 80173 h 1587426"/>
              <a:gd name="connsiteX11" fmla="*/ 676023 w 1304060"/>
              <a:gd name="connsiteY11" fmla="*/ 2 h 158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4060" h="1587426">
                <a:moveTo>
                  <a:pt x="676023" y="2"/>
                </a:moveTo>
                <a:cubicBezTo>
                  <a:pt x="681280" y="212"/>
                  <a:pt x="689116" y="21791"/>
                  <a:pt x="728752" y="48036"/>
                </a:cubicBezTo>
                <a:cubicBezTo>
                  <a:pt x="808024" y="100527"/>
                  <a:pt x="995491" y="234432"/>
                  <a:pt x="1088689" y="362982"/>
                </a:cubicBezTo>
                <a:cubicBezTo>
                  <a:pt x="1181888" y="491531"/>
                  <a:pt x="1257946" y="655431"/>
                  <a:pt x="1287941" y="819331"/>
                </a:cubicBezTo>
                <a:cubicBezTo>
                  <a:pt x="1317935" y="983232"/>
                  <a:pt x="1302939" y="1230689"/>
                  <a:pt x="1268658" y="1346383"/>
                </a:cubicBezTo>
                <a:cubicBezTo>
                  <a:pt x="1234378" y="1462078"/>
                  <a:pt x="1225809" y="1473862"/>
                  <a:pt x="1082262" y="1513497"/>
                </a:cubicBezTo>
                <a:cubicBezTo>
                  <a:pt x="938715" y="1553133"/>
                  <a:pt x="578777" y="1600268"/>
                  <a:pt x="407379" y="1584199"/>
                </a:cubicBezTo>
                <a:cubicBezTo>
                  <a:pt x="235980" y="1568131"/>
                  <a:pt x="116000" y="1455650"/>
                  <a:pt x="53868" y="1417085"/>
                </a:cubicBezTo>
                <a:cubicBezTo>
                  <a:pt x="-8263" y="1378521"/>
                  <a:pt x="-19254" y="1462535"/>
                  <a:pt x="34586" y="1352811"/>
                </a:cubicBezTo>
                <a:cubicBezTo>
                  <a:pt x="88426" y="1243086"/>
                  <a:pt x="276213" y="970843"/>
                  <a:pt x="376909" y="758737"/>
                </a:cubicBezTo>
                <a:cubicBezTo>
                  <a:pt x="503006" y="546631"/>
                  <a:pt x="580126" y="198624"/>
                  <a:pt x="638767" y="80173"/>
                </a:cubicBezTo>
                <a:cubicBezTo>
                  <a:pt x="668088" y="20948"/>
                  <a:pt x="670766" y="-209"/>
                  <a:pt x="676023" y="2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FA4586-81B1-C2D1-65B1-B8C3DE4EDF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5662" y="4220219"/>
            <a:ext cx="1688718" cy="1001052"/>
          </a:xfrm>
          <a:custGeom>
            <a:avLst/>
            <a:gdLst>
              <a:gd name="connsiteX0" fmla="*/ 85668 w 1688718"/>
              <a:gd name="connsiteY0" fmla="*/ 0 h 1001052"/>
              <a:gd name="connsiteX1" fmla="*/ 113823 w 1688718"/>
              <a:gd name="connsiteY1" fmla="*/ 9581 h 1001052"/>
              <a:gd name="connsiteX2" fmla="*/ 857760 w 1688718"/>
              <a:gd name="connsiteY2" fmla="*/ 280710 h 1001052"/>
              <a:gd name="connsiteX3" fmla="*/ 1658961 w 1688718"/>
              <a:gd name="connsiteY3" fmla="*/ 354779 h 1001052"/>
              <a:gd name="connsiteX4" fmla="*/ 1688718 w 1688718"/>
              <a:gd name="connsiteY4" fmla="*/ 358114 h 1001052"/>
              <a:gd name="connsiteX5" fmla="*/ 1679789 w 1688718"/>
              <a:gd name="connsiteY5" fmla="*/ 370831 h 1001052"/>
              <a:gd name="connsiteX6" fmla="*/ 1505164 w 1688718"/>
              <a:gd name="connsiteY6" fmla="*/ 612131 h 1001052"/>
              <a:gd name="connsiteX7" fmla="*/ 1209889 w 1688718"/>
              <a:gd name="connsiteY7" fmla="*/ 853431 h 1001052"/>
              <a:gd name="connsiteX8" fmla="*/ 854289 w 1688718"/>
              <a:gd name="connsiteY8" fmla="*/ 980431 h 1001052"/>
              <a:gd name="connsiteX9" fmla="*/ 559014 w 1688718"/>
              <a:gd name="connsiteY9" fmla="*/ 996306 h 1001052"/>
              <a:gd name="connsiteX10" fmla="*/ 285964 w 1688718"/>
              <a:gd name="connsiteY10" fmla="*/ 932806 h 1001052"/>
              <a:gd name="connsiteX11" fmla="*/ 82764 w 1688718"/>
              <a:gd name="connsiteY11" fmla="*/ 828031 h 1001052"/>
              <a:gd name="connsiteX12" fmla="*/ 22439 w 1688718"/>
              <a:gd name="connsiteY12" fmla="*/ 643881 h 1001052"/>
              <a:gd name="connsiteX13" fmla="*/ 3389 w 1688718"/>
              <a:gd name="connsiteY13" fmla="*/ 262881 h 1001052"/>
              <a:gd name="connsiteX14" fmla="*/ 35139 w 1688718"/>
              <a:gd name="connsiteY14" fmla="*/ 120105 h 1001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88718" h="1001052">
                <a:moveTo>
                  <a:pt x="85668" y="0"/>
                </a:moveTo>
                <a:lnTo>
                  <a:pt x="113823" y="9581"/>
                </a:lnTo>
                <a:cubicBezTo>
                  <a:pt x="307582" y="71473"/>
                  <a:pt x="549703" y="213306"/>
                  <a:pt x="857760" y="280710"/>
                </a:cubicBezTo>
                <a:cubicBezTo>
                  <a:pt x="1165817" y="348114"/>
                  <a:pt x="1457285" y="328327"/>
                  <a:pt x="1658961" y="354779"/>
                </a:cubicBezTo>
                <a:lnTo>
                  <a:pt x="1688718" y="358114"/>
                </a:lnTo>
                <a:lnTo>
                  <a:pt x="1679789" y="370831"/>
                </a:lnTo>
                <a:cubicBezTo>
                  <a:pt x="1649097" y="413693"/>
                  <a:pt x="1583481" y="531698"/>
                  <a:pt x="1505164" y="612131"/>
                </a:cubicBezTo>
                <a:cubicBezTo>
                  <a:pt x="1426847" y="692564"/>
                  <a:pt x="1318368" y="792048"/>
                  <a:pt x="1209889" y="853431"/>
                </a:cubicBezTo>
                <a:cubicBezTo>
                  <a:pt x="1101410" y="914814"/>
                  <a:pt x="962768" y="956619"/>
                  <a:pt x="854289" y="980431"/>
                </a:cubicBezTo>
                <a:cubicBezTo>
                  <a:pt x="745810" y="1004243"/>
                  <a:pt x="653735" y="1004243"/>
                  <a:pt x="559014" y="996306"/>
                </a:cubicBezTo>
                <a:cubicBezTo>
                  <a:pt x="464293" y="988369"/>
                  <a:pt x="365339" y="960852"/>
                  <a:pt x="285964" y="932806"/>
                </a:cubicBezTo>
                <a:cubicBezTo>
                  <a:pt x="206589" y="904760"/>
                  <a:pt x="126685" y="876185"/>
                  <a:pt x="82764" y="828031"/>
                </a:cubicBezTo>
                <a:cubicBezTo>
                  <a:pt x="38843" y="779877"/>
                  <a:pt x="35668" y="738073"/>
                  <a:pt x="22439" y="643881"/>
                </a:cubicBezTo>
                <a:cubicBezTo>
                  <a:pt x="9210" y="549689"/>
                  <a:pt x="-7194" y="370302"/>
                  <a:pt x="3389" y="262881"/>
                </a:cubicBezTo>
                <a:cubicBezTo>
                  <a:pt x="8681" y="209171"/>
                  <a:pt x="20322" y="162803"/>
                  <a:pt x="35139" y="120105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D3BC731-C8CB-A5F6-56B1-8D4EDA9189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92489" y="1676560"/>
            <a:ext cx="1186259" cy="1264600"/>
          </a:xfrm>
          <a:custGeom>
            <a:avLst/>
            <a:gdLst>
              <a:gd name="connsiteX0" fmla="*/ 622850 w 1186259"/>
              <a:gd name="connsiteY0" fmla="*/ 89 h 1264600"/>
              <a:gd name="connsiteX1" fmla="*/ 891390 w 1186259"/>
              <a:gd name="connsiteY1" fmla="*/ 197961 h 1264600"/>
              <a:gd name="connsiteX2" fmla="*/ 1122311 w 1186259"/>
              <a:gd name="connsiteY2" fmla="*/ 530860 h 1264600"/>
              <a:gd name="connsiteX3" fmla="*/ 1186259 w 1186259"/>
              <a:gd name="connsiteY3" fmla="*/ 644437 h 1264600"/>
              <a:gd name="connsiteX4" fmla="*/ 1155674 w 1186259"/>
              <a:gd name="connsiteY4" fmla="*/ 653663 h 1264600"/>
              <a:gd name="connsiteX5" fmla="*/ 569223 w 1186259"/>
              <a:gd name="connsiteY5" fmla="*/ 936815 h 1264600"/>
              <a:gd name="connsiteX6" fmla="*/ 62013 w 1186259"/>
              <a:gd name="connsiteY6" fmla="*/ 1230076 h 1264600"/>
              <a:gd name="connsiteX7" fmla="*/ 12133 w 1186259"/>
              <a:gd name="connsiteY7" fmla="*/ 1264600 h 1264600"/>
              <a:gd name="connsiteX8" fmla="*/ 4077 w 1186259"/>
              <a:gd name="connsiteY8" fmla="*/ 1163379 h 1264600"/>
              <a:gd name="connsiteX9" fmla="*/ 22710 w 1186259"/>
              <a:gd name="connsiteY9" fmla="*/ 838041 h 1264600"/>
              <a:gd name="connsiteX10" fmla="*/ 220830 w 1186259"/>
              <a:gd name="connsiteY10" fmla="*/ 380841 h 1264600"/>
              <a:gd name="connsiteX11" fmla="*/ 581510 w 1186259"/>
              <a:gd name="connsiteY11" fmla="*/ 4921 h 1264600"/>
              <a:gd name="connsiteX12" fmla="*/ 622850 w 1186259"/>
              <a:gd name="connsiteY12" fmla="*/ 89 h 126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86259" h="1264600">
                <a:moveTo>
                  <a:pt x="622850" y="89"/>
                </a:moveTo>
                <a:cubicBezTo>
                  <a:pt x="718035" y="3492"/>
                  <a:pt x="804713" y="104616"/>
                  <a:pt x="891390" y="197961"/>
                </a:cubicBezTo>
                <a:cubicBezTo>
                  <a:pt x="965685" y="277971"/>
                  <a:pt x="1047123" y="402034"/>
                  <a:pt x="1122311" y="530860"/>
                </a:cubicBezTo>
                <a:lnTo>
                  <a:pt x="1186259" y="644437"/>
                </a:lnTo>
                <a:lnTo>
                  <a:pt x="1155674" y="653663"/>
                </a:lnTo>
                <a:cubicBezTo>
                  <a:pt x="1053692" y="690289"/>
                  <a:pt x="827158" y="798871"/>
                  <a:pt x="569223" y="936815"/>
                </a:cubicBezTo>
                <a:cubicBezTo>
                  <a:pt x="354277" y="1051768"/>
                  <a:pt x="168397" y="1159906"/>
                  <a:pt x="62013" y="1230076"/>
                </a:cubicBezTo>
                <a:lnTo>
                  <a:pt x="12133" y="1264600"/>
                </a:lnTo>
                <a:lnTo>
                  <a:pt x="4077" y="1163379"/>
                </a:lnTo>
                <a:cubicBezTo>
                  <a:pt x="-2928" y="1056719"/>
                  <a:pt x="-3325" y="949166"/>
                  <a:pt x="22710" y="838041"/>
                </a:cubicBezTo>
                <a:cubicBezTo>
                  <a:pt x="57423" y="689874"/>
                  <a:pt x="127697" y="519694"/>
                  <a:pt x="220830" y="380841"/>
                </a:cubicBezTo>
                <a:cubicBezTo>
                  <a:pt x="313963" y="241988"/>
                  <a:pt x="469750" y="35401"/>
                  <a:pt x="581510" y="4921"/>
                </a:cubicBezTo>
                <a:cubicBezTo>
                  <a:pt x="595480" y="1111"/>
                  <a:pt x="609252" y="-397"/>
                  <a:pt x="622850" y="89"/>
                </a:cubicBez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60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7497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333" userDrawn="1">
          <p15:clr>
            <a:srgbClr val="F26B43"/>
          </p15:clr>
        </p15:guide>
        <p15:guide id="4" pos="347" userDrawn="1">
          <p15:clr>
            <a:srgbClr val="F26B43"/>
          </p15:clr>
        </p15:guide>
        <p15:guide id="5" orient="horz" pos="278" userDrawn="1">
          <p15:clr>
            <a:srgbClr val="F26B43"/>
          </p15:clr>
        </p15:guide>
        <p15:guide id="6" orient="horz" pos="404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4.jpg"/><Relationship Id="rId7" Type="http://schemas.openxmlformats.org/officeDocument/2006/relationships/image" Target="../media/image5.png"/><Relationship Id="rId8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7.jp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microsoft.com/office/2007/relationships/hdphoto" Target="../media/hdphoto2.wdp"/><Relationship Id="rId4" Type="http://schemas.openxmlformats.org/officeDocument/2006/relationships/image" Target="../media/image10.jpeg"/><Relationship Id="rId5" Type="http://schemas.openxmlformats.org/officeDocument/2006/relationships/image" Target="../media/image11.jpg"/><Relationship Id="rId6" Type="http://schemas.openxmlformats.org/officeDocument/2006/relationships/image" Target="../media/image7.jpg"/><Relationship Id="rId7" Type="http://schemas.openxmlformats.org/officeDocument/2006/relationships/image" Target="../media/image12.png"/><Relationship Id="rId8" Type="http://schemas.openxmlformats.org/officeDocument/2006/relationships/image" Target="../media/image13.jpeg"/><Relationship Id="rId9" Type="http://schemas.openxmlformats.org/officeDocument/2006/relationships/image" Target="../media/image14.jpeg"/><Relationship Id="rId10" Type="http://schemas.openxmlformats.org/officeDocument/2006/relationships/image" Target="../media/image15.png"/><Relationship Id="rId11" Type="http://schemas.openxmlformats.org/officeDocument/2006/relationships/image" Target="../media/image16.jpeg"/><Relationship Id="rId12" Type="http://schemas.openxmlformats.org/officeDocument/2006/relationships/image" Target="../media/image17.jpeg"/><Relationship Id="rId13" Type="http://schemas.openxmlformats.org/officeDocument/2006/relationships/image" Target="../media/image18.png"/><Relationship Id="rId14" Type="http://schemas.openxmlformats.org/officeDocument/2006/relationships/image" Target="../media/image19.jpeg"/><Relationship Id="rId15" Type="http://schemas.openxmlformats.org/officeDocument/2006/relationships/image" Target="../media/image20.jpeg"/><Relationship Id="rId16" Type="http://schemas.openxmlformats.org/officeDocument/2006/relationships/image" Target="../media/image21.jpeg"/><Relationship Id="rId17" Type="http://schemas.openxmlformats.org/officeDocument/2006/relationships/image" Target="../media/image22.jpg"/><Relationship Id="rId18" Type="http://schemas.openxmlformats.org/officeDocument/2006/relationships/image" Target="../media/image23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7.jpeg"/><Relationship Id="rId3" Type="http://schemas.openxmlformats.org/officeDocument/2006/relationships/image" Target="../media/image28.png"/><Relationship Id="rId4" Type="http://schemas.openxmlformats.org/officeDocument/2006/relationships/image" Target="../media/image10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6" Type="http://schemas.openxmlformats.org/officeDocument/2006/relationships/image" Target="../media/image7.jpg"/><Relationship Id="rId7" Type="http://schemas.openxmlformats.org/officeDocument/2006/relationships/image" Target="../media/image30.png"/><Relationship Id="rId8" Type="http://schemas.openxmlformats.org/officeDocument/2006/relationships/image" Target="../media/image96.png"/><Relationship Id="rId9" Type="http://schemas.openxmlformats.org/officeDocument/2006/relationships/image" Target="../media/image97.svg"/><Relationship Id="rId10" Type="http://schemas.openxmlformats.org/officeDocument/2006/relationships/image" Target="../media/image90.png"/><Relationship Id="rId11" Type="http://schemas.openxmlformats.org/officeDocument/2006/relationships/image" Target="../media/image91.svg"/><Relationship Id="rId12" Type="http://schemas.openxmlformats.org/officeDocument/2006/relationships/image" Target="../media/image98.png"/><Relationship Id="rId13" Type="http://schemas.openxmlformats.org/officeDocument/2006/relationships/image" Target="../media/image99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5.jpg"/><Relationship Id="rId3" Type="http://schemas.openxmlformats.org/officeDocument/2006/relationships/image" Target="../media/image106.jpg"/><Relationship Id="rId4" Type="http://schemas.openxmlformats.org/officeDocument/2006/relationships/image" Target="../media/image107.jpg"/><Relationship Id="rId5" Type="http://schemas.openxmlformats.org/officeDocument/2006/relationships/image" Target="../media/image108.jpg"/><Relationship Id="rId6" Type="http://schemas.openxmlformats.org/officeDocument/2006/relationships/image" Target="../media/image10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3.jpg"/><Relationship Id="rId3" Type="http://schemas.openxmlformats.org/officeDocument/2006/relationships/image" Target="../media/image114.jpg"/><Relationship Id="rId4" Type="http://schemas.openxmlformats.org/officeDocument/2006/relationships/image" Target="../media/image115.jpg"/><Relationship Id="rId5" Type="http://schemas.openxmlformats.org/officeDocument/2006/relationships/image" Target="../media/image116.jpg"/><Relationship Id="rId6" Type="http://schemas.openxmlformats.org/officeDocument/2006/relationships/image" Target="../media/image117.jpg"/><Relationship Id="rId7" Type="http://schemas.openxmlformats.org/officeDocument/2006/relationships/image" Target="../media/image118.jpg"/><Relationship Id="rId8" Type="http://schemas.openxmlformats.org/officeDocument/2006/relationships/image" Target="../media/image11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0.jpg"/><Relationship Id="rId3" Type="http://schemas.openxmlformats.org/officeDocument/2006/relationships/image" Target="../media/image12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2.jpg"/><Relationship Id="rId3" Type="http://schemas.openxmlformats.org/officeDocument/2006/relationships/image" Target="../media/image123.jpg"/><Relationship Id="rId4" Type="http://schemas.openxmlformats.org/officeDocument/2006/relationships/image" Target="../media/image124.jpg"/><Relationship Id="rId5" Type="http://schemas.openxmlformats.org/officeDocument/2006/relationships/image" Target="../media/image125.jpg"/><Relationship Id="rId6" Type="http://schemas.openxmlformats.org/officeDocument/2006/relationships/image" Target="../media/image12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2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9.jpg"/><Relationship Id="rId3" Type="http://schemas.openxmlformats.org/officeDocument/2006/relationships/image" Target="../media/image109.jpg"/><Relationship Id="rId4" Type="http://schemas.openxmlformats.org/officeDocument/2006/relationships/image" Target="../media/image130.jpg"/><Relationship Id="rId5" Type="http://schemas.openxmlformats.org/officeDocument/2006/relationships/image" Target="../media/image131.jpg"/><Relationship Id="rId6" Type="http://schemas.openxmlformats.org/officeDocument/2006/relationships/image" Target="../media/image132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3.jpg"/><Relationship Id="rId3" Type="http://schemas.openxmlformats.org/officeDocument/2006/relationships/image" Target="../media/image134.jpg"/><Relationship Id="rId4" Type="http://schemas.openxmlformats.org/officeDocument/2006/relationships/image" Target="../media/image135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36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>
          <a:xfrm>
            <a:off x="0" y="0"/>
            <a:ext cx="12192000" cy="6434499"/>
          </a:xfr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5"/>
            <a:ext cx="2469428" cy="72964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426839E-4E71-38BD-AC2F-663D6DA204D9}"/>
              </a:ext>
            </a:extLst>
          </p:cNvPr>
          <p:cNvGrpSpPr/>
          <p:nvPr/>
        </p:nvGrpSpPr>
        <p:grpSpPr>
          <a:xfrm>
            <a:off x="5060656" y="1524729"/>
            <a:ext cx="6580482" cy="2480845"/>
            <a:chOff x="5060656" y="1524729"/>
            <a:chExt cx="6580482" cy="248084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B7FD29E-AC9E-4BE2-BF89-D1F03B97F6B9}"/>
                </a:ext>
              </a:extLst>
            </p:cNvPr>
            <p:cNvSpPr/>
            <p:nvPr/>
          </p:nvSpPr>
          <p:spPr>
            <a:xfrm>
              <a:off x="5060656" y="3602937"/>
              <a:ext cx="3645798" cy="4026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5DB5D2A-DA2A-47CC-A84D-EDFCEDD8CB51}"/>
                </a:ext>
              </a:extLst>
            </p:cNvPr>
            <p:cNvSpPr/>
            <p:nvPr/>
          </p:nvSpPr>
          <p:spPr>
            <a:xfrm>
              <a:off x="5060656" y="1524729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Robotics Research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B98F79-F044-4C07-B816-90906E2D44B4}"/>
                </a:ext>
              </a:extLst>
            </p:cNvPr>
            <p:cNvSpPr/>
            <p:nvPr/>
          </p:nvSpPr>
          <p:spPr>
            <a:xfrm>
              <a:off x="5060656" y="3619589"/>
              <a:ext cx="37417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b="1" dirty="0">
                  <a:solidFill>
                    <a:schemeClr val="accent1"/>
                  </a:solidFill>
                  <a:latin typeface="+mj-lt"/>
                </a:rPr>
                <a:t>Borja García de Soto, PhD, PE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ACFF614-7703-4BD3-9828-A54324FC91AD}"/>
                </a:ext>
              </a:extLst>
            </p:cNvPr>
            <p:cNvSpPr/>
            <p:nvPr/>
          </p:nvSpPr>
          <p:spPr>
            <a:xfrm>
              <a:off x="5060656" y="2082580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at S.M.A.R.T.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FAB627F-9A36-4BC8-9E81-089B183DEA96}"/>
                </a:ext>
              </a:extLst>
            </p:cNvPr>
            <p:cNvSpPr/>
            <p:nvPr/>
          </p:nvSpPr>
          <p:spPr>
            <a:xfrm>
              <a:off x="5060656" y="2640432"/>
              <a:ext cx="6580482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4800" b="1" spc="-150" dirty="0">
                  <a:solidFill>
                    <a:schemeClr val="bg1"/>
                  </a:solidFill>
                  <a:latin typeface="+mj-lt"/>
                </a:rPr>
                <a:t>Part 2 of 2</a:t>
              </a: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90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5EE40A3-4609-47BD-B1BD-0C9BDDC56A9D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316418F-073B-459D-AC5A-C842C4E0AE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00" r="57898"/>
          <a:stretch/>
        </p:blipFill>
        <p:spPr>
          <a:xfrm>
            <a:off x="4419599" y="734528"/>
            <a:ext cx="3352800" cy="612347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4C2B51-A2D3-4B17-BF11-6CD0A978DACE}"/>
              </a:ext>
            </a:extLst>
          </p:cNvPr>
          <p:cNvSpPr/>
          <p:nvPr/>
        </p:nvSpPr>
        <p:spPr>
          <a:xfrm>
            <a:off x="4419600" y="734528"/>
            <a:ext cx="3352800" cy="6123472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C6DA9D-BA98-420C-80FF-D120086D39B1}"/>
              </a:ext>
            </a:extLst>
          </p:cNvPr>
          <p:cNvGrpSpPr/>
          <p:nvPr/>
        </p:nvGrpSpPr>
        <p:grpSpPr>
          <a:xfrm>
            <a:off x="685800" y="1592110"/>
            <a:ext cx="3219451" cy="2165794"/>
            <a:chOff x="685800" y="1263206"/>
            <a:chExt cx="3219451" cy="21657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850C168-13BE-4ED9-92D0-AD4E35EE87F2}"/>
                </a:ext>
              </a:extLst>
            </p:cNvPr>
            <p:cNvSpPr/>
            <p:nvPr/>
          </p:nvSpPr>
          <p:spPr>
            <a:xfrm>
              <a:off x="685800" y="1263206"/>
              <a:ext cx="321945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="1" spc="-150" dirty="0">
                  <a:solidFill>
                    <a:schemeClr val="accent1"/>
                  </a:solidFill>
                  <a:latin typeface="+mj-lt"/>
                </a:rPr>
                <a:t>Overview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360444-5A2C-40DF-8DE0-A7513EE6A1BF}"/>
                </a:ext>
              </a:extLst>
            </p:cNvPr>
            <p:cNvSpPr/>
            <p:nvPr/>
          </p:nvSpPr>
          <p:spPr>
            <a:xfrm>
              <a:off x="685801" y="2044005"/>
              <a:ext cx="3219450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Montserrat Light" pitchFamily="2" charset="77"/>
                </a:rPr>
                <a:t>Our goal is to bridge scholarly excellence with practical application, optimizing every stage of the infrastructure lifecycle to build resilient future communities.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D4757A1-B81F-47F6-B2C3-65001A9EB59D}"/>
              </a:ext>
            </a:extLst>
          </p:cNvPr>
          <p:cNvCxnSpPr>
            <a:cxnSpLocks/>
          </p:cNvCxnSpPr>
          <p:nvPr/>
        </p:nvCxnSpPr>
        <p:spPr>
          <a:xfrm>
            <a:off x="8234622" y="189968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C86449-FC0C-42A6-AF92-9B87313A76BD}"/>
              </a:ext>
            </a:extLst>
          </p:cNvPr>
          <p:cNvCxnSpPr>
            <a:cxnSpLocks/>
          </p:cNvCxnSpPr>
          <p:nvPr/>
        </p:nvCxnSpPr>
        <p:spPr>
          <a:xfrm>
            <a:off x="8234622" y="2733286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B14482E-AF57-43D5-A478-13F2C892B9E4}"/>
              </a:ext>
            </a:extLst>
          </p:cNvPr>
          <p:cNvCxnSpPr>
            <a:cxnSpLocks/>
          </p:cNvCxnSpPr>
          <p:nvPr/>
        </p:nvCxnSpPr>
        <p:spPr>
          <a:xfrm>
            <a:off x="8234622" y="3569900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54BC62D-C4AF-4BD0-8623-71D16536B9FB}"/>
              </a:ext>
            </a:extLst>
          </p:cNvPr>
          <p:cNvCxnSpPr>
            <a:cxnSpLocks/>
          </p:cNvCxnSpPr>
          <p:nvPr/>
        </p:nvCxnSpPr>
        <p:spPr>
          <a:xfrm>
            <a:off x="8234622" y="4407974"/>
            <a:ext cx="395737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1631518-03BE-73F3-D1D7-971FE236FF95}"/>
              </a:ext>
            </a:extLst>
          </p:cNvPr>
          <p:cNvGrpSpPr/>
          <p:nvPr/>
        </p:nvGrpSpPr>
        <p:grpSpPr>
          <a:xfrm>
            <a:off x="7453312" y="1176736"/>
            <a:ext cx="4434416" cy="638176"/>
            <a:chOff x="7453312" y="1176736"/>
            <a:chExt cx="4434416" cy="63817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7990A2-ECF2-44CC-9327-397B19BF3AC6}"/>
                </a:ext>
              </a:extLst>
            </p:cNvPr>
            <p:cNvSpPr/>
            <p:nvPr/>
          </p:nvSpPr>
          <p:spPr>
            <a:xfrm>
              <a:off x="7453312" y="1176736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8432E0B-1846-4005-91A4-E683595126F2}"/>
                </a:ext>
              </a:extLst>
            </p:cNvPr>
            <p:cNvSpPr/>
            <p:nvPr/>
          </p:nvSpPr>
          <p:spPr>
            <a:xfrm>
              <a:off x="8206912" y="1300371"/>
              <a:ext cx="368081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S</a:t>
              </a:r>
              <a:r>
                <a:rPr lang="en-GB" sz="1400" dirty="0">
                  <a:latin typeface="Montserrat Medium" pitchFamily="2" charset="77"/>
                </a:rPr>
                <a:t>ustainable and resilient construction</a:t>
              </a:r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DF816099-1684-5DA6-2158-DBB6F7C1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1290277"/>
              <a:ext cx="411095" cy="411095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1E7303D-EE63-C4EE-AB0E-539BDC6BF449}"/>
              </a:ext>
            </a:extLst>
          </p:cNvPr>
          <p:cNvGrpSpPr/>
          <p:nvPr/>
        </p:nvGrpSpPr>
        <p:grpSpPr>
          <a:xfrm>
            <a:off x="7453312" y="2008034"/>
            <a:ext cx="4424798" cy="638176"/>
            <a:chOff x="7453312" y="2008034"/>
            <a:chExt cx="4424798" cy="6381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4B0933-6DE8-4C90-AC63-269DC86D5130}"/>
                </a:ext>
              </a:extLst>
            </p:cNvPr>
            <p:cNvSpPr/>
            <p:nvPr/>
          </p:nvSpPr>
          <p:spPr>
            <a:xfrm>
              <a:off x="7453312" y="2008034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E433B8-74CF-434D-8286-62E7F60F0A5C}"/>
                </a:ext>
              </a:extLst>
            </p:cNvPr>
            <p:cNvSpPr/>
            <p:nvPr/>
          </p:nvSpPr>
          <p:spPr>
            <a:xfrm>
              <a:off x="8206912" y="2104543"/>
              <a:ext cx="367119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M</a:t>
              </a:r>
              <a:r>
                <a:rPr lang="en-GB" sz="1400" dirty="0">
                  <a:latin typeface="Montserrat Medium" pitchFamily="2" charset="77"/>
                </a:rPr>
                <a:t>odularization and lean construction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7F45CB31-9B38-F1D4-1EEB-A0830553C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121574"/>
              <a:ext cx="411095" cy="411095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F180186-BAD8-FF2A-F6D2-68467F81AEEB}"/>
              </a:ext>
            </a:extLst>
          </p:cNvPr>
          <p:cNvGrpSpPr/>
          <p:nvPr/>
        </p:nvGrpSpPr>
        <p:grpSpPr>
          <a:xfrm>
            <a:off x="7453312" y="2839332"/>
            <a:ext cx="2868281" cy="638176"/>
            <a:chOff x="7453312" y="2839332"/>
            <a:chExt cx="2868281" cy="638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D1466B-7512-422D-B7EE-CB2E59E9B038}"/>
                </a:ext>
              </a:extLst>
            </p:cNvPr>
            <p:cNvSpPr/>
            <p:nvPr/>
          </p:nvSpPr>
          <p:spPr>
            <a:xfrm>
              <a:off x="7453312" y="2839332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562F32A-5975-4373-879B-0549E8EC57E6}"/>
                </a:ext>
              </a:extLst>
            </p:cNvPr>
            <p:cNvSpPr/>
            <p:nvPr/>
          </p:nvSpPr>
          <p:spPr>
            <a:xfrm>
              <a:off x="8206912" y="2962967"/>
              <a:ext cx="211468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A</a:t>
              </a:r>
              <a:r>
                <a:rPr lang="en-GB" sz="1400" dirty="0">
                  <a:latin typeface="Montserrat Medium" pitchFamily="2" charset="77"/>
                </a:rPr>
                <a:t>rtificial intelligence</a:t>
              </a: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4B8E763-198F-5099-4CCF-0805B158B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2952872"/>
              <a:ext cx="411095" cy="411095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0C1722C-5AF1-C63F-4759-BB799870E3B3}"/>
              </a:ext>
            </a:extLst>
          </p:cNvPr>
          <p:cNvGrpSpPr/>
          <p:nvPr/>
        </p:nvGrpSpPr>
        <p:grpSpPr>
          <a:xfrm>
            <a:off x="7453312" y="3670630"/>
            <a:ext cx="4011223" cy="638176"/>
            <a:chOff x="7453312" y="3670630"/>
            <a:chExt cx="4011223" cy="638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2B12DE-4EDE-4BE0-8461-9720DBAEACAD}"/>
                </a:ext>
              </a:extLst>
            </p:cNvPr>
            <p:cNvSpPr/>
            <p:nvPr/>
          </p:nvSpPr>
          <p:spPr>
            <a:xfrm>
              <a:off x="7453312" y="3670630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ECD669C-D60A-4A26-AAD0-A654AC02569E}"/>
                </a:ext>
              </a:extLst>
            </p:cNvPr>
            <p:cNvSpPr/>
            <p:nvPr/>
          </p:nvSpPr>
          <p:spPr>
            <a:xfrm>
              <a:off x="8206912" y="3794265"/>
              <a:ext cx="325762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R</a:t>
              </a:r>
              <a:r>
                <a:rPr lang="en-GB" sz="1400" dirty="0">
                  <a:latin typeface="Montserrat Medium" pitchFamily="2" charset="77"/>
                </a:rPr>
                <a:t>obotic systems and automation</a:t>
              </a:r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B9F4BA4-21DE-CC4B-2462-FD235B34E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3784170"/>
              <a:ext cx="411095" cy="411095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59B1F5-2E8B-7CFB-12C0-8C2B7CD0B756}"/>
              </a:ext>
            </a:extLst>
          </p:cNvPr>
          <p:cNvGrpSpPr/>
          <p:nvPr/>
        </p:nvGrpSpPr>
        <p:grpSpPr>
          <a:xfrm>
            <a:off x="7453312" y="4501927"/>
            <a:ext cx="4187825" cy="638176"/>
            <a:chOff x="7453312" y="4501927"/>
            <a:chExt cx="4187825" cy="638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B50EDB-1FAD-48D9-94F1-84361939302C}"/>
                </a:ext>
              </a:extLst>
            </p:cNvPr>
            <p:cNvSpPr/>
            <p:nvPr/>
          </p:nvSpPr>
          <p:spPr>
            <a:xfrm>
              <a:off x="7453312" y="4501927"/>
              <a:ext cx="638176" cy="638176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7EADE07-6DA1-48DC-88C7-815245969754}"/>
                </a:ext>
              </a:extLst>
            </p:cNvPr>
            <p:cNvSpPr/>
            <p:nvPr/>
          </p:nvSpPr>
          <p:spPr>
            <a:xfrm>
              <a:off x="8206912" y="4517840"/>
              <a:ext cx="3434225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dirty="0">
                  <a:latin typeface="Montserrat Medium" pitchFamily="2" charset="77"/>
                </a:rPr>
                <a:t>T</a:t>
              </a:r>
              <a:r>
                <a:rPr lang="en-GB" sz="1400" dirty="0">
                  <a:latin typeface="Montserrat Medium" pitchFamily="2" charset="77"/>
                </a:rPr>
                <a:t>echnology integration &amp; information modelling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C1731A0D-8A21-5793-7206-CA0A8E917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566853" y="4615467"/>
              <a:ext cx="411095" cy="411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24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55A80CFD-4A0D-4553-8264-FE390932BCB5}"/>
              </a:ext>
            </a:extLst>
          </p:cNvPr>
          <p:cNvSpPr/>
          <p:nvPr/>
        </p:nvSpPr>
        <p:spPr>
          <a:xfrm>
            <a:off x="3447258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3337466-BDF5-4575-8902-C3210326B3BD}"/>
              </a:ext>
            </a:extLst>
          </p:cNvPr>
          <p:cNvSpPr/>
          <p:nvPr/>
        </p:nvSpPr>
        <p:spPr>
          <a:xfrm>
            <a:off x="8651082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973921-29F2-4F65-A2E2-89BCBBDD1840}"/>
              </a:ext>
            </a:extLst>
          </p:cNvPr>
          <p:cNvSpPr/>
          <p:nvPr/>
        </p:nvSpPr>
        <p:spPr>
          <a:xfrm>
            <a:off x="6049170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422CA2-E32B-43BC-A3C8-4E04C3452974}"/>
              </a:ext>
            </a:extLst>
          </p:cNvPr>
          <p:cNvSpPr/>
          <p:nvPr/>
        </p:nvSpPr>
        <p:spPr>
          <a:xfrm>
            <a:off x="842966" y="404062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6CD29B-C437-4540-81C3-BA348E9AB3E3}"/>
              </a:ext>
            </a:extLst>
          </p:cNvPr>
          <p:cNvSpPr/>
          <p:nvPr/>
        </p:nvSpPr>
        <p:spPr>
          <a:xfrm>
            <a:off x="8651082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91C84A-511F-485E-8AF5-1F279DC13D21}"/>
              </a:ext>
            </a:extLst>
          </p:cNvPr>
          <p:cNvSpPr/>
          <p:nvPr/>
        </p:nvSpPr>
        <p:spPr>
          <a:xfrm>
            <a:off x="6049170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8C4B42-E8C5-44A7-B22A-8C37A2C90748}"/>
              </a:ext>
            </a:extLst>
          </p:cNvPr>
          <p:cNvSpPr/>
          <p:nvPr/>
        </p:nvSpPr>
        <p:spPr>
          <a:xfrm>
            <a:off x="3447258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02D998D-B3DB-4CC2-BAB5-6792FCB48004}"/>
              </a:ext>
            </a:extLst>
          </p:cNvPr>
          <p:cNvSpPr/>
          <p:nvPr/>
        </p:nvSpPr>
        <p:spPr>
          <a:xfrm>
            <a:off x="842966" y="1514477"/>
            <a:ext cx="1585909" cy="1466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77350B-3DF7-4F9B-9667-9A59FB9A9689}"/>
              </a:ext>
            </a:extLst>
          </p:cNvPr>
          <p:cNvSpPr/>
          <p:nvPr/>
        </p:nvSpPr>
        <p:spPr>
          <a:xfrm>
            <a:off x="668252" y="520184"/>
            <a:ext cx="9596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Research Team | 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people </a:t>
            </a:r>
            <a:r>
              <a:rPr lang="en-GB" sz="3600" b="1" spc="-150" dirty="0">
                <a:solidFill>
                  <a:schemeClr val="bg1"/>
                </a:solidFill>
                <a:latin typeface="+mj-lt"/>
              </a:rPr>
              <a:t>Of S.M.A.R.T</a:t>
            </a:r>
            <a:r>
              <a:rPr lang="en-GB" sz="3600" b="1" spc="-150">
                <a:solidFill>
                  <a:schemeClr val="bg1"/>
                </a:solidFill>
                <a:latin typeface="+mj-lt"/>
              </a:rPr>
              <a:t>. Labs</a:t>
            </a:r>
            <a:endParaRPr lang="en-GB" sz="3600" b="1" spc="-150" dirty="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01629B2-A71C-861E-A30C-85E9E46BCDD4}"/>
              </a:ext>
            </a:extLst>
          </p:cNvPr>
          <p:cNvGrpSpPr/>
          <p:nvPr/>
        </p:nvGrpSpPr>
        <p:grpSpPr>
          <a:xfrm>
            <a:off x="809625" y="3081477"/>
            <a:ext cx="2063385" cy="520147"/>
            <a:chOff x="809625" y="3081477"/>
            <a:chExt cx="2063385" cy="52014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B02691-81C7-43E8-A3B6-CD47ED95B1BA}"/>
                </a:ext>
              </a:extLst>
            </p:cNvPr>
            <p:cNvSpPr/>
            <p:nvPr/>
          </p:nvSpPr>
          <p:spPr>
            <a:xfrm>
              <a:off x="809625" y="3081477"/>
              <a:ext cx="206338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Borja García De Soto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D247FE3-7895-4242-B02A-BA04C662A354}"/>
                </a:ext>
              </a:extLst>
            </p:cNvPr>
            <p:cNvSpPr/>
            <p:nvPr/>
          </p:nvSpPr>
          <p:spPr>
            <a:xfrm>
              <a:off x="809625" y="3324625"/>
              <a:ext cx="170591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Associate Professor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121985-1B00-BFFD-0ACB-B9CE3D76B8FE}"/>
              </a:ext>
            </a:extLst>
          </p:cNvPr>
          <p:cNvGrpSpPr/>
          <p:nvPr/>
        </p:nvGrpSpPr>
        <p:grpSpPr>
          <a:xfrm>
            <a:off x="3408041" y="3081477"/>
            <a:ext cx="2222083" cy="520147"/>
            <a:chOff x="3408041" y="3081477"/>
            <a:chExt cx="2222083" cy="520147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822E70-8D47-47B0-92B9-4110A9704487}"/>
                </a:ext>
              </a:extLst>
            </p:cNvPr>
            <p:cNvSpPr/>
            <p:nvPr/>
          </p:nvSpPr>
          <p:spPr>
            <a:xfrm>
              <a:off x="3408041" y="3081477"/>
              <a:ext cx="154080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Eyob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Mengiste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7B8AE3A-E613-4D09-90A1-8AFC81E02E65}"/>
                </a:ext>
              </a:extLst>
            </p:cNvPr>
            <p:cNvSpPr/>
            <p:nvPr/>
          </p:nvSpPr>
          <p:spPr>
            <a:xfrm>
              <a:off x="3408041" y="3324625"/>
              <a:ext cx="222208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Instructor and Researcher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73A1269-2FBF-1A1E-F4F5-CFB3FC1DABC3}"/>
              </a:ext>
            </a:extLst>
          </p:cNvPr>
          <p:cNvGrpSpPr/>
          <p:nvPr/>
        </p:nvGrpSpPr>
        <p:grpSpPr>
          <a:xfrm>
            <a:off x="6008366" y="3081477"/>
            <a:ext cx="1625766" cy="520147"/>
            <a:chOff x="6008366" y="3081477"/>
            <a:chExt cx="1625766" cy="52014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8394284-2D3F-405D-925D-ADC07412499E}"/>
                </a:ext>
              </a:extLst>
            </p:cNvPr>
            <p:cNvSpPr/>
            <p:nvPr/>
          </p:nvSpPr>
          <p:spPr>
            <a:xfrm>
              <a:off x="6008366" y="3081477"/>
              <a:ext cx="13468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Erika A.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Pärn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584AB72-7E8F-4A3B-BB9C-DD76FFB45395}"/>
                </a:ext>
              </a:extLst>
            </p:cNvPr>
            <p:cNvSpPr/>
            <p:nvPr/>
          </p:nvSpPr>
          <p:spPr>
            <a:xfrm>
              <a:off x="6008366" y="3324625"/>
              <a:ext cx="162576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Scientist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B6C102-23E2-DD74-F1BD-5C4B5A3B96FE}"/>
              </a:ext>
            </a:extLst>
          </p:cNvPr>
          <p:cNvGrpSpPr/>
          <p:nvPr/>
        </p:nvGrpSpPr>
        <p:grpSpPr>
          <a:xfrm>
            <a:off x="8624566" y="3081477"/>
            <a:ext cx="1970411" cy="520147"/>
            <a:chOff x="8624566" y="3081477"/>
            <a:chExt cx="1970411" cy="52014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879B844-DDA3-494D-B146-FE8C6214DA8F}"/>
                </a:ext>
              </a:extLst>
            </p:cNvPr>
            <p:cNvSpPr/>
            <p:nvPr/>
          </p:nvSpPr>
          <p:spPr>
            <a:xfrm>
              <a:off x="8624566" y="3081477"/>
              <a:ext cx="134043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Zihao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Zheng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079BD68-FFDE-4023-BAE9-01FEB71F938D}"/>
                </a:ext>
              </a:extLst>
            </p:cNvPr>
            <p:cNvSpPr/>
            <p:nvPr/>
          </p:nvSpPr>
          <p:spPr>
            <a:xfrm>
              <a:off x="8624566" y="3324625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7E2679-74BE-A7A8-BDCC-7B25BFCC34AC}"/>
              </a:ext>
            </a:extLst>
          </p:cNvPr>
          <p:cNvGrpSpPr/>
          <p:nvPr/>
        </p:nvGrpSpPr>
        <p:grpSpPr>
          <a:xfrm>
            <a:off x="809625" y="5629051"/>
            <a:ext cx="1462260" cy="520147"/>
            <a:chOff x="809625" y="5629051"/>
            <a:chExt cx="1462260" cy="52014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93DDCE-6231-4490-B5FD-4EF08773A0E4}"/>
                </a:ext>
              </a:extLst>
            </p:cNvPr>
            <p:cNvSpPr/>
            <p:nvPr/>
          </p:nvSpPr>
          <p:spPr>
            <a:xfrm>
              <a:off x="809625" y="5629051"/>
              <a:ext cx="146226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Semih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Sonkor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746782A-8193-4BF3-80B8-29D3E8DB35C1}"/>
                </a:ext>
              </a:extLst>
            </p:cNvPr>
            <p:cNvSpPr/>
            <p:nvPr/>
          </p:nvSpPr>
          <p:spPr>
            <a:xfrm>
              <a:off x="809625" y="5872199"/>
              <a:ext cx="119936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PhD Student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D39959-F375-07AA-84D7-1F77436E9F9C}"/>
              </a:ext>
            </a:extLst>
          </p:cNvPr>
          <p:cNvGrpSpPr/>
          <p:nvPr/>
        </p:nvGrpSpPr>
        <p:grpSpPr>
          <a:xfrm>
            <a:off x="3408041" y="5629051"/>
            <a:ext cx="2109873" cy="520147"/>
            <a:chOff x="3408041" y="5629051"/>
            <a:chExt cx="2109873" cy="5201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4535875-F975-42EB-B979-DD1BE91538EB}"/>
                </a:ext>
              </a:extLst>
            </p:cNvPr>
            <p:cNvSpPr/>
            <p:nvPr/>
          </p:nvSpPr>
          <p:spPr>
            <a:xfrm>
              <a:off x="3408041" y="5629051"/>
              <a:ext cx="21098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Dongchi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(Daniel) Yao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9D37AA5-91CC-4B0B-90BA-AE41A14EC302}"/>
                </a:ext>
              </a:extLst>
            </p:cNvPr>
            <p:cNvSpPr/>
            <p:nvPr/>
          </p:nvSpPr>
          <p:spPr>
            <a:xfrm>
              <a:off x="3408041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9EB26A7-32DD-3728-48DB-56F2A06010DF}"/>
              </a:ext>
            </a:extLst>
          </p:cNvPr>
          <p:cNvGrpSpPr/>
          <p:nvPr/>
        </p:nvGrpSpPr>
        <p:grpSpPr>
          <a:xfrm>
            <a:off x="6008366" y="5629051"/>
            <a:ext cx="1661032" cy="520147"/>
            <a:chOff x="6008366" y="5629051"/>
            <a:chExt cx="1661032" cy="52014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3F09F3B-CE49-45AF-A6F8-E67CA9419BC6}"/>
                </a:ext>
              </a:extLst>
            </p:cNvPr>
            <p:cNvSpPr/>
            <p:nvPr/>
          </p:nvSpPr>
          <p:spPr>
            <a:xfrm>
              <a:off x="6008366" y="5629051"/>
              <a:ext cx="117051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Nas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</a:t>
              </a:r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Gopee</a:t>
              </a:r>
              <a:endParaRPr lang="en-GB" sz="1400" dirty="0">
                <a:solidFill>
                  <a:schemeClr val="bg1"/>
                </a:solidFill>
                <a:latin typeface="Montserrat Medium" pitchFamily="2" charset="77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BD7E7E9-5D34-45CC-B973-67625B7AB433}"/>
                </a:ext>
              </a:extLst>
            </p:cNvPr>
            <p:cNvSpPr/>
            <p:nvPr/>
          </p:nvSpPr>
          <p:spPr>
            <a:xfrm>
              <a:off x="6008366" y="5872199"/>
              <a:ext cx="16610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Research Assistant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CFF77F2-A078-7BDC-DB83-28A69EB6BDCA}"/>
              </a:ext>
            </a:extLst>
          </p:cNvPr>
          <p:cNvGrpSpPr/>
          <p:nvPr/>
        </p:nvGrpSpPr>
        <p:grpSpPr>
          <a:xfrm>
            <a:off x="8624566" y="5629051"/>
            <a:ext cx="1970411" cy="520147"/>
            <a:chOff x="8624566" y="5629051"/>
            <a:chExt cx="1970411" cy="520147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4A10A6D-0062-44C9-A162-BA20F5A56DD3}"/>
                </a:ext>
              </a:extLst>
            </p:cNvPr>
            <p:cNvSpPr/>
            <p:nvPr/>
          </p:nvSpPr>
          <p:spPr>
            <a:xfrm>
              <a:off x="8624566" y="5629051"/>
              <a:ext cx="126028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400" dirty="0" err="1">
                  <a:solidFill>
                    <a:schemeClr val="bg1"/>
                  </a:solidFill>
                  <a:latin typeface="Montserrat Medium" pitchFamily="2" charset="77"/>
                </a:rPr>
                <a:t>Boyu</a:t>
              </a:r>
              <a:r>
                <a:rPr lang="en-GB" sz="1400" dirty="0">
                  <a:solidFill>
                    <a:schemeClr val="bg1"/>
                  </a:solidFill>
                  <a:latin typeface="Montserrat Medium" pitchFamily="2" charset="77"/>
                </a:rPr>
                <a:t> Wang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C31ECE8-A3CD-44D4-B427-F85AE240A6E0}"/>
                </a:ext>
              </a:extLst>
            </p:cNvPr>
            <p:cNvSpPr/>
            <p:nvPr/>
          </p:nvSpPr>
          <p:spPr>
            <a:xfrm>
              <a:off x="8624566" y="5872199"/>
              <a:ext cx="19704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 sz="1200" dirty="0">
                  <a:solidFill>
                    <a:schemeClr val="bg1"/>
                  </a:solidFill>
                  <a:latin typeface="Montserrat Medium" pitchFamily="2" charset="77"/>
                </a:rPr>
                <a:t>Postdoctoral Associate</a:t>
              </a:r>
            </a:p>
          </p:txBody>
        </p:sp>
      </p:grpSp>
      <p:pic>
        <p:nvPicPr>
          <p:cNvPr id="43" name="Picture Placeholder 42" descr="A person in a suit&#10;&#10;AI-generated content may be incorrect.">
            <a:extLst>
              <a:ext uri="{FF2B5EF4-FFF2-40B4-BE49-F238E27FC236}">
                <a16:creationId xmlns:a16="http://schemas.microsoft.com/office/drawing/2014/main" id="{4FE99F1C-DB50-45CE-97BF-05B7B231EA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" r="565"/>
          <a:stretch/>
        </p:blipFill>
        <p:spPr>
          <a:xfrm>
            <a:off x="895350" y="1560513"/>
            <a:ext cx="1485900" cy="1373187"/>
          </a:xfrm>
          <a:prstGeom prst="rect">
            <a:avLst/>
          </a:prstGeom>
        </p:spPr>
      </p:pic>
      <p:pic>
        <p:nvPicPr>
          <p:cNvPr id="45" name="Picture 6" descr="Eyob Mengiste, PhD, Instructor and Researcher">
            <a:extLst>
              <a:ext uri="{FF2B5EF4-FFF2-40B4-BE49-F238E27FC236}">
                <a16:creationId xmlns:a16="http://schemas.microsoft.com/office/drawing/2014/main" id="{D99F8848-2751-4123-93E7-AF33C0729C35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Placeholder 45" descr="A person in a white shirt&#10;&#10;AI-generated content may be incorrect.">
            <a:extLst>
              <a:ext uri="{FF2B5EF4-FFF2-40B4-BE49-F238E27FC236}">
                <a16:creationId xmlns:a16="http://schemas.microsoft.com/office/drawing/2014/main" id="{F2B1BB0D-2834-4BC3-9358-245C5DCE8DC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8" r="19558"/>
          <a:stretch/>
        </p:blipFill>
        <p:spPr>
          <a:xfrm>
            <a:off x="6099175" y="1560513"/>
            <a:ext cx="1485900" cy="1373187"/>
          </a:xfrm>
          <a:prstGeom prst="rect">
            <a:avLst/>
          </a:prstGeom>
        </p:spPr>
      </p:pic>
      <p:pic>
        <p:nvPicPr>
          <p:cNvPr id="47" name="Picture 10" descr="Zihao Zheng, PhD, Post-Doctoral Associate">
            <a:extLst>
              <a:ext uri="{FF2B5EF4-FFF2-40B4-BE49-F238E27FC236}">
                <a16:creationId xmlns:a16="http://schemas.microsoft.com/office/drawing/2014/main" id="{119B6BFA-9BF3-470D-A3FC-AD41BE486019}"/>
              </a:ext>
            </a:extLst>
          </p:cNvPr>
          <p:cNvPicPr>
            <a:picLocks noGrp="1" noChangeAspect="1" noChangeArrowheads="1"/>
          </p:cNvPicPr>
          <p:nvPr>
            <p:ph type="pic" sz="quarter" idx="13"/>
          </p:nvPr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23" r="3182"/>
          <a:stretch/>
        </p:blipFill>
        <p:spPr bwMode="auto">
          <a:xfrm>
            <a:off x="8701088" y="1560513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 descr="Semih Sonkor, PhD Student, NYUAD">
            <a:extLst>
              <a:ext uri="{FF2B5EF4-FFF2-40B4-BE49-F238E27FC236}">
                <a16:creationId xmlns:a16="http://schemas.microsoft.com/office/drawing/2014/main" id="{FE316733-ED87-41B0-97BE-81C0DA33B857}"/>
              </a:ext>
            </a:extLst>
          </p:cNvPr>
          <p:cNvPicPr>
            <a:picLocks noGrp="1" noChangeAspect="1" noChangeArrowheads="1"/>
          </p:cNvPicPr>
          <p:nvPr>
            <p:ph type="pic" sz="quarter" idx="14"/>
          </p:nvPr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895350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2" descr="Daniel Yao, PhD Student, NYUAD">
            <a:extLst>
              <a:ext uri="{FF2B5EF4-FFF2-40B4-BE49-F238E27FC236}">
                <a16:creationId xmlns:a16="http://schemas.microsoft.com/office/drawing/2014/main" id="{F369EA2D-EED4-40B4-83CC-1972F4A90933}"/>
              </a:ext>
            </a:extLst>
          </p:cNvPr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2" r="19652"/>
          <a:stretch/>
        </p:blipFill>
        <p:spPr bwMode="auto">
          <a:xfrm>
            <a:off x="3497263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18" descr="Nas Gopee, Research Assistant">
            <a:extLst>
              <a:ext uri="{FF2B5EF4-FFF2-40B4-BE49-F238E27FC236}">
                <a16:creationId xmlns:a16="http://schemas.microsoft.com/office/drawing/2014/main" id="{94F055F1-330A-4DC2-8E2B-93C9E8FC9DEF}"/>
              </a:ext>
            </a:extLst>
          </p:cNvPr>
          <p:cNvPicPr>
            <a:picLocks noGrp="1" noChangeAspect="1" noChangeArrowheads="1"/>
          </p:cNvPicPr>
          <p:nvPr>
            <p:ph type="pic" sz="quarter" idx="16"/>
          </p:nvPr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6" r="19776"/>
          <a:stretch/>
        </p:blipFill>
        <p:spPr bwMode="auto">
          <a:xfrm>
            <a:off x="6099175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14" descr="Boyu Wang, PhD, Post-Doctoral Associate">
            <a:extLst>
              <a:ext uri="{FF2B5EF4-FFF2-40B4-BE49-F238E27FC236}">
                <a16:creationId xmlns:a16="http://schemas.microsoft.com/office/drawing/2014/main" id="{F1A2C0B5-8243-42AB-85CB-E2C149705103}"/>
              </a:ext>
            </a:extLst>
          </p:cNvPr>
          <p:cNvPicPr>
            <a:picLocks noGrp="1" noChangeAspect="1" noChangeArrowheads="1"/>
          </p:cNvPicPr>
          <p:nvPr>
            <p:ph type="pic" sz="quarter" idx="17"/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0" r="19590"/>
          <a:stretch/>
        </p:blipFill>
        <p:spPr bwMode="auto">
          <a:xfrm>
            <a:off x="8701088" y="4090988"/>
            <a:ext cx="1485900" cy="13731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77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SiteScope: Schedule-Driven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Robotic Progress Monitoring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FFEE1F3-D9F4-4C82-A8F8-4D2F7388916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tretch/>
        </p:blipFill>
        <p:spPr/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CDE8574-DDBB-4B73-BBDB-D57E2B2DFAC5}"/>
              </a:ext>
            </a:extLst>
          </p:cNvPr>
          <p:cNvSpPr/>
          <p:nvPr/>
        </p:nvSpPr>
        <p:spPr>
          <a:xfrm rot="10800000">
            <a:off x="0" y="1574171"/>
            <a:ext cx="12192000" cy="5283828"/>
          </a:xfrm>
          <a:custGeom>
            <a:avLst/>
            <a:gdLst>
              <a:gd name="connsiteX0" fmla="*/ 3513587 w 12192000"/>
              <a:gd name="connsiteY0" fmla="*/ 5283598 h 5283828"/>
              <a:gd name="connsiteX1" fmla="*/ 3113504 w 12192000"/>
              <a:gd name="connsiteY1" fmla="*/ 5245025 h 5283828"/>
              <a:gd name="connsiteX2" fmla="*/ 0 w 12192000"/>
              <a:gd name="connsiteY2" fmla="*/ 3357783 h 5283828"/>
              <a:gd name="connsiteX3" fmla="*/ 0 w 12192000"/>
              <a:gd name="connsiteY3" fmla="*/ 0 h 5283828"/>
              <a:gd name="connsiteX4" fmla="*/ 12192000 w 12192000"/>
              <a:gd name="connsiteY4" fmla="*/ 0 h 5283828"/>
              <a:gd name="connsiteX5" fmla="*/ 12192000 w 12192000"/>
              <a:gd name="connsiteY5" fmla="*/ 4305209 h 5283828"/>
              <a:gd name="connsiteX6" fmla="*/ 4944310 w 12192000"/>
              <a:gd name="connsiteY6" fmla="*/ 5144458 h 5283828"/>
              <a:gd name="connsiteX7" fmla="*/ 3513587 w 12192000"/>
              <a:gd name="connsiteY7" fmla="*/ 5283598 h 52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283828">
                <a:moveTo>
                  <a:pt x="3513587" y="5283598"/>
                </a:moveTo>
                <a:cubicBezTo>
                  <a:pt x="3373773" y="5281875"/>
                  <a:pt x="3240395" y="5270369"/>
                  <a:pt x="3113504" y="5245025"/>
                </a:cubicBezTo>
                <a:cubicBezTo>
                  <a:pt x="2273506" y="5077954"/>
                  <a:pt x="1221887" y="4201242"/>
                  <a:pt x="0" y="3357783"/>
                </a:cubicBezTo>
                <a:lnTo>
                  <a:pt x="0" y="0"/>
                </a:lnTo>
                <a:lnTo>
                  <a:pt x="12192000" y="0"/>
                </a:lnTo>
                <a:lnTo>
                  <a:pt x="12192000" y="4305209"/>
                </a:lnTo>
                <a:lnTo>
                  <a:pt x="4944310" y="5144458"/>
                </a:lnTo>
                <a:cubicBezTo>
                  <a:pt x="4410392" y="5205893"/>
                  <a:pt x="3933028" y="5288768"/>
                  <a:pt x="3513587" y="5283598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DB699C6-3927-40D4-A257-B4CD3F1CD1DE}"/>
              </a:ext>
            </a:extLst>
          </p:cNvPr>
          <p:cNvSpPr/>
          <p:nvPr/>
        </p:nvSpPr>
        <p:spPr>
          <a:xfrm>
            <a:off x="10391005" y="5283829"/>
            <a:ext cx="3324995" cy="3324994"/>
          </a:xfrm>
          <a:custGeom>
            <a:avLst/>
            <a:gdLst>
              <a:gd name="connsiteX0" fmla="*/ 3896992 w 4171950"/>
              <a:gd name="connsiteY0" fmla="*/ 1040159 h 4171950"/>
              <a:gd name="connsiteX1" fmla="*/ 3136916 w 4171950"/>
              <a:gd name="connsiteY1" fmla="*/ 280102 h 4171950"/>
              <a:gd name="connsiteX2" fmla="*/ 2088575 w 4171950"/>
              <a:gd name="connsiteY2" fmla="*/ 0 h 4171950"/>
              <a:gd name="connsiteX3" fmla="*/ 1040225 w 4171950"/>
              <a:gd name="connsiteY3" fmla="*/ 280102 h 4171950"/>
              <a:gd name="connsiteX4" fmla="*/ 280130 w 4171950"/>
              <a:gd name="connsiteY4" fmla="*/ 1040159 h 4171950"/>
              <a:gd name="connsiteX5" fmla="*/ 0 w 4171950"/>
              <a:gd name="connsiteY5" fmla="*/ 2088518 h 4171950"/>
              <a:gd name="connsiteX6" fmla="*/ 280102 w 4171950"/>
              <a:gd name="connsiteY6" fmla="*/ 3136859 h 4171950"/>
              <a:gd name="connsiteX7" fmla="*/ 1040187 w 4171950"/>
              <a:gd name="connsiteY7" fmla="*/ 3896935 h 4171950"/>
              <a:gd name="connsiteX8" fmla="*/ 2088537 w 4171950"/>
              <a:gd name="connsiteY8" fmla="*/ 4177036 h 4171950"/>
              <a:gd name="connsiteX9" fmla="*/ 3136907 w 4171950"/>
              <a:gd name="connsiteY9" fmla="*/ 3896935 h 4171950"/>
              <a:gd name="connsiteX10" fmla="*/ 3896954 w 4171950"/>
              <a:gd name="connsiteY10" fmla="*/ 3136859 h 4171950"/>
              <a:gd name="connsiteX11" fmla="*/ 4177018 w 4171950"/>
              <a:gd name="connsiteY11" fmla="*/ 2088518 h 4171950"/>
              <a:gd name="connsiteX12" fmla="*/ 3896992 w 4171950"/>
              <a:gd name="connsiteY12" fmla="*/ 1040159 h 4171950"/>
              <a:gd name="connsiteX13" fmla="*/ 3369393 w 4171950"/>
              <a:gd name="connsiteY13" fmla="*/ 2830906 h 4171950"/>
              <a:gd name="connsiteX14" fmla="*/ 2830973 w 4171950"/>
              <a:gd name="connsiteY14" fmla="*/ 3369393 h 4171950"/>
              <a:gd name="connsiteX15" fmla="*/ 2088547 w 4171950"/>
              <a:gd name="connsiteY15" fmla="*/ 3567836 h 4171950"/>
              <a:gd name="connsiteX16" fmla="*/ 1346140 w 4171950"/>
              <a:gd name="connsiteY16" fmla="*/ 3369393 h 4171950"/>
              <a:gd name="connsiteX17" fmla="*/ 807720 w 4171950"/>
              <a:gd name="connsiteY17" fmla="*/ 2830906 h 4171950"/>
              <a:gd name="connsiteX18" fmla="*/ 609190 w 4171950"/>
              <a:gd name="connsiteY18" fmla="*/ 2088518 h 4171950"/>
              <a:gd name="connsiteX19" fmla="*/ 807720 w 4171950"/>
              <a:gd name="connsiteY19" fmla="*/ 1346111 h 4171950"/>
              <a:gd name="connsiteX20" fmla="*/ 1346140 w 4171950"/>
              <a:gd name="connsiteY20" fmla="*/ 807663 h 4171950"/>
              <a:gd name="connsiteX21" fmla="*/ 2088547 w 4171950"/>
              <a:gd name="connsiteY21" fmla="*/ 609162 h 4171950"/>
              <a:gd name="connsiteX22" fmla="*/ 2830973 w 4171950"/>
              <a:gd name="connsiteY22" fmla="*/ 807663 h 4171950"/>
              <a:gd name="connsiteX23" fmla="*/ 3369393 w 4171950"/>
              <a:gd name="connsiteY23" fmla="*/ 1346111 h 4171950"/>
              <a:gd name="connsiteX24" fmla="*/ 3567874 w 4171950"/>
              <a:gd name="connsiteY24" fmla="*/ 2088518 h 4171950"/>
              <a:gd name="connsiteX25" fmla="*/ 3369393 w 4171950"/>
              <a:gd name="connsiteY25" fmla="*/ 2830906 h 417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171950" h="4171950">
                <a:moveTo>
                  <a:pt x="3896992" y="1040159"/>
                </a:moveTo>
                <a:cubicBezTo>
                  <a:pt x="3710226" y="720195"/>
                  <a:pt x="3456889" y="466858"/>
                  <a:pt x="3136916" y="280102"/>
                </a:cubicBezTo>
                <a:cubicBezTo>
                  <a:pt x="2816885" y="93355"/>
                  <a:pt x="2467528" y="0"/>
                  <a:pt x="2088575" y="0"/>
                </a:cubicBezTo>
                <a:cubicBezTo>
                  <a:pt x="1709661" y="0"/>
                  <a:pt x="1360199" y="93355"/>
                  <a:pt x="1040225" y="280102"/>
                </a:cubicBezTo>
                <a:cubicBezTo>
                  <a:pt x="720233" y="466830"/>
                  <a:pt x="466896" y="720166"/>
                  <a:pt x="280130" y="1040159"/>
                </a:cubicBezTo>
                <a:cubicBezTo>
                  <a:pt x="93355" y="1360170"/>
                  <a:pt x="0" y="1709633"/>
                  <a:pt x="0" y="2088518"/>
                </a:cubicBezTo>
                <a:cubicBezTo>
                  <a:pt x="0" y="2467423"/>
                  <a:pt x="93383" y="2816828"/>
                  <a:pt x="280102" y="3136859"/>
                </a:cubicBezTo>
                <a:cubicBezTo>
                  <a:pt x="466858" y="3456823"/>
                  <a:pt x="720195" y="3710159"/>
                  <a:pt x="1040187" y="3896935"/>
                </a:cubicBezTo>
                <a:cubicBezTo>
                  <a:pt x="1360199" y="4083672"/>
                  <a:pt x="1709633" y="4177036"/>
                  <a:pt x="2088537" y="4177036"/>
                </a:cubicBezTo>
                <a:cubicBezTo>
                  <a:pt x="2467442" y="4177036"/>
                  <a:pt x="2816914" y="4083672"/>
                  <a:pt x="3136907" y="3896935"/>
                </a:cubicBezTo>
                <a:cubicBezTo>
                  <a:pt x="3456880" y="3710226"/>
                  <a:pt x="3710207" y="3456823"/>
                  <a:pt x="3896954" y="3136859"/>
                </a:cubicBezTo>
                <a:cubicBezTo>
                  <a:pt x="4083672" y="2816857"/>
                  <a:pt x="4177018" y="2467404"/>
                  <a:pt x="4177018" y="2088518"/>
                </a:cubicBezTo>
                <a:cubicBezTo>
                  <a:pt x="4177027" y="1709595"/>
                  <a:pt x="4083672" y="1360122"/>
                  <a:pt x="3896992" y="1040159"/>
                </a:cubicBezTo>
                <a:close/>
                <a:moveTo>
                  <a:pt x="3369393" y="2830906"/>
                </a:moveTo>
                <a:cubicBezTo>
                  <a:pt x="3237052" y="3057516"/>
                  <a:pt x="3057582" y="3236986"/>
                  <a:pt x="2830973" y="3369393"/>
                </a:cubicBezTo>
                <a:cubicBezTo>
                  <a:pt x="2604364" y="3501733"/>
                  <a:pt x="2356904" y="3567836"/>
                  <a:pt x="2088547" y="3567836"/>
                </a:cubicBezTo>
                <a:cubicBezTo>
                  <a:pt x="1820256" y="3567836"/>
                  <a:pt x="1572778" y="3501733"/>
                  <a:pt x="1346140" y="3369393"/>
                </a:cubicBezTo>
                <a:cubicBezTo>
                  <a:pt x="1119530" y="3236986"/>
                  <a:pt x="940060" y="3057516"/>
                  <a:pt x="807720" y="2830906"/>
                </a:cubicBezTo>
                <a:cubicBezTo>
                  <a:pt x="675351" y="2604297"/>
                  <a:pt x="609190" y="2356828"/>
                  <a:pt x="609190" y="2088518"/>
                </a:cubicBezTo>
                <a:cubicBezTo>
                  <a:pt x="609190" y="1820189"/>
                  <a:pt x="675380" y="1572720"/>
                  <a:pt x="807720" y="1346111"/>
                </a:cubicBezTo>
                <a:cubicBezTo>
                  <a:pt x="940032" y="1119502"/>
                  <a:pt x="1119550" y="939994"/>
                  <a:pt x="1346140" y="807663"/>
                </a:cubicBezTo>
                <a:cubicBezTo>
                  <a:pt x="1572749" y="675313"/>
                  <a:pt x="1820218" y="609162"/>
                  <a:pt x="2088547" y="609162"/>
                </a:cubicBezTo>
                <a:cubicBezTo>
                  <a:pt x="2356895" y="609162"/>
                  <a:pt x="2604364" y="675313"/>
                  <a:pt x="2830973" y="807663"/>
                </a:cubicBezTo>
                <a:cubicBezTo>
                  <a:pt x="3057582" y="940003"/>
                  <a:pt x="3237062" y="1119502"/>
                  <a:pt x="3369393" y="1346111"/>
                </a:cubicBezTo>
                <a:cubicBezTo>
                  <a:pt x="3501742" y="1572720"/>
                  <a:pt x="3567874" y="1820189"/>
                  <a:pt x="3567874" y="2088518"/>
                </a:cubicBezTo>
                <a:cubicBezTo>
                  <a:pt x="3567874" y="2356828"/>
                  <a:pt x="3501742" y="2604297"/>
                  <a:pt x="3369393" y="2830906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63500" sx="107000" sy="107000" algn="ctr" rotWithShape="0">
              <a:prstClr val="black">
                <a:alpha val="2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34">
            <a:extLst>
              <a:ext uri="{FF2B5EF4-FFF2-40B4-BE49-F238E27FC236}">
                <a16:creationId xmlns:a16="http://schemas.microsoft.com/office/drawing/2014/main" id="{D85CB794-220C-4D26-B5F5-357A5E7B0C9B}"/>
              </a:ext>
            </a:extLst>
          </p:cNvPr>
          <p:cNvSpPr txBox="1">
            <a:spLocks/>
          </p:cNvSpPr>
          <p:nvPr/>
        </p:nvSpPr>
        <p:spPr>
          <a:xfrm>
            <a:off x="7673138" y="603855"/>
            <a:ext cx="2109874" cy="2299910"/>
          </a:xfrm>
          <a:custGeom>
            <a:avLst/>
            <a:gdLst>
              <a:gd name="connsiteX0" fmla="*/ 1180010 w 2360022"/>
              <a:gd name="connsiteY0" fmla="*/ 0 h 2572590"/>
              <a:gd name="connsiteX1" fmla="*/ 1425278 w 2360022"/>
              <a:gd name="connsiteY1" fmla="*/ 65406 h 2572590"/>
              <a:gd name="connsiteX2" fmla="*/ 2114755 w 2360022"/>
              <a:gd name="connsiteY2" fmla="*/ 463285 h 2572590"/>
              <a:gd name="connsiteX3" fmla="*/ 2360022 w 2360022"/>
              <a:gd name="connsiteY3" fmla="*/ 888416 h 2572590"/>
              <a:gd name="connsiteX4" fmla="*/ 2360022 w 2360022"/>
              <a:gd name="connsiteY4" fmla="*/ 1684175 h 2572590"/>
              <a:gd name="connsiteX5" fmla="*/ 2114755 w 2360022"/>
              <a:gd name="connsiteY5" fmla="*/ 2109306 h 2572590"/>
              <a:gd name="connsiteX6" fmla="*/ 1425278 w 2360022"/>
              <a:gd name="connsiteY6" fmla="*/ 2507185 h 2572590"/>
              <a:gd name="connsiteX7" fmla="*/ 934742 w 2360022"/>
              <a:gd name="connsiteY7" fmla="*/ 2507185 h 2572590"/>
              <a:gd name="connsiteX8" fmla="*/ 245269 w 2360022"/>
              <a:gd name="connsiteY8" fmla="*/ 2109306 h 2572590"/>
              <a:gd name="connsiteX9" fmla="*/ 0 w 2360022"/>
              <a:gd name="connsiteY9" fmla="*/ 1684175 h 2572590"/>
              <a:gd name="connsiteX10" fmla="*/ 0 w 2360022"/>
              <a:gd name="connsiteY10" fmla="*/ 888416 h 2572590"/>
              <a:gd name="connsiteX11" fmla="*/ 245269 w 2360022"/>
              <a:gd name="connsiteY11" fmla="*/ 463285 h 2572590"/>
              <a:gd name="connsiteX12" fmla="*/ 934742 w 2360022"/>
              <a:gd name="connsiteY12" fmla="*/ 65406 h 2572590"/>
              <a:gd name="connsiteX13" fmla="*/ 1180010 w 2360022"/>
              <a:gd name="connsiteY13" fmla="*/ 0 h 2572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60022" h="2572590">
                <a:moveTo>
                  <a:pt x="1180010" y="0"/>
                </a:moveTo>
                <a:cubicBezTo>
                  <a:pt x="1264491" y="0"/>
                  <a:pt x="1348972" y="21802"/>
                  <a:pt x="1425278" y="65406"/>
                </a:cubicBezTo>
                <a:lnTo>
                  <a:pt x="2114755" y="463285"/>
                </a:lnTo>
                <a:cubicBezTo>
                  <a:pt x="2267365" y="550491"/>
                  <a:pt x="2360022" y="714003"/>
                  <a:pt x="2360022" y="888416"/>
                </a:cubicBezTo>
                <a:lnTo>
                  <a:pt x="2360022" y="1684175"/>
                </a:lnTo>
                <a:cubicBezTo>
                  <a:pt x="2360022" y="1861315"/>
                  <a:pt x="2267365" y="2022100"/>
                  <a:pt x="2114755" y="2109306"/>
                </a:cubicBezTo>
                <a:lnTo>
                  <a:pt x="1425278" y="2507185"/>
                </a:lnTo>
                <a:cubicBezTo>
                  <a:pt x="1272666" y="2594392"/>
                  <a:pt x="1087353" y="2594392"/>
                  <a:pt x="934742" y="2507185"/>
                </a:cubicBezTo>
                <a:lnTo>
                  <a:pt x="245269" y="2109306"/>
                </a:lnTo>
                <a:cubicBezTo>
                  <a:pt x="92657" y="2022100"/>
                  <a:pt x="0" y="1858588"/>
                  <a:pt x="0" y="1684175"/>
                </a:cubicBezTo>
                <a:lnTo>
                  <a:pt x="0" y="888416"/>
                </a:lnTo>
                <a:cubicBezTo>
                  <a:pt x="0" y="711279"/>
                  <a:pt x="92657" y="550491"/>
                  <a:pt x="245269" y="463285"/>
                </a:cubicBezTo>
                <a:lnTo>
                  <a:pt x="934742" y="65406"/>
                </a:lnTo>
                <a:cubicBezTo>
                  <a:pt x="1011048" y="21802"/>
                  <a:pt x="1095529" y="0"/>
                  <a:pt x="1180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dist="25400" sx="102000" sy="102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1B7AF2-EE53-4C67-82FF-F636CE931C49}"/>
              </a:ext>
            </a:extLst>
          </p:cNvPr>
          <p:cNvSpPr/>
          <p:nvPr/>
        </p:nvSpPr>
        <p:spPr>
          <a:xfrm>
            <a:off x="7595062" y="518747"/>
            <a:ext cx="2266026" cy="2470126"/>
          </a:xfrm>
          <a:custGeom>
            <a:avLst/>
            <a:gdLst>
              <a:gd name="connsiteX0" fmla="*/ 599953 w 1199906"/>
              <a:gd name="connsiteY0" fmla="*/ 0 h 1307982"/>
              <a:gd name="connsiteX1" fmla="*/ 724654 w 1199906"/>
              <a:gd name="connsiteY1" fmla="*/ 33254 h 1307982"/>
              <a:gd name="connsiteX2" fmla="*/ 1075205 w 1199906"/>
              <a:gd name="connsiteY2" fmla="*/ 235548 h 1307982"/>
              <a:gd name="connsiteX3" fmla="*/ 1199906 w 1199906"/>
              <a:gd name="connsiteY3" fmla="*/ 451697 h 1307982"/>
              <a:gd name="connsiteX4" fmla="*/ 1199906 w 1199906"/>
              <a:gd name="connsiteY4" fmla="*/ 856285 h 1307982"/>
              <a:gd name="connsiteX5" fmla="*/ 1075205 w 1199906"/>
              <a:gd name="connsiteY5" fmla="*/ 1072435 h 1307982"/>
              <a:gd name="connsiteX6" fmla="*/ 724654 w 1199906"/>
              <a:gd name="connsiteY6" fmla="*/ 1274728 h 1307982"/>
              <a:gd name="connsiteX7" fmla="*/ 475251 w 1199906"/>
              <a:gd name="connsiteY7" fmla="*/ 1274728 h 1307982"/>
              <a:gd name="connsiteX8" fmla="*/ 124702 w 1199906"/>
              <a:gd name="connsiteY8" fmla="*/ 1072435 h 1307982"/>
              <a:gd name="connsiteX9" fmla="*/ 0 w 1199906"/>
              <a:gd name="connsiteY9" fmla="*/ 856285 h 1307982"/>
              <a:gd name="connsiteX10" fmla="*/ 0 w 1199906"/>
              <a:gd name="connsiteY10" fmla="*/ 451697 h 1307982"/>
              <a:gd name="connsiteX11" fmla="*/ 124702 w 1199906"/>
              <a:gd name="connsiteY11" fmla="*/ 235548 h 1307982"/>
              <a:gd name="connsiteX12" fmla="*/ 475251 w 1199906"/>
              <a:gd name="connsiteY12" fmla="*/ 33254 h 1307982"/>
              <a:gd name="connsiteX13" fmla="*/ 599953 w 1199906"/>
              <a:gd name="connsiteY13" fmla="*/ 0 h 13079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99906" h="1307982">
                <a:moveTo>
                  <a:pt x="599953" y="0"/>
                </a:moveTo>
                <a:cubicBezTo>
                  <a:pt x="642905" y="0"/>
                  <a:pt x="685858" y="11085"/>
                  <a:pt x="724654" y="33254"/>
                </a:cubicBezTo>
                <a:lnTo>
                  <a:pt x="1075205" y="235548"/>
                </a:lnTo>
                <a:cubicBezTo>
                  <a:pt x="1152797" y="279886"/>
                  <a:pt x="1199906" y="363021"/>
                  <a:pt x="1199906" y="451697"/>
                </a:cubicBezTo>
                <a:lnTo>
                  <a:pt x="1199906" y="856285"/>
                </a:lnTo>
                <a:cubicBezTo>
                  <a:pt x="1199906" y="946348"/>
                  <a:pt x="1152797" y="1028096"/>
                  <a:pt x="1075205" y="1072435"/>
                </a:cubicBezTo>
                <a:lnTo>
                  <a:pt x="724654" y="1274728"/>
                </a:lnTo>
                <a:cubicBezTo>
                  <a:pt x="647062" y="1319067"/>
                  <a:pt x="552843" y="1319067"/>
                  <a:pt x="475251" y="1274728"/>
                </a:cubicBezTo>
                <a:lnTo>
                  <a:pt x="124702" y="1072435"/>
                </a:lnTo>
                <a:cubicBezTo>
                  <a:pt x="47110" y="1028096"/>
                  <a:pt x="0" y="944962"/>
                  <a:pt x="0" y="856285"/>
                </a:cubicBezTo>
                <a:lnTo>
                  <a:pt x="0" y="451697"/>
                </a:lnTo>
                <a:cubicBezTo>
                  <a:pt x="0" y="361636"/>
                  <a:pt x="47110" y="279886"/>
                  <a:pt x="124702" y="235548"/>
                </a:cubicBezTo>
                <a:lnTo>
                  <a:pt x="475251" y="33254"/>
                </a:lnTo>
                <a:cubicBezTo>
                  <a:pt x="514047" y="11085"/>
                  <a:pt x="557000" y="0"/>
                  <a:pt x="599953" y="0"/>
                </a:cubicBezTo>
                <a:close/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E1BDFD-888D-4F54-8B46-69650EB07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021"/>
          <a:stretch>
            <a:fillRect/>
          </a:stretch>
        </p:blipFill>
        <p:spPr>
          <a:xfrm>
            <a:off x="8082014" y="1155547"/>
            <a:ext cx="1292123" cy="11965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DF42A-15A9-44B5-856D-F489984B5C62}"/>
              </a:ext>
            </a:extLst>
          </p:cNvPr>
          <p:cNvSpPr txBox="1"/>
          <p:nvPr/>
        </p:nvSpPr>
        <p:spPr>
          <a:xfrm>
            <a:off x="723900" y="4791422"/>
            <a:ext cx="102553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+mj-lt"/>
              </a:rPr>
              <a:t>Robot Logistics Challenge:</a:t>
            </a:r>
            <a:br>
              <a:rPr lang="en-GB" sz="4000" b="1" dirty="0">
                <a:solidFill>
                  <a:schemeClr val="bg1"/>
                </a:solidFill>
                <a:latin typeface="+mj-lt"/>
              </a:rPr>
            </a:br>
            <a:r>
              <a:rPr lang="en-GB" sz="4000" b="1" dirty="0">
                <a:solidFill>
                  <a:schemeClr val="bg1"/>
                </a:solidFill>
                <a:latin typeface="+mj-lt"/>
              </a:rPr>
              <a:t>People and Robots as One Team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525770-E935-DEC1-6724-2394286B65F7}"/>
              </a:ext>
            </a:extLst>
          </p:cNvPr>
          <p:cNvGrpSpPr/>
          <p:nvPr/>
        </p:nvGrpSpPr>
        <p:grpSpPr>
          <a:xfrm>
            <a:off x="999355" y="518747"/>
            <a:ext cx="3324995" cy="3324994"/>
            <a:chOff x="999355" y="518747"/>
            <a:chExt cx="3324995" cy="3324994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C20CB2E-93B8-CFEB-273B-8501643040D8}"/>
                </a:ext>
              </a:extLst>
            </p:cNvPr>
            <p:cNvSpPr/>
            <p:nvPr/>
          </p:nvSpPr>
          <p:spPr>
            <a:xfrm>
              <a:off x="999355" y="518747"/>
              <a:ext cx="3324995" cy="3324994"/>
            </a:xfrm>
            <a:custGeom>
              <a:avLst/>
              <a:gdLst>
                <a:gd name="connsiteX0" fmla="*/ 3896992 w 4171950"/>
                <a:gd name="connsiteY0" fmla="*/ 1040159 h 4171950"/>
                <a:gd name="connsiteX1" fmla="*/ 3136916 w 4171950"/>
                <a:gd name="connsiteY1" fmla="*/ 280102 h 4171950"/>
                <a:gd name="connsiteX2" fmla="*/ 2088575 w 4171950"/>
                <a:gd name="connsiteY2" fmla="*/ 0 h 4171950"/>
                <a:gd name="connsiteX3" fmla="*/ 1040225 w 4171950"/>
                <a:gd name="connsiteY3" fmla="*/ 280102 h 4171950"/>
                <a:gd name="connsiteX4" fmla="*/ 280130 w 4171950"/>
                <a:gd name="connsiteY4" fmla="*/ 1040159 h 4171950"/>
                <a:gd name="connsiteX5" fmla="*/ 0 w 4171950"/>
                <a:gd name="connsiteY5" fmla="*/ 2088518 h 4171950"/>
                <a:gd name="connsiteX6" fmla="*/ 280102 w 4171950"/>
                <a:gd name="connsiteY6" fmla="*/ 3136859 h 4171950"/>
                <a:gd name="connsiteX7" fmla="*/ 1040187 w 4171950"/>
                <a:gd name="connsiteY7" fmla="*/ 3896935 h 4171950"/>
                <a:gd name="connsiteX8" fmla="*/ 2088537 w 4171950"/>
                <a:gd name="connsiteY8" fmla="*/ 4177036 h 4171950"/>
                <a:gd name="connsiteX9" fmla="*/ 3136907 w 4171950"/>
                <a:gd name="connsiteY9" fmla="*/ 3896935 h 4171950"/>
                <a:gd name="connsiteX10" fmla="*/ 3896954 w 4171950"/>
                <a:gd name="connsiteY10" fmla="*/ 3136859 h 4171950"/>
                <a:gd name="connsiteX11" fmla="*/ 4177018 w 4171950"/>
                <a:gd name="connsiteY11" fmla="*/ 2088518 h 4171950"/>
                <a:gd name="connsiteX12" fmla="*/ 3896992 w 4171950"/>
                <a:gd name="connsiteY12" fmla="*/ 1040159 h 4171950"/>
                <a:gd name="connsiteX13" fmla="*/ 3369393 w 4171950"/>
                <a:gd name="connsiteY13" fmla="*/ 2830906 h 4171950"/>
                <a:gd name="connsiteX14" fmla="*/ 2830973 w 4171950"/>
                <a:gd name="connsiteY14" fmla="*/ 3369393 h 4171950"/>
                <a:gd name="connsiteX15" fmla="*/ 2088547 w 4171950"/>
                <a:gd name="connsiteY15" fmla="*/ 3567836 h 4171950"/>
                <a:gd name="connsiteX16" fmla="*/ 1346140 w 4171950"/>
                <a:gd name="connsiteY16" fmla="*/ 3369393 h 4171950"/>
                <a:gd name="connsiteX17" fmla="*/ 807720 w 4171950"/>
                <a:gd name="connsiteY17" fmla="*/ 2830906 h 4171950"/>
                <a:gd name="connsiteX18" fmla="*/ 609190 w 4171950"/>
                <a:gd name="connsiteY18" fmla="*/ 2088518 h 4171950"/>
                <a:gd name="connsiteX19" fmla="*/ 807720 w 4171950"/>
                <a:gd name="connsiteY19" fmla="*/ 1346111 h 4171950"/>
                <a:gd name="connsiteX20" fmla="*/ 1346140 w 4171950"/>
                <a:gd name="connsiteY20" fmla="*/ 807663 h 4171950"/>
                <a:gd name="connsiteX21" fmla="*/ 2088547 w 4171950"/>
                <a:gd name="connsiteY21" fmla="*/ 609162 h 4171950"/>
                <a:gd name="connsiteX22" fmla="*/ 2830973 w 4171950"/>
                <a:gd name="connsiteY22" fmla="*/ 807663 h 4171950"/>
                <a:gd name="connsiteX23" fmla="*/ 3369393 w 4171950"/>
                <a:gd name="connsiteY23" fmla="*/ 1346111 h 4171950"/>
                <a:gd name="connsiteX24" fmla="*/ 3567874 w 4171950"/>
                <a:gd name="connsiteY24" fmla="*/ 2088518 h 4171950"/>
                <a:gd name="connsiteX25" fmla="*/ 3369393 w 4171950"/>
                <a:gd name="connsiteY25" fmla="*/ 2830906 h 417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71950" h="4171950">
                  <a:moveTo>
                    <a:pt x="3896992" y="1040159"/>
                  </a:moveTo>
                  <a:cubicBezTo>
                    <a:pt x="3710226" y="720195"/>
                    <a:pt x="3456889" y="466858"/>
                    <a:pt x="3136916" y="280102"/>
                  </a:cubicBezTo>
                  <a:cubicBezTo>
                    <a:pt x="2816885" y="93355"/>
                    <a:pt x="2467528" y="0"/>
                    <a:pt x="2088575" y="0"/>
                  </a:cubicBezTo>
                  <a:cubicBezTo>
                    <a:pt x="1709661" y="0"/>
                    <a:pt x="1360199" y="93355"/>
                    <a:pt x="1040225" y="280102"/>
                  </a:cubicBezTo>
                  <a:cubicBezTo>
                    <a:pt x="720233" y="466830"/>
                    <a:pt x="466896" y="720166"/>
                    <a:pt x="280130" y="1040159"/>
                  </a:cubicBezTo>
                  <a:cubicBezTo>
                    <a:pt x="93355" y="1360170"/>
                    <a:pt x="0" y="1709633"/>
                    <a:pt x="0" y="2088518"/>
                  </a:cubicBezTo>
                  <a:cubicBezTo>
                    <a:pt x="0" y="2467423"/>
                    <a:pt x="93383" y="2816828"/>
                    <a:pt x="280102" y="3136859"/>
                  </a:cubicBezTo>
                  <a:cubicBezTo>
                    <a:pt x="466858" y="3456823"/>
                    <a:pt x="720195" y="3710159"/>
                    <a:pt x="1040187" y="3896935"/>
                  </a:cubicBezTo>
                  <a:cubicBezTo>
                    <a:pt x="1360199" y="4083672"/>
                    <a:pt x="1709633" y="4177036"/>
                    <a:pt x="2088537" y="4177036"/>
                  </a:cubicBezTo>
                  <a:cubicBezTo>
                    <a:pt x="2467442" y="4177036"/>
                    <a:pt x="2816914" y="4083672"/>
                    <a:pt x="3136907" y="3896935"/>
                  </a:cubicBezTo>
                  <a:cubicBezTo>
                    <a:pt x="3456880" y="3710226"/>
                    <a:pt x="3710207" y="3456823"/>
                    <a:pt x="3896954" y="3136859"/>
                  </a:cubicBezTo>
                  <a:cubicBezTo>
                    <a:pt x="4083672" y="2816857"/>
                    <a:pt x="4177018" y="2467404"/>
                    <a:pt x="4177018" y="2088518"/>
                  </a:cubicBezTo>
                  <a:cubicBezTo>
                    <a:pt x="4177027" y="1709595"/>
                    <a:pt x="4083672" y="1360122"/>
                    <a:pt x="3896992" y="1040159"/>
                  </a:cubicBezTo>
                  <a:close/>
                  <a:moveTo>
                    <a:pt x="3369393" y="2830906"/>
                  </a:moveTo>
                  <a:cubicBezTo>
                    <a:pt x="3237052" y="3057516"/>
                    <a:pt x="3057582" y="3236986"/>
                    <a:pt x="2830973" y="3369393"/>
                  </a:cubicBezTo>
                  <a:cubicBezTo>
                    <a:pt x="2604364" y="3501733"/>
                    <a:pt x="2356904" y="3567836"/>
                    <a:pt x="2088547" y="3567836"/>
                  </a:cubicBezTo>
                  <a:cubicBezTo>
                    <a:pt x="1820256" y="3567836"/>
                    <a:pt x="1572778" y="3501733"/>
                    <a:pt x="1346140" y="3369393"/>
                  </a:cubicBezTo>
                  <a:cubicBezTo>
                    <a:pt x="1119530" y="3236986"/>
                    <a:pt x="940060" y="3057516"/>
                    <a:pt x="807720" y="2830906"/>
                  </a:cubicBezTo>
                  <a:cubicBezTo>
                    <a:pt x="675351" y="2604297"/>
                    <a:pt x="609190" y="2356828"/>
                    <a:pt x="609190" y="2088518"/>
                  </a:cubicBezTo>
                  <a:cubicBezTo>
                    <a:pt x="609190" y="1820189"/>
                    <a:pt x="675380" y="1572720"/>
                    <a:pt x="807720" y="1346111"/>
                  </a:cubicBezTo>
                  <a:cubicBezTo>
                    <a:pt x="940032" y="1119502"/>
                    <a:pt x="1119550" y="939994"/>
                    <a:pt x="1346140" y="807663"/>
                  </a:cubicBezTo>
                  <a:cubicBezTo>
                    <a:pt x="1572749" y="675313"/>
                    <a:pt x="1820218" y="609162"/>
                    <a:pt x="2088547" y="609162"/>
                  </a:cubicBezTo>
                  <a:cubicBezTo>
                    <a:pt x="2356895" y="609162"/>
                    <a:pt x="2604364" y="675313"/>
                    <a:pt x="2830973" y="807663"/>
                  </a:cubicBezTo>
                  <a:cubicBezTo>
                    <a:pt x="3057582" y="940003"/>
                    <a:pt x="3237062" y="1119502"/>
                    <a:pt x="3369393" y="1346111"/>
                  </a:cubicBezTo>
                  <a:cubicBezTo>
                    <a:pt x="3501742" y="1572720"/>
                    <a:pt x="3567874" y="1820189"/>
                    <a:pt x="3567874" y="2088518"/>
                  </a:cubicBezTo>
                  <a:cubicBezTo>
                    <a:pt x="3567874" y="2356828"/>
                    <a:pt x="3501742" y="2604297"/>
                    <a:pt x="3369393" y="283090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63500" sx="107000" sy="107000" algn="ctr" rotWithShape="0">
                <a:prstClr val="black">
                  <a:alpha val="2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AE8C124-044C-F854-B1BC-CE7AE8319203}"/>
                </a:ext>
              </a:extLst>
            </p:cNvPr>
            <p:cNvSpPr/>
            <p:nvPr/>
          </p:nvSpPr>
          <p:spPr>
            <a:xfrm>
              <a:off x="1437727" y="957119"/>
              <a:ext cx="2448251" cy="244825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CC88B0-3F51-C79B-6DBB-2A1F033B1A61}"/>
                </a:ext>
              </a:extLst>
            </p:cNvPr>
            <p:cNvSpPr txBox="1"/>
            <p:nvPr/>
          </p:nvSpPr>
          <p:spPr>
            <a:xfrm>
              <a:off x="1645780" y="1519525"/>
              <a:ext cx="203214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0" b="1" dirty="0">
                  <a:solidFill>
                    <a:schemeClr val="accent1"/>
                  </a:solidFill>
                  <a:latin typeface="+mj-lt"/>
                </a:rPr>
                <a:t>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2952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0A515CF7-92B2-40BF-8EB6-DF0F8C3D7C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18" b="10418"/>
          <a:stretch/>
        </p:blipFill>
        <p:spPr/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7323D3-63E7-49FA-9D12-5946673DBCB1}"/>
              </a:ext>
            </a:extLst>
          </p:cNvPr>
          <p:cNvSpPr/>
          <p:nvPr/>
        </p:nvSpPr>
        <p:spPr>
          <a:xfrm>
            <a:off x="0" y="0"/>
            <a:ext cx="12192000" cy="6434499"/>
          </a:xfrm>
          <a:custGeom>
            <a:avLst/>
            <a:gdLst>
              <a:gd name="connsiteX0" fmla="*/ 0 w 12192000"/>
              <a:gd name="connsiteY0" fmla="*/ 0 h 6434499"/>
              <a:gd name="connsiteX1" fmla="*/ 12192000 w 12192000"/>
              <a:gd name="connsiteY1" fmla="*/ 0 h 6434499"/>
              <a:gd name="connsiteX2" fmla="*/ 12192000 w 12192000"/>
              <a:gd name="connsiteY2" fmla="*/ 5455880 h 6434499"/>
              <a:gd name="connsiteX3" fmla="*/ 4944310 w 12192000"/>
              <a:gd name="connsiteY3" fmla="*/ 6295129 h 6434499"/>
              <a:gd name="connsiteX4" fmla="*/ 3113504 w 12192000"/>
              <a:gd name="connsiteY4" fmla="*/ 6395696 h 6434499"/>
              <a:gd name="connsiteX5" fmla="*/ 0 w 12192000"/>
              <a:gd name="connsiteY5" fmla="*/ 4508454 h 6434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434499">
                <a:moveTo>
                  <a:pt x="0" y="0"/>
                </a:moveTo>
                <a:lnTo>
                  <a:pt x="12192000" y="0"/>
                </a:lnTo>
                <a:lnTo>
                  <a:pt x="12192000" y="5455880"/>
                </a:lnTo>
                <a:lnTo>
                  <a:pt x="4944310" y="6295129"/>
                </a:lnTo>
                <a:cubicBezTo>
                  <a:pt x="4232419" y="6377042"/>
                  <a:pt x="3621070" y="6497071"/>
                  <a:pt x="3113504" y="6395696"/>
                </a:cubicBezTo>
                <a:cubicBezTo>
                  <a:pt x="2273506" y="6228625"/>
                  <a:pt x="1221887" y="5351913"/>
                  <a:pt x="0" y="4508454"/>
                </a:cubicBezTo>
                <a:close/>
              </a:path>
            </a:pathLst>
          </a:custGeom>
          <a:solidFill>
            <a:schemeClr val="accent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2FD1BB0-F4DB-4DE6-9F46-9A30F6AE48C7}"/>
              </a:ext>
            </a:extLst>
          </p:cNvPr>
          <p:cNvSpPr/>
          <p:nvPr/>
        </p:nvSpPr>
        <p:spPr>
          <a:xfrm flipH="1">
            <a:off x="-2810" y="2891880"/>
            <a:ext cx="6184038" cy="3542258"/>
          </a:xfrm>
          <a:custGeom>
            <a:avLst/>
            <a:gdLst>
              <a:gd name="connsiteX0" fmla="*/ 5173707 w 6184038"/>
              <a:gd name="connsiteY0" fmla="*/ 687 h 3542258"/>
              <a:gd name="connsiteX1" fmla="*/ 4398274 w 6184038"/>
              <a:gd name="connsiteY1" fmla="*/ 110349 h 3542258"/>
              <a:gd name="connsiteX2" fmla="*/ 3083592 w 6184038"/>
              <a:gd name="connsiteY2" fmla="*/ 968823 h 3542258"/>
              <a:gd name="connsiteX3" fmla="*/ 0 w 6184038"/>
              <a:gd name="connsiteY3" fmla="*/ 3259333 h 3542258"/>
              <a:gd name="connsiteX4" fmla="*/ 1239728 w 6184038"/>
              <a:gd name="connsiteY4" fmla="*/ 3402888 h 3542258"/>
              <a:gd name="connsiteX5" fmla="*/ 3070534 w 6184038"/>
              <a:gd name="connsiteY5" fmla="*/ 3503455 h 3542258"/>
              <a:gd name="connsiteX6" fmla="*/ 6184038 w 6184038"/>
              <a:gd name="connsiteY6" fmla="*/ 1616213 h 3542258"/>
              <a:gd name="connsiteX7" fmla="*/ 6184038 w 6184038"/>
              <a:gd name="connsiteY7" fmla="*/ 51399 h 3542258"/>
              <a:gd name="connsiteX8" fmla="*/ 6155272 w 6184038"/>
              <a:gd name="connsiteY8" fmla="*/ 48664 h 3542258"/>
              <a:gd name="connsiteX9" fmla="*/ 5173707 w 6184038"/>
              <a:gd name="connsiteY9" fmla="*/ 687 h 3542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4038" h="3542258">
                <a:moveTo>
                  <a:pt x="5173707" y="687"/>
                </a:moveTo>
                <a:cubicBezTo>
                  <a:pt x="4877326" y="5545"/>
                  <a:pt x="4615301" y="36674"/>
                  <a:pt x="4398274" y="110349"/>
                </a:cubicBezTo>
                <a:cubicBezTo>
                  <a:pt x="3978454" y="252492"/>
                  <a:pt x="3576465" y="603266"/>
                  <a:pt x="3083592" y="968823"/>
                </a:cubicBezTo>
                <a:lnTo>
                  <a:pt x="0" y="3259333"/>
                </a:lnTo>
                <a:lnTo>
                  <a:pt x="1239728" y="3402888"/>
                </a:lnTo>
                <a:cubicBezTo>
                  <a:pt x="1951619" y="3484801"/>
                  <a:pt x="2562968" y="3604830"/>
                  <a:pt x="3070534" y="3503455"/>
                </a:cubicBezTo>
                <a:cubicBezTo>
                  <a:pt x="3910532" y="3336384"/>
                  <a:pt x="4962151" y="2459672"/>
                  <a:pt x="6184038" y="1616213"/>
                </a:cubicBezTo>
                <a:lnTo>
                  <a:pt x="6184038" y="51399"/>
                </a:lnTo>
                <a:lnTo>
                  <a:pt x="6155272" y="48664"/>
                </a:lnTo>
                <a:cubicBezTo>
                  <a:pt x="5800824" y="17248"/>
                  <a:pt x="5470086" y="-4169"/>
                  <a:pt x="5173707" y="687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3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18" name="Picture 17" descr="A black and white logo&#10;&#10;AI-generated content may be incorrect.">
            <a:extLst>
              <a:ext uri="{FF2B5EF4-FFF2-40B4-BE49-F238E27FC236}">
                <a16:creationId xmlns:a16="http://schemas.microsoft.com/office/drawing/2014/main" id="{40A96097-1FB6-47D2-A50C-3018757C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441326"/>
            <a:ext cx="2071687" cy="6121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DB5D2A-DA2A-47CC-A84D-EDFCEDD8CB51}"/>
              </a:ext>
            </a:extLst>
          </p:cNvPr>
          <p:cNvSpPr/>
          <p:nvPr/>
        </p:nvSpPr>
        <p:spPr>
          <a:xfrm>
            <a:off x="5060656" y="1524729"/>
            <a:ext cx="65804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7200" b="1" spc="-150" dirty="0">
                <a:solidFill>
                  <a:schemeClr val="bg1"/>
                </a:solidFill>
                <a:latin typeface="+mj-lt"/>
              </a:rPr>
              <a:t>THANK YOU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A16C2BC-137D-4F6E-9794-0DA373C7A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150" y="6045476"/>
            <a:ext cx="1559406" cy="613634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A68369D-4684-7A40-87D2-09772E4C392A}"/>
              </a:ext>
            </a:extLst>
          </p:cNvPr>
          <p:cNvGrpSpPr/>
          <p:nvPr/>
        </p:nvGrpSpPr>
        <p:grpSpPr>
          <a:xfrm>
            <a:off x="5153254" y="3042843"/>
            <a:ext cx="5437581" cy="1206053"/>
            <a:chOff x="5153254" y="3111556"/>
            <a:chExt cx="5437581" cy="1206053"/>
          </a:xfrm>
        </p:grpSpPr>
        <p:pic>
          <p:nvPicPr>
            <p:cNvPr id="5" name="Picture 4" descr="A person in a suit&#10;&#10;AI-generated content may be incorrect.">
              <a:extLst>
                <a:ext uri="{FF2B5EF4-FFF2-40B4-BE49-F238E27FC236}">
                  <a16:creationId xmlns:a16="http://schemas.microsoft.com/office/drawing/2014/main" id="{CB89E33D-7622-7227-DF06-C36E7DD09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82" t="56" b="-56"/>
            <a:stretch/>
          </p:blipFill>
          <p:spPr>
            <a:xfrm>
              <a:off x="5153254" y="3111556"/>
              <a:ext cx="1221196" cy="1206053"/>
            </a:xfrm>
            <a:prstGeom prst="ellipse">
              <a:avLst/>
            </a:prstGeom>
            <a:ln w="57150">
              <a:solidFill>
                <a:schemeClr val="bg1"/>
              </a:solidFill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FDCD8E3-CEFC-1221-2D91-8553DDE806BD}"/>
                </a:ext>
              </a:extLst>
            </p:cNvPr>
            <p:cNvSpPr txBox="1"/>
            <p:nvPr/>
          </p:nvSpPr>
          <p:spPr>
            <a:xfrm>
              <a:off x="6588889" y="3252917"/>
              <a:ext cx="400194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Borja García de Soto, PhD, PE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Associate Professor </a:t>
              </a:r>
            </a:p>
            <a:p>
              <a:r>
                <a:rPr lang="en-US" dirty="0">
                  <a:solidFill>
                    <a:schemeClr val="bg1"/>
                  </a:solidFill>
                  <a:latin typeface="Montserrat Medium" pitchFamily="2" charset="77"/>
                </a:rPr>
                <a:t>garcia.de.soto@nyu.edu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8914E23-EC89-83E1-20D1-79D6C4B46F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6487" y="6130451"/>
            <a:ext cx="399088" cy="4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04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Our Robotics Research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Overview</a:t>
            </a:r>
          </a:p>
        </p:txBody>
      </p:sp>
      <p:sp>
        <p:nvSpPr>
          <p:cNvPr id="3" name="Band"/>
          <p:cNvSpPr/>
          <p:nvPr/>
        </p:nvSpPr>
        <p:spPr>
          <a:xfrm>
            <a:off x="0" y="4297680"/>
            <a:ext cx="12191695" cy="256032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multi_hero.jpg"/>
          <p:cNvPicPr>
            <a:picLocks noChangeAspect="1"/>
          </p:cNvPicPr>
          <p:nvPr/>
        </p:nvPicPr>
        <p:blipFill>
          <a:blip r:embed="rId2"/>
          <a:srcRect l="17214" r="17214"/>
          <a:stretch>
            <a:fillRect/>
          </a:stretch>
        </p:blipFill>
        <p:spPr>
          <a:xfrm>
            <a:off x="658368" y="1481328"/>
            <a:ext cx="1865376" cy="1600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85800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Multi-Agent Robotic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Robots and a human split the work to digitize a cluttered site.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SUMMIT-XL · Spot with 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J. Field Robotics 2024</a:t>
            </a:r>
          </a:p>
        </p:txBody>
      </p:sp>
      <p:sp>
        <p:nvSpPr>
          <p:cNvPr id="11" name="Chevron 10"/>
          <p:cNvSpPr/>
          <p:nvPr/>
        </p:nvSpPr>
        <p:spPr>
          <a:xfrm>
            <a:off x="2651760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8064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paca_hero.jpg"/>
          <p:cNvPicPr>
            <a:picLocks noChangeAspect="1"/>
          </p:cNvPicPr>
          <p:nvPr/>
        </p:nvPicPr>
        <p:blipFill>
          <a:blip r:embed="rId3"/>
          <a:srcRect l="17214" r="17214"/>
          <a:stretch>
            <a:fillRect/>
          </a:stretch>
        </p:blipFill>
        <p:spPr>
          <a:xfrm>
            <a:off x="2907792" y="1481328"/>
            <a:ext cx="1865376" cy="16002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2935224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PACA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Workers talk to a robot assistant; a cloud multimodal LLM plans its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Spot with 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ICRA 2025 Workshop</a:t>
            </a:r>
          </a:p>
        </p:txBody>
      </p:sp>
      <p:sp>
        <p:nvSpPr>
          <p:cNvPr id="19" name="Chevron 18"/>
          <p:cNvSpPr/>
          <p:nvPr/>
        </p:nvSpPr>
        <p:spPr>
          <a:xfrm>
            <a:off x="4901183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7488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lisa_hero.jpg"/>
          <p:cNvPicPr>
            <a:picLocks noChangeAspect="1"/>
          </p:cNvPicPr>
          <p:nvPr/>
        </p:nvPicPr>
        <p:blipFill>
          <a:blip r:embed="rId4"/>
          <a:srcRect l="17214" r="17214"/>
          <a:stretch>
            <a:fillRect/>
          </a:stretch>
        </p:blipFill>
        <p:spPr>
          <a:xfrm>
            <a:off x="5157216" y="1481328"/>
            <a:ext cx="1865376" cy="1600200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5184648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87568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LISA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936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The same idea running locally: private, offline, speech-driven safety 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02936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Go2 · Go2-W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CCC 2025 · AutCon 2026</a:t>
            </a:r>
          </a:p>
        </p:txBody>
      </p:sp>
      <p:sp>
        <p:nvSpPr>
          <p:cNvPr id="27" name="Chevron 26"/>
          <p:cNvSpPr/>
          <p:nvPr/>
        </p:nvSpPr>
        <p:spPr>
          <a:xfrm>
            <a:off x="7150607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s_75_robot.jpg"/>
          <p:cNvPicPr>
            <a:picLocks noChangeAspect="1"/>
          </p:cNvPicPr>
          <p:nvPr/>
        </p:nvPicPr>
        <p:blipFill>
          <a:blip r:embed="rId5"/>
          <a:srcRect t="22200" b="22200"/>
          <a:stretch>
            <a:fillRect/>
          </a:stretch>
        </p:blipFill>
        <p:spPr>
          <a:xfrm>
            <a:off x="7406640" y="1481328"/>
            <a:ext cx="1865376" cy="16002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434071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Schedule-driven robot inspections, from capture to published report.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Go2-W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IROS 2026 Workshop</a:t>
            </a:r>
          </a:p>
        </p:txBody>
      </p:sp>
      <p:sp>
        <p:nvSpPr>
          <p:cNvPr id="35" name="Chevron 34"/>
          <p:cNvSpPr/>
          <p:nvPr/>
        </p:nvSpPr>
        <p:spPr>
          <a:xfrm>
            <a:off x="9400032" y="3383280"/>
            <a:ext cx="128016" cy="2743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46336" y="1371600"/>
            <a:ext cx="2084831" cy="480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reel_100.jpg"/>
          <p:cNvPicPr>
            <a:picLocks noChangeAspect="1"/>
          </p:cNvPicPr>
          <p:nvPr/>
        </p:nvPicPr>
        <p:blipFill>
          <a:blip r:embed="rId6"/>
          <a:srcRect l="17214" r="17214"/>
          <a:stretch>
            <a:fillRect/>
          </a:stretch>
        </p:blipFill>
        <p:spPr>
          <a:xfrm>
            <a:off x="9656063" y="1481328"/>
            <a:ext cx="1865376" cy="1600200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9683496" y="3291840"/>
            <a:ext cx="420624" cy="420624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6415" y="3246120"/>
            <a:ext cx="135331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Logistics Challenge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1784" y="3913631"/>
            <a:ext cx="181051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Three robots and five people fill delivery orders together.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01784" y="5074920"/>
            <a:ext cx="181051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B0F8B"/>
                </a:solidFill>
                <a:latin typeface="Montserrat"/>
              </a:rPr>
              <a:t>SUMMIT-XL · Spot · FR3 arm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01784" y="5486400"/>
            <a:ext cx="181051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A5A66"/>
                </a:solidFill>
                <a:latin typeface="Montserrat"/>
              </a:rPr>
              <a:t>Lab demonstration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Introduction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0195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Progress documentation is manual: prepare a camera, walk the site, capture, transfer, upload, write it up.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79191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Repeated inspections are hard to keep consistent and use skilled people's time.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56432"/>
            <a:ext cx="347472" cy="347472"/>
          </a:xfrm>
          <a:prstGeom prst="ellipse">
            <a:avLst/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Existing tools automate one step, not the chain from schedule to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5B0F8B"/>
                </a:solidFill>
                <a:latin typeface="Montserrat"/>
              </a:rPr>
              <a:t>Our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0060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F1F24"/>
                </a:solidFill>
                <a:latin typeface="Montserrat"/>
              </a:rPr>
              <a:t>A recurring schedule sends the Go2-W to each capture point. It captures 360° images, uploads them with full provenance, and SiteScope stores, analyses and helps people publish the report.</a:t>
            </a:r>
          </a:p>
        </p:txBody>
      </p:sp>
      <p:pic>
        <p:nvPicPr>
          <p:cNvPr id="13" name="Picture 12" descr="ss_75.jpg"/>
          <p:cNvPicPr>
            <a:picLocks noChangeAspect="1"/>
          </p:cNvPicPr>
          <p:nvPr/>
        </p:nvPicPr>
        <p:blipFill>
          <a:blip r:embed="rId2"/>
          <a:srcRect l="38" r="38"/>
          <a:stretch>
            <a:fillRect/>
          </a:stretch>
        </p:blipFill>
        <p:spPr>
          <a:xfrm>
            <a:off x="6263640" y="1371600"/>
            <a:ext cx="5376672" cy="30266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263640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46520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−28.2%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end-to-end time per inspection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4617720"/>
            <a:ext cx="2596896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26296" y="4709159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57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5184648"/>
            <a:ext cx="223113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human time, vs 10 min 20 s</a:t>
            </a:r>
          </a:p>
        </p:txBody>
      </p:sp>
      <p:sp>
        <p:nvSpPr>
          <p:cNvPr id="20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[5] Mengiste, Prieto &amp; García de Soto (2026). SiteScope: An end-to-end schedule-driven robotic workflow for construction progress monitoring. IROS 2026 Workshop (camera-ready).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Methodology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sp_bp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12" y="1417320"/>
            <a:ext cx="1072952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Schedule-to-report workflow: one-time setup, recurring manual vs. robotic execution, and the shared review-and-report subprocess C1 [5]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Robot Mission Loop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pm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66848"/>
            <a:ext cx="10908792" cy="38729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What R2 does on every scheduled run, drawn from the SiteScope code. Full detail (cancel, stop, watchdog, failure paths): Media/BPMN/SiteScope, diagrams 11 and 12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Robot and Platform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20624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sp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6377"/>
            <a:ext cx="4023360" cy="21022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62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0F8B"/>
                </a:solidFill>
                <a:latin typeface="Montserrat"/>
              </a:rPr>
              <a:t>Go2-W sensing payload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Insta360 X4: 72 MP 360° photos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Livox MID-360 LiDAR for navigation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Jetson Orin NX + ROS 2 / Nav2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Two routers: ROS and data links</a:t>
            </a:r>
          </a:p>
        </p:txBody>
      </p:sp>
      <p:pic>
        <p:nvPicPr>
          <p:cNvPr id="8" name="Picture 7" descr="ss_42.jpg"/>
          <p:cNvPicPr>
            <a:picLocks noChangeAspect="1"/>
          </p:cNvPicPr>
          <p:nvPr/>
        </p:nvPicPr>
        <p:blipFill>
          <a:blip r:embed="rId3"/>
          <a:srcRect l="94" r="94"/>
          <a:stretch>
            <a:fillRect/>
          </a:stretch>
        </p:blipFill>
        <p:spPr>
          <a:xfrm>
            <a:off x="5029200" y="1325880"/>
            <a:ext cx="2157984" cy="1216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0" y="259689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Schedule it once</a:t>
            </a:r>
          </a:p>
        </p:txBody>
      </p:sp>
      <p:pic>
        <p:nvPicPr>
          <p:cNvPr id="10" name="Picture 9" descr="ss_96.jpg"/>
          <p:cNvPicPr>
            <a:picLocks noChangeAspect="1"/>
          </p:cNvPicPr>
          <p:nvPr/>
        </p:nvPicPr>
        <p:blipFill>
          <a:blip r:embed="rId4"/>
          <a:srcRect l="94" r="94"/>
          <a:stretch>
            <a:fillRect/>
          </a:stretch>
        </p:blipFill>
        <p:spPr>
          <a:xfrm>
            <a:off x="7251192" y="1325880"/>
            <a:ext cx="2157984" cy="12161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1192" y="259689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Every capture checked on board</a:t>
            </a:r>
          </a:p>
        </p:txBody>
      </p:sp>
      <p:pic>
        <p:nvPicPr>
          <p:cNvPr id="12" name="Picture 11" descr="ss_135.jpg"/>
          <p:cNvPicPr>
            <a:picLocks noChangeAspect="1"/>
          </p:cNvPicPr>
          <p:nvPr/>
        </p:nvPicPr>
        <p:blipFill>
          <a:blip r:embed="rId5"/>
          <a:srcRect l="94" r="94"/>
          <a:stretch>
            <a:fillRect/>
          </a:stretch>
        </p:blipFill>
        <p:spPr>
          <a:xfrm>
            <a:off x="9473184" y="1325880"/>
            <a:ext cx="2157984" cy="12161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73184" y="2596896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Auto-Describe: scene, quality, safety</a:t>
            </a:r>
          </a:p>
        </p:txBody>
      </p:sp>
      <p:pic>
        <p:nvPicPr>
          <p:cNvPr id="14" name="Picture 13" descr="ss_144.jpg"/>
          <p:cNvPicPr>
            <a:picLocks noChangeAspect="1"/>
          </p:cNvPicPr>
          <p:nvPr/>
        </p:nvPicPr>
        <p:blipFill>
          <a:blip r:embed="rId6"/>
          <a:srcRect l="94" r="94"/>
          <a:stretch>
            <a:fillRect/>
          </a:stretch>
        </p:blipFill>
        <p:spPr>
          <a:xfrm>
            <a:off x="5029200" y="3182112"/>
            <a:ext cx="2157984" cy="12161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0" y="4453128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Pin what matters</a:t>
            </a:r>
          </a:p>
        </p:txBody>
      </p:sp>
      <p:pic>
        <p:nvPicPr>
          <p:cNvPr id="16" name="Picture 15" descr="ss_150.jpg"/>
          <p:cNvPicPr>
            <a:picLocks noChangeAspect="1"/>
          </p:cNvPicPr>
          <p:nvPr/>
        </p:nvPicPr>
        <p:blipFill>
          <a:blip r:embed="rId7"/>
          <a:srcRect l="94" r="94"/>
          <a:stretch>
            <a:fillRect/>
          </a:stretch>
        </p:blipFill>
        <p:spPr>
          <a:xfrm>
            <a:off x="7251192" y="3182112"/>
            <a:ext cx="2157984" cy="12161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51192" y="4453128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Same room, two dates</a:t>
            </a:r>
          </a:p>
        </p:txBody>
      </p:sp>
      <p:pic>
        <p:nvPicPr>
          <p:cNvPr id="18" name="Picture 17" descr="ss_177.jpg"/>
          <p:cNvPicPr>
            <a:picLocks noChangeAspect="1"/>
          </p:cNvPicPr>
          <p:nvPr/>
        </p:nvPicPr>
        <p:blipFill>
          <a:blip r:embed="rId8"/>
          <a:srcRect l="94" r="94"/>
          <a:stretch>
            <a:fillRect/>
          </a:stretch>
        </p:blipFill>
        <p:spPr>
          <a:xfrm>
            <a:off x="9473184" y="3182112"/>
            <a:ext cx="2157984" cy="12161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73184" y="4453128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F1F24"/>
                </a:solidFill>
                <a:latin typeface="Montserrat"/>
              </a:rPr>
              <a:t>One PDF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074920"/>
            <a:ext cx="6611112" cy="118872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57800" y="5138928"/>
            <a:ext cx="62179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Provenance: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every asset is stored with its project, location, date, mission, waypoint, sensor and robot pose.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Experiment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84632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sp_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06" y="1417320"/>
            <a:ext cx="4626386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0292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Navigation map with home pose H and capture points CP1–CP4 [5]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325880"/>
            <a:ext cx="2194560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sp_sch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31271"/>
            <a:ext cx="2011680" cy="3046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5029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Recurring schedule</a:t>
            </a:r>
          </a:p>
        </p:txBody>
      </p:sp>
      <p:sp>
        <p:nvSpPr>
          <p:cNvPr id="10" name="Oval 9"/>
          <p:cNvSpPr/>
          <p:nvPr/>
        </p:nvSpPr>
        <p:spPr>
          <a:xfrm>
            <a:off x="8046720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353312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Same inspection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645920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4 capture points → 4 × 360° images + 1 PDF report per run.</a:t>
            </a:r>
          </a:p>
        </p:txBody>
      </p:sp>
      <p:sp>
        <p:nvSpPr>
          <p:cNvPr id="13" name="Oval 12"/>
          <p:cNvSpPr/>
          <p:nvPr/>
        </p:nvSpPr>
        <p:spPr>
          <a:xfrm>
            <a:off x="8046720" y="2523744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505456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5 paired trials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798063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10 runs, alternating Manual → Robot and Robot → Manual.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3675887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657599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Same everything else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950207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Route, camera settings (72 MP, HDR off), user, internet, report template.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0" y="4828031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809744"/>
            <a:ext cx="3044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One difference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102351"/>
            <a:ext cx="3044952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Manual camera on a 1.25 m pole; robot camera fixed at 0.67 m.</a:t>
            </a:r>
          </a:p>
        </p:txBody>
      </p:sp>
      <p:sp>
        <p:nvSpPr>
          <p:cNvPr id="22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[5] Mengiste, Prieto &amp; García de Soto (2026). SiteScope: An end-to-end schedule-driven robotic workflow for construction progress monitoring. IROS 2026 Workshop (camera-ready).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Results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658368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17320"/>
          <a:ext cx="64008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60920" y="1325880"/>
            <a:ext cx="4279392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543800" y="1417320"/>
            <a:ext cx="3913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−28.2%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92807"/>
            <a:ext cx="391363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end-to-end: 10:20 → 7:25 per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450592"/>
            <a:ext cx="42793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43800" y="2542032"/>
            <a:ext cx="3913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−99.1%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3017520"/>
            <a:ext cx="391363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human time until images are in SiteScope: 9:28 → 0:05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575304"/>
            <a:ext cx="42793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543800" y="3666744"/>
            <a:ext cx="39136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5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4142232"/>
            <a:ext cx="391363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robot missions completed; 20 / 20 images, 0 retries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80"/>
            <a:ext cx="11091672" cy="1280160"/>
          </a:xfrm>
          <a:prstGeom prst="roundRect">
            <a:avLst>
              <a:gd name="adj" fmla="val 8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5B0F8B"/>
                </a:solidFill>
                <a:latin typeface="Montserrat"/>
              </a:rPr>
              <a:t>Trade-off: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one-time robot setup takes 15:31 (payload, map and home pose, pairing, capture points, schedule) vs 4:47 to plan the manual route. With 9:23 of human time saved per inspection, the extra 10:44 is repaid during the second inspection (our estimate from Tables I–II).</a:t>
            </a:r>
          </a:p>
        </p:txBody>
      </p:sp>
      <p:sp>
        <p:nvSpPr>
          <p:cNvPr id="17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[5] Mengiste, Prieto &amp; García de Soto (2026). SiteScope: An end-to-end schedule-driven robotic workflow for construction progress monitoring. IROS 2026 Workshop (camera-ready).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Captured Evidence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Manual (camera at 1.25 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32588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B0F8B"/>
                </a:solidFill>
                <a:latin typeface="Montserrat"/>
              </a:rPr>
              <a:t>Scheduled robot (camera at 0.67 m)</a:t>
            </a:r>
          </a:p>
        </p:txBody>
      </p:sp>
      <p:pic>
        <p:nvPicPr>
          <p:cNvPr id="6" name="Picture 5" descr="iros_man_CP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737360"/>
            <a:ext cx="3931920" cy="1965960"/>
          </a:xfrm>
          <a:prstGeom prst="rect">
            <a:avLst/>
          </a:prstGeom>
        </p:spPr>
      </p:pic>
      <p:pic>
        <p:nvPicPr>
          <p:cNvPr id="7" name="Picture 6" descr="iros_rob_CP1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17720" y="1737360"/>
            <a:ext cx="3931920" cy="196596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CP1</a:t>
            </a:r>
          </a:p>
        </p:txBody>
      </p:sp>
      <p:pic>
        <p:nvPicPr>
          <p:cNvPr id="9" name="Picture 8" descr="iros_man_CP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48640" y="3931920"/>
            <a:ext cx="3931920" cy="1965960"/>
          </a:xfrm>
          <a:prstGeom prst="rect">
            <a:avLst/>
          </a:prstGeom>
        </p:spPr>
      </p:pic>
      <p:pic>
        <p:nvPicPr>
          <p:cNvPr id="10" name="Picture 9" descr="iros_rob_CP3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17720" y="3931920"/>
            <a:ext cx="3931920" cy="196596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40080" y="4023359"/>
            <a:ext cx="502920" cy="502920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CP3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1325880"/>
            <a:ext cx="2862072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report_p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1625868"/>
            <a:ext cx="2679192" cy="37891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05332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Run 1 panoramas from the experimental package [6]; right: the PDF observation report SiteScope generated from the robot's CP1 image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SiteScope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05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SITESCOPE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sit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a scheduled inspection from robot capture to published report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Overview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06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pic>
        <p:nvPicPr>
          <p:cNvPr id="4" name="Picture 3" descr="reel_8.jpg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548640" y="1325880"/>
            <a:ext cx="658368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325880"/>
            <a:ext cx="1325880" cy="960120"/>
          </a:xfrm>
          <a:prstGeom prst="roundRect">
            <a:avLst>
              <a:gd name="adj" fmla="val 8000"/>
            </a:avLst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43800" y="1417320"/>
            <a:ext cx="9601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92807"/>
            <a:ext cx="9601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people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33104" y="1325880"/>
            <a:ext cx="1325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15984" y="1417320"/>
            <a:ext cx="9601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5984" y="1892807"/>
            <a:ext cx="9601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robots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05288" y="1325880"/>
            <a:ext cx="133502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488167" y="1417320"/>
            <a:ext cx="9692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5B0F8B"/>
                </a:solidFill>
                <a:latin typeface="Montserrat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88167" y="1892807"/>
            <a:ext cx="9692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0F8B"/>
                </a:solidFill>
                <a:latin typeface="Montserrat"/>
              </a:rPr>
              <a:t>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514600"/>
            <a:ext cx="4279392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People and robots work as one team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to complete delivery orders across five stations in the lab.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1F24"/>
                </a:solidFill>
                <a:latin typeface="Montserrat"/>
              </a:rPr>
              <a:t>SUMMIT-XL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carries each order between stations.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1F24"/>
                </a:solidFill>
                <a:latin typeface="Montserrat"/>
              </a:rPr>
              <a:t>Spot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fetches from storage and reads QR codes.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1F24"/>
                </a:solidFill>
                <a:latin typeface="Montserrat"/>
              </a:rPr>
              <a:t>Franka FR3 arm </a:t>
            </a:r>
            <a:r>
              <a:rPr sz="1300" b="0" i="0">
                <a:solidFill>
                  <a:srgbClr val="1F1F24"/>
                </a:solidFill>
                <a:latin typeface="Montserrat"/>
              </a:rPr>
              <a:t>(REACH Lab) transfers packages.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B0F8B"/>
                </a:solidFill>
                <a:latin typeface="Montserrat"/>
              </a:rPr>
              <a:t>A lab demonstration, not a publication. </a:t>
            </a:r>
            <a:r>
              <a:rPr sz="1200" b="0" i="0">
                <a:solidFill>
                  <a:srgbClr val="1F1F24"/>
                </a:solidFill>
                <a:latin typeface="Montserrat"/>
              </a:rPr>
              <a:t>Team: B. García de Soto (SUMMIT-XL, Go2-W, integration), S. A. Prieto (Spot, QR materials), F. Abu-Dakka (REACH Lab, FR3 arm), A. Mengiste (lead software developer).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Order Workflow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06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sp>
        <p:nvSpPr>
          <p:cNvPr id="4" name="Pentagon 3"/>
          <p:cNvSpPr/>
          <p:nvPr/>
        </p:nvSpPr>
        <p:spPr>
          <a:xfrm>
            <a:off x="548640" y="1325880"/>
            <a:ext cx="2212848" cy="502920"/>
          </a:xfrm>
          <a:prstGeom prst="homePlat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1  Order</a:t>
            </a:r>
          </a:p>
        </p:txBody>
      </p:sp>
      <p:pic>
        <p:nvPicPr>
          <p:cNvPr id="6" name="Picture 5" descr="reel_84.jpg"/>
          <p:cNvPicPr>
            <a:picLocks noChangeAspect="1"/>
          </p:cNvPicPr>
          <p:nvPr/>
        </p:nvPicPr>
        <p:blipFill>
          <a:blip r:embed="rId2"/>
          <a:srcRect l="27694" r="27694"/>
          <a:stretch>
            <a:fillRect/>
          </a:stretch>
        </p:blipFill>
        <p:spPr>
          <a:xfrm>
            <a:off x="548640" y="2011680"/>
            <a:ext cx="210312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5488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An order starts with a card at the order counter.</a:t>
            </a:r>
          </a:p>
        </p:txBody>
      </p:sp>
      <p:sp>
        <p:nvSpPr>
          <p:cNvPr id="8" name="Chevron 7"/>
          <p:cNvSpPr/>
          <p:nvPr/>
        </p:nvSpPr>
        <p:spPr>
          <a:xfrm>
            <a:off x="2795320" y="1325880"/>
            <a:ext cx="2212848" cy="502920"/>
          </a:xfrm>
          <a:prstGeom prst="chevron">
            <a:avLst/>
          </a:prstGeom>
          <a:solidFill>
            <a:srgbClr val="B7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9640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2  Handoff</a:t>
            </a:r>
          </a:p>
        </p:txBody>
      </p:sp>
      <p:pic>
        <p:nvPicPr>
          <p:cNvPr id="10" name="Picture 9" descr="reel_100.jpg"/>
          <p:cNvPicPr>
            <a:picLocks noChangeAspect="1"/>
          </p:cNvPicPr>
          <p:nvPr/>
        </p:nvPicPr>
        <p:blipFill>
          <a:blip r:embed="rId3"/>
          <a:srcRect l="27694" r="27694"/>
          <a:stretch>
            <a:fillRect/>
          </a:stretch>
        </p:blipFill>
        <p:spPr>
          <a:xfrm>
            <a:off x="2795320" y="2011680"/>
            <a:ext cx="2103120" cy="2651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95320" y="475488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SUMMIT-XL drives to the handoff; Spot reads the order's QR code.</a:t>
            </a:r>
          </a:p>
        </p:txBody>
      </p:sp>
      <p:sp>
        <p:nvSpPr>
          <p:cNvPr id="12" name="Chevron 11"/>
          <p:cNvSpPr/>
          <p:nvPr/>
        </p:nvSpPr>
        <p:spPr>
          <a:xfrm>
            <a:off x="5042001" y="1325880"/>
            <a:ext cx="2212848" cy="5029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6321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3  Storage</a:t>
            </a:r>
          </a:p>
        </p:txBody>
      </p:sp>
      <p:pic>
        <p:nvPicPr>
          <p:cNvPr id="14" name="Picture 13" descr="reel_108.jpg"/>
          <p:cNvPicPr>
            <a:picLocks noChangeAspect="1"/>
          </p:cNvPicPr>
          <p:nvPr/>
        </p:nvPicPr>
        <p:blipFill>
          <a:blip r:embed="rId4"/>
          <a:srcRect l="27694" r="27694"/>
          <a:stretch>
            <a:fillRect/>
          </a:stretch>
        </p:blipFill>
        <p:spPr>
          <a:xfrm>
            <a:off x="5042001" y="2011680"/>
            <a:ext cx="2103120" cy="2651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2001" y="475488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At storage, the package is shown to Spot's camera and matched.</a:t>
            </a:r>
          </a:p>
        </p:txBody>
      </p:sp>
      <p:sp>
        <p:nvSpPr>
          <p:cNvPr id="16" name="Chevron 15"/>
          <p:cNvSpPr/>
          <p:nvPr/>
        </p:nvSpPr>
        <p:spPr>
          <a:xfrm>
            <a:off x="7288682" y="1325880"/>
            <a:ext cx="2212848" cy="502920"/>
          </a:xfrm>
          <a:prstGeom prst="chevron">
            <a:avLst/>
          </a:prstGeom>
          <a:solidFill>
            <a:srgbClr val="B7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002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4  Arm transfer</a:t>
            </a:r>
          </a:p>
        </p:txBody>
      </p:sp>
      <p:pic>
        <p:nvPicPr>
          <p:cNvPr id="18" name="Picture 17" descr="reel_192.jpg"/>
          <p:cNvPicPr>
            <a:picLocks noChangeAspect="1"/>
          </p:cNvPicPr>
          <p:nvPr/>
        </p:nvPicPr>
        <p:blipFill>
          <a:blip r:embed="rId5"/>
          <a:srcRect l="27694" r="27694"/>
          <a:stretch>
            <a:fillRect/>
          </a:stretch>
        </p:blipFill>
        <p:spPr>
          <a:xfrm>
            <a:off x="7288682" y="2011680"/>
            <a:ext cx="2103120" cy="2651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8682" y="475488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The FR3 arm moves the package onto SUMMIT-XL.</a:t>
            </a:r>
          </a:p>
        </p:txBody>
      </p:sp>
      <p:sp>
        <p:nvSpPr>
          <p:cNvPr id="20" name="Chevron 19"/>
          <p:cNvSpPr/>
          <p:nvPr/>
        </p:nvSpPr>
        <p:spPr>
          <a:xfrm>
            <a:off x="9535363" y="1325880"/>
            <a:ext cx="2212848" cy="502920"/>
          </a:xfrm>
          <a:prstGeom prst="chevron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9683" y="13258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5  Delivery</a:t>
            </a:r>
          </a:p>
        </p:txBody>
      </p:sp>
      <p:pic>
        <p:nvPicPr>
          <p:cNvPr id="22" name="Picture 21" descr="reel_216.jpg"/>
          <p:cNvPicPr>
            <a:picLocks noChangeAspect="1"/>
          </p:cNvPicPr>
          <p:nvPr/>
        </p:nvPicPr>
        <p:blipFill>
          <a:blip r:embed="rId6"/>
          <a:srcRect l="27694" r="27694"/>
          <a:stretch>
            <a:fillRect/>
          </a:stretch>
        </p:blipFill>
        <p:spPr>
          <a:xfrm>
            <a:off x="9535363" y="2011680"/>
            <a:ext cx="2103120" cy="2651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35363" y="4754880"/>
            <a:ext cx="21031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F1F24"/>
                </a:solidFill>
                <a:latin typeface="Montserrat"/>
              </a:rPr>
              <a:t>SUMMIT-XL delivers the order: complete.</a:t>
            </a:r>
          </a:p>
        </p:txBody>
      </p:sp>
      <p:sp>
        <p:nvSpPr>
          <p:cNvPr id="24" name="Citation"/>
          <p:cNvSpPr txBox="1"/>
          <p:nvPr/>
        </p:nvSpPr>
        <p:spPr>
          <a:xfrm>
            <a:off x="548640" y="64282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5A66"/>
                </a:solidFill>
                <a:latin typeface="Montserrat"/>
              </a:rPr>
              <a:t>Stills from the Robot Logistics Challenge video, S.M.A.R.T. Lab, NYU Abu Dhabi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How It Works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06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pic>
        <p:nvPicPr>
          <p:cNvPr id="4" name="Picture 3" descr="reel_48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8640" y="1325880"/>
            <a:ext cx="3657600" cy="2057400"/>
          </a:xfrm>
          <a:prstGeom prst="rect">
            <a:avLst/>
          </a:prstGeom>
        </p:spPr>
      </p:pic>
      <p:pic>
        <p:nvPicPr>
          <p:cNvPr id="5" name="Picture 4" descr="reel_64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" y="3611880"/>
            <a:ext cx="36576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4840" y="137160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B0F8B"/>
                </a:solidFill>
                <a:latin typeface="Montserrat"/>
              </a:rPr>
              <a:t>Voice commands: SUMMIT-XL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Clicker + wireless mic → Whisper on a laptop → matcher picks one of the stations; if none matches, an LLM tries; else the command is rejected → ROS container sends the goal.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365760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B0F8B"/>
                </a:solidFill>
                <a:latin typeface="Montserrat"/>
              </a:rPr>
              <a:t>Voice commands: Spot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Same pipeline on its own computer (Intel NUC) but without an LLM: a parser picks exactly one waypoint. At handoff and storage Spot reads QR codes.</a:t>
            </a:r>
          </a:p>
        </p:txBody>
      </p:sp>
      <p:pic>
        <p:nvPicPr>
          <p:cNvPr id="8" name="Picture 7" descr="reel_152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982712" y="1325880"/>
            <a:ext cx="365760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82712" y="347472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5B0F8B"/>
                </a:solidFill>
                <a:latin typeface="Montserrat"/>
              </a:rPr>
              <a:t>Arm: learning from demonstration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1F24"/>
                </a:solidFill>
                <a:latin typeface="Montserrat"/>
              </a:rPr>
              <a:t>Setup → Teach (guide the arm by hand) → Run; recordings become motion primitives.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2712" y="4754880"/>
            <a:ext cx="3657600" cy="1143000"/>
          </a:xfrm>
          <a:prstGeom prst="rect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65592" y="4818888"/>
            <a:ext cx="3291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ontserrat"/>
              </a:rPr>
              <a:t>Overseer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Cancels any robot's move from a control panel; each robot keeps its own emergency stop.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Robot Logistics Challenge </a:t>
            </a:r>
            <a:r>
              <a:rPr sz="3200" b="1" i="0" spc="-150">
                <a:solidFill>
                  <a:srgbClr val="5B0F8B"/>
                </a:solidFill>
                <a:latin typeface="+mj-lt"/>
              </a:rPr>
              <a:t>| Video</a:t>
            </a:r>
          </a:p>
        </p:txBody>
      </p:sp>
      <p:sp>
        <p:nvSpPr>
          <p:cNvPr id="3" name="Section Tag"/>
          <p:cNvSpPr/>
          <p:nvPr/>
        </p:nvSpPr>
        <p:spPr>
          <a:xfrm>
            <a:off x="10012680" y="502920"/>
            <a:ext cx="1627632" cy="384048"/>
          </a:xfrm>
          <a:prstGeom prst="roundRect">
            <a:avLst>
              <a:gd name="adj" fmla="val 50000"/>
            </a:avLst>
          </a:prstGeom>
          <a:solidFill>
            <a:srgbClr val="F1E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B0F8B"/>
                </a:solidFill>
                <a:latin typeface="Montserrat"/>
              </a:rPr>
              <a:t>06  </a:t>
            </a:r>
            <a:r>
              <a:rPr sz="1000" b="1">
                <a:solidFill>
                  <a:srgbClr val="5B0F8B"/>
                </a:solidFill>
                <a:latin typeface="Montserrat"/>
              </a:rPr>
              <a:t>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255" y="1161288"/>
            <a:ext cx="9473184" cy="539267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90500" dist="25400" dir="5400000" algn="ctr" rotWithShape="0">
              <a:prstClr val="black">
                <a:alpha val="12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ree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32407" y="1234440"/>
            <a:ext cx="9326880" cy="52463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32407" y="6645402"/>
            <a:ext cx="9326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A5A66"/>
                </a:solidFill>
                <a:latin typeface="Montserrat"/>
              </a:rPr>
              <a:t>Full video: one order from start to finish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84048"/>
            <a:ext cx="9509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 spc="-150">
                <a:solidFill>
                  <a:srgbClr val="5B0F8B"/>
                </a:solidFill>
                <a:latin typeface="+mj-lt"/>
              </a:rPr>
              <a:t>References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44168"/>
            <a:ext cx="10469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24"/>
                </a:solidFill>
                <a:latin typeface="Montserrat"/>
              </a:rPr>
              <a:t>Mengiste, A. T., Prieto, S. A., &amp; García de Soto, B. (2026). SiteScope: An end-to-end schedule-driven robotic workflow for construction progress monitoring. IROS 2026 Workshop (camera-ready).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DOI pending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532888"/>
            <a:ext cx="10469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24"/>
                </a:solidFill>
                <a:latin typeface="Montserrat"/>
              </a:rPr>
              <a:t>Mengiste, A. T., Prieto, S. A., &amp; García de Soto, B. (2026). IROS Workshop experimental package for SiteScope. New York University Abu Dhabi.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https://github.com/SMART-NYUAD/sitescope-iros-evaluation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749039"/>
            <a:ext cx="384048" cy="384048"/>
          </a:xfrm>
          <a:prstGeom prst="ellipse">
            <a:avLst/>
          </a:prstGeom>
          <a:solidFill>
            <a:srgbClr val="5B0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21607"/>
            <a:ext cx="10469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1F1F24"/>
                </a:solidFill>
                <a:latin typeface="Montserrat"/>
              </a:rPr>
              <a:t>Gopee, M. A., Prieto, S. A., &amp; García de Soto, B. (2026). Self-hosted multimodal large language models for speech-driven perception and navigation in construction robotics. Automation in Construction, 183, 106805.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5B0F8B"/>
                </a:solidFill>
                <a:latin typeface="Montserrat"/>
              </a:rPr>
              <a:t>https://doi.org/10.1016/j.autcon.2026.106805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0F8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42">
      <a:majorFont>
        <a:latin typeface="Montserrat"/>
        <a:ea typeface=""/>
        <a:cs typeface=""/>
      </a:majorFont>
      <a:minorFont>
        <a:latin typeface="Montserrat Th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3944</Words>
  <Application>Microsoft Office PowerPoint</Application>
  <PresentationFormat>Widescreen</PresentationFormat>
  <Paragraphs>765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Montserrat Medium</vt:lpstr>
      <vt:lpstr>Arial</vt:lpstr>
      <vt:lpstr>Calibri</vt:lpstr>
      <vt:lpstr>Montserrat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zain</dc:creator>
  <cp:lastModifiedBy>Aklile Tilahun Mengiste</cp:lastModifiedBy>
  <cp:revision>109</cp:revision>
  <dcterms:created xsi:type="dcterms:W3CDTF">2026-02-21T11:05:10Z</dcterms:created>
  <dcterms:modified xsi:type="dcterms:W3CDTF">2026-10-24T11:51:51Z</dcterms:modified>
</cp:coreProperties>
</file>
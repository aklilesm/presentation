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media/image150.svg" ContentType="image/svg+xml"/>
  <Override PartName="/ppt/media/image152.svg" ContentType="image/svg+xml"/>
  <Override PartName="/ppt/media/image37.svg" ContentType="image/svg+xml"/>
  <Override PartName="/ppt/media/image6.svg" ContentType="image/svg+xml"/>
  <Override PartName="/ppt/media/image91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4"/>
  </p:notesMasterIdLst>
  <p:sldIdLst>
    <p:sldId id="257" r:id="rId2"/>
    <p:sldId id="260" r:id="rId3"/>
    <p:sldId id="264" r:id="rId6"/>
    <p:sldId id="324" r:id="rId54"/>
    <p:sldId id="311" r:id="rId21"/>
    <p:sldId id="325" r:id="rId55"/>
    <p:sldId id="282" r:id="rId24"/>
    <p:sldId id="322" r:id="rId52"/>
    <p:sldId id="321" r:id="rId51"/>
    <p:sldId id="320" r:id="rId50"/>
    <p:sldId id="326" r:id="rId56"/>
    <p:sldId id="327" r:id="rId57"/>
    <p:sldId id="328" r:id="rId58"/>
    <p:sldId id="329" r:id="rId59"/>
    <p:sldId id="330" r:id="rId60"/>
    <p:sldId id="331" r:id="rId61"/>
    <p:sldId id="332" r:id="rId62"/>
    <p:sldId id="333" r:id="rId63"/>
    <p:sldId id="334" r:id="rId64"/>
    <p:sldId id="335" r:id="rId65"/>
    <p:sldId id="336" r:id="rId66"/>
    <p:sldId id="337" r:id="rId67"/>
    <p:sldId id="338" r:id="rId68"/>
    <p:sldId id="339" r:id="rId69"/>
    <p:sldId id="340" r:id="rId70"/>
    <p:sldId id="341" r:id="rId71"/>
    <p:sldId id="342" r:id="rId72"/>
    <p:sldId id="343" r:id="rId73"/>
    <p:sldId id="344" r:id="rId74"/>
    <p:sldId id="345" r:id="rId75"/>
    <p:sldId id="346" r:id="rId76"/>
    <p:sldId id="347" r:id="rId77"/>
    <p:sldId id="348" r:id="rId78"/>
    <p:sldId id="349" r:id="rId79"/>
    <p:sldId id="350" r:id="rId80"/>
    <p:sldId id="351" r:id="rId81"/>
    <p:sldId id="352" r:id="rId82"/>
    <p:sldId id="353" r:id="rId83"/>
    <p:sldId id="354" r:id="rId84"/>
    <p:sldId id="355" r:id="rId85"/>
    <p:sldId id="319" r:id="rId49"/>
    <p:sldId id="356" r:id="rId86"/>
    <p:sldId id="357" r:id="rId87"/>
    <p:sldId id="358" r:id="rId88"/>
    <p:sldId id="359" r:id="rId89"/>
    <p:sldId id="360" r:id="rId90"/>
    <p:sldId id="361" r:id="rId91"/>
    <p:sldId id="307" r:id="rId33"/>
  </p:sldIdLst>
  <p:sldSz cx="12192000" cy="6858000"/>
  <p:notesSz cx="6858000" cy="9144000"/>
  <p:embeddedFontLst>
    <p:embeddedFont>
      <p:font typeface="Montserrat" panose="00000500000000000000" pitchFamily="2" charset="0"/>
      <p:regular r:id="rId35"/>
      <p:bold r:id="rId36"/>
      <p:italic r:id="rId37"/>
      <p:boldItalic r:id="rId38"/>
    </p:embeddedFont>
    <p:embeddedFont>
      <p:font typeface="Montserrat Light" panose="00000400000000000000" pitchFamily="2" charset="0"/>
      <p:regular r:id="rId39"/>
      <p:italic r:id="rId40"/>
    </p:embeddedFont>
    <p:embeddedFont>
      <p:font typeface="Montserrat Medium" panose="00000600000000000000" pitchFamily="2" charset="0"/>
      <p:regular r:id="rId41"/>
      <p:italic r:id="rId42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C29"/>
    <a:srgbClr val="282828"/>
    <a:srgbClr val="1A2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1" autoAdjust="0"/>
    <p:restoredTop sz="94668" autoAdjust="0"/>
  </p:normalViewPr>
  <p:slideViewPr>
    <p:cSldViewPr snapToGrid="0" showGuides="1">
      <p:cViewPr varScale="1">
        <p:scale>
          <a:sx n="102" d="100"/>
          <a:sy n="102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94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slide" Target="slides/slide5.xml"/><Relationship Id="rId21" Type="http://schemas.openxmlformats.org/officeDocument/2006/relationships/slide" Target="slides/slide20.xml"/><Relationship Id="rId24" Type="http://schemas.openxmlformats.org/officeDocument/2006/relationships/slide" Target="slides/slide27.xml"/><Relationship Id="rId33" Type="http://schemas.openxmlformats.org/officeDocument/2006/relationships/slide" Target="slides/slide38.xml"/><Relationship Id="rId34" Type="http://schemas.openxmlformats.org/officeDocument/2006/relationships/notesMaster" Target="notesMasters/notesMaster1.xml"/><Relationship Id="rId35" Type="http://schemas.openxmlformats.org/officeDocument/2006/relationships/font" Target="fonts/font1.fntdata"/><Relationship Id="rId36" Type="http://schemas.openxmlformats.org/officeDocument/2006/relationships/font" Target="fonts/font2.fntdata"/><Relationship Id="rId37" Type="http://schemas.openxmlformats.org/officeDocument/2006/relationships/font" Target="fonts/font3.fntdata"/><Relationship Id="rId38" Type="http://schemas.openxmlformats.org/officeDocument/2006/relationships/font" Target="fonts/font4.fntdata"/><Relationship Id="rId39" Type="http://schemas.openxmlformats.org/officeDocument/2006/relationships/font" Target="fonts/font5.fntdata"/><Relationship Id="rId40" Type="http://schemas.openxmlformats.org/officeDocument/2006/relationships/font" Target="fonts/font6.fntdata"/><Relationship Id="rId41" Type="http://schemas.openxmlformats.org/officeDocument/2006/relationships/font" Target="fonts/font7.fntdata"/><Relationship Id="rId42" Type="http://schemas.openxmlformats.org/officeDocument/2006/relationships/font" Target="fonts/font8.fntdata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9" Type="http://schemas.openxmlformats.org/officeDocument/2006/relationships/slide" Target="slides/slide22.xml"/><Relationship Id="rId50" Type="http://schemas.openxmlformats.org/officeDocument/2006/relationships/slide" Target="slides/slide21.xml"/><Relationship Id="rId51" Type="http://schemas.openxmlformats.org/officeDocument/2006/relationships/slide" Target="slides/slide29.xml"/><Relationship Id="rId52" Type="http://schemas.openxmlformats.org/officeDocument/2006/relationships/slide" Target="slides/slide28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8" Type="http://schemas.openxmlformats.org/officeDocument/2006/relationships/slide" Target="slides/slide74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1F24"/>
                </a:solidFill>
                <a:latin typeface="Montserrat"/>
              </a:rPr>
              <a:t>Explored area vs. BIM floor plan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Explored area vs. BIM (%)</c:v>
                </c:pt>
              </c:strCache>
            </c:strRef>
          </c:tx>
          <c:spPr>
            <a:solidFill>
              <a:srgbClr val="5B0F8B"/>
            </a:solidFill>
          </c:spPr>
          <c:dPt>
            <c:idx val="1"/>
            <c:spPr>
              <a:solidFill>
                <a:srgbClr val="B78FD9"/>
              </a:solidFill>
            </c:spPr>
          </c:dPt>
          <c:cat>
            <c:strRef>
              <c:f>Sheet1!$A$2:$A$4</c:f>
              <c:strCache>
                <c:ptCount val="3"/>
                <c:pt idx="0">
                  <c:v>Exploring</c:v>
                </c:pt>
                <c:pt idx="1">
                  <c:v>Blocked</c:v>
                </c:pt>
                <c:pt idx="2">
                  <c:v>Cleared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49.54</c:v>
                </c:pt>
                <c:pt idx="1">
                  <c:v>84.53</c:v>
                </c:pt>
                <c:pt idx="2">
                  <c:v>95.79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solidFill>
                    <a:srgbClr val="1F1F24"/>
                  </a:solidFill>
                  <a:latin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D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4E4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A5A66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1F24"/>
                </a:solidFill>
                <a:latin typeface="Montserrat"/>
              </a:rPr>
              <a:t>Mean LLM delay per step (s)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27B edge server</c:v>
                </c:pt>
              </c:strCache>
            </c:strRef>
          </c:tx>
          <c:spPr>
            <a:solidFill>
              <a:srgbClr val="5B0F8B"/>
            </a:solidFill>
          </c:spPr>
          <c:cat>
            <c:strRef>
              <c:f>Sheet1!$A$2:$A$5</c:f>
              <c:strCache>
                <c:ptCount val="4"/>
                <c:pt idx="0">
                  <c:v>Exp 1</c:v>
                </c:pt>
                <c:pt idx="1">
                  <c:v>Exp 2</c:v>
                </c:pt>
                <c:pt idx="2">
                  <c:v>Exp 3</c:v>
                </c:pt>
                <c:pt idx="3">
                  <c:v>Exp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</c:v>
                </c:pt>
                <c:pt idx="1">
                  <c:v>3.01</c:v>
                </c:pt>
                <c:pt idx="2">
                  <c:v>3.11</c:v>
                </c:pt>
                <c:pt idx="3">
                  <c:v>2.36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4B on-robot</c:v>
                </c:pt>
              </c:strCache>
            </c:strRef>
          </c:tx>
          <c:spPr>
            <a:solidFill>
              <a:srgbClr val="B78FD9"/>
            </a:solidFill>
          </c:spPr>
          <c:cat>
            <c:strRef>
              <c:f>Sheet1!$A$2:$A$5</c:f>
              <c:strCache>
                <c:ptCount val="4"/>
                <c:pt idx="0">
                  <c:v>Exp 1</c:v>
                </c:pt>
                <c:pt idx="1">
                  <c:v>Exp 2</c:v>
                </c:pt>
                <c:pt idx="2">
                  <c:v>Exp 3</c:v>
                </c:pt>
                <c:pt idx="3">
                  <c:v>Exp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3.98</c:v>
                </c:pt>
                <c:pt idx="1">
                  <c:v>6.19</c:v>
                </c:pt>
                <c:pt idx="2">
                  <c:v>5.83</c:v>
                </c:pt>
                <c:pt idx="3">
                  <c:v>4.81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F1F24"/>
                  </a:solidFill>
                  <a:latin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D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0"/>
          <c:min val="0.0"/>
        </c:scaling>
        <c:delete val="0"/>
        <c:axPos val="l"/>
        <c:majorGridlines>
          <c:spPr>
            <a:ln>
              <a:solidFill>
                <a:srgbClr val="E4E4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100">
          <a:solidFill>
            <a:srgbClr val="5A5A66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1F24"/>
                </a:solidFill>
                <a:latin typeface="Montserrat"/>
              </a:rPr>
              <a:t>Step success rate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27B edge server</c:v>
                </c:pt>
              </c:strCache>
            </c:strRef>
          </c:tx>
          <c:spPr>
            <a:solidFill>
              <a:srgbClr val="5B0F8B"/>
            </a:solidFill>
          </c:spPr>
          <c:cat>
            <c:strRef>
              <c:f>Sheet1!$A$2:$A$5</c:f>
              <c:strCache>
                <c:ptCount val="4"/>
                <c:pt idx="0">
                  <c:v>Exp 1</c:v>
                </c:pt>
                <c:pt idx="1">
                  <c:v>Exp 2</c:v>
                </c:pt>
                <c:pt idx="2">
                  <c:v>Exp 3</c:v>
                </c:pt>
                <c:pt idx="3">
                  <c:v>Exp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4B on-robot</c:v>
                </c:pt>
              </c:strCache>
            </c:strRef>
          </c:tx>
          <c:spPr>
            <a:solidFill>
              <a:srgbClr val="B78FD9"/>
            </a:solidFill>
          </c:spPr>
          <c:cat>
            <c:strRef>
              <c:f>Sheet1!$A$2:$A$5</c:f>
              <c:strCache>
                <c:ptCount val="4"/>
                <c:pt idx="0">
                  <c:v>Exp 1</c:v>
                </c:pt>
                <c:pt idx="1">
                  <c:v>Exp 2</c:v>
                </c:pt>
                <c:pt idx="2">
                  <c:v>Exp 3</c:v>
                </c:pt>
                <c:pt idx="3">
                  <c:v>Exp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83.3</c:v>
                </c:pt>
                <c:pt idx="3">
                  <c:v>76.5</c:v>
                </c:pt>
              </c:numCache>
            </c:numRef>
          </c:val>
        </c:ser>
        <c:dLbls>
          <c:numFmt formatCode="[=100]0&quot;%&quot;;0.0&quot;%&quot;" sourceLinked="0"/>
          <c:txPr>
            <a:bodyPr/>
            <a:lstStyle/>
            <a:p>
              <a:pPr>
                <a:defRPr sz="1000">
                  <a:solidFill>
                    <a:srgbClr val="1F1F24"/>
                  </a:solidFill>
                  <a:latin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D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 val="0"/>
        <c:axPos val="l"/>
        <c:majorGridlines>
          <c:spPr>
            <a:ln>
              <a:solidFill>
                <a:srgbClr val="E4E4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100">
          <a:solidFill>
            <a:srgbClr val="5A5A66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1F24"/>
                </a:solidFill>
                <a:latin typeface="Montserrat"/>
              </a:rPr>
              <a:t>Average delay by task type (s)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27B edge server</c:v>
                </c:pt>
              </c:strCache>
            </c:strRef>
          </c:tx>
          <c:spPr>
            <a:solidFill>
              <a:srgbClr val="5B0F8B"/>
            </a:solidFill>
          </c:spPr>
          <c:cat>
            <c:strRef>
              <c:f>Sheet1!$A$2:$A$4</c:f>
              <c:strCache>
                <c:ptCount val="3"/>
                <c:pt idx="0">
                  <c:v>Take picture</c:v>
                </c:pt>
                <c:pt idx="1">
                  <c:v>Image analysis</c:v>
                </c:pt>
                <c:pt idx="2">
                  <c:v>Navigation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1.58</c:v>
                </c:pt>
                <c:pt idx="1">
                  <c:v>4.0</c:v>
                </c:pt>
                <c:pt idx="2">
                  <c:v>3.24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4B on-robot</c:v>
                </c:pt>
              </c:strCache>
            </c:strRef>
          </c:tx>
          <c:spPr>
            <a:solidFill>
              <a:srgbClr val="B78FD9"/>
            </a:solidFill>
          </c:spPr>
          <c:cat>
            <c:strRef>
              <c:f>Sheet1!$A$2:$A$4</c:f>
              <c:strCache>
                <c:ptCount val="3"/>
                <c:pt idx="0">
                  <c:v>Take picture</c:v>
                </c:pt>
                <c:pt idx="1">
                  <c:v>Image analysis</c:v>
                </c:pt>
                <c:pt idx="2">
                  <c:v>Navigation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3.36</c:v>
                </c:pt>
                <c:pt idx="1">
                  <c:v>11.98</c:v>
                </c:pt>
                <c:pt idx="2">
                  <c:v>4.73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F1F24"/>
                  </a:solidFill>
                  <a:latin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D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0"/>
          <c:min val="0.0"/>
        </c:scaling>
        <c:delete val="0"/>
        <c:axPos val="l"/>
        <c:majorGridlines>
          <c:spPr>
            <a:ln>
              <a:solidFill>
                <a:srgbClr val="E4E4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100">
          <a:solidFill>
            <a:srgbClr val="5A5A66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1F24"/>
                </a:solidFill>
                <a:latin typeface="Montserrat"/>
              </a:rPr>
              <a:t>Recurring time per inspection (min:s, mean of 5)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Prepare camera (M1) / start robot (R1)</c:v>
                </c:pt>
              </c:strCache>
            </c:strRef>
          </c:tx>
          <c:spPr>
            <a:solidFill>
              <a:srgbClr val="5B0F8B"/>
            </a:solidFill>
          </c:spPr>
          <c:dLbls>
            <c:numFmt formatCode="m:ss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Scheduled robotic</c:v>
                </c:pt>
                <c:pt idx="1">
                  <c:v>Manual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0.001388888888888889</c:v>
                </c:pt>
                <c:pt idx="1">
                  <c:v>0.0016898148148148148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Capture and upload (M2) / mission (R2)</c:v>
                </c:pt>
              </c:strCache>
            </c:strRef>
          </c:tx>
          <c:spPr>
            <a:solidFill>
              <a:srgbClr val="B78FD9"/>
            </a:solidFill>
          </c:spPr>
          <c:dLbls>
            <c:numFmt formatCode="m:ss" sourceLinked="0"/>
            <c:txPr>
              <a:bodyPr/>
              <a:lstStyle/>
              <a:p>
                <a:pPr>
                  <a:defRPr sz="1100">
                    <a:solidFill>
                      <a:srgbClr val="1F1F24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Scheduled robotic</c:v>
                </c:pt>
                <c:pt idx="1">
                  <c:v>Manual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0.003159722222222222</c:v>
                </c:pt>
                <c:pt idx="1">
                  <c:v>0.004884259259259259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Review and publish report (C1)</c:v>
                </c:pt>
              </c:strCache>
            </c:strRef>
          </c:tx>
          <c:spPr>
            <a:solidFill>
              <a:srgbClr val="C9C9D6"/>
            </a:solidFill>
          </c:spPr>
          <c:dLbls>
            <c:numFmt formatCode="m:ss" sourceLinked="0"/>
            <c:txPr>
              <a:bodyPr/>
              <a:lstStyle/>
              <a:p>
                <a:pPr>
                  <a:defRPr sz="1100">
                    <a:solidFill>
                      <a:srgbClr val="1F1F24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Scheduled robotic</c:v>
                </c:pt>
                <c:pt idx="1">
                  <c:v>Manual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0.0006018518518518519</c:v>
                </c:pt>
                <c:pt idx="1">
                  <c:v>0.0006018518518518519</c:v>
                </c:pt>
              </c:numCache>
            </c:numRef>
          </c:val>
        </c:ser>
        <c:dLbls>
          <c:numFmt formatCode="m:ss" sourceLinked="0"/>
          <c:txPr>
            <a:bodyPr/>
            <a:lstStyle/>
            <a:p>
              <a:pPr>
                <a:defRPr sz="1000">
                  <a:solidFill>
                    <a:srgbClr val="1F1F24"/>
                  </a:solidFill>
                  <a:latin typeface="Montserra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D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07638888888888889"/>
          <c:min val="0.0"/>
        </c:scaling>
        <c:delete val="0"/>
        <c:axPos val="b"/>
        <c:majorGridlines>
          <c:spPr>
            <a:ln>
              <a:solidFill>
                <a:srgbClr val="E4E4E8"/>
              </a:solidFill>
            </a:ln>
          </c:spPr>
        </c:majorGridlines>
        <c:numFmt formatCode="m:ss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0.001388888888888889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100">
          <a:solidFill>
            <a:srgbClr val="5A5A66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012E3D-D5E8-4289-BF58-E13AD8E68C2A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C24FA-C163-4AD1-A539-A7EB13D21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316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136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2B7198-A4A3-4860-9D39-F84D7B3C2B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18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ACD6642-189D-0C15-C5BB-5737769C13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5282" y="0"/>
            <a:ext cx="3569110" cy="6858000"/>
          </a:xfrm>
          <a:custGeom>
            <a:avLst/>
            <a:gdLst>
              <a:gd name="connsiteX0" fmla="*/ 0 w 3569110"/>
              <a:gd name="connsiteY0" fmla="*/ 0 h 6858000"/>
              <a:gd name="connsiteX1" fmla="*/ 3569110 w 3569110"/>
              <a:gd name="connsiteY1" fmla="*/ 0 h 6858000"/>
              <a:gd name="connsiteX2" fmla="*/ 3569110 w 3569110"/>
              <a:gd name="connsiteY2" fmla="*/ 6858000 h 6858000"/>
              <a:gd name="connsiteX3" fmla="*/ 0 w 35691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9110" h="6858000">
                <a:moveTo>
                  <a:pt x="0" y="0"/>
                </a:moveTo>
                <a:lnTo>
                  <a:pt x="3569110" y="0"/>
                </a:lnTo>
                <a:lnTo>
                  <a:pt x="356911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7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415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AAE2F7B9-BFBB-4FB2-A6FC-2053D7F1AB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5350" y="156051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71DF27BB-AFA8-48A2-9FDA-158B84995F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97262" y="156051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A86930AD-A4AF-45B4-943A-0C44C3A73B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9452" y="156051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635A2BA7-C589-4CB6-AB8C-BB578F067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00948" y="156051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D53B7A1-0718-4E9C-BF19-CEE2D1387B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5350" y="409099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E3B75DF0-0FE5-4F56-BF6E-A12CF1F6FB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97262" y="409099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7B8A6963-7D8D-45D7-B820-46B337D694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9452" y="409099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7" name="Picture Placeholder 11">
            <a:extLst>
              <a:ext uri="{FF2B5EF4-FFF2-40B4-BE49-F238E27FC236}">
                <a16:creationId xmlns:a16="http://schemas.microsoft.com/office/drawing/2014/main" id="{2F11556F-66DF-410F-B1C6-030171BCC5E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00948" y="409099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6484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24E4F43-2327-1F0A-78CE-226FC7F609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12191998" cy="3182654"/>
          </a:xfrm>
          <a:custGeom>
            <a:avLst/>
            <a:gdLst>
              <a:gd name="connsiteX0" fmla="*/ 0 w 12191998"/>
              <a:gd name="connsiteY0" fmla="*/ 0 h 3182654"/>
              <a:gd name="connsiteX1" fmla="*/ 12191998 w 12191998"/>
              <a:gd name="connsiteY1" fmla="*/ 0 h 3182654"/>
              <a:gd name="connsiteX2" fmla="*/ 12191998 w 12191998"/>
              <a:gd name="connsiteY2" fmla="*/ 2017357 h 3182654"/>
              <a:gd name="connsiteX3" fmla="*/ 6096001 w 12191998"/>
              <a:gd name="connsiteY3" fmla="*/ 3182654 h 3182654"/>
              <a:gd name="connsiteX4" fmla="*/ 0 w 12191998"/>
              <a:gd name="connsiteY4" fmla="*/ 2017357 h 3182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1998" h="3182654">
                <a:moveTo>
                  <a:pt x="0" y="0"/>
                </a:moveTo>
                <a:lnTo>
                  <a:pt x="12191998" y="0"/>
                </a:lnTo>
                <a:lnTo>
                  <a:pt x="12191998" y="2017357"/>
                </a:lnTo>
                <a:lnTo>
                  <a:pt x="6096001" y="3182654"/>
                </a:lnTo>
                <a:lnTo>
                  <a:pt x="0" y="2017357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200"/>
            </a:lvl1pPr>
          </a:lstStyle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15294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ewwr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B0F3A3-F859-4178-9628-AAD7ED63BA1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960670" cy="6858000"/>
          </a:xfrm>
          <a:prstGeom prst="rect">
            <a:avLst/>
          </a:prstGeom>
        </p:spPr>
        <p:txBody>
          <a:bodyPr/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73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5643B10-764A-42B4-A85B-2E110BA18C5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030318"/>
            <a:ext cx="6096000" cy="5827682"/>
          </a:xfrm>
          <a:custGeom>
            <a:avLst/>
            <a:gdLst>
              <a:gd name="connsiteX0" fmla="*/ 0 w 10832122"/>
              <a:gd name="connsiteY0" fmla="*/ 0 h 9324291"/>
              <a:gd name="connsiteX1" fmla="*/ 10832122 w 10832122"/>
              <a:gd name="connsiteY1" fmla="*/ 0 h 9324291"/>
              <a:gd name="connsiteX2" fmla="*/ 10832122 w 10832122"/>
              <a:gd name="connsiteY2" fmla="*/ 9324291 h 9324291"/>
              <a:gd name="connsiteX3" fmla="*/ 0 w 10832122"/>
              <a:gd name="connsiteY3" fmla="*/ 9324291 h 9324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2122" h="9324291">
                <a:moveTo>
                  <a:pt x="0" y="0"/>
                </a:moveTo>
                <a:lnTo>
                  <a:pt x="10832122" y="0"/>
                </a:lnTo>
                <a:lnTo>
                  <a:pt x="10832122" y="9324291"/>
                </a:lnTo>
                <a:lnTo>
                  <a:pt x="0" y="932429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83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C52AB4-AA04-892B-7FD0-742D303D4E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03900" y="0"/>
            <a:ext cx="2805879" cy="4953000"/>
          </a:xfrm>
          <a:custGeom>
            <a:avLst/>
            <a:gdLst>
              <a:gd name="connsiteX0" fmla="*/ 0 w 2805879"/>
              <a:gd name="connsiteY0" fmla="*/ 0 h 4953000"/>
              <a:gd name="connsiteX1" fmla="*/ 2805879 w 2805879"/>
              <a:gd name="connsiteY1" fmla="*/ 0 h 4953000"/>
              <a:gd name="connsiteX2" fmla="*/ 2805879 w 2805879"/>
              <a:gd name="connsiteY2" fmla="*/ 4953000 h 4953000"/>
              <a:gd name="connsiteX3" fmla="*/ 0 w 2805879"/>
              <a:gd name="connsiteY3" fmla="*/ 4953000 h 495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5879" h="4953000">
                <a:moveTo>
                  <a:pt x="0" y="0"/>
                </a:moveTo>
                <a:lnTo>
                  <a:pt x="2805879" y="0"/>
                </a:lnTo>
                <a:lnTo>
                  <a:pt x="2805879" y="4953000"/>
                </a:lnTo>
                <a:lnTo>
                  <a:pt x="0" y="4953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6BBAE86-B830-D0A2-5D3F-AB6CFD9E5C4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835261" y="1905001"/>
            <a:ext cx="2805879" cy="4953000"/>
          </a:xfrm>
          <a:custGeom>
            <a:avLst/>
            <a:gdLst>
              <a:gd name="connsiteX0" fmla="*/ 0 w 2805879"/>
              <a:gd name="connsiteY0" fmla="*/ 0 h 4953000"/>
              <a:gd name="connsiteX1" fmla="*/ 2805879 w 2805879"/>
              <a:gd name="connsiteY1" fmla="*/ 0 h 4953000"/>
              <a:gd name="connsiteX2" fmla="*/ 2805879 w 2805879"/>
              <a:gd name="connsiteY2" fmla="*/ 4953000 h 4953000"/>
              <a:gd name="connsiteX3" fmla="*/ 0 w 2805879"/>
              <a:gd name="connsiteY3" fmla="*/ 4953000 h 495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5879" h="4953000">
                <a:moveTo>
                  <a:pt x="0" y="0"/>
                </a:moveTo>
                <a:lnTo>
                  <a:pt x="2805879" y="0"/>
                </a:lnTo>
                <a:lnTo>
                  <a:pt x="2805879" y="4953000"/>
                </a:lnTo>
                <a:lnTo>
                  <a:pt x="0" y="4953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077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7420CF5-980C-43E3-9644-6E25F95C7282}"/>
              </a:ext>
            </a:extLst>
          </p:cNvPr>
          <p:cNvSpPr/>
          <p:nvPr userDrawn="1"/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7923D0C-6220-4370-9F98-13988C29B2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47450"/>
            <a:ext cx="12192000" cy="5310550"/>
          </a:xfrm>
          <a:custGeom>
            <a:avLst/>
            <a:gdLst>
              <a:gd name="connsiteX0" fmla="*/ 8678413 w 12192000"/>
              <a:gd name="connsiteY0" fmla="*/ 231 h 5310550"/>
              <a:gd name="connsiteX1" fmla="*/ 9078496 w 12192000"/>
              <a:gd name="connsiteY1" fmla="*/ 38804 h 5310550"/>
              <a:gd name="connsiteX2" fmla="*/ 12192000 w 12192000"/>
              <a:gd name="connsiteY2" fmla="*/ 1926046 h 5310550"/>
              <a:gd name="connsiteX3" fmla="*/ 12192000 w 12192000"/>
              <a:gd name="connsiteY3" fmla="*/ 5310550 h 5310550"/>
              <a:gd name="connsiteX4" fmla="*/ 0 w 12192000"/>
              <a:gd name="connsiteY4" fmla="*/ 5310550 h 5310550"/>
              <a:gd name="connsiteX5" fmla="*/ 0 w 12192000"/>
              <a:gd name="connsiteY5" fmla="*/ 978620 h 5310550"/>
              <a:gd name="connsiteX6" fmla="*/ 7247690 w 12192000"/>
              <a:gd name="connsiteY6" fmla="*/ 139371 h 5310550"/>
              <a:gd name="connsiteX7" fmla="*/ 8678413 w 12192000"/>
              <a:gd name="connsiteY7" fmla="*/ 231 h 531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310550">
                <a:moveTo>
                  <a:pt x="8678413" y="231"/>
                </a:moveTo>
                <a:cubicBezTo>
                  <a:pt x="8818227" y="1954"/>
                  <a:pt x="8951605" y="13460"/>
                  <a:pt x="9078496" y="38804"/>
                </a:cubicBezTo>
                <a:cubicBezTo>
                  <a:pt x="9918494" y="205875"/>
                  <a:pt x="10970113" y="1082587"/>
                  <a:pt x="12192000" y="1926046"/>
                </a:cubicBezTo>
                <a:lnTo>
                  <a:pt x="12192000" y="5310550"/>
                </a:lnTo>
                <a:lnTo>
                  <a:pt x="0" y="5310550"/>
                </a:lnTo>
                <a:lnTo>
                  <a:pt x="0" y="978620"/>
                </a:lnTo>
                <a:lnTo>
                  <a:pt x="7247690" y="139371"/>
                </a:lnTo>
                <a:cubicBezTo>
                  <a:pt x="7781609" y="77936"/>
                  <a:pt x="8258972" y="-4939"/>
                  <a:pt x="8678413" y="231"/>
                </a:cubicBez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7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..l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EBB910C-BDAD-7F11-6CD9-57E8DFD8DC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0575" y="2594744"/>
            <a:ext cx="1429030" cy="1087508"/>
          </a:xfrm>
          <a:custGeom>
            <a:avLst/>
            <a:gdLst>
              <a:gd name="connsiteX0" fmla="*/ 1087318 w 1429030"/>
              <a:gd name="connsiteY0" fmla="*/ 1067937 h 1087508"/>
              <a:gd name="connsiteX1" fmla="*/ 1089025 w 1429030"/>
              <a:gd name="connsiteY1" fmla="*/ 1069206 h 1087508"/>
              <a:gd name="connsiteX2" fmla="*/ 1080616 w 1429030"/>
              <a:gd name="connsiteY2" fmla="*/ 1077243 h 1087508"/>
              <a:gd name="connsiteX3" fmla="*/ 663947 w 1429030"/>
              <a:gd name="connsiteY3" fmla="*/ 1935 h 1087508"/>
              <a:gd name="connsiteX4" fmla="*/ 787400 w 1429030"/>
              <a:gd name="connsiteY4" fmla="*/ 2406 h 1087508"/>
              <a:gd name="connsiteX5" fmla="*/ 1301750 w 1429030"/>
              <a:gd name="connsiteY5" fmla="*/ 148456 h 1087508"/>
              <a:gd name="connsiteX6" fmla="*/ 1425575 w 1429030"/>
              <a:gd name="connsiteY6" fmla="*/ 278631 h 1087508"/>
              <a:gd name="connsiteX7" fmla="*/ 1368425 w 1429030"/>
              <a:gd name="connsiteY7" fmla="*/ 688206 h 1087508"/>
              <a:gd name="connsiteX8" fmla="*/ 1104900 w 1429030"/>
              <a:gd name="connsiteY8" fmla="*/ 1043806 h 1087508"/>
              <a:gd name="connsiteX9" fmla="*/ 1090219 w 1429030"/>
              <a:gd name="connsiteY9" fmla="*/ 1063910 h 1087508"/>
              <a:gd name="connsiteX10" fmla="*/ 1087318 w 1429030"/>
              <a:gd name="connsiteY10" fmla="*/ 1067937 h 1087508"/>
              <a:gd name="connsiteX11" fmla="*/ 0 w 1429030"/>
              <a:gd name="connsiteY11" fmla="*/ 259581 h 1087508"/>
              <a:gd name="connsiteX12" fmla="*/ 320675 w 1429030"/>
              <a:gd name="connsiteY12" fmla="*/ 72256 h 1087508"/>
              <a:gd name="connsiteX13" fmla="*/ 663947 w 1429030"/>
              <a:gd name="connsiteY13" fmla="*/ 1935 h 108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9030" h="1087508">
                <a:moveTo>
                  <a:pt x="1087318" y="1067937"/>
                </a:moveTo>
                <a:lnTo>
                  <a:pt x="1089025" y="1069206"/>
                </a:lnTo>
                <a:cubicBezTo>
                  <a:pt x="1077515" y="1083494"/>
                  <a:pt x="1066006" y="1097781"/>
                  <a:pt x="1080616" y="1077243"/>
                </a:cubicBezTo>
                <a:close/>
                <a:moveTo>
                  <a:pt x="663947" y="1935"/>
                </a:moveTo>
                <a:cubicBezTo>
                  <a:pt x="705115" y="-670"/>
                  <a:pt x="746522" y="-769"/>
                  <a:pt x="787400" y="2406"/>
                </a:cubicBezTo>
                <a:cubicBezTo>
                  <a:pt x="950912" y="15106"/>
                  <a:pt x="1195387" y="102418"/>
                  <a:pt x="1301750" y="148456"/>
                </a:cubicBezTo>
                <a:cubicBezTo>
                  <a:pt x="1408113" y="194494"/>
                  <a:pt x="1414463" y="188673"/>
                  <a:pt x="1425575" y="278631"/>
                </a:cubicBezTo>
                <a:cubicBezTo>
                  <a:pt x="1436687" y="368589"/>
                  <a:pt x="1421871" y="560677"/>
                  <a:pt x="1368425" y="688206"/>
                </a:cubicBezTo>
                <a:cubicBezTo>
                  <a:pt x="1314979" y="815735"/>
                  <a:pt x="1151467" y="980306"/>
                  <a:pt x="1104900" y="1043806"/>
                </a:cubicBezTo>
                <a:cubicBezTo>
                  <a:pt x="1099079" y="1051744"/>
                  <a:pt x="1094226" y="1058391"/>
                  <a:pt x="1090219" y="1063910"/>
                </a:cubicBezTo>
                <a:lnTo>
                  <a:pt x="1087318" y="1067937"/>
                </a:lnTo>
                <a:lnTo>
                  <a:pt x="0" y="259581"/>
                </a:lnTo>
                <a:cubicBezTo>
                  <a:pt x="94721" y="187349"/>
                  <a:pt x="189442" y="115118"/>
                  <a:pt x="320675" y="72256"/>
                </a:cubicBezTo>
                <a:cubicBezTo>
                  <a:pt x="419100" y="40110"/>
                  <a:pt x="540445" y="9749"/>
                  <a:pt x="663947" y="193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3529627-2306-AA26-774D-78F85B888B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36865" y="3679912"/>
            <a:ext cx="1304060" cy="1587426"/>
          </a:xfrm>
          <a:custGeom>
            <a:avLst/>
            <a:gdLst>
              <a:gd name="connsiteX0" fmla="*/ 676023 w 1304060"/>
              <a:gd name="connsiteY0" fmla="*/ 2 h 1587426"/>
              <a:gd name="connsiteX1" fmla="*/ 728752 w 1304060"/>
              <a:gd name="connsiteY1" fmla="*/ 48036 h 1587426"/>
              <a:gd name="connsiteX2" fmla="*/ 1088689 w 1304060"/>
              <a:gd name="connsiteY2" fmla="*/ 362982 h 1587426"/>
              <a:gd name="connsiteX3" fmla="*/ 1287941 w 1304060"/>
              <a:gd name="connsiteY3" fmla="*/ 819331 h 1587426"/>
              <a:gd name="connsiteX4" fmla="*/ 1268658 w 1304060"/>
              <a:gd name="connsiteY4" fmla="*/ 1346383 h 1587426"/>
              <a:gd name="connsiteX5" fmla="*/ 1082262 w 1304060"/>
              <a:gd name="connsiteY5" fmla="*/ 1513497 h 1587426"/>
              <a:gd name="connsiteX6" fmla="*/ 407379 w 1304060"/>
              <a:gd name="connsiteY6" fmla="*/ 1584199 h 1587426"/>
              <a:gd name="connsiteX7" fmla="*/ 53868 w 1304060"/>
              <a:gd name="connsiteY7" fmla="*/ 1417085 h 1587426"/>
              <a:gd name="connsiteX8" fmla="*/ 34586 w 1304060"/>
              <a:gd name="connsiteY8" fmla="*/ 1352811 h 1587426"/>
              <a:gd name="connsiteX9" fmla="*/ 376909 w 1304060"/>
              <a:gd name="connsiteY9" fmla="*/ 758737 h 1587426"/>
              <a:gd name="connsiteX10" fmla="*/ 638767 w 1304060"/>
              <a:gd name="connsiteY10" fmla="*/ 80173 h 1587426"/>
              <a:gd name="connsiteX11" fmla="*/ 676023 w 1304060"/>
              <a:gd name="connsiteY11" fmla="*/ 2 h 158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04060" h="1587426">
                <a:moveTo>
                  <a:pt x="676023" y="2"/>
                </a:moveTo>
                <a:cubicBezTo>
                  <a:pt x="681280" y="212"/>
                  <a:pt x="689116" y="21791"/>
                  <a:pt x="728752" y="48036"/>
                </a:cubicBezTo>
                <a:cubicBezTo>
                  <a:pt x="808024" y="100527"/>
                  <a:pt x="995491" y="234432"/>
                  <a:pt x="1088689" y="362982"/>
                </a:cubicBezTo>
                <a:cubicBezTo>
                  <a:pt x="1181888" y="491531"/>
                  <a:pt x="1257946" y="655431"/>
                  <a:pt x="1287941" y="819331"/>
                </a:cubicBezTo>
                <a:cubicBezTo>
                  <a:pt x="1317935" y="983232"/>
                  <a:pt x="1302939" y="1230689"/>
                  <a:pt x="1268658" y="1346383"/>
                </a:cubicBezTo>
                <a:cubicBezTo>
                  <a:pt x="1234378" y="1462078"/>
                  <a:pt x="1225809" y="1473862"/>
                  <a:pt x="1082262" y="1513497"/>
                </a:cubicBezTo>
                <a:cubicBezTo>
                  <a:pt x="938715" y="1553133"/>
                  <a:pt x="578777" y="1600268"/>
                  <a:pt x="407379" y="1584199"/>
                </a:cubicBezTo>
                <a:cubicBezTo>
                  <a:pt x="235980" y="1568131"/>
                  <a:pt x="116000" y="1455650"/>
                  <a:pt x="53868" y="1417085"/>
                </a:cubicBezTo>
                <a:cubicBezTo>
                  <a:pt x="-8263" y="1378521"/>
                  <a:pt x="-19254" y="1462535"/>
                  <a:pt x="34586" y="1352811"/>
                </a:cubicBezTo>
                <a:cubicBezTo>
                  <a:pt x="88426" y="1243086"/>
                  <a:pt x="276213" y="970843"/>
                  <a:pt x="376909" y="758737"/>
                </a:cubicBezTo>
                <a:cubicBezTo>
                  <a:pt x="503006" y="546631"/>
                  <a:pt x="580126" y="198624"/>
                  <a:pt x="638767" y="80173"/>
                </a:cubicBezTo>
                <a:cubicBezTo>
                  <a:pt x="668088" y="20948"/>
                  <a:pt x="670766" y="-209"/>
                  <a:pt x="676023" y="2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FA4586-81B1-C2D1-65B1-B8C3DE4EDF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5662" y="4220219"/>
            <a:ext cx="1688718" cy="1001052"/>
          </a:xfrm>
          <a:custGeom>
            <a:avLst/>
            <a:gdLst>
              <a:gd name="connsiteX0" fmla="*/ 85668 w 1688718"/>
              <a:gd name="connsiteY0" fmla="*/ 0 h 1001052"/>
              <a:gd name="connsiteX1" fmla="*/ 113823 w 1688718"/>
              <a:gd name="connsiteY1" fmla="*/ 9581 h 1001052"/>
              <a:gd name="connsiteX2" fmla="*/ 857760 w 1688718"/>
              <a:gd name="connsiteY2" fmla="*/ 280710 h 1001052"/>
              <a:gd name="connsiteX3" fmla="*/ 1658961 w 1688718"/>
              <a:gd name="connsiteY3" fmla="*/ 354779 h 1001052"/>
              <a:gd name="connsiteX4" fmla="*/ 1688718 w 1688718"/>
              <a:gd name="connsiteY4" fmla="*/ 358114 h 1001052"/>
              <a:gd name="connsiteX5" fmla="*/ 1679789 w 1688718"/>
              <a:gd name="connsiteY5" fmla="*/ 370831 h 1001052"/>
              <a:gd name="connsiteX6" fmla="*/ 1505164 w 1688718"/>
              <a:gd name="connsiteY6" fmla="*/ 612131 h 1001052"/>
              <a:gd name="connsiteX7" fmla="*/ 1209889 w 1688718"/>
              <a:gd name="connsiteY7" fmla="*/ 853431 h 1001052"/>
              <a:gd name="connsiteX8" fmla="*/ 854289 w 1688718"/>
              <a:gd name="connsiteY8" fmla="*/ 980431 h 1001052"/>
              <a:gd name="connsiteX9" fmla="*/ 559014 w 1688718"/>
              <a:gd name="connsiteY9" fmla="*/ 996306 h 1001052"/>
              <a:gd name="connsiteX10" fmla="*/ 285964 w 1688718"/>
              <a:gd name="connsiteY10" fmla="*/ 932806 h 1001052"/>
              <a:gd name="connsiteX11" fmla="*/ 82764 w 1688718"/>
              <a:gd name="connsiteY11" fmla="*/ 828031 h 1001052"/>
              <a:gd name="connsiteX12" fmla="*/ 22439 w 1688718"/>
              <a:gd name="connsiteY12" fmla="*/ 643881 h 1001052"/>
              <a:gd name="connsiteX13" fmla="*/ 3389 w 1688718"/>
              <a:gd name="connsiteY13" fmla="*/ 262881 h 1001052"/>
              <a:gd name="connsiteX14" fmla="*/ 35139 w 1688718"/>
              <a:gd name="connsiteY14" fmla="*/ 120105 h 100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88718" h="1001052">
                <a:moveTo>
                  <a:pt x="85668" y="0"/>
                </a:moveTo>
                <a:lnTo>
                  <a:pt x="113823" y="9581"/>
                </a:lnTo>
                <a:cubicBezTo>
                  <a:pt x="307582" y="71473"/>
                  <a:pt x="549703" y="213306"/>
                  <a:pt x="857760" y="280710"/>
                </a:cubicBezTo>
                <a:cubicBezTo>
                  <a:pt x="1165817" y="348114"/>
                  <a:pt x="1457285" y="328327"/>
                  <a:pt x="1658961" y="354779"/>
                </a:cubicBezTo>
                <a:lnTo>
                  <a:pt x="1688718" y="358114"/>
                </a:lnTo>
                <a:lnTo>
                  <a:pt x="1679789" y="370831"/>
                </a:lnTo>
                <a:cubicBezTo>
                  <a:pt x="1649097" y="413693"/>
                  <a:pt x="1583481" y="531698"/>
                  <a:pt x="1505164" y="612131"/>
                </a:cubicBezTo>
                <a:cubicBezTo>
                  <a:pt x="1426847" y="692564"/>
                  <a:pt x="1318368" y="792048"/>
                  <a:pt x="1209889" y="853431"/>
                </a:cubicBezTo>
                <a:cubicBezTo>
                  <a:pt x="1101410" y="914814"/>
                  <a:pt x="962768" y="956619"/>
                  <a:pt x="854289" y="980431"/>
                </a:cubicBezTo>
                <a:cubicBezTo>
                  <a:pt x="745810" y="1004243"/>
                  <a:pt x="653735" y="1004243"/>
                  <a:pt x="559014" y="996306"/>
                </a:cubicBezTo>
                <a:cubicBezTo>
                  <a:pt x="464293" y="988369"/>
                  <a:pt x="365339" y="960852"/>
                  <a:pt x="285964" y="932806"/>
                </a:cubicBezTo>
                <a:cubicBezTo>
                  <a:pt x="206589" y="904760"/>
                  <a:pt x="126685" y="876185"/>
                  <a:pt x="82764" y="828031"/>
                </a:cubicBezTo>
                <a:cubicBezTo>
                  <a:pt x="38843" y="779877"/>
                  <a:pt x="35668" y="738073"/>
                  <a:pt x="22439" y="643881"/>
                </a:cubicBezTo>
                <a:cubicBezTo>
                  <a:pt x="9210" y="549689"/>
                  <a:pt x="-7194" y="370302"/>
                  <a:pt x="3389" y="262881"/>
                </a:cubicBezTo>
                <a:cubicBezTo>
                  <a:pt x="8681" y="209171"/>
                  <a:pt x="20322" y="162803"/>
                  <a:pt x="35139" y="12010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2247A0-311F-E038-BEF2-682E0E52A2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12844" y="2647465"/>
            <a:ext cx="872856" cy="1327573"/>
          </a:xfrm>
          <a:custGeom>
            <a:avLst/>
            <a:gdLst>
              <a:gd name="connsiteX0" fmla="*/ 845948 w 872856"/>
              <a:gd name="connsiteY0" fmla="*/ 0 h 1327573"/>
              <a:gd name="connsiteX1" fmla="*/ 840458 w 872856"/>
              <a:gd name="connsiteY1" fmla="*/ 31471 h 1327573"/>
              <a:gd name="connsiteX2" fmla="*/ 830125 w 872856"/>
              <a:gd name="connsiteY2" fmla="*/ 682619 h 1327573"/>
              <a:gd name="connsiteX3" fmla="*/ 864406 w 872856"/>
              <a:gd name="connsiteY3" fmla="*/ 1267502 h 1327573"/>
              <a:gd name="connsiteX4" fmla="*/ 872856 w 872856"/>
              <a:gd name="connsiteY4" fmla="*/ 1327573 h 1327573"/>
              <a:gd name="connsiteX5" fmla="*/ 778796 w 872856"/>
              <a:gd name="connsiteY5" fmla="*/ 1289320 h 1327573"/>
              <a:gd name="connsiteX6" fmla="*/ 496468 w 872856"/>
              <a:gd name="connsiteY6" fmla="*/ 1126585 h 1327573"/>
              <a:gd name="connsiteX7" fmla="*/ 176914 w 872856"/>
              <a:gd name="connsiteY7" fmla="*/ 744264 h 1327573"/>
              <a:gd name="connsiteX8" fmla="*/ 2979 w 872856"/>
              <a:gd name="connsiteY8" fmla="*/ 253191 h 1327573"/>
              <a:gd name="connsiteX9" fmla="*/ 17225 w 872856"/>
              <a:gd name="connsiteY9" fmla="*/ 214084 h 1327573"/>
              <a:gd name="connsiteX10" fmla="*/ 314609 w 872856"/>
              <a:gd name="connsiteY10" fmla="*/ 62989 h 1327573"/>
              <a:gd name="connsiteX11" fmla="*/ 715750 w 872856"/>
              <a:gd name="connsiteY11" fmla="*/ 6139 h 1327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2856" h="1327573">
                <a:moveTo>
                  <a:pt x="845948" y="0"/>
                </a:moveTo>
                <a:lnTo>
                  <a:pt x="840458" y="31471"/>
                </a:lnTo>
                <a:cubicBezTo>
                  <a:pt x="827391" y="139040"/>
                  <a:pt x="822690" y="390208"/>
                  <a:pt x="830125" y="682619"/>
                </a:cubicBezTo>
                <a:cubicBezTo>
                  <a:pt x="836320" y="926294"/>
                  <a:pt x="849477" y="1140938"/>
                  <a:pt x="864406" y="1267502"/>
                </a:cubicBezTo>
                <a:lnTo>
                  <a:pt x="872856" y="1327573"/>
                </a:lnTo>
                <a:lnTo>
                  <a:pt x="778796" y="1289320"/>
                </a:lnTo>
                <a:cubicBezTo>
                  <a:pt x="680348" y="1247686"/>
                  <a:pt x="584069" y="1199746"/>
                  <a:pt x="496468" y="1126585"/>
                </a:cubicBezTo>
                <a:cubicBezTo>
                  <a:pt x="379665" y="1029036"/>
                  <a:pt x="259162" y="889830"/>
                  <a:pt x="176914" y="744264"/>
                </a:cubicBezTo>
                <a:cubicBezTo>
                  <a:pt x="94666" y="598699"/>
                  <a:pt x="-19970" y="366737"/>
                  <a:pt x="2979" y="253191"/>
                </a:cubicBezTo>
                <a:cubicBezTo>
                  <a:pt x="5848" y="238998"/>
                  <a:pt x="10685" y="226016"/>
                  <a:pt x="17225" y="214084"/>
                </a:cubicBezTo>
                <a:cubicBezTo>
                  <a:pt x="63006" y="130562"/>
                  <a:pt x="192283" y="98522"/>
                  <a:pt x="314609" y="62989"/>
                </a:cubicBezTo>
                <a:cubicBezTo>
                  <a:pt x="419460" y="32532"/>
                  <a:pt x="566881" y="15474"/>
                  <a:pt x="715750" y="613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D3BC731-C8CB-A5F6-56B1-8D4EDA9189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92489" y="1676560"/>
            <a:ext cx="1186259" cy="1264600"/>
          </a:xfrm>
          <a:custGeom>
            <a:avLst/>
            <a:gdLst>
              <a:gd name="connsiteX0" fmla="*/ 622850 w 1186259"/>
              <a:gd name="connsiteY0" fmla="*/ 89 h 1264600"/>
              <a:gd name="connsiteX1" fmla="*/ 891390 w 1186259"/>
              <a:gd name="connsiteY1" fmla="*/ 197961 h 1264600"/>
              <a:gd name="connsiteX2" fmla="*/ 1122311 w 1186259"/>
              <a:gd name="connsiteY2" fmla="*/ 530860 h 1264600"/>
              <a:gd name="connsiteX3" fmla="*/ 1186259 w 1186259"/>
              <a:gd name="connsiteY3" fmla="*/ 644437 h 1264600"/>
              <a:gd name="connsiteX4" fmla="*/ 1155674 w 1186259"/>
              <a:gd name="connsiteY4" fmla="*/ 653663 h 1264600"/>
              <a:gd name="connsiteX5" fmla="*/ 569223 w 1186259"/>
              <a:gd name="connsiteY5" fmla="*/ 936815 h 1264600"/>
              <a:gd name="connsiteX6" fmla="*/ 62013 w 1186259"/>
              <a:gd name="connsiteY6" fmla="*/ 1230076 h 1264600"/>
              <a:gd name="connsiteX7" fmla="*/ 12133 w 1186259"/>
              <a:gd name="connsiteY7" fmla="*/ 1264600 h 1264600"/>
              <a:gd name="connsiteX8" fmla="*/ 4077 w 1186259"/>
              <a:gd name="connsiteY8" fmla="*/ 1163379 h 1264600"/>
              <a:gd name="connsiteX9" fmla="*/ 22710 w 1186259"/>
              <a:gd name="connsiteY9" fmla="*/ 838041 h 1264600"/>
              <a:gd name="connsiteX10" fmla="*/ 220830 w 1186259"/>
              <a:gd name="connsiteY10" fmla="*/ 380841 h 1264600"/>
              <a:gd name="connsiteX11" fmla="*/ 581510 w 1186259"/>
              <a:gd name="connsiteY11" fmla="*/ 4921 h 1264600"/>
              <a:gd name="connsiteX12" fmla="*/ 622850 w 1186259"/>
              <a:gd name="connsiteY12" fmla="*/ 89 h 126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6259" h="1264600">
                <a:moveTo>
                  <a:pt x="622850" y="89"/>
                </a:moveTo>
                <a:cubicBezTo>
                  <a:pt x="718035" y="3492"/>
                  <a:pt x="804713" y="104616"/>
                  <a:pt x="891390" y="197961"/>
                </a:cubicBezTo>
                <a:cubicBezTo>
                  <a:pt x="965685" y="277971"/>
                  <a:pt x="1047123" y="402034"/>
                  <a:pt x="1122311" y="530860"/>
                </a:cubicBezTo>
                <a:lnTo>
                  <a:pt x="1186259" y="644437"/>
                </a:lnTo>
                <a:lnTo>
                  <a:pt x="1155674" y="653663"/>
                </a:lnTo>
                <a:cubicBezTo>
                  <a:pt x="1053692" y="690289"/>
                  <a:pt x="827158" y="798871"/>
                  <a:pt x="569223" y="936815"/>
                </a:cubicBezTo>
                <a:cubicBezTo>
                  <a:pt x="354277" y="1051768"/>
                  <a:pt x="168397" y="1159906"/>
                  <a:pt x="62013" y="1230076"/>
                </a:cubicBezTo>
                <a:lnTo>
                  <a:pt x="12133" y="1264600"/>
                </a:lnTo>
                <a:lnTo>
                  <a:pt x="4077" y="1163379"/>
                </a:lnTo>
                <a:cubicBezTo>
                  <a:pt x="-2928" y="1056719"/>
                  <a:pt x="-3325" y="949166"/>
                  <a:pt x="22710" y="838041"/>
                </a:cubicBezTo>
                <a:cubicBezTo>
                  <a:pt x="57423" y="689874"/>
                  <a:pt x="127697" y="519694"/>
                  <a:pt x="220830" y="380841"/>
                </a:cubicBezTo>
                <a:cubicBezTo>
                  <a:pt x="313963" y="241988"/>
                  <a:pt x="469750" y="35401"/>
                  <a:pt x="581510" y="4921"/>
                </a:cubicBezTo>
                <a:cubicBezTo>
                  <a:pt x="595480" y="1111"/>
                  <a:pt x="609252" y="-397"/>
                  <a:pt x="622850" y="8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04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..l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2FA8E6-4F47-E593-9A7C-193DB0EE897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11280" y="2519109"/>
            <a:ext cx="1104667" cy="1413865"/>
          </a:xfrm>
          <a:custGeom>
            <a:avLst/>
            <a:gdLst>
              <a:gd name="connsiteX0" fmla="*/ 965748 w 1104667"/>
              <a:gd name="connsiteY0" fmla="*/ 0 h 1413865"/>
              <a:gd name="connsiteX1" fmla="*/ 961882 w 1104667"/>
              <a:gd name="connsiteY1" fmla="*/ 34060 h 1413865"/>
              <a:gd name="connsiteX2" fmla="*/ 1002528 w 1104667"/>
              <a:gd name="connsiteY2" fmla="*/ 729619 h 1413865"/>
              <a:gd name="connsiteX3" fmla="*/ 1089931 w 1104667"/>
              <a:gd name="connsiteY3" fmla="*/ 1350531 h 1413865"/>
              <a:gd name="connsiteX4" fmla="*/ 1104667 w 1104667"/>
              <a:gd name="connsiteY4" fmla="*/ 1413865 h 1413865"/>
              <a:gd name="connsiteX5" fmla="*/ 991679 w 1104667"/>
              <a:gd name="connsiteY5" fmla="*/ 1381397 h 1413865"/>
              <a:gd name="connsiteX6" fmla="*/ 648657 w 1104667"/>
              <a:gd name="connsiteY6" fmla="*/ 1232824 h 1413865"/>
              <a:gd name="connsiteX7" fmla="*/ 244366 w 1104667"/>
              <a:gd name="connsiteY7" fmla="*/ 853299 h 1413865"/>
              <a:gd name="connsiteX8" fmla="*/ 1399 w 1104667"/>
              <a:gd name="connsiteY8" fmla="*/ 344845 h 1413865"/>
              <a:gd name="connsiteX9" fmla="*/ 14876 w 1104667"/>
              <a:gd name="connsiteY9" fmla="*/ 301863 h 1413865"/>
              <a:gd name="connsiteX10" fmla="*/ 350080 w 1104667"/>
              <a:gd name="connsiteY10" fmla="*/ 114308 h 1413865"/>
              <a:gd name="connsiteX11" fmla="*/ 814134 w 1104667"/>
              <a:gd name="connsiteY11" fmla="*/ 18093 h 141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667" h="1413865">
                <a:moveTo>
                  <a:pt x="965748" y="0"/>
                </a:moveTo>
                <a:lnTo>
                  <a:pt x="961882" y="34060"/>
                </a:lnTo>
                <a:cubicBezTo>
                  <a:pt x="955325" y="149973"/>
                  <a:pt x="970167" y="418335"/>
                  <a:pt x="1002528" y="729619"/>
                </a:cubicBezTo>
                <a:cubicBezTo>
                  <a:pt x="1029494" y="989021"/>
                  <a:pt x="1062243" y="1216836"/>
                  <a:pt x="1089931" y="1350531"/>
                </a:cubicBezTo>
                <a:lnTo>
                  <a:pt x="1104667" y="1413865"/>
                </a:lnTo>
                <a:lnTo>
                  <a:pt x="991679" y="1381397"/>
                </a:lnTo>
                <a:cubicBezTo>
                  <a:pt x="873290" y="1345711"/>
                  <a:pt x="756925" y="1303105"/>
                  <a:pt x="648657" y="1232824"/>
                </a:cubicBezTo>
                <a:cubicBezTo>
                  <a:pt x="504297" y="1139115"/>
                  <a:pt x="352242" y="1001295"/>
                  <a:pt x="244366" y="853299"/>
                </a:cubicBezTo>
                <a:cubicBezTo>
                  <a:pt x="136490" y="705303"/>
                  <a:pt x="-16220" y="468011"/>
                  <a:pt x="1399" y="344845"/>
                </a:cubicBezTo>
                <a:cubicBezTo>
                  <a:pt x="3601" y="329450"/>
                  <a:pt x="8202" y="315172"/>
                  <a:pt x="14876" y="301863"/>
                </a:cubicBezTo>
                <a:cubicBezTo>
                  <a:pt x="61601" y="208703"/>
                  <a:pt x="210042" y="163060"/>
                  <a:pt x="350080" y="114308"/>
                </a:cubicBezTo>
                <a:cubicBezTo>
                  <a:pt x="470112" y="72520"/>
                  <a:pt x="640965" y="41251"/>
                  <a:pt x="814134" y="18093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EBB910C-BDAD-7F11-6CD9-57E8DFD8DC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0575" y="2594744"/>
            <a:ext cx="1429030" cy="1087508"/>
          </a:xfrm>
          <a:custGeom>
            <a:avLst/>
            <a:gdLst>
              <a:gd name="connsiteX0" fmla="*/ 1087318 w 1429030"/>
              <a:gd name="connsiteY0" fmla="*/ 1067937 h 1087508"/>
              <a:gd name="connsiteX1" fmla="*/ 1089025 w 1429030"/>
              <a:gd name="connsiteY1" fmla="*/ 1069206 h 1087508"/>
              <a:gd name="connsiteX2" fmla="*/ 1080616 w 1429030"/>
              <a:gd name="connsiteY2" fmla="*/ 1077243 h 1087508"/>
              <a:gd name="connsiteX3" fmla="*/ 663947 w 1429030"/>
              <a:gd name="connsiteY3" fmla="*/ 1935 h 1087508"/>
              <a:gd name="connsiteX4" fmla="*/ 787400 w 1429030"/>
              <a:gd name="connsiteY4" fmla="*/ 2406 h 1087508"/>
              <a:gd name="connsiteX5" fmla="*/ 1301750 w 1429030"/>
              <a:gd name="connsiteY5" fmla="*/ 148456 h 1087508"/>
              <a:gd name="connsiteX6" fmla="*/ 1425575 w 1429030"/>
              <a:gd name="connsiteY6" fmla="*/ 278631 h 1087508"/>
              <a:gd name="connsiteX7" fmla="*/ 1368425 w 1429030"/>
              <a:gd name="connsiteY7" fmla="*/ 688206 h 1087508"/>
              <a:gd name="connsiteX8" fmla="*/ 1104900 w 1429030"/>
              <a:gd name="connsiteY8" fmla="*/ 1043806 h 1087508"/>
              <a:gd name="connsiteX9" fmla="*/ 1090219 w 1429030"/>
              <a:gd name="connsiteY9" fmla="*/ 1063910 h 1087508"/>
              <a:gd name="connsiteX10" fmla="*/ 1087318 w 1429030"/>
              <a:gd name="connsiteY10" fmla="*/ 1067937 h 1087508"/>
              <a:gd name="connsiteX11" fmla="*/ 0 w 1429030"/>
              <a:gd name="connsiteY11" fmla="*/ 259581 h 1087508"/>
              <a:gd name="connsiteX12" fmla="*/ 320675 w 1429030"/>
              <a:gd name="connsiteY12" fmla="*/ 72256 h 1087508"/>
              <a:gd name="connsiteX13" fmla="*/ 663947 w 1429030"/>
              <a:gd name="connsiteY13" fmla="*/ 1935 h 108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9030" h="1087508">
                <a:moveTo>
                  <a:pt x="1087318" y="1067937"/>
                </a:moveTo>
                <a:lnTo>
                  <a:pt x="1089025" y="1069206"/>
                </a:lnTo>
                <a:cubicBezTo>
                  <a:pt x="1077515" y="1083494"/>
                  <a:pt x="1066006" y="1097781"/>
                  <a:pt x="1080616" y="1077243"/>
                </a:cubicBezTo>
                <a:close/>
                <a:moveTo>
                  <a:pt x="663947" y="1935"/>
                </a:moveTo>
                <a:cubicBezTo>
                  <a:pt x="705115" y="-670"/>
                  <a:pt x="746522" y="-769"/>
                  <a:pt x="787400" y="2406"/>
                </a:cubicBezTo>
                <a:cubicBezTo>
                  <a:pt x="950912" y="15106"/>
                  <a:pt x="1195387" y="102418"/>
                  <a:pt x="1301750" y="148456"/>
                </a:cubicBezTo>
                <a:cubicBezTo>
                  <a:pt x="1408113" y="194494"/>
                  <a:pt x="1414463" y="188673"/>
                  <a:pt x="1425575" y="278631"/>
                </a:cubicBezTo>
                <a:cubicBezTo>
                  <a:pt x="1436687" y="368589"/>
                  <a:pt x="1421871" y="560677"/>
                  <a:pt x="1368425" y="688206"/>
                </a:cubicBezTo>
                <a:cubicBezTo>
                  <a:pt x="1314979" y="815735"/>
                  <a:pt x="1151467" y="980306"/>
                  <a:pt x="1104900" y="1043806"/>
                </a:cubicBezTo>
                <a:cubicBezTo>
                  <a:pt x="1099079" y="1051744"/>
                  <a:pt x="1094226" y="1058391"/>
                  <a:pt x="1090219" y="1063910"/>
                </a:cubicBezTo>
                <a:lnTo>
                  <a:pt x="1087318" y="1067937"/>
                </a:lnTo>
                <a:lnTo>
                  <a:pt x="0" y="259581"/>
                </a:lnTo>
                <a:cubicBezTo>
                  <a:pt x="94721" y="187349"/>
                  <a:pt x="189442" y="115118"/>
                  <a:pt x="320675" y="72256"/>
                </a:cubicBezTo>
                <a:cubicBezTo>
                  <a:pt x="419100" y="40110"/>
                  <a:pt x="540445" y="9749"/>
                  <a:pt x="663947" y="193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3529627-2306-AA26-774D-78F85B888B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36865" y="3679912"/>
            <a:ext cx="1304060" cy="1587426"/>
          </a:xfrm>
          <a:custGeom>
            <a:avLst/>
            <a:gdLst>
              <a:gd name="connsiteX0" fmla="*/ 676023 w 1304060"/>
              <a:gd name="connsiteY0" fmla="*/ 2 h 1587426"/>
              <a:gd name="connsiteX1" fmla="*/ 728752 w 1304060"/>
              <a:gd name="connsiteY1" fmla="*/ 48036 h 1587426"/>
              <a:gd name="connsiteX2" fmla="*/ 1088689 w 1304060"/>
              <a:gd name="connsiteY2" fmla="*/ 362982 h 1587426"/>
              <a:gd name="connsiteX3" fmla="*/ 1287941 w 1304060"/>
              <a:gd name="connsiteY3" fmla="*/ 819331 h 1587426"/>
              <a:gd name="connsiteX4" fmla="*/ 1268658 w 1304060"/>
              <a:gd name="connsiteY4" fmla="*/ 1346383 h 1587426"/>
              <a:gd name="connsiteX5" fmla="*/ 1082262 w 1304060"/>
              <a:gd name="connsiteY5" fmla="*/ 1513497 h 1587426"/>
              <a:gd name="connsiteX6" fmla="*/ 407379 w 1304060"/>
              <a:gd name="connsiteY6" fmla="*/ 1584199 h 1587426"/>
              <a:gd name="connsiteX7" fmla="*/ 53868 w 1304060"/>
              <a:gd name="connsiteY7" fmla="*/ 1417085 h 1587426"/>
              <a:gd name="connsiteX8" fmla="*/ 34586 w 1304060"/>
              <a:gd name="connsiteY8" fmla="*/ 1352811 h 1587426"/>
              <a:gd name="connsiteX9" fmla="*/ 376909 w 1304060"/>
              <a:gd name="connsiteY9" fmla="*/ 758737 h 1587426"/>
              <a:gd name="connsiteX10" fmla="*/ 638767 w 1304060"/>
              <a:gd name="connsiteY10" fmla="*/ 80173 h 1587426"/>
              <a:gd name="connsiteX11" fmla="*/ 676023 w 1304060"/>
              <a:gd name="connsiteY11" fmla="*/ 2 h 158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04060" h="1587426">
                <a:moveTo>
                  <a:pt x="676023" y="2"/>
                </a:moveTo>
                <a:cubicBezTo>
                  <a:pt x="681280" y="212"/>
                  <a:pt x="689116" y="21791"/>
                  <a:pt x="728752" y="48036"/>
                </a:cubicBezTo>
                <a:cubicBezTo>
                  <a:pt x="808024" y="100527"/>
                  <a:pt x="995491" y="234432"/>
                  <a:pt x="1088689" y="362982"/>
                </a:cubicBezTo>
                <a:cubicBezTo>
                  <a:pt x="1181888" y="491531"/>
                  <a:pt x="1257946" y="655431"/>
                  <a:pt x="1287941" y="819331"/>
                </a:cubicBezTo>
                <a:cubicBezTo>
                  <a:pt x="1317935" y="983232"/>
                  <a:pt x="1302939" y="1230689"/>
                  <a:pt x="1268658" y="1346383"/>
                </a:cubicBezTo>
                <a:cubicBezTo>
                  <a:pt x="1234378" y="1462078"/>
                  <a:pt x="1225809" y="1473862"/>
                  <a:pt x="1082262" y="1513497"/>
                </a:cubicBezTo>
                <a:cubicBezTo>
                  <a:pt x="938715" y="1553133"/>
                  <a:pt x="578777" y="1600268"/>
                  <a:pt x="407379" y="1584199"/>
                </a:cubicBezTo>
                <a:cubicBezTo>
                  <a:pt x="235980" y="1568131"/>
                  <a:pt x="116000" y="1455650"/>
                  <a:pt x="53868" y="1417085"/>
                </a:cubicBezTo>
                <a:cubicBezTo>
                  <a:pt x="-8263" y="1378521"/>
                  <a:pt x="-19254" y="1462535"/>
                  <a:pt x="34586" y="1352811"/>
                </a:cubicBezTo>
                <a:cubicBezTo>
                  <a:pt x="88426" y="1243086"/>
                  <a:pt x="276213" y="970843"/>
                  <a:pt x="376909" y="758737"/>
                </a:cubicBezTo>
                <a:cubicBezTo>
                  <a:pt x="503006" y="546631"/>
                  <a:pt x="580126" y="198624"/>
                  <a:pt x="638767" y="80173"/>
                </a:cubicBezTo>
                <a:cubicBezTo>
                  <a:pt x="668088" y="20948"/>
                  <a:pt x="670766" y="-209"/>
                  <a:pt x="676023" y="2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FA4586-81B1-C2D1-65B1-B8C3DE4EDF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5662" y="4220219"/>
            <a:ext cx="1688718" cy="1001052"/>
          </a:xfrm>
          <a:custGeom>
            <a:avLst/>
            <a:gdLst>
              <a:gd name="connsiteX0" fmla="*/ 85668 w 1688718"/>
              <a:gd name="connsiteY0" fmla="*/ 0 h 1001052"/>
              <a:gd name="connsiteX1" fmla="*/ 113823 w 1688718"/>
              <a:gd name="connsiteY1" fmla="*/ 9581 h 1001052"/>
              <a:gd name="connsiteX2" fmla="*/ 857760 w 1688718"/>
              <a:gd name="connsiteY2" fmla="*/ 280710 h 1001052"/>
              <a:gd name="connsiteX3" fmla="*/ 1658961 w 1688718"/>
              <a:gd name="connsiteY3" fmla="*/ 354779 h 1001052"/>
              <a:gd name="connsiteX4" fmla="*/ 1688718 w 1688718"/>
              <a:gd name="connsiteY4" fmla="*/ 358114 h 1001052"/>
              <a:gd name="connsiteX5" fmla="*/ 1679789 w 1688718"/>
              <a:gd name="connsiteY5" fmla="*/ 370831 h 1001052"/>
              <a:gd name="connsiteX6" fmla="*/ 1505164 w 1688718"/>
              <a:gd name="connsiteY6" fmla="*/ 612131 h 1001052"/>
              <a:gd name="connsiteX7" fmla="*/ 1209889 w 1688718"/>
              <a:gd name="connsiteY7" fmla="*/ 853431 h 1001052"/>
              <a:gd name="connsiteX8" fmla="*/ 854289 w 1688718"/>
              <a:gd name="connsiteY8" fmla="*/ 980431 h 1001052"/>
              <a:gd name="connsiteX9" fmla="*/ 559014 w 1688718"/>
              <a:gd name="connsiteY9" fmla="*/ 996306 h 1001052"/>
              <a:gd name="connsiteX10" fmla="*/ 285964 w 1688718"/>
              <a:gd name="connsiteY10" fmla="*/ 932806 h 1001052"/>
              <a:gd name="connsiteX11" fmla="*/ 82764 w 1688718"/>
              <a:gd name="connsiteY11" fmla="*/ 828031 h 1001052"/>
              <a:gd name="connsiteX12" fmla="*/ 22439 w 1688718"/>
              <a:gd name="connsiteY12" fmla="*/ 643881 h 1001052"/>
              <a:gd name="connsiteX13" fmla="*/ 3389 w 1688718"/>
              <a:gd name="connsiteY13" fmla="*/ 262881 h 1001052"/>
              <a:gd name="connsiteX14" fmla="*/ 35139 w 1688718"/>
              <a:gd name="connsiteY14" fmla="*/ 120105 h 100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88718" h="1001052">
                <a:moveTo>
                  <a:pt x="85668" y="0"/>
                </a:moveTo>
                <a:lnTo>
                  <a:pt x="113823" y="9581"/>
                </a:lnTo>
                <a:cubicBezTo>
                  <a:pt x="307582" y="71473"/>
                  <a:pt x="549703" y="213306"/>
                  <a:pt x="857760" y="280710"/>
                </a:cubicBezTo>
                <a:cubicBezTo>
                  <a:pt x="1165817" y="348114"/>
                  <a:pt x="1457285" y="328327"/>
                  <a:pt x="1658961" y="354779"/>
                </a:cubicBezTo>
                <a:lnTo>
                  <a:pt x="1688718" y="358114"/>
                </a:lnTo>
                <a:lnTo>
                  <a:pt x="1679789" y="370831"/>
                </a:lnTo>
                <a:cubicBezTo>
                  <a:pt x="1649097" y="413693"/>
                  <a:pt x="1583481" y="531698"/>
                  <a:pt x="1505164" y="612131"/>
                </a:cubicBezTo>
                <a:cubicBezTo>
                  <a:pt x="1426847" y="692564"/>
                  <a:pt x="1318368" y="792048"/>
                  <a:pt x="1209889" y="853431"/>
                </a:cubicBezTo>
                <a:cubicBezTo>
                  <a:pt x="1101410" y="914814"/>
                  <a:pt x="962768" y="956619"/>
                  <a:pt x="854289" y="980431"/>
                </a:cubicBezTo>
                <a:cubicBezTo>
                  <a:pt x="745810" y="1004243"/>
                  <a:pt x="653735" y="1004243"/>
                  <a:pt x="559014" y="996306"/>
                </a:cubicBezTo>
                <a:cubicBezTo>
                  <a:pt x="464293" y="988369"/>
                  <a:pt x="365339" y="960852"/>
                  <a:pt x="285964" y="932806"/>
                </a:cubicBezTo>
                <a:cubicBezTo>
                  <a:pt x="206589" y="904760"/>
                  <a:pt x="126685" y="876185"/>
                  <a:pt x="82764" y="828031"/>
                </a:cubicBezTo>
                <a:cubicBezTo>
                  <a:pt x="38843" y="779877"/>
                  <a:pt x="35668" y="738073"/>
                  <a:pt x="22439" y="643881"/>
                </a:cubicBezTo>
                <a:cubicBezTo>
                  <a:pt x="9210" y="549689"/>
                  <a:pt x="-7194" y="370302"/>
                  <a:pt x="3389" y="262881"/>
                </a:cubicBezTo>
                <a:cubicBezTo>
                  <a:pt x="8681" y="209171"/>
                  <a:pt x="20322" y="162803"/>
                  <a:pt x="35139" y="12010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D3BC731-C8CB-A5F6-56B1-8D4EDA9189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92489" y="1676560"/>
            <a:ext cx="1186259" cy="1264600"/>
          </a:xfrm>
          <a:custGeom>
            <a:avLst/>
            <a:gdLst>
              <a:gd name="connsiteX0" fmla="*/ 622850 w 1186259"/>
              <a:gd name="connsiteY0" fmla="*/ 89 h 1264600"/>
              <a:gd name="connsiteX1" fmla="*/ 891390 w 1186259"/>
              <a:gd name="connsiteY1" fmla="*/ 197961 h 1264600"/>
              <a:gd name="connsiteX2" fmla="*/ 1122311 w 1186259"/>
              <a:gd name="connsiteY2" fmla="*/ 530860 h 1264600"/>
              <a:gd name="connsiteX3" fmla="*/ 1186259 w 1186259"/>
              <a:gd name="connsiteY3" fmla="*/ 644437 h 1264600"/>
              <a:gd name="connsiteX4" fmla="*/ 1155674 w 1186259"/>
              <a:gd name="connsiteY4" fmla="*/ 653663 h 1264600"/>
              <a:gd name="connsiteX5" fmla="*/ 569223 w 1186259"/>
              <a:gd name="connsiteY5" fmla="*/ 936815 h 1264600"/>
              <a:gd name="connsiteX6" fmla="*/ 62013 w 1186259"/>
              <a:gd name="connsiteY6" fmla="*/ 1230076 h 1264600"/>
              <a:gd name="connsiteX7" fmla="*/ 12133 w 1186259"/>
              <a:gd name="connsiteY7" fmla="*/ 1264600 h 1264600"/>
              <a:gd name="connsiteX8" fmla="*/ 4077 w 1186259"/>
              <a:gd name="connsiteY8" fmla="*/ 1163379 h 1264600"/>
              <a:gd name="connsiteX9" fmla="*/ 22710 w 1186259"/>
              <a:gd name="connsiteY9" fmla="*/ 838041 h 1264600"/>
              <a:gd name="connsiteX10" fmla="*/ 220830 w 1186259"/>
              <a:gd name="connsiteY10" fmla="*/ 380841 h 1264600"/>
              <a:gd name="connsiteX11" fmla="*/ 581510 w 1186259"/>
              <a:gd name="connsiteY11" fmla="*/ 4921 h 1264600"/>
              <a:gd name="connsiteX12" fmla="*/ 622850 w 1186259"/>
              <a:gd name="connsiteY12" fmla="*/ 89 h 126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6259" h="1264600">
                <a:moveTo>
                  <a:pt x="622850" y="89"/>
                </a:moveTo>
                <a:cubicBezTo>
                  <a:pt x="718035" y="3492"/>
                  <a:pt x="804713" y="104616"/>
                  <a:pt x="891390" y="197961"/>
                </a:cubicBezTo>
                <a:cubicBezTo>
                  <a:pt x="965685" y="277971"/>
                  <a:pt x="1047123" y="402034"/>
                  <a:pt x="1122311" y="530860"/>
                </a:cubicBezTo>
                <a:lnTo>
                  <a:pt x="1186259" y="644437"/>
                </a:lnTo>
                <a:lnTo>
                  <a:pt x="1155674" y="653663"/>
                </a:lnTo>
                <a:cubicBezTo>
                  <a:pt x="1053692" y="690289"/>
                  <a:pt x="827158" y="798871"/>
                  <a:pt x="569223" y="936815"/>
                </a:cubicBezTo>
                <a:cubicBezTo>
                  <a:pt x="354277" y="1051768"/>
                  <a:pt x="168397" y="1159906"/>
                  <a:pt x="62013" y="1230076"/>
                </a:cubicBezTo>
                <a:lnTo>
                  <a:pt x="12133" y="1264600"/>
                </a:lnTo>
                <a:lnTo>
                  <a:pt x="4077" y="1163379"/>
                </a:lnTo>
                <a:cubicBezTo>
                  <a:pt x="-2928" y="1056719"/>
                  <a:pt x="-3325" y="949166"/>
                  <a:pt x="22710" y="838041"/>
                </a:cubicBezTo>
                <a:cubicBezTo>
                  <a:pt x="57423" y="689874"/>
                  <a:pt x="127697" y="519694"/>
                  <a:pt x="220830" y="380841"/>
                </a:cubicBezTo>
                <a:cubicBezTo>
                  <a:pt x="313963" y="241988"/>
                  <a:pt x="469750" y="35401"/>
                  <a:pt x="581510" y="4921"/>
                </a:cubicBezTo>
                <a:cubicBezTo>
                  <a:pt x="595480" y="1111"/>
                  <a:pt x="609252" y="-397"/>
                  <a:pt x="622850" y="8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83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..l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2FA8E6-4F47-E593-9A7C-193DB0EE897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11280" y="2519109"/>
            <a:ext cx="1104667" cy="1413865"/>
          </a:xfrm>
          <a:custGeom>
            <a:avLst/>
            <a:gdLst>
              <a:gd name="connsiteX0" fmla="*/ 965748 w 1104667"/>
              <a:gd name="connsiteY0" fmla="*/ 0 h 1413865"/>
              <a:gd name="connsiteX1" fmla="*/ 961882 w 1104667"/>
              <a:gd name="connsiteY1" fmla="*/ 34060 h 1413865"/>
              <a:gd name="connsiteX2" fmla="*/ 1002528 w 1104667"/>
              <a:gd name="connsiteY2" fmla="*/ 729619 h 1413865"/>
              <a:gd name="connsiteX3" fmla="*/ 1089931 w 1104667"/>
              <a:gd name="connsiteY3" fmla="*/ 1350531 h 1413865"/>
              <a:gd name="connsiteX4" fmla="*/ 1104667 w 1104667"/>
              <a:gd name="connsiteY4" fmla="*/ 1413865 h 1413865"/>
              <a:gd name="connsiteX5" fmla="*/ 991679 w 1104667"/>
              <a:gd name="connsiteY5" fmla="*/ 1381397 h 1413865"/>
              <a:gd name="connsiteX6" fmla="*/ 648657 w 1104667"/>
              <a:gd name="connsiteY6" fmla="*/ 1232824 h 1413865"/>
              <a:gd name="connsiteX7" fmla="*/ 244366 w 1104667"/>
              <a:gd name="connsiteY7" fmla="*/ 853299 h 1413865"/>
              <a:gd name="connsiteX8" fmla="*/ 1399 w 1104667"/>
              <a:gd name="connsiteY8" fmla="*/ 344845 h 1413865"/>
              <a:gd name="connsiteX9" fmla="*/ 14876 w 1104667"/>
              <a:gd name="connsiteY9" fmla="*/ 301863 h 1413865"/>
              <a:gd name="connsiteX10" fmla="*/ 350080 w 1104667"/>
              <a:gd name="connsiteY10" fmla="*/ 114308 h 1413865"/>
              <a:gd name="connsiteX11" fmla="*/ 814134 w 1104667"/>
              <a:gd name="connsiteY11" fmla="*/ 18093 h 141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667" h="1413865">
                <a:moveTo>
                  <a:pt x="965748" y="0"/>
                </a:moveTo>
                <a:lnTo>
                  <a:pt x="961882" y="34060"/>
                </a:lnTo>
                <a:cubicBezTo>
                  <a:pt x="955325" y="149973"/>
                  <a:pt x="970167" y="418335"/>
                  <a:pt x="1002528" y="729619"/>
                </a:cubicBezTo>
                <a:cubicBezTo>
                  <a:pt x="1029494" y="989021"/>
                  <a:pt x="1062243" y="1216836"/>
                  <a:pt x="1089931" y="1350531"/>
                </a:cubicBezTo>
                <a:lnTo>
                  <a:pt x="1104667" y="1413865"/>
                </a:lnTo>
                <a:lnTo>
                  <a:pt x="991679" y="1381397"/>
                </a:lnTo>
                <a:cubicBezTo>
                  <a:pt x="873290" y="1345711"/>
                  <a:pt x="756925" y="1303105"/>
                  <a:pt x="648657" y="1232824"/>
                </a:cubicBezTo>
                <a:cubicBezTo>
                  <a:pt x="504297" y="1139115"/>
                  <a:pt x="352242" y="1001295"/>
                  <a:pt x="244366" y="853299"/>
                </a:cubicBezTo>
                <a:cubicBezTo>
                  <a:pt x="136490" y="705303"/>
                  <a:pt x="-16220" y="468011"/>
                  <a:pt x="1399" y="344845"/>
                </a:cubicBezTo>
                <a:cubicBezTo>
                  <a:pt x="3601" y="329450"/>
                  <a:pt x="8202" y="315172"/>
                  <a:pt x="14876" y="301863"/>
                </a:cubicBezTo>
                <a:cubicBezTo>
                  <a:pt x="61601" y="208703"/>
                  <a:pt x="210042" y="163060"/>
                  <a:pt x="350080" y="114308"/>
                </a:cubicBezTo>
                <a:cubicBezTo>
                  <a:pt x="470112" y="72520"/>
                  <a:pt x="640965" y="41251"/>
                  <a:pt x="814134" y="18093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EBB910C-BDAD-7F11-6CD9-57E8DFD8DC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0575" y="2594744"/>
            <a:ext cx="1429030" cy="1087508"/>
          </a:xfrm>
          <a:custGeom>
            <a:avLst/>
            <a:gdLst>
              <a:gd name="connsiteX0" fmla="*/ 1087318 w 1429030"/>
              <a:gd name="connsiteY0" fmla="*/ 1067937 h 1087508"/>
              <a:gd name="connsiteX1" fmla="*/ 1089025 w 1429030"/>
              <a:gd name="connsiteY1" fmla="*/ 1069206 h 1087508"/>
              <a:gd name="connsiteX2" fmla="*/ 1080616 w 1429030"/>
              <a:gd name="connsiteY2" fmla="*/ 1077243 h 1087508"/>
              <a:gd name="connsiteX3" fmla="*/ 663947 w 1429030"/>
              <a:gd name="connsiteY3" fmla="*/ 1935 h 1087508"/>
              <a:gd name="connsiteX4" fmla="*/ 787400 w 1429030"/>
              <a:gd name="connsiteY4" fmla="*/ 2406 h 1087508"/>
              <a:gd name="connsiteX5" fmla="*/ 1301750 w 1429030"/>
              <a:gd name="connsiteY5" fmla="*/ 148456 h 1087508"/>
              <a:gd name="connsiteX6" fmla="*/ 1425575 w 1429030"/>
              <a:gd name="connsiteY6" fmla="*/ 278631 h 1087508"/>
              <a:gd name="connsiteX7" fmla="*/ 1368425 w 1429030"/>
              <a:gd name="connsiteY7" fmla="*/ 688206 h 1087508"/>
              <a:gd name="connsiteX8" fmla="*/ 1104900 w 1429030"/>
              <a:gd name="connsiteY8" fmla="*/ 1043806 h 1087508"/>
              <a:gd name="connsiteX9" fmla="*/ 1090219 w 1429030"/>
              <a:gd name="connsiteY9" fmla="*/ 1063910 h 1087508"/>
              <a:gd name="connsiteX10" fmla="*/ 1087318 w 1429030"/>
              <a:gd name="connsiteY10" fmla="*/ 1067937 h 1087508"/>
              <a:gd name="connsiteX11" fmla="*/ 0 w 1429030"/>
              <a:gd name="connsiteY11" fmla="*/ 259581 h 1087508"/>
              <a:gd name="connsiteX12" fmla="*/ 320675 w 1429030"/>
              <a:gd name="connsiteY12" fmla="*/ 72256 h 1087508"/>
              <a:gd name="connsiteX13" fmla="*/ 663947 w 1429030"/>
              <a:gd name="connsiteY13" fmla="*/ 1935 h 108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9030" h="1087508">
                <a:moveTo>
                  <a:pt x="1087318" y="1067937"/>
                </a:moveTo>
                <a:lnTo>
                  <a:pt x="1089025" y="1069206"/>
                </a:lnTo>
                <a:cubicBezTo>
                  <a:pt x="1077515" y="1083494"/>
                  <a:pt x="1066006" y="1097781"/>
                  <a:pt x="1080616" y="1077243"/>
                </a:cubicBezTo>
                <a:close/>
                <a:moveTo>
                  <a:pt x="663947" y="1935"/>
                </a:moveTo>
                <a:cubicBezTo>
                  <a:pt x="705115" y="-670"/>
                  <a:pt x="746522" y="-769"/>
                  <a:pt x="787400" y="2406"/>
                </a:cubicBezTo>
                <a:cubicBezTo>
                  <a:pt x="950912" y="15106"/>
                  <a:pt x="1195387" y="102418"/>
                  <a:pt x="1301750" y="148456"/>
                </a:cubicBezTo>
                <a:cubicBezTo>
                  <a:pt x="1408113" y="194494"/>
                  <a:pt x="1414463" y="188673"/>
                  <a:pt x="1425575" y="278631"/>
                </a:cubicBezTo>
                <a:cubicBezTo>
                  <a:pt x="1436687" y="368589"/>
                  <a:pt x="1421871" y="560677"/>
                  <a:pt x="1368425" y="688206"/>
                </a:cubicBezTo>
                <a:cubicBezTo>
                  <a:pt x="1314979" y="815735"/>
                  <a:pt x="1151467" y="980306"/>
                  <a:pt x="1104900" y="1043806"/>
                </a:cubicBezTo>
                <a:cubicBezTo>
                  <a:pt x="1099079" y="1051744"/>
                  <a:pt x="1094226" y="1058391"/>
                  <a:pt x="1090219" y="1063910"/>
                </a:cubicBezTo>
                <a:lnTo>
                  <a:pt x="1087318" y="1067937"/>
                </a:lnTo>
                <a:lnTo>
                  <a:pt x="0" y="259581"/>
                </a:lnTo>
                <a:cubicBezTo>
                  <a:pt x="94721" y="187349"/>
                  <a:pt x="189442" y="115118"/>
                  <a:pt x="320675" y="72256"/>
                </a:cubicBezTo>
                <a:cubicBezTo>
                  <a:pt x="419100" y="40110"/>
                  <a:pt x="540445" y="9749"/>
                  <a:pt x="663947" y="193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3529627-2306-AA26-774D-78F85B888B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36865" y="3679912"/>
            <a:ext cx="1304060" cy="1587426"/>
          </a:xfrm>
          <a:custGeom>
            <a:avLst/>
            <a:gdLst>
              <a:gd name="connsiteX0" fmla="*/ 676023 w 1304060"/>
              <a:gd name="connsiteY0" fmla="*/ 2 h 1587426"/>
              <a:gd name="connsiteX1" fmla="*/ 728752 w 1304060"/>
              <a:gd name="connsiteY1" fmla="*/ 48036 h 1587426"/>
              <a:gd name="connsiteX2" fmla="*/ 1088689 w 1304060"/>
              <a:gd name="connsiteY2" fmla="*/ 362982 h 1587426"/>
              <a:gd name="connsiteX3" fmla="*/ 1287941 w 1304060"/>
              <a:gd name="connsiteY3" fmla="*/ 819331 h 1587426"/>
              <a:gd name="connsiteX4" fmla="*/ 1268658 w 1304060"/>
              <a:gd name="connsiteY4" fmla="*/ 1346383 h 1587426"/>
              <a:gd name="connsiteX5" fmla="*/ 1082262 w 1304060"/>
              <a:gd name="connsiteY5" fmla="*/ 1513497 h 1587426"/>
              <a:gd name="connsiteX6" fmla="*/ 407379 w 1304060"/>
              <a:gd name="connsiteY6" fmla="*/ 1584199 h 1587426"/>
              <a:gd name="connsiteX7" fmla="*/ 53868 w 1304060"/>
              <a:gd name="connsiteY7" fmla="*/ 1417085 h 1587426"/>
              <a:gd name="connsiteX8" fmla="*/ 34586 w 1304060"/>
              <a:gd name="connsiteY8" fmla="*/ 1352811 h 1587426"/>
              <a:gd name="connsiteX9" fmla="*/ 376909 w 1304060"/>
              <a:gd name="connsiteY9" fmla="*/ 758737 h 1587426"/>
              <a:gd name="connsiteX10" fmla="*/ 638767 w 1304060"/>
              <a:gd name="connsiteY10" fmla="*/ 80173 h 1587426"/>
              <a:gd name="connsiteX11" fmla="*/ 676023 w 1304060"/>
              <a:gd name="connsiteY11" fmla="*/ 2 h 158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04060" h="1587426">
                <a:moveTo>
                  <a:pt x="676023" y="2"/>
                </a:moveTo>
                <a:cubicBezTo>
                  <a:pt x="681280" y="212"/>
                  <a:pt x="689116" y="21791"/>
                  <a:pt x="728752" y="48036"/>
                </a:cubicBezTo>
                <a:cubicBezTo>
                  <a:pt x="808024" y="100527"/>
                  <a:pt x="995491" y="234432"/>
                  <a:pt x="1088689" y="362982"/>
                </a:cubicBezTo>
                <a:cubicBezTo>
                  <a:pt x="1181888" y="491531"/>
                  <a:pt x="1257946" y="655431"/>
                  <a:pt x="1287941" y="819331"/>
                </a:cubicBezTo>
                <a:cubicBezTo>
                  <a:pt x="1317935" y="983232"/>
                  <a:pt x="1302939" y="1230689"/>
                  <a:pt x="1268658" y="1346383"/>
                </a:cubicBezTo>
                <a:cubicBezTo>
                  <a:pt x="1234378" y="1462078"/>
                  <a:pt x="1225809" y="1473862"/>
                  <a:pt x="1082262" y="1513497"/>
                </a:cubicBezTo>
                <a:cubicBezTo>
                  <a:pt x="938715" y="1553133"/>
                  <a:pt x="578777" y="1600268"/>
                  <a:pt x="407379" y="1584199"/>
                </a:cubicBezTo>
                <a:cubicBezTo>
                  <a:pt x="235980" y="1568131"/>
                  <a:pt x="116000" y="1455650"/>
                  <a:pt x="53868" y="1417085"/>
                </a:cubicBezTo>
                <a:cubicBezTo>
                  <a:pt x="-8263" y="1378521"/>
                  <a:pt x="-19254" y="1462535"/>
                  <a:pt x="34586" y="1352811"/>
                </a:cubicBezTo>
                <a:cubicBezTo>
                  <a:pt x="88426" y="1243086"/>
                  <a:pt x="276213" y="970843"/>
                  <a:pt x="376909" y="758737"/>
                </a:cubicBezTo>
                <a:cubicBezTo>
                  <a:pt x="503006" y="546631"/>
                  <a:pt x="580126" y="198624"/>
                  <a:pt x="638767" y="80173"/>
                </a:cubicBezTo>
                <a:cubicBezTo>
                  <a:pt x="668088" y="20948"/>
                  <a:pt x="670766" y="-209"/>
                  <a:pt x="676023" y="2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FA4586-81B1-C2D1-65B1-B8C3DE4EDF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5662" y="4220219"/>
            <a:ext cx="1688718" cy="1001052"/>
          </a:xfrm>
          <a:custGeom>
            <a:avLst/>
            <a:gdLst>
              <a:gd name="connsiteX0" fmla="*/ 85668 w 1688718"/>
              <a:gd name="connsiteY0" fmla="*/ 0 h 1001052"/>
              <a:gd name="connsiteX1" fmla="*/ 113823 w 1688718"/>
              <a:gd name="connsiteY1" fmla="*/ 9581 h 1001052"/>
              <a:gd name="connsiteX2" fmla="*/ 857760 w 1688718"/>
              <a:gd name="connsiteY2" fmla="*/ 280710 h 1001052"/>
              <a:gd name="connsiteX3" fmla="*/ 1658961 w 1688718"/>
              <a:gd name="connsiteY3" fmla="*/ 354779 h 1001052"/>
              <a:gd name="connsiteX4" fmla="*/ 1688718 w 1688718"/>
              <a:gd name="connsiteY4" fmla="*/ 358114 h 1001052"/>
              <a:gd name="connsiteX5" fmla="*/ 1679789 w 1688718"/>
              <a:gd name="connsiteY5" fmla="*/ 370831 h 1001052"/>
              <a:gd name="connsiteX6" fmla="*/ 1505164 w 1688718"/>
              <a:gd name="connsiteY6" fmla="*/ 612131 h 1001052"/>
              <a:gd name="connsiteX7" fmla="*/ 1209889 w 1688718"/>
              <a:gd name="connsiteY7" fmla="*/ 853431 h 1001052"/>
              <a:gd name="connsiteX8" fmla="*/ 854289 w 1688718"/>
              <a:gd name="connsiteY8" fmla="*/ 980431 h 1001052"/>
              <a:gd name="connsiteX9" fmla="*/ 559014 w 1688718"/>
              <a:gd name="connsiteY9" fmla="*/ 996306 h 1001052"/>
              <a:gd name="connsiteX10" fmla="*/ 285964 w 1688718"/>
              <a:gd name="connsiteY10" fmla="*/ 932806 h 1001052"/>
              <a:gd name="connsiteX11" fmla="*/ 82764 w 1688718"/>
              <a:gd name="connsiteY11" fmla="*/ 828031 h 1001052"/>
              <a:gd name="connsiteX12" fmla="*/ 22439 w 1688718"/>
              <a:gd name="connsiteY12" fmla="*/ 643881 h 1001052"/>
              <a:gd name="connsiteX13" fmla="*/ 3389 w 1688718"/>
              <a:gd name="connsiteY13" fmla="*/ 262881 h 1001052"/>
              <a:gd name="connsiteX14" fmla="*/ 35139 w 1688718"/>
              <a:gd name="connsiteY14" fmla="*/ 120105 h 100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88718" h="1001052">
                <a:moveTo>
                  <a:pt x="85668" y="0"/>
                </a:moveTo>
                <a:lnTo>
                  <a:pt x="113823" y="9581"/>
                </a:lnTo>
                <a:cubicBezTo>
                  <a:pt x="307582" y="71473"/>
                  <a:pt x="549703" y="213306"/>
                  <a:pt x="857760" y="280710"/>
                </a:cubicBezTo>
                <a:cubicBezTo>
                  <a:pt x="1165817" y="348114"/>
                  <a:pt x="1457285" y="328327"/>
                  <a:pt x="1658961" y="354779"/>
                </a:cubicBezTo>
                <a:lnTo>
                  <a:pt x="1688718" y="358114"/>
                </a:lnTo>
                <a:lnTo>
                  <a:pt x="1679789" y="370831"/>
                </a:lnTo>
                <a:cubicBezTo>
                  <a:pt x="1649097" y="413693"/>
                  <a:pt x="1583481" y="531698"/>
                  <a:pt x="1505164" y="612131"/>
                </a:cubicBezTo>
                <a:cubicBezTo>
                  <a:pt x="1426847" y="692564"/>
                  <a:pt x="1318368" y="792048"/>
                  <a:pt x="1209889" y="853431"/>
                </a:cubicBezTo>
                <a:cubicBezTo>
                  <a:pt x="1101410" y="914814"/>
                  <a:pt x="962768" y="956619"/>
                  <a:pt x="854289" y="980431"/>
                </a:cubicBezTo>
                <a:cubicBezTo>
                  <a:pt x="745810" y="1004243"/>
                  <a:pt x="653735" y="1004243"/>
                  <a:pt x="559014" y="996306"/>
                </a:cubicBezTo>
                <a:cubicBezTo>
                  <a:pt x="464293" y="988369"/>
                  <a:pt x="365339" y="960852"/>
                  <a:pt x="285964" y="932806"/>
                </a:cubicBezTo>
                <a:cubicBezTo>
                  <a:pt x="206589" y="904760"/>
                  <a:pt x="126685" y="876185"/>
                  <a:pt x="82764" y="828031"/>
                </a:cubicBezTo>
                <a:cubicBezTo>
                  <a:pt x="38843" y="779877"/>
                  <a:pt x="35668" y="738073"/>
                  <a:pt x="22439" y="643881"/>
                </a:cubicBezTo>
                <a:cubicBezTo>
                  <a:pt x="9210" y="549689"/>
                  <a:pt x="-7194" y="370302"/>
                  <a:pt x="3389" y="262881"/>
                </a:cubicBezTo>
                <a:cubicBezTo>
                  <a:pt x="8681" y="209171"/>
                  <a:pt x="20322" y="162803"/>
                  <a:pt x="35139" y="12010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D3BC731-C8CB-A5F6-56B1-8D4EDA9189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92489" y="1676560"/>
            <a:ext cx="1186259" cy="1264600"/>
          </a:xfrm>
          <a:custGeom>
            <a:avLst/>
            <a:gdLst>
              <a:gd name="connsiteX0" fmla="*/ 622850 w 1186259"/>
              <a:gd name="connsiteY0" fmla="*/ 89 h 1264600"/>
              <a:gd name="connsiteX1" fmla="*/ 891390 w 1186259"/>
              <a:gd name="connsiteY1" fmla="*/ 197961 h 1264600"/>
              <a:gd name="connsiteX2" fmla="*/ 1122311 w 1186259"/>
              <a:gd name="connsiteY2" fmla="*/ 530860 h 1264600"/>
              <a:gd name="connsiteX3" fmla="*/ 1186259 w 1186259"/>
              <a:gd name="connsiteY3" fmla="*/ 644437 h 1264600"/>
              <a:gd name="connsiteX4" fmla="*/ 1155674 w 1186259"/>
              <a:gd name="connsiteY4" fmla="*/ 653663 h 1264600"/>
              <a:gd name="connsiteX5" fmla="*/ 569223 w 1186259"/>
              <a:gd name="connsiteY5" fmla="*/ 936815 h 1264600"/>
              <a:gd name="connsiteX6" fmla="*/ 62013 w 1186259"/>
              <a:gd name="connsiteY6" fmla="*/ 1230076 h 1264600"/>
              <a:gd name="connsiteX7" fmla="*/ 12133 w 1186259"/>
              <a:gd name="connsiteY7" fmla="*/ 1264600 h 1264600"/>
              <a:gd name="connsiteX8" fmla="*/ 4077 w 1186259"/>
              <a:gd name="connsiteY8" fmla="*/ 1163379 h 1264600"/>
              <a:gd name="connsiteX9" fmla="*/ 22710 w 1186259"/>
              <a:gd name="connsiteY9" fmla="*/ 838041 h 1264600"/>
              <a:gd name="connsiteX10" fmla="*/ 220830 w 1186259"/>
              <a:gd name="connsiteY10" fmla="*/ 380841 h 1264600"/>
              <a:gd name="connsiteX11" fmla="*/ 581510 w 1186259"/>
              <a:gd name="connsiteY11" fmla="*/ 4921 h 1264600"/>
              <a:gd name="connsiteX12" fmla="*/ 622850 w 1186259"/>
              <a:gd name="connsiteY12" fmla="*/ 89 h 126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6259" h="1264600">
                <a:moveTo>
                  <a:pt x="622850" y="89"/>
                </a:moveTo>
                <a:cubicBezTo>
                  <a:pt x="718035" y="3492"/>
                  <a:pt x="804713" y="104616"/>
                  <a:pt x="891390" y="197961"/>
                </a:cubicBezTo>
                <a:cubicBezTo>
                  <a:pt x="965685" y="277971"/>
                  <a:pt x="1047123" y="402034"/>
                  <a:pt x="1122311" y="530860"/>
                </a:cubicBezTo>
                <a:lnTo>
                  <a:pt x="1186259" y="644437"/>
                </a:lnTo>
                <a:lnTo>
                  <a:pt x="1155674" y="653663"/>
                </a:lnTo>
                <a:cubicBezTo>
                  <a:pt x="1053692" y="690289"/>
                  <a:pt x="827158" y="798871"/>
                  <a:pt x="569223" y="936815"/>
                </a:cubicBezTo>
                <a:cubicBezTo>
                  <a:pt x="354277" y="1051768"/>
                  <a:pt x="168397" y="1159906"/>
                  <a:pt x="62013" y="1230076"/>
                </a:cubicBezTo>
                <a:lnTo>
                  <a:pt x="12133" y="1264600"/>
                </a:lnTo>
                <a:lnTo>
                  <a:pt x="4077" y="1163379"/>
                </a:lnTo>
                <a:cubicBezTo>
                  <a:pt x="-2928" y="1056719"/>
                  <a:pt x="-3325" y="949166"/>
                  <a:pt x="22710" y="838041"/>
                </a:cubicBezTo>
                <a:cubicBezTo>
                  <a:pt x="57423" y="689874"/>
                  <a:pt x="127697" y="519694"/>
                  <a:pt x="220830" y="380841"/>
                </a:cubicBezTo>
                <a:cubicBezTo>
                  <a:pt x="313963" y="241988"/>
                  <a:pt x="469750" y="35401"/>
                  <a:pt x="581510" y="4921"/>
                </a:cubicBezTo>
                <a:cubicBezTo>
                  <a:pt x="595480" y="1111"/>
                  <a:pt x="609252" y="-397"/>
                  <a:pt x="622850" y="8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608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7497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pos="347" userDrawn="1">
          <p15:clr>
            <a:srgbClr val="F26B43"/>
          </p15:clr>
        </p15:guide>
        <p15:guide id="5" orient="horz" pos="278" userDrawn="1">
          <p15:clr>
            <a:srgbClr val="F26B43"/>
          </p15:clr>
        </p15:guide>
        <p15:guide id="6" orient="horz" pos="404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6" Type="http://schemas.openxmlformats.org/officeDocument/2006/relationships/image" Target="../media/image4.jpg"/><Relationship Id="rId7" Type="http://schemas.openxmlformats.org/officeDocument/2006/relationships/image" Target="../media/image5.png"/><Relationship Id="rId8" Type="http://schemas.openxmlformats.org/officeDocument/2006/relationships/image" Target="../media/image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jpg"/><Relationship Id="rId8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microsoft.com/office/2007/relationships/hdphoto" Target="../media/hdphoto2.wdp"/><Relationship Id="rId4" Type="http://schemas.openxmlformats.org/officeDocument/2006/relationships/image" Target="../media/image10.jpeg"/><Relationship Id="rId5" Type="http://schemas.openxmlformats.org/officeDocument/2006/relationships/image" Target="../media/image11.jpg"/><Relationship Id="rId6" Type="http://schemas.openxmlformats.org/officeDocument/2006/relationships/image" Target="../media/image7.jpg"/><Relationship Id="rId7" Type="http://schemas.openxmlformats.org/officeDocument/2006/relationships/image" Target="../media/image12.png"/><Relationship Id="rId8" Type="http://schemas.openxmlformats.org/officeDocument/2006/relationships/image" Target="../media/image13.jpeg"/><Relationship Id="rId9" Type="http://schemas.openxmlformats.org/officeDocument/2006/relationships/image" Target="../media/image14.jpeg"/><Relationship Id="rId10" Type="http://schemas.openxmlformats.org/officeDocument/2006/relationships/image" Target="../media/image15.png"/><Relationship Id="rId11" Type="http://schemas.openxmlformats.org/officeDocument/2006/relationships/image" Target="../media/image16.jpeg"/><Relationship Id="rId12" Type="http://schemas.openxmlformats.org/officeDocument/2006/relationships/image" Target="../media/image17.jpeg"/><Relationship Id="rId13" Type="http://schemas.openxmlformats.org/officeDocument/2006/relationships/image" Target="../media/image18.png"/><Relationship Id="rId14" Type="http://schemas.openxmlformats.org/officeDocument/2006/relationships/image" Target="../media/image19.jpeg"/><Relationship Id="rId15" Type="http://schemas.openxmlformats.org/officeDocument/2006/relationships/image" Target="../media/image20.jpeg"/><Relationship Id="rId16" Type="http://schemas.openxmlformats.org/officeDocument/2006/relationships/image" Target="../media/image21.jpeg"/><Relationship Id="rId17" Type="http://schemas.openxmlformats.org/officeDocument/2006/relationships/image" Target="../media/image22.jpg"/><Relationship Id="rId18" Type="http://schemas.openxmlformats.org/officeDocument/2006/relationships/image" Target="../media/image23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7.jpeg"/><Relationship Id="rId3" Type="http://schemas.openxmlformats.org/officeDocument/2006/relationships/image" Target="../media/image28.png"/><Relationship Id="rId4" Type="http://schemas.openxmlformats.org/officeDocument/2006/relationships/image" Target="../media/image10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7.jpeg"/><Relationship Id="rId3" Type="http://schemas.openxmlformats.org/officeDocument/2006/relationships/image" Target="../media/image28.png"/><Relationship Id="rId4" Type="http://schemas.openxmlformats.org/officeDocument/2006/relationships/image" Target="../media/image10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7.jpeg"/><Relationship Id="rId3" Type="http://schemas.openxmlformats.org/officeDocument/2006/relationships/image" Target="../media/image28.png"/><Relationship Id="rId4" Type="http://schemas.openxmlformats.org/officeDocument/2006/relationships/image" Target="../media/image102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36.png"/><Relationship Id="rId4" Type="http://schemas.openxmlformats.org/officeDocument/2006/relationships/image" Target="../media/image37.svg"/><Relationship Id="rId5" Type="http://schemas.openxmlformats.org/officeDocument/2006/relationships/image" Target="../media/image85.png"/><Relationship Id="rId6" Type="http://schemas.openxmlformats.org/officeDocument/2006/relationships/image" Target="../media/image46.jpg"/><Relationship Id="rId7" Type="http://schemas.openxmlformats.org/officeDocument/2006/relationships/image" Target="../media/image28.png"/><Relationship Id="rId8" Type="http://schemas.openxmlformats.org/officeDocument/2006/relationships/image" Target="../media/image10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36.png"/><Relationship Id="rId4" Type="http://schemas.openxmlformats.org/officeDocument/2006/relationships/image" Target="../media/image37.svg"/><Relationship Id="rId5" Type="http://schemas.openxmlformats.org/officeDocument/2006/relationships/image" Target="../media/image85.png"/><Relationship Id="rId6" Type="http://schemas.openxmlformats.org/officeDocument/2006/relationships/image" Target="../media/image46.jpg"/><Relationship Id="rId7" Type="http://schemas.openxmlformats.org/officeDocument/2006/relationships/image" Target="../media/image28.png"/><Relationship Id="rId8" Type="http://schemas.openxmlformats.org/officeDocument/2006/relationships/image" Target="../media/image104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36.png"/><Relationship Id="rId4" Type="http://schemas.openxmlformats.org/officeDocument/2006/relationships/image" Target="../media/image37.svg"/><Relationship Id="rId5" Type="http://schemas.openxmlformats.org/officeDocument/2006/relationships/image" Target="../media/image85.png"/><Relationship Id="rId6" Type="http://schemas.openxmlformats.org/officeDocument/2006/relationships/image" Target="../media/image46.jpg"/><Relationship Id="rId7" Type="http://schemas.openxmlformats.org/officeDocument/2006/relationships/image" Target="../media/image28.png"/><Relationship Id="rId8" Type="http://schemas.openxmlformats.org/officeDocument/2006/relationships/image" Target="../media/image105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6" Type="http://schemas.openxmlformats.org/officeDocument/2006/relationships/image" Target="../media/image7.jpg"/><Relationship Id="rId7" Type="http://schemas.openxmlformats.org/officeDocument/2006/relationships/image" Target="../media/image30.png"/><Relationship Id="rId8" Type="http://schemas.openxmlformats.org/officeDocument/2006/relationships/image" Target="../media/image96.png"/><Relationship Id="rId9" Type="http://schemas.openxmlformats.org/officeDocument/2006/relationships/image" Target="../media/image97.svg"/><Relationship Id="rId10" Type="http://schemas.openxmlformats.org/officeDocument/2006/relationships/image" Target="../media/image90.png"/><Relationship Id="rId11" Type="http://schemas.openxmlformats.org/officeDocument/2006/relationships/image" Target="../media/image91.svg"/><Relationship Id="rId12" Type="http://schemas.openxmlformats.org/officeDocument/2006/relationships/image" Target="../media/image98.png"/><Relationship Id="rId13" Type="http://schemas.openxmlformats.org/officeDocument/2006/relationships/image" Target="../media/image99.sv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6.jpg"/><Relationship Id="rId3" Type="http://schemas.openxmlformats.org/officeDocument/2006/relationships/image" Target="../media/image107.jpg"/><Relationship Id="rId4" Type="http://schemas.openxmlformats.org/officeDocument/2006/relationships/image" Target="../media/image108.jpg"/><Relationship Id="rId5" Type="http://schemas.openxmlformats.org/officeDocument/2006/relationships/image" Target="../media/image109.jpg"/><Relationship Id="rId6" Type="http://schemas.openxmlformats.org/officeDocument/2006/relationships/image" Target="../media/image11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1.jpg"/><Relationship Id="rId3" Type="http://schemas.openxmlformats.org/officeDocument/2006/relationships/image" Target="../media/image112.jpg"/><Relationship Id="rId4" Type="http://schemas.openxmlformats.org/officeDocument/2006/relationships/image" Target="../media/image113.jpg"/><Relationship Id="rId5" Type="http://schemas.openxmlformats.org/officeDocument/2006/relationships/image" Target="../media/image114.jpg"/><Relationship Id="rId6" Type="http://schemas.openxmlformats.org/officeDocument/2006/relationships/image" Target="../media/image115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6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6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1.jpg"/><Relationship Id="rId3" Type="http://schemas.openxmlformats.org/officeDocument/2006/relationships/image" Target="../media/image113.jpg"/><Relationship Id="rId4" Type="http://schemas.openxmlformats.org/officeDocument/2006/relationships/image" Target="../media/image118.jpg"/><Relationship Id="rId5" Type="http://schemas.openxmlformats.org/officeDocument/2006/relationships/image" Target="../media/image119.jpg"/><Relationship Id="rId6" Type="http://schemas.openxmlformats.org/officeDocument/2006/relationships/image" Target="../media/image12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1.jpg"/><Relationship Id="rId3" Type="http://schemas.openxmlformats.org/officeDocument/2006/relationships/image" Target="../media/image122.jpg"/><Relationship Id="rId4" Type="http://schemas.openxmlformats.org/officeDocument/2006/relationships/image" Target="../media/image123.jpg"/><Relationship Id="rId5" Type="http://schemas.openxmlformats.org/officeDocument/2006/relationships/chart" Target="../charts/char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8.jpg"/><Relationship Id="rId3" Type="http://schemas.openxmlformats.org/officeDocument/2006/relationships/image" Target="../media/image124.jpg"/><Relationship Id="rId4" Type="http://schemas.openxmlformats.org/officeDocument/2006/relationships/image" Target="../media/image125.jpg"/><Relationship Id="rId5" Type="http://schemas.openxmlformats.org/officeDocument/2006/relationships/image" Target="../media/image126.jpg"/><Relationship Id="rId6" Type="http://schemas.openxmlformats.org/officeDocument/2006/relationships/image" Target="../media/image127.jpg"/><Relationship Id="rId7" Type="http://schemas.openxmlformats.org/officeDocument/2006/relationships/image" Target="../media/image12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7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2.jpg"/><Relationship Id="rId3" Type="http://schemas.openxmlformats.org/officeDocument/2006/relationships/image" Target="../media/image13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4.jpg"/><Relationship Id="rId3" Type="http://schemas.openxmlformats.org/officeDocument/2006/relationships/image" Target="../media/image135.jpg"/><Relationship Id="rId4" Type="http://schemas.openxmlformats.org/officeDocument/2006/relationships/image" Target="../media/image136.jpg"/><Relationship Id="rId5" Type="http://schemas.openxmlformats.org/officeDocument/2006/relationships/image" Target="../media/image137.jpg"/><Relationship Id="rId6" Type="http://schemas.openxmlformats.org/officeDocument/2006/relationships/image" Target="../media/image138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9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0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8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2.jpg"/><Relationship Id="rId3" Type="http://schemas.openxmlformats.org/officeDocument/2006/relationships/image" Target="../media/image143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4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Relationship Id="rId3" Type="http://schemas.openxmlformats.org/officeDocument/2006/relationships/image" Target="../media/image145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6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7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8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9.png"/><Relationship Id="rId3" Type="http://schemas.openxmlformats.org/officeDocument/2006/relationships/image" Target="../media/image150.sv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1.png"/><Relationship Id="rId3" Type="http://schemas.openxmlformats.org/officeDocument/2006/relationships/image" Target="../media/image152.sv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3.jpg"/><Relationship Id="rId3" Type="http://schemas.openxmlformats.org/officeDocument/2006/relationships/image" Target="../media/image154.jpg"/><Relationship Id="rId4" Type="http://schemas.openxmlformats.org/officeDocument/2006/relationships/image" Target="../media/image155.jpg"/><Relationship Id="rId5" Type="http://schemas.openxmlformats.org/officeDocument/2006/relationships/image" Target="../media/image156.jpg"/><Relationship Id="rId6" Type="http://schemas.openxmlformats.org/officeDocument/2006/relationships/image" Target="../media/image157.jpg"/><Relationship Id="rId7" Type="http://schemas.openxmlformats.org/officeDocument/2006/relationships/image" Target="../media/image158.jpg"/><Relationship Id="rId8" Type="http://schemas.openxmlformats.org/officeDocument/2006/relationships/image" Target="../media/image159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0.jpg"/><Relationship Id="rId3" Type="http://schemas.openxmlformats.org/officeDocument/2006/relationships/image" Target="../media/image16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2.jpg"/><Relationship Id="rId3" Type="http://schemas.openxmlformats.org/officeDocument/2006/relationships/image" Target="../media/image163.jpg"/><Relationship Id="rId4" Type="http://schemas.openxmlformats.org/officeDocument/2006/relationships/image" Target="../media/image164.jpg"/><Relationship Id="rId5" Type="http://schemas.openxmlformats.org/officeDocument/2006/relationships/image" Target="../media/image165.jpg"/><Relationship Id="rId6" Type="http://schemas.openxmlformats.org/officeDocument/2006/relationships/image" Target="../media/image166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7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8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9.jpg"/><Relationship Id="rId3" Type="http://schemas.openxmlformats.org/officeDocument/2006/relationships/image" Target="../media/image110.jpg"/><Relationship Id="rId4" Type="http://schemas.openxmlformats.org/officeDocument/2006/relationships/image" Target="../media/image170.jpg"/><Relationship Id="rId5" Type="http://schemas.openxmlformats.org/officeDocument/2006/relationships/image" Target="../media/image171.jpg"/><Relationship Id="rId6" Type="http://schemas.openxmlformats.org/officeDocument/2006/relationships/image" Target="../media/image172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3.jpg"/><Relationship Id="rId3" Type="http://schemas.openxmlformats.org/officeDocument/2006/relationships/image" Target="../media/image174.jpg"/><Relationship Id="rId4" Type="http://schemas.openxmlformats.org/officeDocument/2006/relationships/image" Target="../media/image1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A515CF7-92B2-40BF-8EB6-DF0F8C3D7C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18" b="10418"/>
          <a:stretch/>
        </p:blipFill>
        <p:spPr>
          <a:xfrm>
            <a:off x="0" y="0"/>
            <a:ext cx="12192000" cy="6434499"/>
          </a:xfr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07323D3-63E7-49FA-9D12-5946673DBCB1}"/>
              </a:ext>
            </a:extLst>
          </p:cNvPr>
          <p:cNvSpPr/>
          <p:nvPr/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2FD1BB0-F4DB-4DE6-9F46-9A30F6AE48C7}"/>
              </a:ext>
            </a:extLst>
          </p:cNvPr>
          <p:cNvSpPr/>
          <p:nvPr/>
        </p:nvSpPr>
        <p:spPr>
          <a:xfrm flipH="1">
            <a:off x="-2810" y="2891880"/>
            <a:ext cx="6184038" cy="3542258"/>
          </a:xfrm>
          <a:custGeom>
            <a:avLst/>
            <a:gdLst>
              <a:gd name="connsiteX0" fmla="*/ 5173707 w 6184038"/>
              <a:gd name="connsiteY0" fmla="*/ 687 h 3542258"/>
              <a:gd name="connsiteX1" fmla="*/ 4398274 w 6184038"/>
              <a:gd name="connsiteY1" fmla="*/ 110349 h 3542258"/>
              <a:gd name="connsiteX2" fmla="*/ 3083592 w 6184038"/>
              <a:gd name="connsiteY2" fmla="*/ 968823 h 3542258"/>
              <a:gd name="connsiteX3" fmla="*/ 0 w 6184038"/>
              <a:gd name="connsiteY3" fmla="*/ 3259333 h 3542258"/>
              <a:gd name="connsiteX4" fmla="*/ 1239728 w 6184038"/>
              <a:gd name="connsiteY4" fmla="*/ 3402888 h 3542258"/>
              <a:gd name="connsiteX5" fmla="*/ 3070534 w 6184038"/>
              <a:gd name="connsiteY5" fmla="*/ 3503455 h 3542258"/>
              <a:gd name="connsiteX6" fmla="*/ 6184038 w 6184038"/>
              <a:gd name="connsiteY6" fmla="*/ 1616213 h 3542258"/>
              <a:gd name="connsiteX7" fmla="*/ 6184038 w 6184038"/>
              <a:gd name="connsiteY7" fmla="*/ 51399 h 3542258"/>
              <a:gd name="connsiteX8" fmla="*/ 6155272 w 6184038"/>
              <a:gd name="connsiteY8" fmla="*/ 48664 h 3542258"/>
              <a:gd name="connsiteX9" fmla="*/ 5173707 w 6184038"/>
              <a:gd name="connsiteY9" fmla="*/ 687 h 3542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84038" h="3542258">
                <a:moveTo>
                  <a:pt x="5173707" y="687"/>
                </a:moveTo>
                <a:cubicBezTo>
                  <a:pt x="4877326" y="5545"/>
                  <a:pt x="4615301" y="36674"/>
                  <a:pt x="4398274" y="110349"/>
                </a:cubicBezTo>
                <a:cubicBezTo>
                  <a:pt x="3978454" y="252492"/>
                  <a:pt x="3576465" y="603266"/>
                  <a:pt x="3083592" y="968823"/>
                </a:cubicBezTo>
                <a:lnTo>
                  <a:pt x="0" y="3259333"/>
                </a:lnTo>
                <a:lnTo>
                  <a:pt x="1239728" y="3402888"/>
                </a:lnTo>
                <a:cubicBezTo>
                  <a:pt x="1951619" y="3484801"/>
                  <a:pt x="2562968" y="3604830"/>
                  <a:pt x="3070534" y="3503455"/>
                </a:cubicBezTo>
                <a:cubicBezTo>
                  <a:pt x="3910532" y="3336384"/>
                  <a:pt x="4962151" y="2459672"/>
                  <a:pt x="6184038" y="1616213"/>
                </a:cubicBezTo>
                <a:lnTo>
                  <a:pt x="6184038" y="51399"/>
                </a:lnTo>
                <a:lnTo>
                  <a:pt x="6155272" y="48664"/>
                </a:lnTo>
                <a:cubicBezTo>
                  <a:pt x="5800824" y="17248"/>
                  <a:pt x="5470086" y="-4169"/>
                  <a:pt x="5173707" y="68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3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18" name="Picture 17" descr="A black and white logo&#10;&#10;AI-generated content may be incorrect.">
            <a:extLst>
              <a:ext uri="{FF2B5EF4-FFF2-40B4-BE49-F238E27FC236}">
                <a16:creationId xmlns:a16="http://schemas.microsoft.com/office/drawing/2014/main" id="{40A96097-1FB6-47D2-A50C-3018757C6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441325"/>
            <a:ext cx="2469428" cy="72964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426839E-4E71-38BD-AC2F-663D6DA204D9}"/>
              </a:ext>
            </a:extLst>
          </p:cNvPr>
          <p:cNvGrpSpPr/>
          <p:nvPr/>
        </p:nvGrpSpPr>
        <p:grpSpPr>
          <a:xfrm>
            <a:off x="5060656" y="1524729"/>
            <a:ext cx="6580482" cy="2480845"/>
            <a:chOff x="5060656" y="1524729"/>
            <a:chExt cx="6580482" cy="248084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B7FD29E-AC9E-4BE2-BF89-D1F03B97F6B9}"/>
                </a:ext>
              </a:extLst>
            </p:cNvPr>
            <p:cNvSpPr/>
            <p:nvPr/>
          </p:nvSpPr>
          <p:spPr>
            <a:xfrm>
              <a:off x="5060656" y="3602937"/>
              <a:ext cx="3645798" cy="402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5DB5D2A-DA2A-47CC-A84D-EDFCEDD8CB51}"/>
                </a:ext>
              </a:extLst>
            </p:cNvPr>
            <p:cNvSpPr/>
            <p:nvPr/>
          </p:nvSpPr>
          <p:spPr>
            <a:xfrm>
              <a:off x="5060656" y="1524729"/>
              <a:ext cx="658048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4800" b="1" spc="-150" dirty="0">
                  <a:solidFill>
                    <a:schemeClr val="bg1"/>
                  </a:solidFill>
                  <a:latin typeface="+mj-lt"/>
                </a:rPr>
                <a:t>Robotics Research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B98F79-F044-4C07-B816-90906E2D44B4}"/>
                </a:ext>
              </a:extLst>
            </p:cNvPr>
            <p:cNvSpPr/>
            <p:nvPr/>
          </p:nvSpPr>
          <p:spPr>
            <a:xfrm>
              <a:off x="5060656" y="3619589"/>
              <a:ext cx="3741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b="1" dirty="0">
                  <a:solidFill>
                    <a:schemeClr val="accent1"/>
                  </a:solidFill>
                  <a:latin typeface="+mj-lt"/>
                </a:rPr>
                <a:t>Borja García de Soto, PhD, PE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ACFF614-7703-4BD3-9828-A54324FC91AD}"/>
                </a:ext>
              </a:extLst>
            </p:cNvPr>
            <p:cNvSpPr/>
            <p:nvPr/>
          </p:nvSpPr>
          <p:spPr>
            <a:xfrm>
              <a:off x="5060656" y="2082580"/>
              <a:ext cx="658048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4800" b="1" spc="-150" dirty="0">
                  <a:solidFill>
                    <a:schemeClr val="bg1"/>
                  </a:solidFill>
                  <a:latin typeface="+mj-lt"/>
                </a:rPr>
                <a:t>at S.M.A.R.T.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FAB627F-9A36-4BC8-9E81-089B183DEA96}"/>
                </a:ext>
              </a:extLst>
            </p:cNvPr>
            <p:cNvSpPr/>
            <p:nvPr/>
          </p:nvSpPr>
          <p:spPr>
            <a:xfrm>
              <a:off x="5060656" y="2640432"/>
              <a:ext cx="658048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4800" b="1" spc="-150" dirty="0">
                  <a:solidFill>
                    <a:schemeClr val="bg1"/>
                  </a:solidFill>
                  <a:latin typeface="+mj-lt"/>
                </a:rPr>
                <a:t>Construction Lab</a:t>
              </a: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9A16C2BC-137D-4F6E-9794-0DA373C7AF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150" y="6045476"/>
            <a:ext cx="1559406" cy="61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90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5EE40A3-4609-47BD-B1BD-0C9BDDC56A9D}"/>
              </a:ext>
            </a:extLst>
          </p:cNvPr>
          <p:cNvSpPr/>
          <p:nvPr/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316418F-073B-459D-AC5A-C842C4E0AEC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0" r="57898"/>
          <a:stretch/>
        </p:blipFill>
        <p:spPr>
          <a:xfrm>
            <a:off x="4419599" y="734528"/>
            <a:ext cx="3352800" cy="61234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B4C2B51-A2D3-4B17-BF11-6CD0A978DACE}"/>
              </a:ext>
            </a:extLst>
          </p:cNvPr>
          <p:cNvSpPr/>
          <p:nvPr/>
        </p:nvSpPr>
        <p:spPr>
          <a:xfrm>
            <a:off x="4419600" y="734528"/>
            <a:ext cx="3352800" cy="6123472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C6DA9D-BA98-420C-80FF-D120086D39B1}"/>
              </a:ext>
            </a:extLst>
          </p:cNvPr>
          <p:cNvGrpSpPr/>
          <p:nvPr/>
        </p:nvGrpSpPr>
        <p:grpSpPr>
          <a:xfrm>
            <a:off x="685800" y="1592110"/>
            <a:ext cx="3219451" cy="2165794"/>
            <a:chOff x="685800" y="1263206"/>
            <a:chExt cx="3219451" cy="216579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50C168-13BE-4ED9-92D0-AD4E35EE87F2}"/>
                </a:ext>
              </a:extLst>
            </p:cNvPr>
            <p:cNvSpPr/>
            <p:nvPr/>
          </p:nvSpPr>
          <p:spPr>
            <a:xfrm>
              <a:off x="685800" y="1263206"/>
              <a:ext cx="32194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="1" spc="-150" dirty="0">
                  <a:solidFill>
                    <a:schemeClr val="accent1"/>
                  </a:solidFill>
                  <a:latin typeface="+mj-lt"/>
                </a:rPr>
                <a:t>Overview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A360444-5A2C-40DF-8DE0-A7513EE6A1BF}"/>
                </a:ext>
              </a:extLst>
            </p:cNvPr>
            <p:cNvSpPr/>
            <p:nvPr/>
          </p:nvSpPr>
          <p:spPr>
            <a:xfrm>
              <a:off x="685801" y="2044005"/>
              <a:ext cx="3219450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Montserrat Light" pitchFamily="2" charset="77"/>
                </a:rPr>
                <a:t>Our goal is to bridge scholarly excellence with practical application, optimizing every stage of the infrastructure lifecycle to build resilient future communities.</a:t>
              </a: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D4757A1-B81F-47F6-B2C3-65001A9EB59D}"/>
              </a:ext>
            </a:extLst>
          </p:cNvPr>
          <p:cNvCxnSpPr>
            <a:cxnSpLocks/>
          </p:cNvCxnSpPr>
          <p:nvPr/>
        </p:nvCxnSpPr>
        <p:spPr>
          <a:xfrm>
            <a:off x="8234622" y="1899684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AC86449-FC0C-42A6-AF92-9B87313A76BD}"/>
              </a:ext>
            </a:extLst>
          </p:cNvPr>
          <p:cNvCxnSpPr>
            <a:cxnSpLocks/>
          </p:cNvCxnSpPr>
          <p:nvPr/>
        </p:nvCxnSpPr>
        <p:spPr>
          <a:xfrm>
            <a:off x="8234622" y="2733286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B14482E-AF57-43D5-A478-13F2C892B9E4}"/>
              </a:ext>
            </a:extLst>
          </p:cNvPr>
          <p:cNvCxnSpPr>
            <a:cxnSpLocks/>
          </p:cNvCxnSpPr>
          <p:nvPr/>
        </p:nvCxnSpPr>
        <p:spPr>
          <a:xfrm>
            <a:off x="8234622" y="3569900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54BC62D-C4AF-4BD0-8623-71D16536B9FB}"/>
              </a:ext>
            </a:extLst>
          </p:cNvPr>
          <p:cNvCxnSpPr>
            <a:cxnSpLocks/>
          </p:cNvCxnSpPr>
          <p:nvPr/>
        </p:nvCxnSpPr>
        <p:spPr>
          <a:xfrm>
            <a:off x="8234622" y="4407974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1631518-03BE-73F3-D1D7-971FE236FF95}"/>
              </a:ext>
            </a:extLst>
          </p:cNvPr>
          <p:cNvGrpSpPr/>
          <p:nvPr/>
        </p:nvGrpSpPr>
        <p:grpSpPr>
          <a:xfrm>
            <a:off x="7453312" y="1176736"/>
            <a:ext cx="4434416" cy="638176"/>
            <a:chOff x="7453312" y="1176736"/>
            <a:chExt cx="4434416" cy="63817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17990A2-ECF2-44CC-9327-397B19BF3AC6}"/>
                </a:ext>
              </a:extLst>
            </p:cNvPr>
            <p:cNvSpPr/>
            <p:nvPr/>
          </p:nvSpPr>
          <p:spPr>
            <a:xfrm>
              <a:off x="7453312" y="1176736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8432E0B-1846-4005-91A4-E683595126F2}"/>
                </a:ext>
              </a:extLst>
            </p:cNvPr>
            <p:cNvSpPr/>
            <p:nvPr/>
          </p:nvSpPr>
          <p:spPr>
            <a:xfrm>
              <a:off x="8206912" y="1300371"/>
              <a:ext cx="368081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S</a:t>
              </a:r>
              <a:r>
                <a:rPr lang="en-GB" sz="1400" dirty="0">
                  <a:latin typeface="Montserrat Medium" pitchFamily="2" charset="77"/>
                </a:rPr>
                <a:t>ustainable and resilient construction</a:t>
              </a: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DF816099-1684-5DA6-2158-DBB6F7C12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1290277"/>
              <a:ext cx="411095" cy="411095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1E7303D-EE63-C4EE-AB0E-539BDC6BF449}"/>
              </a:ext>
            </a:extLst>
          </p:cNvPr>
          <p:cNvGrpSpPr/>
          <p:nvPr/>
        </p:nvGrpSpPr>
        <p:grpSpPr>
          <a:xfrm>
            <a:off x="7453312" y="2008034"/>
            <a:ext cx="4424798" cy="638176"/>
            <a:chOff x="7453312" y="2008034"/>
            <a:chExt cx="4424798" cy="63817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4B0933-6DE8-4C90-AC63-269DC86D5130}"/>
                </a:ext>
              </a:extLst>
            </p:cNvPr>
            <p:cNvSpPr/>
            <p:nvPr/>
          </p:nvSpPr>
          <p:spPr>
            <a:xfrm>
              <a:off x="7453312" y="2008034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8E433B8-74CF-434D-8286-62E7F60F0A5C}"/>
                </a:ext>
              </a:extLst>
            </p:cNvPr>
            <p:cNvSpPr/>
            <p:nvPr/>
          </p:nvSpPr>
          <p:spPr>
            <a:xfrm>
              <a:off x="8206912" y="2104543"/>
              <a:ext cx="367119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M</a:t>
              </a:r>
              <a:r>
                <a:rPr lang="en-GB" sz="1400" dirty="0">
                  <a:latin typeface="Montserrat Medium" pitchFamily="2" charset="77"/>
                </a:rPr>
                <a:t>odularization and lean construction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7F45CB31-9B38-F1D4-1EEB-A0830553C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2121574"/>
              <a:ext cx="411095" cy="411095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F180186-BAD8-FF2A-F6D2-68467F81AEEB}"/>
              </a:ext>
            </a:extLst>
          </p:cNvPr>
          <p:cNvGrpSpPr/>
          <p:nvPr/>
        </p:nvGrpSpPr>
        <p:grpSpPr>
          <a:xfrm>
            <a:off x="7453312" y="2839332"/>
            <a:ext cx="2868281" cy="638176"/>
            <a:chOff x="7453312" y="2839332"/>
            <a:chExt cx="2868281" cy="638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D1466B-7512-422D-B7EE-CB2E59E9B038}"/>
                </a:ext>
              </a:extLst>
            </p:cNvPr>
            <p:cNvSpPr/>
            <p:nvPr/>
          </p:nvSpPr>
          <p:spPr>
            <a:xfrm>
              <a:off x="7453312" y="2839332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62F32A-5975-4373-879B-0549E8EC57E6}"/>
                </a:ext>
              </a:extLst>
            </p:cNvPr>
            <p:cNvSpPr/>
            <p:nvPr/>
          </p:nvSpPr>
          <p:spPr>
            <a:xfrm>
              <a:off x="8206912" y="2962967"/>
              <a:ext cx="211468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A</a:t>
              </a:r>
              <a:r>
                <a:rPr lang="en-GB" sz="1400" dirty="0">
                  <a:latin typeface="Montserrat Medium" pitchFamily="2" charset="77"/>
                </a:rPr>
                <a:t>rtificial intelligence</a:t>
              </a: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44B8E763-198F-5099-4CCF-0805B158B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2952872"/>
              <a:ext cx="411095" cy="411095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C1722C-5AF1-C63F-4759-BB799870E3B3}"/>
              </a:ext>
            </a:extLst>
          </p:cNvPr>
          <p:cNvGrpSpPr/>
          <p:nvPr/>
        </p:nvGrpSpPr>
        <p:grpSpPr>
          <a:xfrm>
            <a:off x="7453312" y="3670630"/>
            <a:ext cx="4011223" cy="638176"/>
            <a:chOff x="7453312" y="3670630"/>
            <a:chExt cx="4011223" cy="638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F2B12DE-4EDE-4BE0-8461-9720DBAEACAD}"/>
                </a:ext>
              </a:extLst>
            </p:cNvPr>
            <p:cNvSpPr/>
            <p:nvPr/>
          </p:nvSpPr>
          <p:spPr>
            <a:xfrm>
              <a:off x="7453312" y="3670630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ECD669C-D60A-4A26-AAD0-A654AC02569E}"/>
                </a:ext>
              </a:extLst>
            </p:cNvPr>
            <p:cNvSpPr/>
            <p:nvPr/>
          </p:nvSpPr>
          <p:spPr>
            <a:xfrm>
              <a:off x="8206912" y="3794265"/>
              <a:ext cx="325762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R</a:t>
              </a:r>
              <a:r>
                <a:rPr lang="en-GB" sz="1400" dirty="0">
                  <a:latin typeface="Montserrat Medium" pitchFamily="2" charset="77"/>
                </a:rPr>
                <a:t>obotic systems and automation</a:t>
              </a: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7B9F4BA4-21DE-CC4B-2462-FD235B34E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3784170"/>
              <a:ext cx="411095" cy="411095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59B1F5-2E8B-7CFB-12C0-8C2B7CD0B756}"/>
              </a:ext>
            </a:extLst>
          </p:cNvPr>
          <p:cNvGrpSpPr/>
          <p:nvPr/>
        </p:nvGrpSpPr>
        <p:grpSpPr>
          <a:xfrm>
            <a:off x="7453312" y="4501927"/>
            <a:ext cx="4187825" cy="638176"/>
            <a:chOff x="7453312" y="4501927"/>
            <a:chExt cx="4187825" cy="638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0B50EDB-1FAD-48D9-94F1-84361939302C}"/>
                </a:ext>
              </a:extLst>
            </p:cNvPr>
            <p:cNvSpPr/>
            <p:nvPr/>
          </p:nvSpPr>
          <p:spPr>
            <a:xfrm>
              <a:off x="7453312" y="4501927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7EADE07-6DA1-48DC-88C7-815245969754}"/>
                </a:ext>
              </a:extLst>
            </p:cNvPr>
            <p:cNvSpPr/>
            <p:nvPr/>
          </p:nvSpPr>
          <p:spPr>
            <a:xfrm>
              <a:off x="8206912" y="4517840"/>
              <a:ext cx="3434225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T</a:t>
              </a:r>
              <a:r>
                <a:rPr lang="en-GB" sz="1400" dirty="0">
                  <a:latin typeface="Montserrat Medium" pitchFamily="2" charset="77"/>
                </a:rPr>
                <a:t>echnology integration &amp; information modelling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C1731A0D-8A21-5793-7206-CA0A8E917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4615467"/>
              <a:ext cx="411095" cy="4110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242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55A80CFD-4A0D-4553-8264-FE390932BCB5}"/>
              </a:ext>
            </a:extLst>
          </p:cNvPr>
          <p:cNvSpPr/>
          <p:nvPr/>
        </p:nvSpPr>
        <p:spPr>
          <a:xfrm>
            <a:off x="3447258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3337466-BDF5-4575-8902-C3210326B3BD}"/>
              </a:ext>
            </a:extLst>
          </p:cNvPr>
          <p:cNvSpPr/>
          <p:nvPr/>
        </p:nvSpPr>
        <p:spPr>
          <a:xfrm>
            <a:off x="8651082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7973921-29F2-4F65-A2E2-89BCBBDD1840}"/>
              </a:ext>
            </a:extLst>
          </p:cNvPr>
          <p:cNvSpPr/>
          <p:nvPr/>
        </p:nvSpPr>
        <p:spPr>
          <a:xfrm>
            <a:off x="6049170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C422CA2-E32B-43BC-A3C8-4E04C3452974}"/>
              </a:ext>
            </a:extLst>
          </p:cNvPr>
          <p:cNvSpPr/>
          <p:nvPr/>
        </p:nvSpPr>
        <p:spPr>
          <a:xfrm>
            <a:off x="842966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56CD29B-C437-4540-81C3-BA348E9AB3E3}"/>
              </a:ext>
            </a:extLst>
          </p:cNvPr>
          <p:cNvSpPr/>
          <p:nvPr/>
        </p:nvSpPr>
        <p:spPr>
          <a:xfrm>
            <a:off x="8651082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991C84A-511F-485E-8AF5-1F279DC13D21}"/>
              </a:ext>
            </a:extLst>
          </p:cNvPr>
          <p:cNvSpPr/>
          <p:nvPr/>
        </p:nvSpPr>
        <p:spPr>
          <a:xfrm>
            <a:off x="6049170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F8C4B42-E8C5-44A7-B22A-8C37A2C90748}"/>
              </a:ext>
            </a:extLst>
          </p:cNvPr>
          <p:cNvSpPr/>
          <p:nvPr/>
        </p:nvSpPr>
        <p:spPr>
          <a:xfrm>
            <a:off x="3447258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02D998D-B3DB-4CC2-BAB5-6792FCB48004}"/>
              </a:ext>
            </a:extLst>
          </p:cNvPr>
          <p:cNvSpPr/>
          <p:nvPr/>
        </p:nvSpPr>
        <p:spPr>
          <a:xfrm>
            <a:off x="842966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77350B-3DF7-4F9B-9667-9A59FB9A9689}"/>
              </a:ext>
            </a:extLst>
          </p:cNvPr>
          <p:cNvSpPr/>
          <p:nvPr/>
        </p:nvSpPr>
        <p:spPr>
          <a:xfrm>
            <a:off x="668252" y="520184"/>
            <a:ext cx="9596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spc="-150" dirty="0">
                <a:solidFill>
                  <a:schemeClr val="bg1"/>
                </a:solidFill>
                <a:latin typeface="+mj-lt"/>
              </a:rPr>
              <a:t>Research Team | </a:t>
            </a:r>
            <a:r>
              <a:rPr lang="en-GB" sz="3600" b="1" spc="-150">
                <a:solidFill>
                  <a:schemeClr val="bg1"/>
                </a:solidFill>
                <a:latin typeface="+mj-lt"/>
              </a:rPr>
              <a:t>people </a:t>
            </a:r>
            <a:r>
              <a:rPr lang="en-GB" sz="3600" b="1" spc="-150" dirty="0">
                <a:solidFill>
                  <a:schemeClr val="bg1"/>
                </a:solidFill>
                <a:latin typeface="+mj-lt"/>
              </a:rPr>
              <a:t>Of S.M.A.R.T</a:t>
            </a:r>
            <a:r>
              <a:rPr lang="en-GB" sz="3600" b="1" spc="-150">
                <a:solidFill>
                  <a:schemeClr val="bg1"/>
                </a:solidFill>
                <a:latin typeface="+mj-lt"/>
              </a:rPr>
              <a:t>. Labs</a:t>
            </a:r>
            <a:endParaRPr lang="en-GB" sz="3600" b="1" spc="-15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01629B2-A71C-861E-A30C-85E9E46BCDD4}"/>
              </a:ext>
            </a:extLst>
          </p:cNvPr>
          <p:cNvGrpSpPr/>
          <p:nvPr/>
        </p:nvGrpSpPr>
        <p:grpSpPr>
          <a:xfrm>
            <a:off x="809625" y="3081477"/>
            <a:ext cx="2063385" cy="520147"/>
            <a:chOff x="809625" y="3081477"/>
            <a:chExt cx="2063385" cy="52014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7B02691-81C7-43E8-A3B6-CD47ED95B1BA}"/>
                </a:ext>
              </a:extLst>
            </p:cNvPr>
            <p:cNvSpPr/>
            <p:nvPr/>
          </p:nvSpPr>
          <p:spPr>
            <a:xfrm>
              <a:off x="809625" y="3081477"/>
              <a:ext cx="206338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Borja García De Soto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D247FE3-7895-4242-B02A-BA04C662A354}"/>
                </a:ext>
              </a:extLst>
            </p:cNvPr>
            <p:cNvSpPr/>
            <p:nvPr/>
          </p:nvSpPr>
          <p:spPr>
            <a:xfrm>
              <a:off x="809625" y="3324625"/>
              <a:ext cx="170591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Associate Professor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8121985-1B00-BFFD-0ACB-B9CE3D76B8FE}"/>
              </a:ext>
            </a:extLst>
          </p:cNvPr>
          <p:cNvGrpSpPr/>
          <p:nvPr/>
        </p:nvGrpSpPr>
        <p:grpSpPr>
          <a:xfrm>
            <a:off x="3408041" y="3081477"/>
            <a:ext cx="2222083" cy="520147"/>
            <a:chOff x="3408041" y="3081477"/>
            <a:chExt cx="2222083" cy="520147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3822E70-8D47-47B0-92B9-4110A9704487}"/>
                </a:ext>
              </a:extLst>
            </p:cNvPr>
            <p:cNvSpPr/>
            <p:nvPr/>
          </p:nvSpPr>
          <p:spPr>
            <a:xfrm>
              <a:off x="3408041" y="3081477"/>
              <a:ext cx="154080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Eyob </a:t>
              </a:r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Mengiste</a:t>
              </a:r>
              <a:endParaRPr lang="en-GB" sz="1400" dirty="0">
                <a:solidFill>
                  <a:schemeClr val="bg1"/>
                </a:solidFill>
                <a:latin typeface="Montserrat Medium" pitchFamily="2" charset="77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7B8AE3A-E613-4D09-90A1-8AFC81E02E65}"/>
                </a:ext>
              </a:extLst>
            </p:cNvPr>
            <p:cNvSpPr/>
            <p:nvPr/>
          </p:nvSpPr>
          <p:spPr>
            <a:xfrm>
              <a:off x="3408041" y="3324625"/>
              <a:ext cx="222208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Instructor and Researcher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73A1269-2FBF-1A1E-F4F5-CFB3FC1DABC3}"/>
              </a:ext>
            </a:extLst>
          </p:cNvPr>
          <p:cNvGrpSpPr/>
          <p:nvPr/>
        </p:nvGrpSpPr>
        <p:grpSpPr>
          <a:xfrm>
            <a:off x="6008366" y="3081477"/>
            <a:ext cx="1625766" cy="520147"/>
            <a:chOff x="6008366" y="3081477"/>
            <a:chExt cx="1625766" cy="52014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8394284-2D3F-405D-925D-ADC07412499E}"/>
                </a:ext>
              </a:extLst>
            </p:cNvPr>
            <p:cNvSpPr/>
            <p:nvPr/>
          </p:nvSpPr>
          <p:spPr>
            <a:xfrm>
              <a:off x="6008366" y="3081477"/>
              <a:ext cx="134684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Erika A. </a:t>
              </a:r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Pärn</a:t>
              </a:r>
              <a:endParaRPr lang="en-GB" sz="1400" dirty="0">
                <a:solidFill>
                  <a:schemeClr val="bg1"/>
                </a:solidFill>
                <a:latin typeface="Montserrat Medium" pitchFamily="2" charset="77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584AB72-7E8F-4A3B-BB9C-DD76FFB45395}"/>
                </a:ext>
              </a:extLst>
            </p:cNvPr>
            <p:cNvSpPr/>
            <p:nvPr/>
          </p:nvSpPr>
          <p:spPr>
            <a:xfrm>
              <a:off x="6008366" y="3324625"/>
              <a:ext cx="162576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Research Scientist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2B6C102-23E2-DD74-F1BD-5C4B5A3B96FE}"/>
              </a:ext>
            </a:extLst>
          </p:cNvPr>
          <p:cNvGrpSpPr/>
          <p:nvPr/>
        </p:nvGrpSpPr>
        <p:grpSpPr>
          <a:xfrm>
            <a:off x="8624566" y="3081477"/>
            <a:ext cx="1970411" cy="520147"/>
            <a:chOff x="8624566" y="3081477"/>
            <a:chExt cx="1970411" cy="52014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879B844-DDA3-494D-B146-FE8C6214DA8F}"/>
                </a:ext>
              </a:extLst>
            </p:cNvPr>
            <p:cNvSpPr/>
            <p:nvPr/>
          </p:nvSpPr>
          <p:spPr>
            <a:xfrm>
              <a:off x="8624566" y="3081477"/>
              <a:ext cx="134043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Zihao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Zheng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079BD68-FFDE-4023-BAE9-01FEB71F938D}"/>
                </a:ext>
              </a:extLst>
            </p:cNvPr>
            <p:cNvSpPr/>
            <p:nvPr/>
          </p:nvSpPr>
          <p:spPr>
            <a:xfrm>
              <a:off x="8624566" y="3324625"/>
              <a:ext cx="19704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Postdoctoral Associate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87E2679-74BE-A7A8-BDCC-7B25BFCC34AC}"/>
              </a:ext>
            </a:extLst>
          </p:cNvPr>
          <p:cNvGrpSpPr/>
          <p:nvPr/>
        </p:nvGrpSpPr>
        <p:grpSpPr>
          <a:xfrm>
            <a:off x="809625" y="5629051"/>
            <a:ext cx="1462260" cy="520147"/>
            <a:chOff x="809625" y="5629051"/>
            <a:chExt cx="1462260" cy="520147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E93DDCE-6231-4490-B5FD-4EF08773A0E4}"/>
                </a:ext>
              </a:extLst>
            </p:cNvPr>
            <p:cNvSpPr/>
            <p:nvPr/>
          </p:nvSpPr>
          <p:spPr>
            <a:xfrm>
              <a:off x="809625" y="5629051"/>
              <a:ext cx="14622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Semih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</a:t>
              </a:r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Sonkor</a:t>
              </a:r>
              <a:endParaRPr lang="en-GB" sz="1400" dirty="0">
                <a:solidFill>
                  <a:schemeClr val="bg1"/>
                </a:solidFill>
                <a:latin typeface="Montserrat Medium" pitchFamily="2" charset="77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746782A-8193-4BF3-80B8-29D3E8DB35C1}"/>
                </a:ext>
              </a:extLst>
            </p:cNvPr>
            <p:cNvSpPr/>
            <p:nvPr/>
          </p:nvSpPr>
          <p:spPr>
            <a:xfrm>
              <a:off x="809625" y="5872199"/>
              <a:ext cx="119936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PhD Student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D39959-F375-07AA-84D7-1F77436E9F9C}"/>
              </a:ext>
            </a:extLst>
          </p:cNvPr>
          <p:cNvGrpSpPr/>
          <p:nvPr/>
        </p:nvGrpSpPr>
        <p:grpSpPr>
          <a:xfrm>
            <a:off x="3408041" y="5629051"/>
            <a:ext cx="2109873" cy="520147"/>
            <a:chOff x="3408041" y="5629051"/>
            <a:chExt cx="2109873" cy="52014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4535875-F975-42EB-B979-DD1BE91538EB}"/>
                </a:ext>
              </a:extLst>
            </p:cNvPr>
            <p:cNvSpPr/>
            <p:nvPr/>
          </p:nvSpPr>
          <p:spPr>
            <a:xfrm>
              <a:off x="3408041" y="5629051"/>
              <a:ext cx="210987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Dongchi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(Daniel) Yao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9D37AA5-91CC-4B0B-90BA-AE41A14EC302}"/>
                </a:ext>
              </a:extLst>
            </p:cNvPr>
            <p:cNvSpPr/>
            <p:nvPr/>
          </p:nvSpPr>
          <p:spPr>
            <a:xfrm>
              <a:off x="3408041" y="5872199"/>
              <a:ext cx="19704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Postdoctoral Associate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9EB26A7-32DD-3728-48DB-56F2A06010DF}"/>
              </a:ext>
            </a:extLst>
          </p:cNvPr>
          <p:cNvGrpSpPr/>
          <p:nvPr/>
        </p:nvGrpSpPr>
        <p:grpSpPr>
          <a:xfrm>
            <a:off x="6008366" y="5629051"/>
            <a:ext cx="1661032" cy="520147"/>
            <a:chOff x="6008366" y="5629051"/>
            <a:chExt cx="1661032" cy="52014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3F09F3B-CE49-45AF-A6F8-E67CA9419BC6}"/>
                </a:ext>
              </a:extLst>
            </p:cNvPr>
            <p:cNvSpPr/>
            <p:nvPr/>
          </p:nvSpPr>
          <p:spPr>
            <a:xfrm>
              <a:off x="6008366" y="5629051"/>
              <a:ext cx="117051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Nas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</a:t>
              </a:r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Gopee</a:t>
              </a:r>
              <a:endParaRPr lang="en-GB" sz="1400" dirty="0">
                <a:solidFill>
                  <a:schemeClr val="bg1"/>
                </a:solidFill>
                <a:latin typeface="Montserrat Medium" pitchFamily="2" charset="77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BD7E7E9-5D34-45CC-B973-67625B7AB433}"/>
                </a:ext>
              </a:extLst>
            </p:cNvPr>
            <p:cNvSpPr/>
            <p:nvPr/>
          </p:nvSpPr>
          <p:spPr>
            <a:xfrm>
              <a:off x="6008366" y="5872199"/>
              <a:ext cx="16610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Research Assistant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CFF77F2-A078-7BDC-DB83-28A69EB6BDCA}"/>
              </a:ext>
            </a:extLst>
          </p:cNvPr>
          <p:cNvGrpSpPr/>
          <p:nvPr/>
        </p:nvGrpSpPr>
        <p:grpSpPr>
          <a:xfrm>
            <a:off x="8624566" y="5629051"/>
            <a:ext cx="1970411" cy="520147"/>
            <a:chOff x="8624566" y="5629051"/>
            <a:chExt cx="1970411" cy="52014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4A10A6D-0062-44C9-A162-BA20F5A56DD3}"/>
                </a:ext>
              </a:extLst>
            </p:cNvPr>
            <p:cNvSpPr/>
            <p:nvPr/>
          </p:nvSpPr>
          <p:spPr>
            <a:xfrm>
              <a:off x="8624566" y="5629051"/>
              <a:ext cx="126028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Boyu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Wang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C31ECE8-A3CD-44D4-B427-F85AE240A6E0}"/>
                </a:ext>
              </a:extLst>
            </p:cNvPr>
            <p:cNvSpPr/>
            <p:nvPr/>
          </p:nvSpPr>
          <p:spPr>
            <a:xfrm>
              <a:off x="8624566" y="5872199"/>
              <a:ext cx="19704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Postdoctoral Associate</a:t>
              </a:r>
            </a:p>
          </p:txBody>
        </p:sp>
      </p:grpSp>
      <p:pic>
        <p:nvPicPr>
          <p:cNvPr id="43" name="Picture Placeholder 42" descr="A person in a suit&#10;&#10;AI-generated content may be incorrect.">
            <a:extLst>
              <a:ext uri="{FF2B5EF4-FFF2-40B4-BE49-F238E27FC236}">
                <a16:creationId xmlns:a16="http://schemas.microsoft.com/office/drawing/2014/main" id="{4FE99F1C-DB50-45CE-97BF-05B7B231EA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" r="565"/>
          <a:stretch/>
        </p:blipFill>
        <p:spPr>
          <a:xfrm>
            <a:off x="895350" y="1560513"/>
            <a:ext cx="1485900" cy="1373187"/>
          </a:xfrm>
          <a:prstGeom prst="rect">
            <a:avLst/>
          </a:prstGeom>
        </p:spPr>
      </p:pic>
      <p:pic>
        <p:nvPicPr>
          <p:cNvPr id="45" name="Picture 6" descr="Eyob Mengiste, PhD, Instructor and Researcher">
            <a:extLst>
              <a:ext uri="{FF2B5EF4-FFF2-40B4-BE49-F238E27FC236}">
                <a16:creationId xmlns:a16="http://schemas.microsoft.com/office/drawing/2014/main" id="{D99F8848-2751-4123-93E7-AF33C0729C35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9652"/>
          <a:stretch/>
        </p:blipFill>
        <p:spPr bwMode="auto">
          <a:xfrm>
            <a:off x="3497263" y="1560513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Placeholder 45" descr="A person in a white shirt&#10;&#10;AI-generated content may be incorrect.">
            <a:extLst>
              <a:ext uri="{FF2B5EF4-FFF2-40B4-BE49-F238E27FC236}">
                <a16:creationId xmlns:a16="http://schemas.microsoft.com/office/drawing/2014/main" id="{F2B1BB0D-2834-4BC3-9358-245C5DCE8DC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8" r="19558"/>
          <a:stretch/>
        </p:blipFill>
        <p:spPr>
          <a:xfrm>
            <a:off x="6099175" y="1560513"/>
            <a:ext cx="1485900" cy="1373187"/>
          </a:xfrm>
          <a:prstGeom prst="rect">
            <a:avLst/>
          </a:prstGeom>
        </p:spPr>
      </p:pic>
      <p:pic>
        <p:nvPicPr>
          <p:cNvPr id="47" name="Picture 10" descr="Zihao Zheng, PhD, Post-Doctoral Associate">
            <a:extLst>
              <a:ext uri="{FF2B5EF4-FFF2-40B4-BE49-F238E27FC236}">
                <a16:creationId xmlns:a16="http://schemas.microsoft.com/office/drawing/2014/main" id="{119B6BFA-9BF3-470D-A3FC-AD41BE486019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23" r="3182"/>
          <a:stretch/>
        </p:blipFill>
        <p:spPr bwMode="auto">
          <a:xfrm>
            <a:off x="8701088" y="1560513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6" descr="Semih Sonkor, PhD Student, NYUAD">
            <a:extLst>
              <a:ext uri="{FF2B5EF4-FFF2-40B4-BE49-F238E27FC236}">
                <a16:creationId xmlns:a16="http://schemas.microsoft.com/office/drawing/2014/main" id="{FE316733-ED87-41B0-97BE-81C0DA33B857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9652"/>
          <a:stretch/>
        </p:blipFill>
        <p:spPr bwMode="auto">
          <a:xfrm>
            <a:off x="895350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12" descr="Daniel Yao, PhD Student, NYUAD">
            <a:extLst>
              <a:ext uri="{FF2B5EF4-FFF2-40B4-BE49-F238E27FC236}">
                <a16:creationId xmlns:a16="http://schemas.microsoft.com/office/drawing/2014/main" id="{F369EA2D-EED4-40B4-83CC-1972F4A90933}"/>
              </a:ext>
            </a:extLst>
          </p:cNvPr>
          <p:cNvPicPr>
            <a:picLocks noGrp="1" noChangeAspect="1" noChangeArrowheads="1"/>
          </p:cNvPicPr>
          <p:nvPr>
            <p:ph type="pic" sz="quarter" idx="15"/>
          </p:nvPr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9652"/>
          <a:stretch/>
        </p:blipFill>
        <p:spPr bwMode="auto">
          <a:xfrm>
            <a:off x="3497263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18" descr="Nas Gopee, Research Assistant">
            <a:extLst>
              <a:ext uri="{FF2B5EF4-FFF2-40B4-BE49-F238E27FC236}">
                <a16:creationId xmlns:a16="http://schemas.microsoft.com/office/drawing/2014/main" id="{94F055F1-330A-4DC2-8E2B-93C9E8FC9DEF}"/>
              </a:ext>
            </a:extLst>
          </p:cNvPr>
          <p:cNvPicPr>
            <a:picLocks noGrp="1" noChangeAspect="1" noChangeArrowheads="1"/>
          </p:cNvPicPr>
          <p:nvPr>
            <p:ph type="pic" sz="quarter" idx="16"/>
          </p:nvPr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6" r="19776"/>
          <a:stretch/>
        </p:blipFill>
        <p:spPr bwMode="auto">
          <a:xfrm>
            <a:off x="6099175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14" descr="Boyu Wang, PhD, Post-Doctoral Associate">
            <a:extLst>
              <a:ext uri="{FF2B5EF4-FFF2-40B4-BE49-F238E27FC236}">
                <a16:creationId xmlns:a16="http://schemas.microsoft.com/office/drawing/2014/main" id="{F1A2C0B5-8243-42AB-85CB-E2C149705103}"/>
              </a:ext>
            </a:extLst>
          </p:cNvPr>
          <p:cNvPicPr>
            <a:picLocks noGrp="1" noChangeAspect="1" noChangeArrowheads="1"/>
          </p:cNvPicPr>
          <p:nvPr>
            <p:ph type="pic" sz="quarter" idx="17"/>
          </p:nvPr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0" r="19590"/>
          <a:stretch/>
        </p:blipFill>
        <p:spPr bwMode="auto">
          <a:xfrm>
            <a:off x="8701088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5772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FFEE1F3-D9F4-4C82-A8F8-4D2F738891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tretch/>
        </p:blipFill>
        <p:spPr/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DE8574-DDBB-4B73-BBDB-D57E2B2DFAC5}"/>
              </a:ext>
            </a:extLst>
          </p:cNvPr>
          <p:cNvSpPr/>
          <p:nvPr/>
        </p:nvSpPr>
        <p:spPr>
          <a:xfrm rot="10800000">
            <a:off x="0" y="1574171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B699C6-3927-40D4-A257-B4CD3F1CD1DE}"/>
              </a:ext>
            </a:extLst>
          </p:cNvPr>
          <p:cNvSpPr/>
          <p:nvPr/>
        </p:nvSpPr>
        <p:spPr>
          <a:xfrm>
            <a:off x="10391005" y="5283829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34">
            <a:extLst>
              <a:ext uri="{FF2B5EF4-FFF2-40B4-BE49-F238E27FC236}">
                <a16:creationId xmlns:a16="http://schemas.microsoft.com/office/drawing/2014/main" id="{D85CB794-220C-4D26-B5F5-357A5E7B0C9B}"/>
              </a:ext>
            </a:extLst>
          </p:cNvPr>
          <p:cNvSpPr txBox="1">
            <a:spLocks/>
          </p:cNvSpPr>
          <p:nvPr/>
        </p:nvSpPr>
        <p:spPr>
          <a:xfrm>
            <a:off x="7673138" y="603855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1B7AF2-EE53-4C67-82FF-F636CE931C49}"/>
              </a:ext>
            </a:extLst>
          </p:cNvPr>
          <p:cNvSpPr/>
          <p:nvPr/>
        </p:nvSpPr>
        <p:spPr>
          <a:xfrm>
            <a:off x="7595062" y="518747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E1BDFD-888D-4F54-8B46-69650EB07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1155547"/>
            <a:ext cx="1292123" cy="1196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DF42A-15A9-44B5-856D-F489984B5C62}"/>
              </a:ext>
            </a:extLst>
          </p:cNvPr>
          <p:cNvSpPr txBox="1"/>
          <p:nvPr/>
        </p:nvSpPr>
        <p:spPr>
          <a:xfrm>
            <a:off x="723900" y="4791422"/>
            <a:ext cx="102553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Robotic Platforms:</a:t>
            </a:r>
            <a:br>
              <a:rPr lang="en-GB" sz="4000" b="1" dirty="0">
                <a:solidFill>
                  <a:schemeClr val="bg1"/>
                </a:solidFill>
                <a:latin typeface="+mj-lt"/>
              </a:rPr>
            </a:br>
            <a:r>
              <a:rPr lang="en-GB" sz="4000" b="1" dirty="0">
                <a:solidFill>
                  <a:schemeClr val="bg1"/>
                </a:solidFill>
                <a:latin typeface="+mj-lt"/>
              </a:rPr>
              <a:t>The Robots in Our Lab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525770-E935-DEC1-6724-2394286B65F7}"/>
              </a:ext>
            </a:extLst>
          </p:cNvPr>
          <p:cNvGrpSpPr/>
          <p:nvPr/>
        </p:nvGrpSpPr>
        <p:grpSpPr>
          <a:xfrm>
            <a:off x="999355" y="518747"/>
            <a:ext cx="3324995" cy="3324994"/>
            <a:chOff x="999355" y="518747"/>
            <a:chExt cx="3324995" cy="3324994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C20CB2E-93B8-CFEB-273B-8501643040D8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AE8C124-044C-F854-B1BC-CE7AE8319203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CC88B0-3F51-C79B-6DBB-2A1F033B1A61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2952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FFEE1F3-D9F4-4C82-A8F8-4D2F738891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tretch/>
        </p:blipFill>
        <p:spPr/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DE8574-DDBB-4B73-BBDB-D57E2B2DFAC5}"/>
              </a:ext>
            </a:extLst>
          </p:cNvPr>
          <p:cNvSpPr/>
          <p:nvPr/>
        </p:nvSpPr>
        <p:spPr>
          <a:xfrm rot="10800000">
            <a:off x="0" y="1574171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B699C6-3927-40D4-A257-B4CD3F1CD1DE}"/>
              </a:ext>
            </a:extLst>
          </p:cNvPr>
          <p:cNvSpPr/>
          <p:nvPr/>
        </p:nvSpPr>
        <p:spPr>
          <a:xfrm>
            <a:off x="10391005" y="5283829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34">
            <a:extLst>
              <a:ext uri="{FF2B5EF4-FFF2-40B4-BE49-F238E27FC236}">
                <a16:creationId xmlns:a16="http://schemas.microsoft.com/office/drawing/2014/main" id="{D85CB794-220C-4D26-B5F5-357A5E7B0C9B}"/>
              </a:ext>
            </a:extLst>
          </p:cNvPr>
          <p:cNvSpPr txBox="1">
            <a:spLocks/>
          </p:cNvSpPr>
          <p:nvPr/>
        </p:nvSpPr>
        <p:spPr>
          <a:xfrm>
            <a:off x="7673138" y="603855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1B7AF2-EE53-4C67-82FF-F636CE931C49}"/>
              </a:ext>
            </a:extLst>
          </p:cNvPr>
          <p:cNvSpPr/>
          <p:nvPr/>
        </p:nvSpPr>
        <p:spPr>
          <a:xfrm>
            <a:off x="7595062" y="518747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E1BDFD-888D-4F54-8B46-69650EB07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1155547"/>
            <a:ext cx="1292123" cy="1196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DF42A-15A9-44B5-856D-F489984B5C62}"/>
              </a:ext>
            </a:extLst>
          </p:cNvPr>
          <p:cNvSpPr txBox="1"/>
          <p:nvPr/>
        </p:nvSpPr>
        <p:spPr>
          <a:xfrm>
            <a:off x="723900" y="4791422"/>
            <a:ext cx="102553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Publications:</a:t>
            </a:r>
            <a:br>
              <a:rPr lang="en-GB" sz="4000" b="1" dirty="0">
                <a:solidFill>
                  <a:schemeClr val="bg1"/>
                </a:solidFill>
                <a:latin typeface="+mj-lt"/>
              </a:rPr>
            </a:br>
            <a:r>
              <a:rPr lang="en-GB" sz="4000" b="1" dirty="0">
                <a:solidFill>
                  <a:schemeClr val="bg1"/>
                </a:solidFill>
                <a:latin typeface="+mj-lt"/>
              </a:rPr>
              <a:t>Four Projects, Five Papers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525770-E935-DEC1-6724-2394286B65F7}"/>
              </a:ext>
            </a:extLst>
          </p:cNvPr>
          <p:cNvGrpSpPr/>
          <p:nvPr/>
        </p:nvGrpSpPr>
        <p:grpSpPr>
          <a:xfrm>
            <a:off x="999355" y="518747"/>
            <a:ext cx="3324995" cy="3324994"/>
            <a:chOff x="999355" y="518747"/>
            <a:chExt cx="3324995" cy="3324994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C20CB2E-93B8-CFEB-273B-8501643040D8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AE8C124-044C-F854-B1BC-CE7AE8319203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CC88B0-3F51-C79B-6DBB-2A1F033B1A61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2952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FFEE1F3-D9F4-4C82-A8F8-4D2F738891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tretch/>
        </p:blipFill>
        <p:spPr/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DE8574-DDBB-4B73-BBDB-D57E2B2DFAC5}"/>
              </a:ext>
            </a:extLst>
          </p:cNvPr>
          <p:cNvSpPr/>
          <p:nvPr/>
        </p:nvSpPr>
        <p:spPr>
          <a:xfrm rot="10800000">
            <a:off x="0" y="1574171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B699C6-3927-40D4-A257-B4CD3F1CD1DE}"/>
              </a:ext>
            </a:extLst>
          </p:cNvPr>
          <p:cNvSpPr/>
          <p:nvPr/>
        </p:nvSpPr>
        <p:spPr>
          <a:xfrm>
            <a:off x="10391005" y="5283829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34">
            <a:extLst>
              <a:ext uri="{FF2B5EF4-FFF2-40B4-BE49-F238E27FC236}">
                <a16:creationId xmlns:a16="http://schemas.microsoft.com/office/drawing/2014/main" id="{D85CB794-220C-4D26-B5F5-357A5E7B0C9B}"/>
              </a:ext>
            </a:extLst>
          </p:cNvPr>
          <p:cNvSpPr txBox="1">
            <a:spLocks/>
          </p:cNvSpPr>
          <p:nvPr/>
        </p:nvSpPr>
        <p:spPr>
          <a:xfrm>
            <a:off x="7673138" y="603855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1B7AF2-EE53-4C67-82FF-F636CE931C49}"/>
              </a:ext>
            </a:extLst>
          </p:cNvPr>
          <p:cNvSpPr/>
          <p:nvPr/>
        </p:nvSpPr>
        <p:spPr>
          <a:xfrm>
            <a:off x="7595062" y="518747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E1BDFD-888D-4F54-8B46-69650EB07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1155547"/>
            <a:ext cx="1292123" cy="1196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DF42A-15A9-44B5-856D-F489984B5C62}"/>
              </a:ext>
            </a:extLst>
          </p:cNvPr>
          <p:cNvSpPr txBox="1"/>
          <p:nvPr/>
        </p:nvSpPr>
        <p:spPr>
          <a:xfrm>
            <a:off x="723900" y="4791422"/>
            <a:ext cx="102553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Lab Demonstrations:</a:t>
            </a:r>
            <a:br>
              <a:rPr lang="en-GB" sz="4000" b="1" dirty="0">
                <a:solidFill>
                  <a:schemeClr val="bg1"/>
                </a:solidFill>
                <a:latin typeface="+mj-lt"/>
              </a:rPr>
            </a:br>
            <a:r>
              <a:rPr lang="en-GB" sz="4000" b="1" dirty="0">
                <a:solidFill>
                  <a:schemeClr val="bg1"/>
                </a:solidFill>
                <a:latin typeface="+mj-lt"/>
              </a:rPr>
              <a:t>Beyond the Papers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525770-E935-DEC1-6724-2394286B65F7}"/>
              </a:ext>
            </a:extLst>
          </p:cNvPr>
          <p:cNvGrpSpPr/>
          <p:nvPr/>
        </p:nvGrpSpPr>
        <p:grpSpPr>
          <a:xfrm>
            <a:off x="999355" y="518747"/>
            <a:ext cx="3324995" cy="3324994"/>
            <a:chOff x="999355" y="518747"/>
            <a:chExt cx="3324995" cy="3324994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C20CB2E-93B8-CFEB-273B-8501643040D8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AE8C124-044C-F854-B1BC-CE7AE8319203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CC88B0-3F51-C79B-6DBB-2A1F033B1A61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2952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40A5CF-EBDE-4115-8886-35848797A02C}"/>
              </a:ext>
            </a:extLst>
          </p:cNvPr>
          <p:cNvSpPr/>
          <p:nvPr/>
        </p:nvSpPr>
        <p:spPr>
          <a:xfrm>
            <a:off x="0" y="3194613"/>
            <a:ext cx="12192000" cy="366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89D6F-1615-6A30-CFD8-B6F74BF5437C}"/>
              </a:ext>
            </a:extLst>
          </p:cNvPr>
          <p:cNvSpPr txBox="1"/>
          <p:nvPr/>
        </p:nvSpPr>
        <p:spPr>
          <a:xfrm>
            <a:off x="6506031" y="828912"/>
            <a:ext cx="61114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Robotnik SUMMIT-XL</a:t>
            </a:r>
            <a:br>
              <a:rPr lang="en-US" sz="3600" b="1" dirty="0">
                <a:solidFill>
                  <a:schemeClr val="accent1"/>
                </a:solidFill>
              </a:rPr>
            </a:br>
            <a:r>
              <a:rPr lang="en-US" sz="3600" b="1" dirty="0">
                <a:solidFill>
                  <a:schemeClr val="accent1"/>
                </a:solidFill>
              </a:rPr>
              <a:t>Omnidirectional Mobile Base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BE1136AC-407E-783C-97E0-79A2A972C7BB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8"/>
          <a:stretch/>
        </p:blipFill>
        <p:spPr bwMode="auto">
          <a:xfrm>
            <a:off x="0" y="0"/>
            <a:ext cx="6192176" cy="685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90E481E-55D6-0A59-4450-E94DBA19B678}"/>
              </a:ext>
            </a:extLst>
          </p:cNvPr>
          <p:cNvGrpSpPr/>
          <p:nvPr/>
        </p:nvGrpSpPr>
        <p:grpSpPr>
          <a:xfrm>
            <a:off x="6506031" y="3594007"/>
            <a:ext cx="4957307" cy="468774"/>
            <a:chOff x="6506031" y="3594007"/>
            <a:chExt cx="4957307" cy="46877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4AA4542-3CAF-EF09-38F9-FC8703760431}"/>
                </a:ext>
              </a:extLst>
            </p:cNvPr>
            <p:cNvSpPr txBox="1"/>
            <p:nvPr/>
          </p:nvSpPr>
          <p:spPr>
            <a:xfrm>
              <a:off x="7053532" y="3674506"/>
              <a:ext cx="44098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Four-wheel mobile robot for indoor and outdoor sites.</a:t>
              </a:r>
            </a:p>
          </p:txBody>
        </p:sp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DB397818-4718-5F1E-6976-27718615D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3594007"/>
              <a:ext cx="468774" cy="468774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E960E7E-FC97-19FF-43B0-CD3254D2324D}"/>
              </a:ext>
            </a:extLst>
          </p:cNvPr>
          <p:cNvGrpSpPr/>
          <p:nvPr/>
        </p:nvGrpSpPr>
        <p:grpSpPr>
          <a:xfrm>
            <a:off x="6506031" y="4346819"/>
            <a:ext cx="5812969" cy="468774"/>
            <a:chOff x="6506031" y="4391801"/>
            <a:chExt cx="5812969" cy="46877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765C05-67F0-694C-52F1-C9E5E57F8C14}"/>
                </a:ext>
              </a:extLst>
            </p:cNvPr>
            <p:cNvSpPr txBox="1"/>
            <p:nvPr/>
          </p:nvSpPr>
          <p:spPr>
            <a:xfrm>
              <a:off x="7053532" y="4472300"/>
              <a:ext cx="52654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Mecanum wheels: moves sideways and turns on the spot.</a:t>
              </a: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31DA89C4-CFF4-1D24-CA0B-BCBFD4C1C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4391801"/>
              <a:ext cx="468774" cy="468774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B26E7C-0956-3F91-6662-ECEAFEB2F361}"/>
              </a:ext>
            </a:extLst>
          </p:cNvPr>
          <p:cNvGrpSpPr/>
          <p:nvPr/>
        </p:nvGrpSpPr>
        <p:grpSpPr>
          <a:xfrm>
            <a:off x="6506031" y="5099631"/>
            <a:ext cx="5355769" cy="468774"/>
            <a:chOff x="6506031" y="5162371"/>
            <a:chExt cx="5355769" cy="468774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087BFBB-0747-8EE9-CE12-D926DF632D94}"/>
                </a:ext>
              </a:extLst>
            </p:cNvPr>
            <p:cNvSpPr txBox="1"/>
            <p:nvPr/>
          </p:nvSpPr>
          <p:spPr>
            <a:xfrm>
              <a:off x="7053532" y="5242870"/>
              <a:ext cx="48082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Independent suspension keeps all wheels on rough floors.</a:t>
              </a: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8AA505D0-92D3-57B6-7944-EA19D4780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5162371"/>
              <a:ext cx="468774" cy="468774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4ADF8B4-40B7-A7D2-1207-0D858CA7E834}"/>
              </a:ext>
            </a:extLst>
          </p:cNvPr>
          <p:cNvGrpSpPr/>
          <p:nvPr/>
        </p:nvGrpSpPr>
        <p:grpSpPr>
          <a:xfrm>
            <a:off x="6506031" y="5852444"/>
            <a:ext cx="5690625" cy="468774"/>
            <a:chOff x="6506031" y="5852444"/>
            <a:chExt cx="5690625" cy="46877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61D7586-2074-6B05-41BF-80C317482745}"/>
                </a:ext>
              </a:extLst>
            </p:cNvPr>
            <p:cNvSpPr txBox="1"/>
            <p:nvPr/>
          </p:nvSpPr>
          <p:spPr>
            <a:xfrm>
              <a:off x="7053532" y="5932943"/>
              <a:ext cx="51431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Our unit: Ouster OS-1-64 LiDAR, Astra camera, PX4 IMU, ROS.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CC2DD900-9B2A-4847-868C-4264E45CE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5852444"/>
              <a:ext cx="468774" cy="4687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99181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40A5CF-EBDE-4115-8886-35848797A02C}"/>
              </a:ext>
            </a:extLst>
          </p:cNvPr>
          <p:cNvSpPr/>
          <p:nvPr/>
        </p:nvSpPr>
        <p:spPr>
          <a:xfrm>
            <a:off x="0" y="3194613"/>
            <a:ext cx="12192000" cy="366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89D6F-1615-6A30-CFD8-B6F74BF5437C}"/>
              </a:ext>
            </a:extLst>
          </p:cNvPr>
          <p:cNvSpPr txBox="1"/>
          <p:nvPr/>
        </p:nvSpPr>
        <p:spPr>
          <a:xfrm>
            <a:off x="6506031" y="828912"/>
            <a:ext cx="61114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Boston Dynamics Spot</a:t>
            </a:r>
            <a:br>
              <a:rPr lang="en-US" sz="3600" b="1" dirty="0">
                <a:solidFill>
                  <a:schemeClr val="accent1"/>
                </a:solidFill>
              </a:rPr>
            </a:br>
            <a:r>
              <a:rPr lang="en-US" sz="3600" b="1" dirty="0">
                <a:solidFill>
                  <a:schemeClr val="accent1"/>
                </a:solidFill>
              </a:rPr>
              <a:t>&amp; Spot with Arm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BE1136AC-407E-783C-97E0-79A2A972C7BB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8"/>
          <a:stretch/>
        </p:blipFill>
        <p:spPr bwMode="auto">
          <a:xfrm>
            <a:off x="0" y="0"/>
            <a:ext cx="6192176" cy="685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90E481E-55D6-0A59-4450-E94DBA19B678}"/>
              </a:ext>
            </a:extLst>
          </p:cNvPr>
          <p:cNvGrpSpPr/>
          <p:nvPr/>
        </p:nvGrpSpPr>
        <p:grpSpPr>
          <a:xfrm>
            <a:off x="6506031" y="3594007"/>
            <a:ext cx="4957307" cy="468774"/>
            <a:chOff x="6506031" y="3594007"/>
            <a:chExt cx="4957307" cy="46877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4AA4542-3CAF-EF09-38F9-FC8703760431}"/>
                </a:ext>
              </a:extLst>
            </p:cNvPr>
            <p:cNvSpPr txBox="1"/>
            <p:nvPr/>
          </p:nvSpPr>
          <p:spPr>
            <a:xfrm>
              <a:off x="7053532" y="3674506"/>
              <a:ext cx="44098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Legged robot that climbs stairs and crosses rough ground.</a:t>
              </a:r>
            </a:p>
          </p:txBody>
        </p:sp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DB397818-4718-5F1E-6976-27718615D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3594007"/>
              <a:ext cx="468774" cy="468774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E960E7E-FC97-19FF-43B0-CD3254D2324D}"/>
              </a:ext>
            </a:extLst>
          </p:cNvPr>
          <p:cNvGrpSpPr/>
          <p:nvPr/>
        </p:nvGrpSpPr>
        <p:grpSpPr>
          <a:xfrm>
            <a:off x="6506031" y="4346819"/>
            <a:ext cx="5812969" cy="468774"/>
            <a:chOff x="6506031" y="4391801"/>
            <a:chExt cx="5812969" cy="46877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765C05-67F0-694C-52F1-C9E5E57F8C14}"/>
                </a:ext>
              </a:extLst>
            </p:cNvPr>
            <p:cNvSpPr txBox="1"/>
            <p:nvPr/>
          </p:nvSpPr>
          <p:spPr>
            <a:xfrm>
              <a:off x="7053532" y="4472300"/>
              <a:ext cx="52654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Walks up to 1.6 m/s for about 90 minutes per battery.</a:t>
              </a: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31DA89C4-CFF4-1D24-CA0B-BCBFD4C1C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4391801"/>
              <a:ext cx="468774" cy="468774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B26E7C-0956-3F91-6662-ECEAFEB2F361}"/>
              </a:ext>
            </a:extLst>
          </p:cNvPr>
          <p:cNvGrpSpPr/>
          <p:nvPr/>
        </p:nvGrpSpPr>
        <p:grpSpPr>
          <a:xfrm>
            <a:off x="6506031" y="5099631"/>
            <a:ext cx="5355769" cy="468774"/>
            <a:chOff x="6506031" y="5162371"/>
            <a:chExt cx="5355769" cy="468774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087BFBB-0747-8EE9-CE12-D926DF632D94}"/>
                </a:ext>
              </a:extLst>
            </p:cNvPr>
            <p:cNvSpPr txBox="1"/>
            <p:nvPr/>
          </p:nvSpPr>
          <p:spPr>
            <a:xfrm>
              <a:off x="7053532" y="5242870"/>
              <a:ext cx="48082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Carries up to 14 kg on its rails; IP54 dust and water rating.</a:t>
              </a: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8AA505D0-92D3-57B6-7944-EA19D4780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5162371"/>
              <a:ext cx="468774" cy="468774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4ADF8B4-40B7-A7D2-1207-0D858CA7E834}"/>
              </a:ext>
            </a:extLst>
          </p:cNvPr>
          <p:cNvGrpSpPr/>
          <p:nvPr/>
        </p:nvGrpSpPr>
        <p:grpSpPr>
          <a:xfrm>
            <a:off x="6506031" y="5852444"/>
            <a:ext cx="5690625" cy="468774"/>
            <a:chOff x="6506031" y="5852444"/>
            <a:chExt cx="5690625" cy="46877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61D7586-2074-6B05-41BF-80C317482745}"/>
                </a:ext>
              </a:extLst>
            </p:cNvPr>
            <p:cNvSpPr txBox="1"/>
            <p:nvPr/>
          </p:nvSpPr>
          <p:spPr>
            <a:xfrm>
              <a:off x="7053532" y="5932943"/>
              <a:ext cx="51431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Arm: 6 joints and a gripper to open doors and pick objects.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CC2DD900-9B2A-4847-868C-4264E45CE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5852444"/>
              <a:ext cx="468774" cy="468774"/>
            </a:xfrm>
            <a:prstGeom prst="rect">
              <a:avLst/>
            </a:prstGeom>
          </p:spPr>
        </p:pic>
      </p:grpSp>
      <p:sp>
        <p:nvSpPr>
          <p:cNvPr id="47" name="Rounded Rectangle 46"/>
          <p:cNvSpPr/>
          <p:nvPr/>
        </p:nvSpPr>
        <p:spPr>
          <a:xfrm>
            <a:off x="274320" y="274320"/>
            <a:ext cx="512064" cy="329184"/>
          </a:xfrm>
          <a:prstGeom prst="roundRect">
            <a:avLst>
              <a:gd name="adj" fmla="val 50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Spot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3749039"/>
            <a:ext cx="1458468" cy="329184"/>
          </a:xfrm>
          <a:prstGeom prst="roundRect">
            <a:avLst>
              <a:gd name="adj" fmla="val 50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Spot with Arm</a:t>
            </a:r>
          </a:p>
        </p:txBody>
      </p:sp>
    </p:spTree>
    <p:extLst>
      <p:ext uri="{BB962C8B-B14F-4D97-AF65-F5344CB8AC3E}">
        <p14:creationId xmlns:p14="http://schemas.microsoft.com/office/powerpoint/2010/main" val="4199181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40A5CF-EBDE-4115-8886-35848797A02C}"/>
              </a:ext>
            </a:extLst>
          </p:cNvPr>
          <p:cNvSpPr/>
          <p:nvPr/>
        </p:nvSpPr>
        <p:spPr>
          <a:xfrm>
            <a:off x="0" y="3194613"/>
            <a:ext cx="12192000" cy="366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89D6F-1615-6A30-CFD8-B6F74BF5437C}"/>
              </a:ext>
            </a:extLst>
          </p:cNvPr>
          <p:cNvSpPr txBox="1"/>
          <p:nvPr/>
        </p:nvSpPr>
        <p:spPr>
          <a:xfrm>
            <a:off x="6506031" y="828912"/>
            <a:ext cx="61114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Unitree Go2 &amp; Go2-W</a:t>
            </a:r>
            <a:br>
              <a:rPr lang="en-US" sz="3600" b="1" dirty="0">
                <a:solidFill>
                  <a:schemeClr val="accent1"/>
                </a:solidFill>
              </a:rPr>
            </a:br>
            <a:r>
              <a:rPr lang="en-US" sz="3600" b="1" dirty="0">
                <a:solidFill>
                  <a:schemeClr val="accent1"/>
                </a:solidFill>
              </a:rPr>
              <a:t>Compact Legged Platforms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BE1136AC-407E-783C-97E0-79A2A972C7BB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8"/>
          <a:stretch/>
        </p:blipFill>
        <p:spPr bwMode="auto">
          <a:xfrm>
            <a:off x="0" y="0"/>
            <a:ext cx="6192176" cy="685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90E481E-55D6-0A59-4450-E94DBA19B678}"/>
              </a:ext>
            </a:extLst>
          </p:cNvPr>
          <p:cNvGrpSpPr/>
          <p:nvPr/>
        </p:nvGrpSpPr>
        <p:grpSpPr>
          <a:xfrm>
            <a:off x="6506031" y="3594007"/>
            <a:ext cx="4957307" cy="468774"/>
            <a:chOff x="6506031" y="3594007"/>
            <a:chExt cx="4957307" cy="46877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4AA4542-3CAF-EF09-38F9-FC8703760431}"/>
                </a:ext>
              </a:extLst>
            </p:cNvPr>
            <p:cNvSpPr txBox="1"/>
            <p:nvPr/>
          </p:nvSpPr>
          <p:spPr>
            <a:xfrm>
              <a:off x="7053532" y="3674506"/>
              <a:ext cx="44098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Go2: light (~15 kg) quadruped with a built-in LiDAR and camera.</a:t>
              </a:r>
            </a:p>
          </p:txBody>
        </p:sp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DB397818-4718-5F1E-6976-27718615D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3594007"/>
              <a:ext cx="468774" cy="468774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E960E7E-FC97-19FF-43B0-CD3254D2324D}"/>
              </a:ext>
            </a:extLst>
          </p:cNvPr>
          <p:cNvGrpSpPr/>
          <p:nvPr/>
        </p:nvGrpSpPr>
        <p:grpSpPr>
          <a:xfrm>
            <a:off x="6506031" y="4346819"/>
            <a:ext cx="5812969" cy="468774"/>
            <a:chOff x="6506031" y="4391801"/>
            <a:chExt cx="5812969" cy="46877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765C05-67F0-694C-52F1-C9E5E57F8C14}"/>
                </a:ext>
              </a:extLst>
            </p:cNvPr>
            <p:cNvSpPr txBox="1"/>
            <p:nvPr/>
          </p:nvSpPr>
          <p:spPr>
            <a:xfrm>
              <a:off x="7053532" y="4472300"/>
              <a:ext cx="52654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Go2-W: wheels on its legs; it rolls on flat floors and steps up.</a:t>
              </a: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31DA89C4-CFF4-1D24-CA0B-BCBFD4C1C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4391801"/>
              <a:ext cx="468774" cy="468774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B26E7C-0956-3F91-6662-ECEAFEB2F361}"/>
              </a:ext>
            </a:extLst>
          </p:cNvPr>
          <p:cNvGrpSpPr/>
          <p:nvPr/>
        </p:nvGrpSpPr>
        <p:grpSpPr>
          <a:xfrm>
            <a:off x="6506031" y="5099631"/>
            <a:ext cx="5355769" cy="468774"/>
            <a:chOff x="6506031" y="5162371"/>
            <a:chExt cx="5355769" cy="468774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087BFBB-0747-8EE9-CE12-D926DF632D94}"/>
                </a:ext>
              </a:extLst>
            </p:cNvPr>
            <p:cNvSpPr txBox="1"/>
            <p:nvPr/>
          </p:nvSpPr>
          <p:spPr>
            <a:xfrm>
              <a:off x="7053532" y="5242870"/>
              <a:ext cx="48082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Go2-W: up to 2.5 m/s and 35° slopes; 1.5–3 h per battery.</a:t>
              </a: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8AA505D0-92D3-57B6-7944-EA19D4780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5162371"/>
              <a:ext cx="468774" cy="468774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4ADF8B4-40B7-A7D2-1207-0D858CA7E834}"/>
              </a:ext>
            </a:extLst>
          </p:cNvPr>
          <p:cNvGrpSpPr/>
          <p:nvPr/>
        </p:nvGrpSpPr>
        <p:grpSpPr>
          <a:xfrm>
            <a:off x="6506031" y="5852444"/>
            <a:ext cx="5690625" cy="468774"/>
            <a:chOff x="6506031" y="5852444"/>
            <a:chExt cx="5690625" cy="46877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61D7586-2074-6B05-41BF-80C317482745}"/>
                </a:ext>
              </a:extLst>
            </p:cNvPr>
            <p:cNvSpPr txBox="1"/>
            <p:nvPr/>
          </p:nvSpPr>
          <p:spPr>
            <a:xfrm>
              <a:off x="7053532" y="5932943"/>
              <a:ext cx="51431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Both are open to research code through an SDK and ROS 2.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CC2DD900-9B2A-4847-868C-4264E45CE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5852444"/>
              <a:ext cx="468774" cy="468774"/>
            </a:xfrm>
            <a:prstGeom prst="rect">
              <a:avLst/>
            </a:prstGeom>
          </p:spPr>
        </p:pic>
      </p:grpSp>
      <p:sp>
        <p:nvSpPr>
          <p:cNvPr id="47" name="Rounded Rectangle 46"/>
          <p:cNvSpPr/>
          <p:nvPr/>
        </p:nvSpPr>
        <p:spPr>
          <a:xfrm>
            <a:off x="274320" y="274320"/>
            <a:ext cx="406908" cy="329184"/>
          </a:xfrm>
          <a:prstGeom prst="roundRect">
            <a:avLst>
              <a:gd name="adj" fmla="val 50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Go2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3520440"/>
            <a:ext cx="617220" cy="329184"/>
          </a:xfrm>
          <a:prstGeom prst="roundRect">
            <a:avLst>
              <a:gd name="adj" fmla="val 50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Go2-W</a:t>
            </a:r>
          </a:p>
        </p:txBody>
      </p:sp>
    </p:spTree>
    <p:extLst>
      <p:ext uri="{BB962C8B-B14F-4D97-AF65-F5344CB8AC3E}">
        <p14:creationId xmlns:p14="http://schemas.microsoft.com/office/powerpoint/2010/main" val="4199181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A515CF7-92B2-40BF-8EB6-DF0F8C3D7C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18" b="10418"/>
          <a:stretch/>
        </p:blipFill>
        <p:spPr/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07323D3-63E7-49FA-9D12-5946673DBCB1}"/>
              </a:ext>
            </a:extLst>
          </p:cNvPr>
          <p:cNvSpPr/>
          <p:nvPr/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2FD1BB0-F4DB-4DE6-9F46-9A30F6AE48C7}"/>
              </a:ext>
            </a:extLst>
          </p:cNvPr>
          <p:cNvSpPr/>
          <p:nvPr/>
        </p:nvSpPr>
        <p:spPr>
          <a:xfrm flipH="1">
            <a:off x="-2810" y="2891880"/>
            <a:ext cx="6184038" cy="3542258"/>
          </a:xfrm>
          <a:custGeom>
            <a:avLst/>
            <a:gdLst>
              <a:gd name="connsiteX0" fmla="*/ 5173707 w 6184038"/>
              <a:gd name="connsiteY0" fmla="*/ 687 h 3542258"/>
              <a:gd name="connsiteX1" fmla="*/ 4398274 w 6184038"/>
              <a:gd name="connsiteY1" fmla="*/ 110349 h 3542258"/>
              <a:gd name="connsiteX2" fmla="*/ 3083592 w 6184038"/>
              <a:gd name="connsiteY2" fmla="*/ 968823 h 3542258"/>
              <a:gd name="connsiteX3" fmla="*/ 0 w 6184038"/>
              <a:gd name="connsiteY3" fmla="*/ 3259333 h 3542258"/>
              <a:gd name="connsiteX4" fmla="*/ 1239728 w 6184038"/>
              <a:gd name="connsiteY4" fmla="*/ 3402888 h 3542258"/>
              <a:gd name="connsiteX5" fmla="*/ 3070534 w 6184038"/>
              <a:gd name="connsiteY5" fmla="*/ 3503455 h 3542258"/>
              <a:gd name="connsiteX6" fmla="*/ 6184038 w 6184038"/>
              <a:gd name="connsiteY6" fmla="*/ 1616213 h 3542258"/>
              <a:gd name="connsiteX7" fmla="*/ 6184038 w 6184038"/>
              <a:gd name="connsiteY7" fmla="*/ 51399 h 3542258"/>
              <a:gd name="connsiteX8" fmla="*/ 6155272 w 6184038"/>
              <a:gd name="connsiteY8" fmla="*/ 48664 h 3542258"/>
              <a:gd name="connsiteX9" fmla="*/ 5173707 w 6184038"/>
              <a:gd name="connsiteY9" fmla="*/ 687 h 3542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84038" h="3542258">
                <a:moveTo>
                  <a:pt x="5173707" y="687"/>
                </a:moveTo>
                <a:cubicBezTo>
                  <a:pt x="4877326" y="5545"/>
                  <a:pt x="4615301" y="36674"/>
                  <a:pt x="4398274" y="110349"/>
                </a:cubicBezTo>
                <a:cubicBezTo>
                  <a:pt x="3978454" y="252492"/>
                  <a:pt x="3576465" y="603266"/>
                  <a:pt x="3083592" y="968823"/>
                </a:cubicBezTo>
                <a:lnTo>
                  <a:pt x="0" y="3259333"/>
                </a:lnTo>
                <a:lnTo>
                  <a:pt x="1239728" y="3402888"/>
                </a:lnTo>
                <a:cubicBezTo>
                  <a:pt x="1951619" y="3484801"/>
                  <a:pt x="2562968" y="3604830"/>
                  <a:pt x="3070534" y="3503455"/>
                </a:cubicBezTo>
                <a:cubicBezTo>
                  <a:pt x="3910532" y="3336384"/>
                  <a:pt x="4962151" y="2459672"/>
                  <a:pt x="6184038" y="1616213"/>
                </a:cubicBezTo>
                <a:lnTo>
                  <a:pt x="6184038" y="51399"/>
                </a:lnTo>
                <a:lnTo>
                  <a:pt x="6155272" y="48664"/>
                </a:lnTo>
                <a:cubicBezTo>
                  <a:pt x="5800824" y="17248"/>
                  <a:pt x="5470086" y="-4169"/>
                  <a:pt x="5173707" y="68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3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18" name="Picture 17" descr="A black and white logo&#10;&#10;AI-generated content may be incorrect.">
            <a:extLst>
              <a:ext uri="{FF2B5EF4-FFF2-40B4-BE49-F238E27FC236}">
                <a16:creationId xmlns:a16="http://schemas.microsoft.com/office/drawing/2014/main" id="{40A96097-1FB6-47D2-A50C-3018757C6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441326"/>
            <a:ext cx="2071687" cy="6121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DB5D2A-DA2A-47CC-A84D-EDFCEDD8CB51}"/>
              </a:ext>
            </a:extLst>
          </p:cNvPr>
          <p:cNvSpPr/>
          <p:nvPr/>
        </p:nvSpPr>
        <p:spPr>
          <a:xfrm>
            <a:off x="5060656" y="1524729"/>
            <a:ext cx="65804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7200" b="1" spc="-150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A16C2BC-137D-4F6E-9794-0DA373C7AF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150" y="6045476"/>
            <a:ext cx="1559406" cy="61363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A68369D-4684-7A40-87D2-09772E4C392A}"/>
              </a:ext>
            </a:extLst>
          </p:cNvPr>
          <p:cNvGrpSpPr/>
          <p:nvPr/>
        </p:nvGrpSpPr>
        <p:grpSpPr>
          <a:xfrm>
            <a:off x="5153254" y="3042843"/>
            <a:ext cx="5437581" cy="1206053"/>
            <a:chOff x="5153254" y="3111556"/>
            <a:chExt cx="5437581" cy="1206053"/>
          </a:xfrm>
        </p:grpSpPr>
        <p:pic>
          <p:nvPicPr>
            <p:cNvPr id="5" name="Picture 4" descr="A person in a suit&#10;&#10;AI-generated content may be incorrect.">
              <a:extLst>
                <a:ext uri="{FF2B5EF4-FFF2-40B4-BE49-F238E27FC236}">
                  <a16:creationId xmlns:a16="http://schemas.microsoft.com/office/drawing/2014/main" id="{CB89E33D-7622-7227-DF06-C36E7DD09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82" t="56" b="-56"/>
            <a:stretch/>
          </p:blipFill>
          <p:spPr>
            <a:xfrm>
              <a:off x="5153254" y="3111556"/>
              <a:ext cx="1221196" cy="1206053"/>
            </a:xfrm>
            <a:prstGeom prst="ellipse">
              <a:avLst/>
            </a:prstGeom>
            <a:ln w="57150">
              <a:solidFill>
                <a:schemeClr val="bg1"/>
              </a:solidFill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DCD8E3-CEFC-1221-2D91-8553DDE806BD}"/>
                </a:ext>
              </a:extLst>
            </p:cNvPr>
            <p:cNvSpPr txBox="1"/>
            <p:nvPr/>
          </p:nvSpPr>
          <p:spPr>
            <a:xfrm>
              <a:off x="6588889" y="3252917"/>
              <a:ext cx="400194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Montserrat Medium" pitchFamily="2" charset="77"/>
                </a:rPr>
                <a:t>Borja García de Soto, PhD, PE</a:t>
              </a:r>
            </a:p>
            <a:p>
              <a:r>
                <a:rPr lang="en-US" dirty="0">
                  <a:solidFill>
                    <a:schemeClr val="bg1"/>
                  </a:solidFill>
                  <a:latin typeface="Montserrat Medium" pitchFamily="2" charset="77"/>
                </a:rPr>
                <a:t>Associate Professor </a:t>
              </a:r>
            </a:p>
            <a:p>
              <a:r>
                <a:rPr lang="en-US" dirty="0">
                  <a:solidFill>
                    <a:schemeClr val="bg1"/>
                  </a:solidFill>
                  <a:latin typeface="Montserrat Medium" pitchFamily="2" charset="77"/>
                </a:rPr>
                <a:t>garcia.de.soto@nyu.edu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8914E23-EC89-83E1-20D1-79D6C4B46F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487" y="6130451"/>
            <a:ext cx="399088" cy="4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04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Our Robotics Research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Overview</a:t>
            </a:r>
          </a:p>
        </p:txBody>
      </p:sp>
      <p:sp>
        <p:nvSpPr>
          <p:cNvPr id="3" name="Band"/>
          <p:cNvSpPr/>
          <p:nvPr/>
        </p:nvSpPr>
        <p:spPr>
          <a:xfrm>
            <a:off x="0" y="4434840"/>
            <a:ext cx="12191695" cy="242316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833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02  PUBLICATIONS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8833104" cy="0"/>
          </a:xfrm>
          <a:prstGeom prst="line">
            <a:avLst/>
          </a:prstGeom>
          <a:ln w="19050">
            <a:solidFill>
              <a:srgbClr val="5B0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546336" y="1188720"/>
            <a:ext cx="2084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03  LAB DEMONSTRATION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546336" y="1517904"/>
            <a:ext cx="2084831" cy="0"/>
          </a:xfrm>
          <a:prstGeom prst="line">
            <a:avLst/>
          </a:prstGeom>
          <a:ln w="19050">
            <a:solidFill>
              <a:srgbClr val="5B0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1691640"/>
            <a:ext cx="2084831" cy="4526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ulti_hero.jpg"/>
          <p:cNvPicPr>
            <a:picLocks noChangeAspect="1"/>
          </p:cNvPicPr>
          <p:nvPr/>
        </p:nvPicPr>
        <p:blipFill>
          <a:blip r:embed="rId2"/>
          <a:srcRect l="12984" r="12984"/>
          <a:stretch>
            <a:fillRect/>
          </a:stretch>
        </p:blipFill>
        <p:spPr>
          <a:xfrm>
            <a:off x="658368" y="1801368"/>
            <a:ext cx="1865376" cy="141732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85800" y="3410712"/>
            <a:ext cx="420624" cy="420624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2.1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3364992"/>
            <a:ext cx="135331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Multi-Agent Robotic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05072"/>
            <a:ext cx="181051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Robots and a human split the work to digitize a cluttered site.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166360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SUMMIT-XL · Spot with Arm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550408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J. Field Robotics 2024</a:t>
            </a:r>
          </a:p>
        </p:txBody>
      </p:sp>
      <p:sp>
        <p:nvSpPr>
          <p:cNvPr id="15" name="Chevron 14"/>
          <p:cNvSpPr/>
          <p:nvPr/>
        </p:nvSpPr>
        <p:spPr>
          <a:xfrm>
            <a:off x="2651760" y="3502152"/>
            <a:ext cx="128016" cy="274320"/>
          </a:xfrm>
          <a:prstGeom prst="chevron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8064" y="1691640"/>
            <a:ext cx="2084831" cy="4526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paca_hero.jpg"/>
          <p:cNvPicPr>
            <a:picLocks noChangeAspect="1"/>
          </p:cNvPicPr>
          <p:nvPr/>
        </p:nvPicPr>
        <p:blipFill>
          <a:blip r:embed="rId3"/>
          <a:srcRect l="12984" r="12984"/>
          <a:stretch>
            <a:fillRect/>
          </a:stretch>
        </p:blipFill>
        <p:spPr>
          <a:xfrm>
            <a:off x="2907792" y="1801368"/>
            <a:ext cx="1865376" cy="141732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2935224" y="3410712"/>
            <a:ext cx="420624" cy="420624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2.2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8144" y="3364992"/>
            <a:ext cx="135331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PACA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4005072"/>
            <a:ext cx="181051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Workers talk to a robot assistant; a cloud multimodal LLM plans its actions.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3512" y="5166360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Spot with Arm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3512" y="5550408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ICRA 2025 Workshop</a:t>
            </a:r>
          </a:p>
        </p:txBody>
      </p:sp>
      <p:sp>
        <p:nvSpPr>
          <p:cNvPr id="23" name="Chevron 22"/>
          <p:cNvSpPr/>
          <p:nvPr/>
        </p:nvSpPr>
        <p:spPr>
          <a:xfrm>
            <a:off x="4901183" y="3502152"/>
            <a:ext cx="128016" cy="274320"/>
          </a:xfrm>
          <a:prstGeom prst="chevron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47488" y="1691640"/>
            <a:ext cx="2084831" cy="4526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lisa_hero.jpg"/>
          <p:cNvPicPr>
            <a:picLocks noChangeAspect="1"/>
          </p:cNvPicPr>
          <p:nvPr/>
        </p:nvPicPr>
        <p:blipFill>
          <a:blip r:embed="rId4"/>
          <a:srcRect l="12984" r="12984"/>
          <a:stretch>
            <a:fillRect/>
          </a:stretch>
        </p:blipFill>
        <p:spPr>
          <a:xfrm>
            <a:off x="5157216" y="1801368"/>
            <a:ext cx="1865376" cy="141732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5184648" y="3410712"/>
            <a:ext cx="420624" cy="420624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2.3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7568" y="3364992"/>
            <a:ext cx="135331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LISA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2936" y="4005072"/>
            <a:ext cx="181051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The same idea running locally: private, offline, speech-driven safety checks.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2936" y="5166360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Go2 · Go2-W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2936" y="5550408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CCC 2025 · AutCon 2026</a:t>
            </a:r>
          </a:p>
        </p:txBody>
      </p:sp>
      <p:sp>
        <p:nvSpPr>
          <p:cNvPr id="31" name="Chevron 30"/>
          <p:cNvSpPr/>
          <p:nvPr/>
        </p:nvSpPr>
        <p:spPr>
          <a:xfrm>
            <a:off x="7150607" y="3502152"/>
            <a:ext cx="128016" cy="274320"/>
          </a:xfrm>
          <a:prstGeom prst="chevron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691640"/>
            <a:ext cx="2084831" cy="4526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ss_75_robot.jpg"/>
          <p:cNvPicPr>
            <a:picLocks noChangeAspect="1"/>
          </p:cNvPicPr>
          <p:nvPr/>
        </p:nvPicPr>
        <p:blipFill>
          <a:blip r:embed="rId5"/>
          <a:srcRect t="25377" b="25377"/>
          <a:stretch>
            <a:fillRect/>
          </a:stretch>
        </p:blipFill>
        <p:spPr>
          <a:xfrm>
            <a:off x="7406640" y="1801368"/>
            <a:ext cx="1865376" cy="1417320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7434071" y="3410712"/>
            <a:ext cx="420624" cy="420624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2.4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3364992"/>
            <a:ext cx="135331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4005072"/>
            <a:ext cx="181051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Schedule-driven robot inspections, from capture to published report.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5166360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Go2-W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5550408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IROS 2026 Workshop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46336" y="1691640"/>
            <a:ext cx="2084831" cy="4526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reel_100.jpg"/>
          <p:cNvPicPr>
            <a:picLocks noChangeAspect="1"/>
          </p:cNvPicPr>
          <p:nvPr/>
        </p:nvPicPr>
        <p:blipFill>
          <a:blip r:embed="rId6"/>
          <a:srcRect l="12984" r="12984"/>
          <a:stretch>
            <a:fillRect/>
          </a:stretch>
        </p:blipFill>
        <p:spPr>
          <a:xfrm>
            <a:off x="9656063" y="1801368"/>
            <a:ext cx="1865376" cy="141732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9683496" y="3410712"/>
            <a:ext cx="420624" cy="420624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3.1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6415" y="3364992"/>
            <a:ext cx="135331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Logistics Challenge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01784" y="4005072"/>
            <a:ext cx="181051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Three robots and five people fill delivery orders together.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01784" y="5166360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SUMMIT-XL · Spot · FR3 arm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01784" y="5550408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AD Ports × NYUAD event 2026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Robotic Platforms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Overview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1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PLATFORMS</a:t>
            </a:r>
          </a:p>
        </p:txBody>
      </p:sp>
      <p:sp>
        <p:nvSpPr>
          <p:cNvPr id="4" name="Band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63727" y="1371600"/>
            <a:ext cx="2103120" cy="4709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r_summi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3455" y="1481328"/>
            <a:ext cx="1883663" cy="18836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9175" y="3529584"/>
            <a:ext cx="179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B0F8B"/>
                </a:solidFill>
                <a:latin typeface="Montserrat"/>
              </a:rPr>
              <a:t>SUMMIT-XL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175" y="3931920"/>
            <a:ext cx="17922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Robotnik · omnidirectional wheeled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175" y="4983480"/>
            <a:ext cx="1792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Used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175" y="5230368"/>
            <a:ext cx="17922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24"/>
                </a:solidFill>
                <a:latin typeface="Montserrat"/>
              </a:rPr>
              <a:t>Multi-Agent · Logistics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4007" y="1371600"/>
            <a:ext cx="2103120" cy="4709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r_spot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13735" y="1481328"/>
            <a:ext cx="1883663" cy="18836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59455" y="3529584"/>
            <a:ext cx="179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B0F8B"/>
                </a:solidFill>
                <a:latin typeface="Montserrat"/>
              </a:rPr>
              <a:t>Spot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9455" y="3931920"/>
            <a:ext cx="17922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Boston Dynamics · agile quadruped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9455" y="4983480"/>
            <a:ext cx="1792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Used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9455" y="5230368"/>
            <a:ext cx="17922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24"/>
                </a:solidFill>
                <a:latin typeface="Montserrat"/>
              </a:rPr>
              <a:t>Multi-Agent · Logistics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44287" y="1371600"/>
            <a:ext cx="2103120" cy="4709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r_spotarm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154015" y="1481328"/>
            <a:ext cx="1883663" cy="188366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199735" y="3529584"/>
            <a:ext cx="179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B0F8B"/>
                </a:solidFill>
                <a:latin typeface="Montserrat"/>
              </a:rPr>
              <a:t>Spot with Arm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9735" y="3931920"/>
            <a:ext cx="17922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6-DOF arm with two-finger gripper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9735" y="4983480"/>
            <a:ext cx="1792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Used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9735" y="5230368"/>
            <a:ext cx="17922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24"/>
                </a:solidFill>
                <a:latin typeface="Montserrat"/>
              </a:rPr>
              <a:t>Multi-Agent · PACA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84567" y="1371600"/>
            <a:ext cx="2103120" cy="4709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r_go2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394295" y="1481328"/>
            <a:ext cx="1883663" cy="188366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40015" y="3529584"/>
            <a:ext cx="179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B0F8B"/>
                </a:solidFill>
                <a:latin typeface="Montserrat"/>
              </a:rPr>
              <a:t>Go2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0015" y="3931920"/>
            <a:ext cx="17922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Unitree · compact quadruped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0015" y="4983480"/>
            <a:ext cx="1792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Used 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0015" y="5230368"/>
            <a:ext cx="17922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24"/>
                </a:solidFill>
                <a:latin typeface="Montserrat"/>
              </a:rPr>
              <a:t>LISA (2025)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24847" y="1371600"/>
            <a:ext cx="2103120" cy="4709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r_go2w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634575" y="1481328"/>
            <a:ext cx="1883663" cy="188366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80295" y="3529584"/>
            <a:ext cx="179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B0F8B"/>
                </a:solidFill>
                <a:latin typeface="Montserrat"/>
              </a:rPr>
              <a:t>Go2-W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0295" y="3931920"/>
            <a:ext cx="17922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Unitree · wheeled-legged hybrid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0295" y="4983480"/>
            <a:ext cx="1792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Used 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0295" y="5230368"/>
            <a:ext cx="17922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24"/>
                </a:solidFill>
                <a:latin typeface="Montserrat"/>
              </a:rPr>
              <a:t>LISA (2026) · SiteScope · Logistics (backup)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pener Photo" descr="div_multi.jpg"/>
          <p:cNvPicPr>
            <a:picLocks noChangeAspect="1"/>
          </p:cNvPicPr>
          <p:nvPr/>
        </p:nvPicPr>
        <p:blipFill>
          <a:blip r:embed="rId2"/>
          <a:srcRect t="17672" b="17672"/>
          <a:stretch>
            <a:fillRect/>
          </a:stretch>
        </p:blipFill>
        <p:spPr>
          <a:xfrm>
            <a:off x="0" y="0"/>
            <a:ext cx="12191695" cy="3429000"/>
          </a:xfrm>
          <a:prstGeom prst="rect">
            <a:avLst/>
          </a:prstGeom>
        </p:spPr>
      </p:pic>
      <p:sp>
        <p:nvSpPr>
          <p:cNvPr id="3" name="Opener Band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7033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78FD9"/>
                </a:solidFill>
                <a:latin typeface="Montserrat"/>
              </a:rPr>
              <a:t>PUBLICATION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+mj-lt"/>
              </a:rPr>
              <a:t>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9204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+mj-lt"/>
              </a:rPr>
              <a:t>Multi-Agent Robotic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78FD9"/>
                </a:solidFill>
                <a:latin typeface="Montserrat"/>
              </a:rPr>
              <a:t>Robots  </a:t>
            </a:r>
            <a:r>
              <a:rPr sz="1200" b="0" i="0">
                <a:solidFill>
                  <a:srgbClr val="FFFFFF"/>
                </a:solidFill>
                <a:latin typeface="Montserrat"/>
              </a:rPr>
              <a:t>SUMMIT-XL · Spot with 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703320"/>
            <a:ext cx="6885432" cy="2834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1">
                <a:solidFill>
                  <a:srgbClr val="FFFFFF"/>
                </a:solidFill>
                <a:latin typeface="Montserrat"/>
              </a:rPr>
              <a:t>Multiagent robotic systems and exploration algorithms: Applications for data collection in construction sites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78FD9"/>
                </a:solidFill>
                <a:latin typeface="Montserrat"/>
              </a:rPr>
              <a:t>Journal of Field Robotics, 41(4), 1187–1203 · 2024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F1E8FA"/>
                </a:solidFill>
                <a:latin typeface="Montserrat"/>
              </a:rPr>
              <a:t>doi:10.1002/rob.22316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S. A. Prieto, N. Giakoumidis, B. García de Soto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Multi-Agent System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Introduction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2.1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B0F8B"/>
                </a:solidFill>
                <a:latin typeface="Montserrat"/>
              </a:rPr>
              <a:t>The challenge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01951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Sites change every day: clutter, closed doors and materials block a single robot.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33471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39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No single robot can scan, open doors and move obstacles.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64991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37559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Standard exploration stops when it runs out of frontiers, not when the job is done.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B0F8B"/>
                </a:solidFill>
                <a:latin typeface="Montserrat"/>
              </a:rPr>
              <a:t>Our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A team of robots and a human on one shared network, which splits the work, asks each other for help, and uses the BIM to know how much is left to explore.</a:t>
            </a:r>
          </a:p>
        </p:txBody>
      </p:sp>
      <p:pic>
        <p:nvPicPr>
          <p:cNvPr id="13" name="Picture 12" descr="multi_hero.jpg"/>
          <p:cNvPicPr>
            <a:picLocks noChangeAspect="1"/>
          </p:cNvPicPr>
          <p:nvPr/>
        </p:nvPicPr>
        <p:blipFill>
          <a:blip r:embed="rId2"/>
          <a:srcRect l="38" r="38"/>
          <a:stretch>
            <a:fillRect/>
          </a:stretch>
        </p:blipFill>
        <p:spPr>
          <a:xfrm>
            <a:off x="6263640" y="1371600"/>
            <a:ext cx="5376672" cy="302666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63640" y="4617720"/>
            <a:ext cx="2596896" cy="960120"/>
          </a:xfrm>
          <a:prstGeom prst="roundRect">
            <a:avLst>
              <a:gd name="adj" fmla="val 8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46520" y="4709159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2 + 1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184648"/>
            <a:ext cx="2231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robots + human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4617720"/>
            <a:ext cx="259689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26296" y="4709159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~80 m²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5184648"/>
            <a:ext cx="2231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occluded space digitized</a:t>
            </a:r>
          </a:p>
        </p:txBody>
      </p:sp>
      <p:sp>
        <p:nvSpPr>
          <p:cNvPr id="20" name="Citation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[1] Prieto, Giakoumidis &amp; García de Soto (2024). Journal of Field Robotics 41(4), 1187–1203. doi:10.1002/rob.22316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Multi-Agent System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Methodology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2.1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MULTI-AGENT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7315200" cy="4892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bpmn_mul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63053"/>
            <a:ext cx="7040880" cy="421769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183879" y="1371600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19" y="1353312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Start in parallel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19" y="1645920"/>
            <a:ext cx="2926079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All agents launch at once; agent i is the master.</a:t>
            </a:r>
          </a:p>
        </p:txBody>
      </p:sp>
      <p:sp>
        <p:nvSpPr>
          <p:cNvPr id="9" name="Oval 8"/>
          <p:cNvSpPr/>
          <p:nvPr/>
        </p:nvSpPr>
        <p:spPr>
          <a:xfrm>
            <a:off x="8183879" y="2578608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19" y="2560320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Explore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19" y="2852927"/>
            <a:ext cx="2926079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Frontier-based exploration maps the site in real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8183879" y="3785615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19" y="3767328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Ask for help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19" y="4059935"/>
            <a:ext cx="2926079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A blocked agent calls the best-suited agent (i+1 … n).</a:t>
            </a:r>
          </a:p>
        </p:txBody>
      </p:sp>
      <p:sp>
        <p:nvSpPr>
          <p:cNvPr id="15" name="Oval 14"/>
          <p:cNvSpPr/>
          <p:nvPr/>
        </p:nvSpPr>
        <p:spPr>
          <a:xfrm>
            <a:off x="8183879" y="4992623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19" y="497433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Stop using BIM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19" y="5266943"/>
            <a:ext cx="2926079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Finish when the explored area reaches the BIM floor plan:  φ = ΣPexp / ΣPGT ×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636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BPMN of the multi-agent methodology [1]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Multi-Agent System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System Components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2.1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MULTI-AGENT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356616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r_summit.jpg"/>
          <p:cNvPicPr>
            <a:picLocks noChangeAspect="1"/>
          </p:cNvPicPr>
          <p:nvPr/>
        </p:nvPicPr>
        <p:blipFill>
          <a:blip r:embed="rId2"/>
          <a:srcRect t="26093" b="26093"/>
          <a:stretch>
            <a:fillRect/>
          </a:stretch>
        </p:blipFill>
        <p:spPr>
          <a:xfrm>
            <a:off x="658368" y="1435608"/>
            <a:ext cx="3346704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1546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0F8B"/>
                </a:solidFill>
                <a:latin typeface="Montserrat"/>
              </a:rPr>
              <a:t>RA1 · SUMMIT-XL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93008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Explores and scans: builds the navigation map and the 3D point cloud.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325880"/>
            <a:ext cx="356616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r_spotarm.jpg"/>
          <p:cNvPicPr>
            <a:picLocks noChangeAspect="1"/>
          </p:cNvPicPr>
          <p:nvPr/>
        </p:nvPicPr>
        <p:blipFill>
          <a:blip r:embed="rId3"/>
          <a:srcRect t="26093" b="26093"/>
          <a:stretch>
            <a:fillRect/>
          </a:stretch>
        </p:blipFill>
        <p:spPr>
          <a:xfrm>
            <a:off x="4407407" y="1435608"/>
            <a:ext cx="3346704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80559" y="31546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0F8B"/>
                </a:solidFill>
                <a:latin typeface="Montserrat"/>
              </a:rPr>
              <a:t>RA2 · Spot with 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493008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Assists: opens doors and removes obstacles that block RA1.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325880"/>
            <a:ext cx="356616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m_click.jpg"/>
          <p:cNvPicPr>
            <a:picLocks noChangeAspect="1"/>
          </p:cNvPicPr>
          <p:nvPr/>
        </p:nvPicPr>
        <p:blipFill>
          <a:blip r:embed="rId4"/>
          <a:srcRect t="22869" b="22869"/>
          <a:stretch>
            <a:fillRect/>
          </a:stretch>
        </p:blipFill>
        <p:spPr>
          <a:xfrm>
            <a:off x="8156447" y="1435608"/>
            <a:ext cx="3346704" cy="1600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599" y="31546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0F8B"/>
                </a:solidFill>
                <a:latin typeface="Montserrat"/>
              </a:rPr>
              <a:t>Human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3493008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Supervises remotely and marks a grasp point when the robot asks.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34840"/>
            <a:ext cx="589788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if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545996"/>
            <a:ext cx="1783080" cy="1505902"/>
          </a:xfrm>
          <a:prstGeom prst="rect">
            <a:avLst/>
          </a:prstGeom>
        </p:spPr>
      </p:pic>
      <p:sp>
        <p:nvSpPr>
          <p:cNvPr id="18" name="Right Arrow 17"/>
          <p:cNvSpPr/>
          <p:nvPr/>
        </p:nvSpPr>
        <p:spPr>
          <a:xfrm>
            <a:off x="2542032" y="5166360"/>
            <a:ext cx="274320" cy="228600"/>
          </a:xfrm>
          <a:prstGeom prst="rightArrow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_ifcbi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4101" y="4544568"/>
            <a:ext cx="1755597" cy="1508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54880" y="4572000"/>
            <a:ext cx="16002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BIM → ground truth</a:t>
            </a:r>
          </a:p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IFC floor plan sliced into a free-space map for the stopping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4434840"/>
            <a:ext cx="5010912" cy="1874519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58000" y="45720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ontserrat"/>
              </a:rPr>
              <a:t>One shared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956048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MANET radios: 2.42 GHz · 3×3 MIMO · AES-256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ROS master links all agents and the control station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Custom help-request topic dispatches the right agent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Multi-Agent System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Results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2.1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MULTI-AGENT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148840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m_ma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40623"/>
            <a:ext cx="1965960" cy="23308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9319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B0F8B"/>
                </a:solidFill>
                <a:latin typeface="Montserrat"/>
              </a:rPr>
              <a:t>φ = 49.5%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15968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Exploring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325880"/>
            <a:ext cx="2148840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_map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452346"/>
            <a:ext cx="1965960" cy="23073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71800" y="39319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B0F8B"/>
                </a:solidFill>
                <a:latin typeface="Montserrat"/>
              </a:rPr>
              <a:t>φ = 84.5%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4315968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Blocked: help requested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325880"/>
            <a:ext cx="2148840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m_map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79" y="1429873"/>
            <a:ext cx="1965960" cy="235233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57800" y="39319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B0F8B"/>
                </a:solidFill>
                <a:latin typeface="Montserrat"/>
              </a:rPr>
              <a:t>φ = 95.8%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4315968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Path cleared: done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1325880"/>
            <a:ext cx="4096512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635240" y="1417320"/>
          <a:ext cx="3913632" cy="3429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530352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5B0F8B"/>
                </a:solidFill>
                <a:latin typeface="Montserrat"/>
              </a:rPr>
              <a:t>Why the BIM matters: </a:t>
            </a:r>
            <a:r>
              <a:rPr sz="1300" b="0" i="0">
                <a:solidFill>
                  <a:srgbClr val="1F1F24"/>
                </a:solidFill>
                <a:latin typeface="Montserrat"/>
              </a:rPr>
              <a:t>standard exploration would have stopped at 84.5%, with no frontiers left. Because the explored area was compared with the BIM, the system knew a room was missing and called Spot to clear the way.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Multi-Agent System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Collaboration &amp; Output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2.1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MULTI-AGENT</a:t>
            </a:r>
          </a:p>
        </p:txBody>
      </p:sp>
      <p:pic>
        <p:nvPicPr>
          <p:cNvPr id="4" name="Picture 3" descr="m_click.jpg"/>
          <p:cNvPicPr>
            <a:picLocks noChangeAspect="1"/>
          </p:cNvPicPr>
          <p:nvPr/>
        </p:nvPicPr>
        <p:blipFill>
          <a:blip r:embed="rId2"/>
          <a:srcRect t="12171" b="12171"/>
          <a:stretch>
            <a:fillRect/>
          </a:stretch>
        </p:blipFill>
        <p:spPr>
          <a:xfrm>
            <a:off x="548640" y="1325880"/>
            <a:ext cx="2743200" cy="18288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40080" y="1417320"/>
            <a:ext cx="347472" cy="347472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2783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Human marks the grasp point remotely</a:t>
            </a:r>
          </a:p>
        </p:txBody>
      </p:sp>
      <p:pic>
        <p:nvPicPr>
          <p:cNvPr id="7" name="Picture 6" descr="m_grasp1.jpg"/>
          <p:cNvPicPr>
            <a:picLocks noChangeAspect="1"/>
          </p:cNvPicPr>
          <p:nvPr/>
        </p:nvPicPr>
        <p:blipFill>
          <a:blip r:embed="rId3"/>
          <a:srcRect t="5612" b="5612"/>
          <a:stretch>
            <a:fillRect/>
          </a:stretch>
        </p:blipFill>
        <p:spPr>
          <a:xfrm>
            <a:off x="3474720" y="1325880"/>
            <a:ext cx="2743200" cy="18288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566160" y="1417320"/>
            <a:ext cx="347472" cy="347472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22783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Spot grasps the obstacle</a:t>
            </a:r>
          </a:p>
        </p:txBody>
      </p:sp>
      <p:pic>
        <p:nvPicPr>
          <p:cNvPr id="10" name="Picture 9" descr="m_grasp2.jpg"/>
          <p:cNvPicPr>
            <a:picLocks noChangeAspect="1"/>
          </p:cNvPicPr>
          <p:nvPr/>
        </p:nvPicPr>
        <p:blipFill>
          <a:blip r:embed="rId4"/>
          <a:srcRect t="5499" b="5499"/>
          <a:stretch>
            <a:fillRect/>
          </a:stretch>
        </p:blipFill>
        <p:spPr>
          <a:xfrm>
            <a:off x="548640" y="3840480"/>
            <a:ext cx="2743200" cy="18288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40080" y="3931920"/>
            <a:ext cx="347472" cy="347472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4243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…and clears the doorway</a:t>
            </a:r>
          </a:p>
        </p:txBody>
      </p:sp>
      <p:pic>
        <p:nvPicPr>
          <p:cNvPr id="13" name="Picture 12" descr="m_rescue.jpg"/>
          <p:cNvPicPr>
            <a:picLocks noChangeAspect="1"/>
          </p:cNvPicPr>
          <p:nvPr/>
        </p:nvPicPr>
        <p:blipFill>
          <a:blip r:embed="rId5"/>
          <a:srcRect t="5520" b="5520"/>
          <a:stretch>
            <a:fillRect/>
          </a:stretch>
        </p:blipFill>
        <p:spPr>
          <a:xfrm>
            <a:off x="3474720" y="3840480"/>
            <a:ext cx="2743200" cy="18288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566160" y="3931920"/>
            <a:ext cx="347472" cy="347472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74243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SUMMIT-XL resumes exploring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325880"/>
            <a:ext cx="5285232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pc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3214" y="1463040"/>
            <a:ext cx="4468963" cy="3291840"/>
          </a:xfrm>
          <a:prstGeom prst="rect">
            <a:avLst/>
          </a:prstGeom>
        </p:spPr>
      </p:pic>
      <p:pic>
        <p:nvPicPr>
          <p:cNvPr id="18" name="Picture 17" descr="m_pcto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1499" y="4800600"/>
            <a:ext cx="1718840" cy="1371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6760" y="489204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0F8B"/>
                </a:solidFill>
                <a:latin typeface="Montserrat"/>
              </a:rPr>
              <a:t>Output</a:t>
            </a:r>
          </a:p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Registered 3D point cloud of the whole space, plus the global map, from a single mission.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Multi-Agent System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Video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2.1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MULTI-AGENT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59255" y="1161288"/>
            <a:ext cx="9473184" cy="539267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Video Placeholder" descr="poster_multi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32407" y="1234440"/>
            <a:ext cx="9326880" cy="5246370"/>
          </a:xfrm>
          <a:prstGeom prst="rect">
            <a:avLst/>
          </a:prstGeom>
        </p:spPr>
      </p:pic>
      <p:sp>
        <p:nvSpPr>
          <p:cNvPr id="6" name="Video Placeholder Veil"/>
          <p:cNvSpPr/>
          <p:nvPr/>
        </p:nvSpPr>
        <p:spPr>
          <a:xfrm>
            <a:off x="1432407" y="1234440"/>
            <a:ext cx="9326880" cy="5246370"/>
          </a:xfrm>
          <a:prstGeom prst="rect">
            <a:avLst/>
          </a:prstGeom>
          <a:solidFill>
            <a:srgbClr val="140A22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lay Mark"/>
          <p:cNvSpPr/>
          <p:nvPr/>
        </p:nvSpPr>
        <p:spPr>
          <a:xfrm>
            <a:off x="5501487" y="2851785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5912967" y="3171825"/>
            <a:ext cx="548640" cy="548640"/>
          </a:xfrm>
          <a:prstGeom prst="triangl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89607" y="4269105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ontserrat"/>
              </a:rPr>
              <a:t>Video placeholder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9607" y="4726305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Insert › Video › This Device: </a:t>
            </a:r>
            <a:r>
              <a:rPr sz="1300" b="0" i="0">
                <a:solidFill>
                  <a:srgbClr val="FFFFFF"/>
                </a:solidFill>
                <a:latin typeface="Montserrat"/>
              </a:rPr>
              <a:t>Media/Videos/Multi-agent_robotic_system__An_example_for_data_collection(1080p).mp4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2407" y="664540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5A66"/>
                </a:solidFill>
                <a:latin typeface="Montserrat"/>
              </a:rPr>
              <a:t>Full video: two robots and a remote human agent digitize an occluded space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pener Photo" descr="op_paca.jpg"/>
          <p:cNvPicPr>
            <a:picLocks noChangeAspect="1"/>
          </p:cNvPicPr>
          <p:nvPr/>
        </p:nvPicPr>
        <p:blipFill>
          <a:blip r:embed="rId2"/>
          <a:srcRect t="2833" b="2833"/>
          <a:stretch>
            <a:fillRect/>
          </a:stretch>
        </p:blipFill>
        <p:spPr>
          <a:xfrm>
            <a:off x="0" y="0"/>
            <a:ext cx="12191695" cy="3429000"/>
          </a:xfrm>
          <a:prstGeom prst="rect">
            <a:avLst/>
          </a:prstGeom>
        </p:spPr>
      </p:pic>
      <p:sp>
        <p:nvSpPr>
          <p:cNvPr id="3" name="Opener Band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7033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78FD9"/>
                </a:solidFill>
                <a:latin typeface="Montserrat"/>
              </a:rPr>
              <a:t>PUBLICATION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+mj-lt"/>
              </a:rPr>
              <a:t>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9204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+mj-lt"/>
              </a:rPr>
              <a:t>PACA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78FD9"/>
                </a:solidFill>
                <a:latin typeface="Montserrat"/>
              </a:rPr>
              <a:t>Robots  </a:t>
            </a:r>
            <a:r>
              <a:rPr sz="1200" b="0" i="0">
                <a:solidFill>
                  <a:srgbClr val="FFFFFF"/>
                </a:solidFill>
                <a:latin typeface="Montserrat"/>
              </a:rPr>
              <a:t>Spot with 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703320"/>
            <a:ext cx="6885432" cy="2834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1">
                <a:solidFill>
                  <a:srgbClr val="FFFFFF"/>
                </a:solidFill>
                <a:latin typeface="Montserrat"/>
              </a:rPr>
              <a:t>PACA: A Personal Autonomous Construction Assistant to facilitate human-robot interaction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78FD9"/>
                </a:solidFill>
                <a:latin typeface="Montserrat"/>
              </a:rPr>
              <a:t>4th Workshop on the Future of Construction, IEEE ICRA 2025 · Atlanta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F1E8FA"/>
                </a:solidFill>
                <a:latin typeface="Montserrat"/>
              </a:rPr>
              <a:t>construction-robots.github.io/papers/112.pdf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S. A. Prieto, B. García de Soto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PACA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Introduction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2.2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PACA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B0F8B"/>
                </a:solidFill>
                <a:latin typeface="Montserrat"/>
              </a:rPr>
              <a:t>The challenge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01951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892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Most site workers have no training in robotics.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60319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32887"/>
            <a:ext cx="4892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Tablets and programming interfaces don't work well on site.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18687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91255"/>
            <a:ext cx="4892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Multinational crews need to be understood in their own language.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B0F8B"/>
                </a:solidFill>
                <a:latin typeface="Montserrat"/>
              </a:rPr>
              <a:t>Our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Workers simply talk to the robot. A multimodal LLM understands the request, looks at the scene when needed, answers by voice, and turns intent into robot actions.</a:t>
            </a:r>
          </a:p>
        </p:txBody>
      </p:sp>
      <p:pic>
        <p:nvPicPr>
          <p:cNvPr id="13" name="Picture 12" descr="paca_hero.jpg"/>
          <p:cNvPicPr>
            <a:picLocks noChangeAspect="1"/>
          </p:cNvPicPr>
          <p:nvPr/>
        </p:nvPicPr>
        <p:blipFill>
          <a:blip r:embed="rId2"/>
          <a:srcRect l="38" r="38"/>
          <a:stretch>
            <a:fillRect/>
          </a:stretch>
        </p:blipFill>
        <p:spPr>
          <a:xfrm>
            <a:off x="6263640" y="1371600"/>
            <a:ext cx="5376672" cy="302666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63640" y="4617720"/>
            <a:ext cx="2596896" cy="960120"/>
          </a:xfrm>
          <a:prstGeom prst="roundRect">
            <a:avLst>
              <a:gd name="adj" fmla="val 8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46520" y="4709159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184648"/>
            <a:ext cx="2231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in and out, multilingual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4617720"/>
            <a:ext cx="259689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26296" y="4709159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5184648"/>
            <a:ext cx="2231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image-based reasoning</a:t>
            </a:r>
          </a:p>
        </p:txBody>
      </p:sp>
      <p:sp>
        <p:nvSpPr>
          <p:cNvPr id="20" name="Citation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[2] Prieto &amp; García de Soto (2025). PACA. 4th Future of Construction Workshop, IEEE ICRA 2025 (construction-robots.github.io/papers/112.pdf)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PACA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Methodology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2.2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PACA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4846320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bpmn_pa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80" y="1417320"/>
            <a:ext cx="4302239" cy="475488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760720" y="1371600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353312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Speak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645920"/>
            <a:ext cx="5330952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1F24"/>
                </a:solidFill>
                <a:latin typeface="Montserrat"/>
              </a:rPr>
              <a:t>The worker presses a button and talks; a wireless audio receiver captures the speech.</a:t>
            </a:r>
          </a:p>
        </p:txBody>
      </p:sp>
      <p:sp>
        <p:nvSpPr>
          <p:cNvPr id="9" name="Oval 8"/>
          <p:cNvSpPr/>
          <p:nvPr/>
        </p:nvSpPr>
        <p:spPr>
          <a:xfrm>
            <a:off x="5760720" y="2532888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251460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807208"/>
            <a:ext cx="5330952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1F24"/>
                </a:solidFill>
                <a:latin typeface="Montserrat"/>
              </a:rPr>
              <a:t>Speech-to-text (whisper-1) feeds a multimodal LLM (gpt-4-turbo) whose system prompt lists the tasks and the robot API.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0" y="3694176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367588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See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3968496"/>
            <a:ext cx="5330952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1F24"/>
                </a:solidFill>
                <a:latin typeface="Montserrat"/>
              </a:rPr>
              <a:t>When needed, the arm camera takes a picture for image-based reasoning.</a:t>
            </a:r>
          </a:p>
        </p:txBody>
      </p:sp>
      <p:sp>
        <p:nvSpPr>
          <p:cNvPr id="15" name="Oval 14"/>
          <p:cNvSpPr/>
          <p:nvPr/>
        </p:nvSpPr>
        <p:spPr>
          <a:xfrm>
            <a:off x="5760720" y="4855464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4837176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Act and reply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5129784"/>
            <a:ext cx="5330952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1F24"/>
                </a:solidFill>
                <a:latin typeface="Montserrat"/>
              </a:rPr>
              <a:t>Outputs are parsed into Spot API actions; text-to-speech (tts-1) streams the reply.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PACA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Implementation on Spot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2.2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PACA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3246120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aca_sp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22100"/>
            <a:ext cx="3063240" cy="355659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77639" y="1325880"/>
            <a:ext cx="3749039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paca_h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612244"/>
            <a:ext cx="3566160" cy="31763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138928"/>
            <a:ext cx="7178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Spot with Arm carrying the PACA payload [2]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325880"/>
            <a:ext cx="3639312" cy="237744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0" y="14630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ontserrat"/>
              </a:rPr>
              <a:t>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Jetson Orin NX 16 GB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Wireless audio receiver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Speaker · arm RGB camera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Insta360 X4 · remote button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886200"/>
            <a:ext cx="363931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0" y="4023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0F8B"/>
                </a:solidFill>
                <a:latin typeface="Montserrat"/>
              </a:rPr>
              <a:t>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38912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ASR: whisper-1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LLM: gpt-4-turbo (cloud)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TTS: tts-1, streamed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Boston Dynamics Python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32120"/>
            <a:ext cx="7178040" cy="73152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5B0F8B"/>
                </a:solidFill>
                <a:latin typeface="Montserrat"/>
              </a:rPr>
              <a:t>Robot actions: </a:t>
            </a:r>
            <a:r>
              <a:rPr sz="1300" b="0" i="0">
                <a:solidFill>
                  <a:srgbClr val="1F1F24"/>
                </a:solidFill>
                <a:latin typeface="Montserrat"/>
              </a:rPr>
              <a:t>go to inventory · go to worker · take picture · pick up tool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PACA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Case Study: Fetching a Tool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2.2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PACA</a:t>
            </a:r>
          </a:p>
        </p:txBody>
      </p:sp>
      <p:pic>
        <p:nvPicPr>
          <p:cNvPr id="4" name="Picture 3" descr="paca_s26.jpg"/>
          <p:cNvPicPr>
            <a:picLocks noChangeAspect="1"/>
          </p:cNvPicPr>
          <p:nvPr/>
        </p:nvPicPr>
        <p:blipFill>
          <a:blip r:embed="rId2"/>
          <a:srcRect t="41" b="41"/>
          <a:stretch>
            <a:fillRect/>
          </a:stretch>
        </p:blipFill>
        <p:spPr>
          <a:xfrm>
            <a:off x="548640" y="1325880"/>
            <a:ext cx="3566160" cy="200253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40080" y="1417320"/>
            <a:ext cx="347472" cy="347472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156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A worker asks PACA for a box cutter.</a:t>
            </a:r>
          </a:p>
        </p:txBody>
      </p:sp>
      <p:pic>
        <p:nvPicPr>
          <p:cNvPr id="7" name="Picture 6" descr="paca_s79.jpg"/>
          <p:cNvPicPr>
            <a:picLocks noChangeAspect="1"/>
          </p:cNvPicPr>
          <p:nvPr/>
        </p:nvPicPr>
        <p:blipFill>
          <a:blip r:embed="rId3"/>
          <a:srcRect t="41" b="41"/>
          <a:stretch>
            <a:fillRect/>
          </a:stretch>
        </p:blipFill>
        <p:spPr>
          <a:xfrm>
            <a:off x="4311396" y="1325880"/>
            <a:ext cx="3566160" cy="2002536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402836" y="1417320"/>
            <a:ext cx="347472" cy="347472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1396" y="340156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Wrong tool shown: PACA sees pliers and asks again.</a:t>
            </a:r>
          </a:p>
        </p:txBody>
      </p:sp>
      <p:pic>
        <p:nvPicPr>
          <p:cNvPr id="10" name="Picture 9" descr="paca_s116.jpg"/>
          <p:cNvPicPr>
            <a:picLocks noChangeAspect="1"/>
          </p:cNvPicPr>
          <p:nvPr/>
        </p:nvPicPr>
        <p:blipFill>
          <a:blip r:embed="rId4"/>
          <a:srcRect t="41" b="41"/>
          <a:stretch>
            <a:fillRect/>
          </a:stretch>
        </p:blipFill>
        <p:spPr>
          <a:xfrm>
            <a:off x="8074152" y="1325880"/>
            <a:ext cx="3566160" cy="2002536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8165592" y="1417320"/>
            <a:ext cx="347472" cy="347472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340156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The right tool is shown and confirmed.</a:t>
            </a:r>
          </a:p>
        </p:txBody>
      </p:sp>
      <p:pic>
        <p:nvPicPr>
          <p:cNvPr id="13" name="Picture 12" descr="paca_s146.jpg"/>
          <p:cNvPicPr>
            <a:picLocks noChangeAspect="1"/>
          </p:cNvPicPr>
          <p:nvPr/>
        </p:nvPicPr>
        <p:blipFill>
          <a:blip r:embed="rId5"/>
          <a:srcRect t="41" b="41"/>
          <a:stretch>
            <a:fillRect/>
          </a:stretch>
        </p:blipFill>
        <p:spPr>
          <a:xfrm>
            <a:off x="548640" y="3986784"/>
            <a:ext cx="3566160" cy="2002536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640080" y="4078224"/>
            <a:ext cx="347472" cy="347472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6247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PACA asks the manager to hold it out and grasps it.</a:t>
            </a:r>
          </a:p>
        </p:txBody>
      </p:sp>
      <p:pic>
        <p:nvPicPr>
          <p:cNvPr id="16" name="Picture 15" descr="paca_s214.jpg"/>
          <p:cNvPicPr>
            <a:picLocks noChangeAspect="1"/>
          </p:cNvPicPr>
          <p:nvPr/>
        </p:nvPicPr>
        <p:blipFill>
          <a:blip r:embed="rId6"/>
          <a:srcRect t="41" b="41"/>
          <a:stretch>
            <a:fillRect/>
          </a:stretch>
        </p:blipFill>
        <p:spPr>
          <a:xfrm>
            <a:off x="4311396" y="3986784"/>
            <a:ext cx="3566160" cy="2002536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4402836" y="4078224"/>
            <a:ext cx="347472" cy="347472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1396" y="606247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The tool is delivered back to the worker.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3986783"/>
            <a:ext cx="3566160" cy="2459736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02752" y="412394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ontserrat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4535423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Dialogue with two people: worker and inventory manager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Vision rejects the wrong tool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Next: cloud dependency adds latency, which led to LISA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PACA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Video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2.2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PACA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59255" y="1161288"/>
            <a:ext cx="9473184" cy="539267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Video Placeholder" descr="poster_paca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32407" y="1234440"/>
            <a:ext cx="9326880" cy="5246370"/>
          </a:xfrm>
          <a:prstGeom prst="rect">
            <a:avLst/>
          </a:prstGeom>
        </p:spPr>
      </p:pic>
      <p:sp>
        <p:nvSpPr>
          <p:cNvPr id="6" name="Video Placeholder Veil"/>
          <p:cNvSpPr/>
          <p:nvPr/>
        </p:nvSpPr>
        <p:spPr>
          <a:xfrm>
            <a:off x="1432407" y="1234440"/>
            <a:ext cx="9326880" cy="5246370"/>
          </a:xfrm>
          <a:prstGeom prst="rect">
            <a:avLst/>
          </a:prstGeom>
          <a:solidFill>
            <a:srgbClr val="140A22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lay Mark"/>
          <p:cNvSpPr/>
          <p:nvPr/>
        </p:nvSpPr>
        <p:spPr>
          <a:xfrm>
            <a:off x="5501487" y="2851785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5912967" y="3171825"/>
            <a:ext cx="548640" cy="548640"/>
          </a:xfrm>
          <a:prstGeom prst="triangl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89607" y="4269105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ontserrat"/>
              </a:rPr>
              <a:t>Video placeholder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9607" y="4726305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Insert › Video › This Device: </a:t>
            </a:r>
            <a:r>
              <a:rPr sz="1300" b="0" i="0">
                <a:solidFill>
                  <a:srgbClr val="FFFFFF"/>
                </a:solidFill>
                <a:latin typeface="Montserrat"/>
              </a:rPr>
              <a:t>Media/Videos/PACA__The_Personal_Autonomous_Construction_Assistant_🏗️🤖(1080p).mp4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2407" y="664540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5A66"/>
                </a:solidFill>
                <a:latin typeface="Montserrat"/>
              </a:rPr>
              <a:t>Full video: PACA fetches a tool for a worker through spoken dialogue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pener Photo" descr="op_lisa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3429000"/>
          </a:xfrm>
          <a:prstGeom prst="rect">
            <a:avLst/>
          </a:prstGeom>
        </p:spPr>
      </p:pic>
      <p:sp>
        <p:nvSpPr>
          <p:cNvPr id="3" name="Opener Band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7033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78FD9"/>
                </a:solidFill>
                <a:latin typeface="Montserrat"/>
              </a:rPr>
              <a:t>PUBLICATION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+mj-lt"/>
              </a:rPr>
              <a:t>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9204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+mj-lt"/>
              </a:rPr>
              <a:t>LISA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78FD9"/>
                </a:solidFill>
                <a:latin typeface="Montserrat"/>
              </a:rPr>
              <a:t>Robots  </a:t>
            </a:r>
            <a:r>
              <a:rPr sz="1200" b="0" i="0">
                <a:solidFill>
                  <a:srgbClr val="FFFFFF"/>
                </a:solidFill>
                <a:latin typeface="Montserrat"/>
              </a:rPr>
              <a:t>Go2 · Go2-W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703320"/>
            <a:ext cx="6885432" cy="2834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FFFFFF"/>
                </a:solidFill>
                <a:latin typeface="Montserrat"/>
              </a:rPr>
              <a:t>Enhancing human-machine interaction with on-device large language models in construction robotics: A case study on safety applications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78FD9"/>
                </a:solidFill>
                <a:latin typeface="Montserrat"/>
              </a:rPr>
              <a:t>Creative Construction Conference 2025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F1E8FA"/>
                </a:solidFill>
                <a:latin typeface="Montserrat"/>
              </a:rPr>
              <a:t>doi:10.22260/CCC2025/0041</a:t>
            </a:r>
          </a:p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FFFFFF"/>
                </a:solidFill>
                <a:latin typeface="Montserrat"/>
              </a:rPr>
              <a:t>Self-hosted multimodal large language models for speech-driven perception and navigation in construction robotics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78FD9"/>
                </a:solidFill>
                <a:latin typeface="Montserrat"/>
              </a:rPr>
              <a:t>Automation in Construction, 183, 106805 · 2026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F1E8FA"/>
                </a:solidFill>
                <a:latin typeface="Montserrat"/>
              </a:rPr>
              <a:t>doi:10.1016/j.autcon.2026.106805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M. A. Gopee, S. A. Prieto, B. García de Soto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LISA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Introduction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2.3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B0F8B"/>
                </a:solidFill>
                <a:latin typeface="Montserrat"/>
              </a:rPr>
              <a:t>The challenge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01951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Cloud LLMs need a stable connection, which construction sites rarely have.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33471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39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Latency: cloud replies took over 45 s on low bandwidth.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64991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37559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Site images and workers' voices are sensitive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B0F8B"/>
                </a:solidFill>
                <a:latin typeface="Montserrat"/>
              </a:rPr>
              <a:t>Our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53949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Run speech, vision and the LLM on site, on the robot or a nearby edge server, so the assistant keeps working offline and data never leaves the site.</a:t>
            </a:r>
          </a:p>
        </p:txBody>
      </p:sp>
      <p:pic>
        <p:nvPicPr>
          <p:cNvPr id="13" name="Picture 12" descr="lisa_hero.jpg"/>
          <p:cNvPicPr>
            <a:picLocks noChangeAspect="1"/>
          </p:cNvPicPr>
          <p:nvPr/>
        </p:nvPicPr>
        <p:blipFill>
          <a:blip r:embed="rId2"/>
          <a:srcRect l="38" r="38"/>
          <a:stretch>
            <a:fillRect/>
          </a:stretch>
        </p:blipFill>
        <p:spPr>
          <a:xfrm>
            <a:off x="6263640" y="1371600"/>
            <a:ext cx="5376672" cy="302666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63640" y="4617720"/>
            <a:ext cx="259689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46520" y="4709159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&gt; 45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184648"/>
            <a:ext cx="2231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cloud reply, low bandwidth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4617720"/>
            <a:ext cx="2596896" cy="960120"/>
          </a:xfrm>
          <a:prstGeom prst="roundRect">
            <a:avLst>
              <a:gd name="adj" fmla="val 8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26296" y="4709159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5–10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5184648"/>
            <a:ext cx="2231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LISA reply, fully on-device</a:t>
            </a:r>
          </a:p>
        </p:txBody>
      </p:sp>
      <p:sp>
        <p:nvSpPr>
          <p:cNvPr id="20" name="Citation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[3] Gopee, Prieto &amp; García de Soto (2025). CCC 2025. doi:10.22260/CCC2025/0041   [4] Gopee, Prieto &amp; García de Soto (2026). Autom. Constr. 183, 106805. doi:10.1016/j.autcon.2026.106805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LISA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Methodology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2.3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7726679" cy="434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bpmn_li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00002"/>
            <a:ext cx="7507224" cy="39951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3716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0F8B"/>
                </a:solidFill>
                <a:latin typeface="Montserrat"/>
              </a:rPr>
              <a:t>Five robot 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783080"/>
            <a:ext cx="3090672" cy="384048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0" y="17830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Courier New"/>
              </a:rPr>
              <a:t>navigate_to(location)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258568"/>
            <a:ext cx="3090672" cy="384048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0" y="225856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Courier New"/>
              </a:rPr>
              <a:t>take_picture()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2734056"/>
            <a:ext cx="3090672" cy="384048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0" y="2734056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Courier New"/>
              </a:rPr>
              <a:t>analyze_image()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3209544"/>
            <a:ext cx="3090672" cy="384048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0" y="3209544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Courier New"/>
              </a:rPr>
              <a:t>speak(text)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3685031"/>
            <a:ext cx="3090672" cy="384048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0" y="368503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Courier New"/>
              </a:rPr>
              <a:t>activate_safety_protocol()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4251959"/>
            <a:ext cx="3090672" cy="141732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732520" y="4343399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ontserrat"/>
              </a:rPr>
              <a:t>Guardrails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Every call is checked against a fixed schema before it runs; anything invalid falls back to dialogue.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77266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BPMN of the LISA framework; navigation runs through ROS 2 (Nav2 + AMCL) [4]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LISA v1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Fully On-Device on Go2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2.3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2578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ccc_h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80351"/>
            <a:ext cx="5074920" cy="20056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023360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0F8B"/>
                </a:solidFill>
                <a:latin typeface="Montserrat"/>
              </a:rPr>
              <a:t>Everything runs on the robot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62272"/>
            <a:ext cx="1214323" cy="36576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4462272"/>
            <a:ext cx="121432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B0F8B"/>
                </a:solidFill>
                <a:latin typeface="Montserrat"/>
              </a:rPr>
              <a:t>Gemma 3 12B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2691" y="4462272"/>
            <a:ext cx="1841601" cy="36576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872691" y="4462272"/>
            <a:ext cx="184160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B0F8B"/>
                </a:solidFill>
                <a:latin typeface="Montserrat"/>
              </a:rPr>
              <a:t>Whisper base (ASR)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24020" y="4462272"/>
            <a:ext cx="1035100" cy="36576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824020" y="4462272"/>
            <a:ext cx="10351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B0F8B"/>
                </a:solidFill>
                <a:latin typeface="Montserrat"/>
              </a:rPr>
              <a:t>Piper TTS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37760"/>
            <a:ext cx="2020824" cy="36576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20208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B0F8B"/>
                </a:solidFill>
                <a:latin typeface="Montserrat"/>
              </a:rPr>
              <a:t>Jetson Orin NX 16 GB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79192" y="4937760"/>
            <a:ext cx="1303934" cy="36576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679192" y="4937760"/>
            <a:ext cx="130393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B0F8B"/>
                </a:solidFill>
                <a:latin typeface="Montserrat"/>
              </a:rPr>
              <a:t>Push-to-talk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924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5440679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5–10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16168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typical spoken reply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534924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429000" y="5440679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916168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cloud calls</a:t>
            </a:r>
          </a:p>
        </p:txBody>
      </p:sp>
      <p:pic>
        <p:nvPicPr>
          <p:cNvPr id="23" name="Picture 22" descr="ccc_p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327036"/>
            <a:ext cx="5559552" cy="2100807"/>
          </a:xfrm>
          <a:prstGeom prst="rect">
            <a:avLst/>
          </a:prstGeom>
        </p:spPr>
      </p:pic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080760" y="3657600"/>
          <a:ext cx="55595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993392"/>
                <a:gridCol w="196596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Activity</a:t>
                      </a:r>
                    </a:p>
                  </a:txBody>
                  <a:tcPr marL="73152" marR="73152" anchor="ctr">
                    <a:solidFill>
                      <a:srgbClr val="5B0F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Required PPE</a:t>
                      </a:r>
                    </a:p>
                  </a:txBody>
                  <a:tcPr marL="73152" marR="73152" anchor="ctr">
                    <a:solidFill>
                      <a:srgbClr val="5B0F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LISA's verdict</a:t>
                      </a:r>
                    </a:p>
                  </a:txBody>
                  <a:tcPr marL="73152" marR="73152" anchor="ctr">
                    <a:solidFill>
                      <a:srgbClr val="5B0F8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24"/>
                          </a:solidFill>
                          <a:latin typeface="Montserrat"/>
                        </a:rPr>
                        <a:t>Cutting wood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24"/>
                          </a:solidFill>
                          <a:latin typeface="Montserrat"/>
                        </a:rPr>
                        <a:t>Hard hat, vest, gloves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8B57"/>
                          </a:solidFill>
                          <a:latin typeface="Montserrat"/>
                        </a:rPr>
                        <a:t>✓ Compliant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24"/>
                          </a:solidFill>
                          <a:latin typeface="Montserrat"/>
                        </a:rPr>
                        <a:t>Aerosol use</a:t>
                      </a:r>
                    </a:p>
                  </a:txBody>
                  <a:tcPr marL="73152" marR="73152" anchor="ctr">
                    <a:solidFill>
                      <a:srgbClr val="F1E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24"/>
                          </a:solidFill>
                          <a:latin typeface="Montserrat"/>
                        </a:rPr>
                        <a:t>Hard hat, vest, mask</a:t>
                      </a:r>
                    </a:p>
                  </a:txBody>
                  <a:tcPr marL="73152" marR="73152" anchor="ctr">
                    <a:solidFill>
                      <a:srgbClr val="F1E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  <a:latin typeface="Montserrat"/>
                        </a:rPr>
                        <a:t>✗ Missing hard hat</a:t>
                      </a:r>
                    </a:p>
                  </a:txBody>
                  <a:tcPr marL="73152" marR="73152" anchor="ctr">
                    <a:solidFill>
                      <a:srgbClr val="F1E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24"/>
                          </a:solidFill>
                          <a:latin typeface="Montserrat"/>
                        </a:rPr>
                        <a:t>Climbing ladder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24"/>
                          </a:solidFill>
                          <a:latin typeface="Montserrat"/>
                        </a:rPr>
                        <a:t>Hard hat, vest, harness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  <a:latin typeface="Montserrat"/>
                        </a:rPr>
                        <a:t>✗ Missing vest, harness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080760" y="5943600"/>
            <a:ext cx="5559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PPE compliance test: images captured by the Go2's own camera [3]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LISA v2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On-Robot vs. Edge Server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2.3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3949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r_go2w_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48109"/>
            <a:ext cx="5212080" cy="19329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72200" y="1325880"/>
            <a:ext cx="2688336" cy="2377440"/>
          </a:xfrm>
          <a:prstGeom prst="rect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55080" y="14447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ON-ROBOT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5B0F8B"/>
                </a:solidFill>
                <a:latin typeface="Montserrat"/>
              </a:rPr>
              <a:t>Gemma 3 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860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Jetson Orin NX 16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9260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0F8B"/>
                </a:solidFill>
                <a:latin typeface="Montserrat"/>
              </a:rPr>
              <a:t>Works fully offline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51976" y="1325880"/>
            <a:ext cx="2688336" cy="237744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34855" y="14447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EDGE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4855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</a:rPr>
              <a:t>Gemma 3 27B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4855" y="22860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ontserrat"/>
              </a:rPr>
              <a:t>RTX 4090 workstation, same 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5" y="29260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ontserrat"/>
              </a:rPr>
              <a:t>More reasoning; data stays on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Four workflows of increasing complexity  ·  2 models × 4 experiments × 5 runs = 40 runs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269748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5B0F8B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64515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step · Exp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3892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24"/>
                </a:solidFill>
                <a:latin typeface="Montserrat"/>
              </a:rPr>
              <a:t>“Go to the work area.”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8756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A single navigation call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64992" y="4389120"/>
            <a:ext cx="269748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547872" y="44805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5B0F8B"/>
                </a:solidFill>
                <a:latin typeface="Montserrat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464515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steps · Exp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513892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24"/>
                </a:solidFill>
                <a:latin typeface="Montserrat"/>
              </a:rPr>
              <a:t>“Inspect the work area.”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568756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Navigate, photo, analyze, speak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4389120"/>
            <a:ext cx="269748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64224" y="44805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5B0F8B"/>
                </a:solidFill>
                <a:latin typeface="Montserrat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24344" y="464515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steps · Exp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513892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24"/>
                </a:solidFill>
                <a:latin typeface="Montserrat"/>
              </a:rPr>
              <a:t>“Inspect and report back at the station.”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568756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Adds a return trip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97696" y="4389120"/>
            <a:ext cx="269748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80576" y="44805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5B0F8B"/>
                </a:solidFill>
                <a:latin typeface="Montserrat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0696" y="464515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steps · Exp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0576" y="513892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24"/>
                </a:solidFill>
                <a:latin typeface="Montserrat"/>
              </a:rPr>
              <a:t>PPE violation detected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568756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Warn worker, fetch hard hat, report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LISA v2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Results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2.3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406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52578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199632" y="1325880"/>
            <a:ext cx="54406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91072" y="1417320"/>
          <a:ext cx="525780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120640"/>
            <a:ext cx="3566160" cy="960120"/>
          </a:xfrm>
          <a:prstGeom prst="roundRect">
            <a:avLst>
              <a:gd name="adj" fmla="val 8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521207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2.45–3.18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87568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faster per step with 27B (p &lt; 0.001)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5120640"/>
            <a:ext cx="3566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89704" y="521207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5687568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27B success, 0 extra steps, all workflows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5120640"/>
            <a:ext cx="3566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57031" y="521207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76.5%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5687568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4B success in Exp 4, with 46% more steps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LISA v2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Where Each Model Wins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2.3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53035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263640" y="1325880"/>
            <a:ext cx="5376672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lisa_waypoin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70160"/>
            <a:ext cx="5193792" cy="20431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3721608"/>
            <a:ext cx="5376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Go2-W at the station, storage area and work area during the tests [4]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4160520"/>
            <a:ext cx="5376672" cy="210312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92240" y="42976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ontserrat"/>
              </a:rPr>
              <a:t>Takeaway: hybrid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709160"/>
            <a:ext cx="49377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Send vision tasks to the 27B edge model (about 2.7× faster).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Keep the 4B model on the robot for navigation and as an offline fallback.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1208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5257800"/>
            <a:ext cx="51206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B0F8B"/>
                </a:solidFill>
                <a:latin typeface="Montserrat"/>
              </a:rPr>
              <a:t>Image tasks: </a:t>
            </a:r>
            <a:r>
              <a:rPr sz="1200" b="0" i="0">
                <a:solidFill>
                  <a:srgbClr val="1F1F24"/>
                </a:solidFill>
                <a:latin typeface="Montserrat"/>
              </a:rPr>
              <a:t>2.79 s vs 7.67 s.  </a:t>
            </a:r>
            <a:r>
              <a:rPr sz="1200" b="1" i="0">
                <a:solidFill>
                  <a:srgbClr val="5B0F8B"/>
                </a:solidFill>
                <a:latin typeface="Montserrat"/>
              </a:rPr>
              <a:t>Navigation: </a:t>
            </a:r>
            <a:r>
              <a:rPr sz="1200" b="0" i="0">
                <a:solidFill>
                  <a:srgbClr val="1F1F24"/>
                </a:solidFill>
                <a:latin typeface="Montserrat"/>
              </a:rPr>
              <a:t>3.24 s vs 4.73 s; the 4B model was faster in one case.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LISA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Video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2.3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59255" y="1161288"/>
            <a:ext cx="9473184" cy="539267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Video Placeholder" descr="poster_lisa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32407" y="1234440"/>
            <a:ext cx="9326880" cy="5246370"/>
          </a:xfrm>
          <a:prstGeom prst="rect">
            <a:avLst/>
          </a:prstGeom>
        </p:spPr>
      </p:pic>
      <p:sp>
        <p:nvSpPr>
          <p:cNvPr id="6" name="Video Placeholder Veil"/>
          <p:cNvSpPr/>
          <p:nvPr/>
        </p:nvSpPr>
        <p:spPr>
          <a:xfrm>
            <a:off x="1432407" y="1234440"/>
            <a:ext cx="9326880" cy="5246370"/>
          </a:xfrm>
          <a:prstGeom prst="rect">
            <a:avLst/>
          </a:prstGeom>
          <a:solidFill>
            <a:srgbClr val="140A22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lay Mark"/>
          <p:cNvSpPr/>
          <p:nvPr/>
        </p:nvSpPr>
        <p:spPr>
          <a:xfrm>
            <a:off x="5501487" y="2851785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5912967" y="3171825"/>
            <a:ext cx="548640" cy="548640"/>
          </a:xfrm>
          <a:prstGeom prst="triangl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89607" y="4269105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ontserrat"/>
              </a:rPr>
              <a:t>Video placeholder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9607" y="4726305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Insert › Video › This Device: </a:t>
            </a:r>
            <a:r>
              <a:rPr sz="1300" b="0" i="0">
                <a:solidFill>
                  <a:srgbClr val="FFFFFF"/>
                </a:solidFill>
                <a:latin typeface="Montserrat"/>
              </a:rPr>
              <a:t>Media/Videos/LISA__Local_Intelligent_Safety_Assistant_🤖🤝👷🏽(1080p).mp4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2407" y="664540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5A66"/>
                </a:solidFill>
                <a:latin typeface="Montserrat"/>
              </a:rPr>
              <a:t>Full video: LISA runs a PPE safety check entirely on the Go2, with no cloud connection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pener Photo" descr="op_site.jpg"/>
          <p:cNvPicPr>
            <a:picLocks noChangeAspect="1"/>
          </p:cNvPicPr>
          <p:nvPr/>
        </p:nvPicPr>
        <p:blipFill>
          <a:blip r:embed="rId2"/>
          <a:srcRect t="639" b="639"/>
          <a:stretch>
            <a:fillRect/>
          </a:stretch>
        </p:blipFill>
        <p:spPr>
          <a:xfrm>
            <a:off x="0" y="0"/>
            <a:ext cx="12191695" cy="3429000"/>
          </a:xfrm>
          <a:prstGeom prst="rect">
            <a:avLst/>
          </a:prstGeom>
        </p:spPr>
      </p:pic>
      <p:sp>
        <p:nvSpPr>
          <p:cNvPr id="3" name="Opener Band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7033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78FD9"/>
                </a:solidFill>
                <a:latin typeface="Montserrat"/>
              </a:rPr>
              <a:t>PUBLICATION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+mj-lt"/>
              </a:rPr>
              <a:t>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9204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+mj-lt"/>
              </a:rPr>
              <a:t>SiteScope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78FD9"/>
                </a:solidFill>
                <a:latin typeface="Montserrat"/>
              </a:rPr>
              <a:t>Robots  </a:t>
            </a:r>
            <a:r>
              <a:rPr sz="1200" b="0" i="0">
                <a:solidFill>
                  <a:srgbClr val="FFFFFF"/>
                </a:solidFill>
                <a:latin typeface="Montserrat"/>
              </a:rPr>
              <a:t>Go2-W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703320"/>
            <a:ext cx="6885432" cy="2834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1">
                <a:solidFill>
                  <a:srgbClr val="FFFFFF"/>
                </a:solidFill>
                <a:latin typeface="Montserrat"/>
              </a:rPr>
              <a:t>SiteScope: An end-to-end schedule-driven robotic workflow for construction progress monitoring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78FD9"/>
                </a:solidFill>
                <a:latin typeface="Montserrat"/>
              </a:rPr>
              <a:t>IROS 2026 Workshop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F1E8FA"/>
                </a:solidFill>
                <a:latin typeface="Montserrat"/>
              </a:rPr>
              <a:t>Workshop paper · no DOI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A. T. Mengiste, S. A. Prieto, B. García de Soto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SiteScope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Introduction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2.4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B0F8B"/>
                </a:solidFill>
                <a:latin typeface="Montserrat"/>
              </a:rPr>
              <a:t>The challenge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01951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Progress documentation is manual: prepare a camera, walk the site, capture, transfer, upload, write it up.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79191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Repeated inspections are hard to keep consistent and use skilled people's time.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56432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29000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Existing tools automate one step, not the chain from schedule to report.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B0F8B"/>
                </a:solidFill>
                <a:latin typeface="Montserrat"/>
              </a:rPr>
              <a:t>Our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0060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A recurring schedule sends the Go2-W to each capture point. It captures 360° images, uploads them with full provenance, and SiteScope stores, analyses and helps people publish the report.</a:t>
            </a:r>
          </a:p>
        </p:txBody>
      </p:sp>
      <p:pic>
        <p:nvPicPr>
          <p:cNvPr id="13" name="Picture 12" descr="ss_75.jpg"/>
          <p:cNvPicPr>
            <a:picLocks noChangeAspect="1"/>
          </p:cNvPicPr>
          <p:nvPr/>
        </p:nvPicPr>
        <p:blipFill>
          <a:blip r:embed="rId2"/>
          <a:srcRect l="38" r="38"/>
          <a:stretch>
            <a:fillRect/>
          </a:stretch>
        </p:blipFill>
        <p:spPr>
          <a:xfrm>
            <a:off x="6263640" y="1371600"/>
            <a:ext cx="5376672" cy="302666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63640" y="4617720"/>
            <a:ext cx="2596896" cy="960120"/>
          </a:xfrm>
          <a:prstGeom prst="roundRect">
            <a:avLst>
              <a:gd name="adj" fmla="val 8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46520" y="4709159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−28.2%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184648"/>
            <a:ext cx="2231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end-to-end time per inspection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4617720"/>
            <a:ext cx="259689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26296" y="4709159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57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5184648"/>
            <a:ext cx="2231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human time, vs 10 min 20 s</a:t>
            </a:r>
          </a:p>
        </p:txBody>
      </p:sp>
      <p:sp>
        <p:nvSpPr>
          <p:cNvPr id="20" name="Citation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[5] Mengiste, Prieto &amp; García de Soto (2026). SiteScope: An end-to-end schedule-driven robotic workflow for construction progress monitoring. IROS 2026 Workshop.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SiteScope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Methodology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2.4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16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ig2_2x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443447"/>
            <a:ext cx="10817352" cy="4519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4476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Schedule-to-report workflow: one-time setup, recurring manual vs. robotic execution, and the shared review-and-report subprocess C1 (Fig. 2 in [5])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SiteScope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Robot Mission Loop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2.4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16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12s-mission-loop-summary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80" y="1766848"/>
            <a:ext cx="10908792" cy="38729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4476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What R2 does on every scheduled run, drawn from the SiteScope code. Full detail (cancel, stop, watchdog, failure paths): Media/BPMN/SiteScope, diagrams 11 and 12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SiteScope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Robot and Platform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2.4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420624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sp_rob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6377"/>
            <a:ext cx="4023360" cy="21022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0624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0F8B"/>
                </a:solidFill>
                <a:latin typeface="Montserrat"/>
              </a:rPr>
              <a:t>Go2-W sensing payload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Insta360 X4: 72 MP 360° photos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Livox MID-360 LiDAR for navigation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Jetson Orin NX + ROS 2 / Nav2</a:t>
            </a:r>
          </a:p>
        </p:txBody>
      </p:sp>
      <p:pic>
        <p:nvPicPr>
          <p:cNvPr id="8" name="Picture 7" descr="ss_42.jpg"/>
          <p:cNvPicPr>
            <a:picLocks noChangeAspect="1"/>
          </p:cNvPicPr>
          <p:nvPr/>
        </p:nvPicPr>
        <p:blipFill>
          <a:blip r:embed="rId3"/>
          <a:srcRect l="94" r="94"/>
          <a:stretch>
            <a:fillRect/>
          </a:stretch>
        </p:blipFill>
        <p:spPr>
          <a:xfrm>
            <a:off x="5029200" y="1325880"/>
            <a:ext cx="2157984" cy="1216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0" y="2596896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Schedule it once</a:t>
            </a:r>
          </a:p>
        </p:txBody>
      </p:sp>
      <p:pic>
        <p:nvPicPr>
          <p:cNvPr id="10" name="Picture 9" descr="ss_96.jpg"/>
          <p:cNvPicPr>
            <a:picLocks noChangeAspect="1"/>
          </p:cNvPicPr>
          <p:nvPr/>
        </p:nvPicPr>
        <p:blipFill>
          <a:blip r:embed="rId4"/>
          <a:srcRect l="94" r="94"/>
          <a:stretch>
            <a:fillRect/>
          </a:stretch>
        </p:blipFill>
        <p:spPr>
          <a:xfrm>
            <a:off x="7251192" y="1325880"/>
            <a:ext cx="2157984" cy="12161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2596896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Every capture checked on board</a:t>
            </a:r>
          </a:p>
        </p:txBody>
      </p:sp>
      <p:pic>
        <p:nvPicPr>
          <p:cNvPr id="12" name="Picture 11" descr="ss_135.jpg"/>
          <p:cNvPicPr>
            <a:picLocks noChangeAspect="1"/>
          </p:cNvPicPr>
          <p:nvPr/>
        </p:nvPicPr>
        <p:blipFill>
          <a:blip r:embed="rId5"/>
          <a:srcRect l="94" r="94"/>
          <a:stretch>
            <a:fillRect/>
          </a:stretch>
        </p:blipFill>
        <p:spPr>
          <a:xfrm>
            <a:off x="9473184" y="1325880"/>
            <a:ext cx="2157984" cy="12161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73184" y="2596896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Auto-Describe: scene, quality, safety</a:t>
            </a:r>
          </a:p>
        </p:txBody>
      </p:sp>
      <p:pic>
        <p:nvPicPr>
          <p:cNvPr id="14" name="Picture 13" descr="ss_144.jpg"/>
          <p:cNvPicPr>
            <a:picLocks noChangeAspect="1"/>
          </p:cNvPicPr>
          <p:nvPr/>
        </p:nvPicPr>
        <p:blipFill>
          <a:blip r:embed="rId6"/>
          <a:srcRect l="94" r="94"/>
          <a:stretch>
            <a:fillRect/>
          </a:stretch>
        </p:blipFill>
        <p:spPr>
          <a:xfrm>
            <a:off x="5029200" y="3182112"/>
            <a:ext cx="2157984" cy="12161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0" y="4453128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Pin what matters</a:t>
            </a:r>
          </a:p>
        </p:txBody>
      </p:sp>
      <p:pic>
        <p:nvPicPr>
          <p:cNvPr id="16" name="Picture 15" descr="ss_150.jpg"/>
          <p:cNvPicPr>
            <a:picLocks noChangeAspect="1"/>
          </p:cNvPicPr>
          <p:nvPr/>
        </p:nvPicPr>
        <p:blipFill>
          <a:blip r:embed="rId7"/>
          <a:srcRect l="94" r="94"/>
          <a:stretch>
            <a:fillRect/>
          </a:stretch>
        </p:blipFill>
        <p:spPr>
          <a:xfrm>
            <a:off x="7251192" y="3182112"/>
            <a:ext cx="2157984" cy="12161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51192" y="4453128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Same room, two dates</a:t>
            </a:r>
          </a:p>
        </p:txBody>
      </p:sp>
      <p:pic>
        <p:nvPicPr>
          <p:cNvPr id="18" name="Picture 17" descr="ss_177.jpg"/>
          <p:cNvPicPr>
            <a:picLocks noChangeAspect="1"/>
          </p:cNvPicPr>
          <p:nvPr/>
        </p:nvPicPr>
        <p:blipFill>
          <a:blip r:embed="rId8"/>
          <a:srcRect l="94" r="94"/>
          <a:stretch>
            <a:fillRect/>
          </a:stretch>
        </p:blipFill>
        <p:spPr>
          <a:xfrm>
            <a:off x="9473184" y="3182112"/>
            <a:ext cx="2157984" cy="12161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473184" y="4453128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One PDF 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5074920"/>
            <a:ext cx="6611112" cy="118872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57800" y="5138928"/>
            <a:ext cx="62179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5B0F8B"/>
                </a:solidFill>
                <a:latin typeface="Montserrat"/>
              </a:rPr>
              <a:t>Provenance: </a:t>
            </a:r>
            <a:r>
              <a:rPr sz="1300" b="0" i="0">
                <a:solidFill>
                  <a:srgbClr val="1F1F24"/>
                </a:solidFill>
                <a:latin typeface="Montserrat"/>
              </a:rPr>
              <a:t>every asset is stored with its project, location, date, mission, waypoint, sensor and robot pose.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SiteScope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Experiment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2.4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484632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sp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06" y="1417320"/>
            <a:ext cx="4626386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Navigation map with home pose H and capture points CP1–CP4 [5]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325880"/>
            <a:ext cx="219456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sp_sch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631271"/>
            <a:ext cx="2011680" cy="3046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77840" y="5029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Recurring schedule</a:t>
            </a:r>
          </a:p>
        </p:txBody>
      </p:sp>
      <p:sp>
        <p:nvSpPr>
          <p:cNvPr id="10" name="Oval 9"/>
          <p:cNvSpPr/>
          <p:nvPr/>
        </p:nvSpPr>
        <p:spPr>
          <a:xfrm>
            <a:off x="8046720" y="1371600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353312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Same inspection package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645920"/>
            <a:ext cx="3044952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4 capture points → 4 × 360° images + 1 PDF report per run.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0" y="2523744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505456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5 paired trials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798063"/>
            <a:ext cx="3044952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10 runs, alternating Manual → Robot and Robot → Manual.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0" y="3675887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657599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Same everything else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950207"/>
            <a:ext cx="3044952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Route, camera settings (72 MP, HDR off), user, internet, report template.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0" y="4828031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809744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One difference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5102351"/>
            <a:ext cx="3044952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Manual camera on a 1.25 m pole; robot camera fixed at 0.67 m.</a:t>
            </a:r>
          </a:p>
        </p:txBody>
      </p:sp>
      <p:sp>
        <p:nvSpPr>
          <p:cNvPr id="22" name="Citation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[5] Mengiste, Prieto &amp; García de Soto (2026). SiteScope: An end-to-end schedule-driven robotic workflow for construction progress monitoring. IROS 2026 Workshop.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SiteScope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Results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2.4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658368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640080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60920" y="1325880"/>
            <a:ext cx="4279392" cy="960120"/>
          </a:xfrm>
          <a:prstGeom prst="roundRect">
            <a:avLst>
              <a:gd name="adj" fmla="val 8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543800" y="1417320"/>
            <a:ext cx="39136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−28.2%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892807"/>
            <a:ext cx="391363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end-to-end: 10:20 → 7:25 per inspection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2450592"/>
            <a:ext cx="42793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43800" y="2542032"/>
            <a:ext cx="39136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−99.1%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017520"/>
            <a:ext cx="391363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human time until images are in SiteScope: 9:28 → 0:05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575304"/>
            <a:ext cx="42793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43800" y="3666744"/>
            <a:ext cx="39136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5 /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4142232"/>
            <a:ext cx="391363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robot missions completed; 20 / 20 images, 0 retries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83480"/>
            <a:ext cx="11091672" cy="128016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502920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5B0F8B"/>
                </a:solidFill>
                <a:latin typeface="Montserrat"/>
              </a:rPr>
              <a:t>Trade-off: </a:t>
            </a:r>
            <a:r>
              <a:rPr sz="1300" b="0" i="0">
                <a:solidFill>
                  <a:srgbClr val="1F1F24"/>
                </a:solidFill>
                <a:latin typeface="Montserrat"/>
              </a:rPr>
              <a:t>one-time robot setup takes 15:31 (payload, map and home pose, pairing, capture points, schedule) vs 4:47 to plan the manual route. With 9:23 of human time saved per inspection, the extra 10:44 is recovered over the following recurring inspections (our estimate from Tables I–II).</a:t>
            </a:r>
          </a:p>
        </p:txBody>
      </p:sp>
      <p:sp>
        <p:nvSpPr>
          <p:cNvPr id="17" name="Citation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[5] Mengiste, Prieto &amp; García de Soto (2026). SiteScope: An end-to-end schedule-driven robotic workflow for construction progress monitoring. IROS 2026 Workshop.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SiteScope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Captured Evidence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2.4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Manual (camera at 1.25 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3258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Scheduled robot (camera at 0.67 m)</a:t>
            </a:r>
          </a:p>
        </p:txBody>
      </p:sp>
      <p:pic>
        <p:nvPicPr>
          <p:cNvPr id="6" name="Picture 5" descr="iros_man_CP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1737360"/>
            <a:ext cx="3931920" cy="1965960"/>
          </a:xfrm>
          <a:prstGeom prst="rect">
            <a:avLst/>
          </a:prstGeom>
        </p:spPr>
      </p:pic>
      <p:pic>
        <p:nvPicPr>
          <p:cNvPr id="7" name="Picture 6" descr="iros_rob_CP1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17720" y="1737360"/>
            <a:ext cx="3931920" cy="196596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CP1</a:t>
            </a:r>
          </a:p>
        </p:txBody>
      </p:sp>
      <p:pic>
        <p:nvPicPr>
          <p:cNvPr id="9" name="Picture 8" descr="iros_man_CP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8640" y="3931920"/>
            <a:ext cx="3931920" cy="1965960"/>
          </a:xfrm>
          <a:prstGeom prst="rect">
            <a:avLst/>
          </a:prstGeom>
        </p:spPr>
      </p:pic>
      <p:pic>
        <p:nvPicPr>
          <p:cNvPr id="10" name="Picture 9" descr="iros_rob_CP3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17720" y="3931920"/>
            <a:ext cx="3931920" cy="196596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40080" y="4023359"/>
            <a:ext cx="502920" cy="502920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CP3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325880"/>
            <a:ext cx="2862072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report_p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1625868"/>
            <a:ext cx="2679192" cy="378914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05332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Run 1 panoramas from the experimental package [6]; right: the PDF observation report SiteScope generated from the robot's CP1 image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SiteScope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Video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2.4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59255" y="1161288"/>
            <a:ext cx="9473184" cy="539267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Video Placeholder" descr="poster_sit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32407" y="1234440"/>
            <a:ext cx="9326880" cy="5246370"/>
          </a:xfrm>
          <a:prstGeom prst="rect">
            <a:avLst/>
          </a:prstGeom>
        </p:spPr>
      </p:pic>
      <p:sp>
        <p:nvSpPr>
          <p:cNvPr id="6" name="Video Placeholder Veil"/>
          <p:cNvSpPr/>
          <p:nvPr/>
        </p:nvSpPr>
        <p:spPr>
          <a:xfrm>
            <a:off x="1432407" y="1234440"/>
            <a:ext cx="9326880" cy="5246370"/>
          </a:xfrm>
          <a:prstGeom prst="rect">
            <a:avLst/>
          </a:prstGeom>
          <a:solidFill>
            <a:srgbClr val="140A22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lay Mark"/>
          <p:cNvSpPr/>
          <p:nvPr/>
        </p:nvSpPr>
        <p:spPr>
          <a:xfrm>
            <a:off x="5501487" y="2851785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5912967" y="3171825"/>
            <a:ext cx="548640" cy="548640"/>
          </a:xfrm>
          <a:prstGeom prst="triangl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89607" y="4269105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ontserrat"/>
              </a:rPr>
              <a:t>Video placeholder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9607" y="4726305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Insert › Video › This Device: </a:t>
            </a:r>
            <a:r>
              <a:rPr sz="1300" b="0" i="0">
                <a:solidFill>
                  <a:srgbClr val="FFFFFF"/>
                </a:solidFill>
                <a:latin typeface="Montserrat"/>
              </a:rPr>
              <a:t>Media/Videos/sitescope_v23_share.mp4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2407" y="664540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5A66"/>
                </a:solidFill>
                <a:latin typeface="Montserrat"/>
              </a:rPr>
              <a:t>Full video: a scheduled inspection from robot capture to published report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pener Photo" descr="div_reel.jpg"/>
          <p:cNvPicPr>
            <a:picLocks noChangeAspect="1"/>
          </p:cNvPicPr>
          <p:nvPr/>
        </p:nvPicPr>
        <p:blipFill>
          <a:blip r:embed="rId2"/>
          <a:srcRect t="17718" b="17718"/>
          <a:stretch>
            <a:fillRect/>
          </a:stretch>
        </p:blipFill>
        <p:spPr>
          <a:xfrm>
            <a:off x="0" y="0"/>
            <a:ext cx="12191695" cy="3429000"/>
          </a:xfrm>
          <a:prstGeom prst="rect">
            <a:avLst/>
          </a:prstGeom>
        </p:spPr>
      </p:pic>
      <p:sp>
        <p:nvSpPr>
          <p:cNvPr id="3" name="Opener Band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7033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78FD9"/>
                </a:solidFill>
                <a:latin typeface="Montserrat"/>
              </a:rPr>
              <a:t>LAB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+mj-lt"/>
              </a:rPr>
              <a:t>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9204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+mj-lt"/>
              </a:rPr>
              <a:t>Robot Logistics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78FD9"/>
                </a:solidFill>
                <a:latin typeface="Montserrat"/>
              </a:rPr>
              <a:t>Robots  </a:t>
            </a:r>
            <a:r>
              <a:rPr sz="1200" b="0" i="0">
                <a:solidFill>
                  <a:srgbClr val="FFFFFF"/>
                </a:solidFill>
                <a:latin typeface="Montserrat"/>
              </a:rPr>
              <a:t>SUMMIT-XL · Spot · Franka FR3 · Go2-W (backup)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703320"/>
            <a:ext cx="6885432" cy="2834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1">
                <a:solidFill>
                  <a:srgbClr val="FFFFFF"/>
                </a:solidFill>
                <a:latin typeface="Montserrat"/>
              </a:rPr>
              <a:t>Robotic Awareness Event, Edition 2: Multi-Robot Collaborative Operations Challenge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78FD9"/>
                </a:solidFill>
                <a:latin typeface="Montserrat"/>
              </a:rPr>
              <a:t>AD Ports × NYUAD · S.M.A.R.T. Lab with the REACH Lab · October 2026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F1E8FA"/>
                </a:solidFill>
                <a:latin typeface="Montserrat"/>
              </a:rPr>
              <a:t>Technical report, 9 October 2026 · not a publication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B. García de Soto, S. A. Prieto, F. Abu-Dakka (PIs); A. T. Mengiste (lead software); A. Chasmawala, A. Sunesh, O. Mostafa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Robot Logistics Challenge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Overview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3.1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LOGISTICS</a:t>
            </a:r>
          </a:p>
        </p:txBody>
      </p:sp>
      <p:pic>
        <p:nvPicPr>
          <p:cNvPr id="4" name="Picture 3" descr="reel_8.jpg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548640" y="1325880"/>
            <a:ext cx="6583680" cy="3703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60920" y="1325880"/>
            <a:ext cx="1325880" cy="960120"/>
          </a:xfrm>
          <a:prstGeom prst="roundRect">
            <a:avLst>
              <a:gd name="adj" fmla="val 8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9601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892807"/>
            <a:ext cx="9601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people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33104" y="1325880"/>
            <a:ext cx="1325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015984" y="1417320"/>
            <a:ext cx="9601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5984" y="1892807"/>
            <a:ext cx="9601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robots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05288" y="1325880"/>
            <a:ext cx="133502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488167" y="1417320"/>
            <a:ext cx="9692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88167" y="1892807"/>
            <a:ext cx="9692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514600"/>
            <a:ext cx="4279392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B0F8B"/>
                </a:solidFill>
                <a:latin typeface="Montserrat"/>
              </a:rPr>
              <a:t>People and robots work as one team </a:t>
            </a:r>
            <a:r>
              <a:rPr sz="1300" b="0" i="0">
                <a:solidFill>
                  <a:srgbClr val="1F1F24"/>
                </a:solidFill>
                <a:latin typeface="Montserrat"/>
              </a:rPr>
              <a:t>to complete delivery orders across five stations in the lab.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1F24"/>
                </a:solidFill>
                <a:latin typeface="Montserrat"/>
              </a:rPr>
              <a:t>SUMMIT-XL </a:t>
            </a:r>
            <a:r>
              <a:rPr sz="1300" b="0" i="0">
                <a:solidFill>
                  <a:srgbClr val="1F1F24"/>
                </a:solidFill>
                <a:latin typeface="Montserrat"/>
              </a:rPr>
              <a:t>carries each order between stations.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1F24"/>
                </a:solidFill>
                <a:latin typeface="Montserrat"/>
              </a:rPr>
              <a:t>Spot </a:t>
            </a:r>
            <a:r>
              <a:rPr sz="1300" b="0" i="0">
                <a:solidFill>
                  <a:srgbClr val="1F1F24"/>
                </a:solidFill>
                <a:latin typeface="Montserrat"/>
              </a:rPr>
              <a:t>fetches from storage and reads QR codes.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1F24"/>
                </a:solidFill>
                <a:latin typeface="Montserrat"/>
              </a:rPr>
              <a:t>Franka FR3 arm </a:t>
            </a:r>
            <a:r>
              <a:rPr sz="1300" b="0" i="0">
                <a:solidFill>
                  <a:srgbClr val="1F1F24"/>
                </a:solidFill>
                <a:latin typeface="Montserrat"/>
              </a:rPr>
              <a:t>(REACH Lab) transfers packages.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0F8B"/>
                </a:solidFill>
                <a:latin typeface="Montserrat"/>
              </a:rPr>
              <a:t>Tasks worth 3, 6 or 12 points need one, two or three colour-coded packages; </a:t>
            </a:r>
            <a:r>
              <a:rPr sz="1200" b="0" i="0">
                <a:solidFill>
                  <a:srgbClr val="1F1F24"/>
                </a:solidFill>
                <a:latin typeface="Montserrat"/>
              </a:rPr>
              <a:t>operators P1–P5 staff the stations, and judges score what reaches the delivery station. A Unitree Go2-W was prepared as a backup for the SUMMIT-XL.</a:t>
            </a:r>
          </a:p>
        </p:txBody>
      </p:sp>
      <p:sp>
        <p:nvSpPr>
          <p:cNvPr id="16" name="Citation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Sources: Robotic Awareness Event Edition 2 technical report (AD Ports × NYUAD, 9 Oct 2026); Edition 2: How Each Robot Works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Robot Logistics Challenge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Order Workflow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3.1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LOGISTICS</a:t>
            </a:r>
          </a:p>
        </p:txBody>
      </p:sp>
      <p:sp>
        <p:nvSpPr>
          <p:cNvPr id="4" name="Pentagon 3"/>
          <p:cNvSpPr/>
          <p:nvPr/>
        </p:nvSpPr>
        <p:spPr>
          <a:xfrm>
            <a:off x="548640" y="1325880"/>
            <a:ext cx="2212848" cy="502920"/>
          </a:xfrm>
          <a:prstGeom prst="homePlat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2588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1  Order</a:t>
            </a:r>
          </a:p>
        </p:txBody>
      </p:sp>
      <p:pic>
        <p:nvPicPr>
          <p:cNvPr id="6" name="Picture 5" descr="reel_84.jpg"/>
          <p:cNvPicPr>
            <a:picLocks noChangeAspect="1"/>
          </p:cNvPicPr>
          <p:nvPr/>
        </p:nvPicPr>
        <p:blipFill>
          <a:blip r:embed="rId2"/>
          <a:srcRect l="27694" r="27694"/>
          <a:stretch>
            <a:fillRect/>
          </a:stretch>
        </p:blipFill>
        <p:spPr>
          <a:xfrm>
            <a:off x="548640" y="2011680"/>
            <a:ext cx="210312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P1 picks a task (one to three packages) and gets its QR task card. Card and clicker go on SUMMIT-XL's tray.</a:t>
            </a:r>
          </a:p>
        </p:txBody>
      </p:sp>
      <p:sp>
        <p:nvSpPr>
          <p:cNvPr id="8" name="Chevron 7"/>
          <p:cNvSpPr/>
          <p:nvPr/>
        </p:nvSpPr>
        <p:spPr>
          <a:xfrm>
            <a:off x="2795320" y="1325880"/>
            <a:ext cx="2212848" cy="502920"/>
          </a:xfrm>
          <a:prstGeom prst="chevron">
            <a:avLst/>
          </a:prstGeom>
          <a:solidFill>
            <a:srgbClr val="B78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9640" y="132588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2  Handoff</a:t>
            </a:r>
          </a:p>
        </p:txBody>
      </p:sp>
      <p:pic>
        <p:nvPicPr>
          <p:cNvPr id="10" name="Picture 9" descr="reel_100.jpg"/>
          <p:cNvPicPr>
            <a:picLocks noChangeAspect="1"/>
          </p:cNvPicPr>
          <p:nvPr/>
        </p:nvPicPr>
        <p:blipFill>
          <a:blip r:embed="rId3"/>
          <a:srcRect l="27694" r="27694"/>
          <a:stretch>
            <a:fillRect/>
          </a:stretch>
        </p:blipFill>
        <p:spPr>
          <a:xfrm>
            <a:off x="2795320" y="2011680"/>
            <a:ext cx="2103120" cy="2651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95320" y="47548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SUMMIT-XL drives to the handoff. Spot tilts up, reads the card, stores the package codes and walks to storage by itself.</a:t>
            </a:r>
          </a:p>
        </p:txBody>
      </p:sp>
      <p:sp>
        <p:nvSpPr>
          <p:cNvPr id="12" name="Chevron 11"/>
          <p:cNvSpPr/>
          <p:nvPr/>
        </p:nvSpPr>
        <p:spPr>
          <a:xfrm>
            <a:off x="5042001" y="1325880"/>
            <a:ext cx="2212848" cy="502920"/>
          </a:xfrm>
          <a:prstGeom prst="chevron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16321" y="132588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3  Storage</a:t>
            </a:r>
          </a:p>
        </p:txBody>
      </p:sp>
      <p:pic>
        <p:nvPicPr>
          <p:cNvPr id="14" name="Picture 13" descr="reel_108.jpg"/>
          <p:cNvPicPr>
            <a:picLocks noChangeAspect="1"/>
          </p:cNvPicPr>
          <p:nvPr/>
        </p:nvPicPr>
        <p:blipFill>
          <a:blip r:embed="rId4"/>
          <a:srcRect l="27694" r="27694"/>
          <a:stretch>
            <a:fillRect/>
          </a:stretch>
        </p:blipFill>
        <p:spPr>
          <a:xfrm>
            <a:off x="5042001" y="2011680"/>
            <a:ext cx="2103120" cy="2651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42001" y="47548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P3 shows each box label. Spot says "QR code matched", the box is loaded, and P3 sends Spot to the arm.</a:t>
            </a:r>
          </a:p>
        </p:txBody>
      </p:sp>
      <p:sp>
        <p:nvSpPr>
          <p:cNvPr id="16" name="Chevron 15"/>
          <p:cNvSpPr/>
          <p:nvPr/>
        </p:nvSpPr>
        <p:spPr>
          <a:xfrm>
            <a:off x="7288682" y="1325880"/>
            <a:ext cx="2212848" cy="502920"/>
          </a:xfrm>
          <a:prstGeom prst="chevron">
            <a:avLst/>
          </a:prstGeom>
          <a:solidFill>
            <a:srgbClr val="B78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3002" y="132588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4  Arm transfer</a:t>
            </a:r>
          </a:p>
        </p:txBody>
      </p:sp>
      <p:pic>
        <p:nvPicPr>
          <p:cNvPr id="18" name="Picture 17" descr="reel_192.jpg"/>
          <p:cNvPicPr>
            <a:picLocks noChangeAspect="1"/>
          </p:cNvPicPr>
          <p:nvPr/>
        </p:nvPicPr>
        <p:blipFill>
          <a:blip r:embed="rId5"/>
          <a:srcRect l="27694" r="27694"/>
          <a:stretch>
            <a:fillRect/>
          </a:stretch>
        </p:blipFill>
        <p:spPr>
          <a:xfrm>
            <a:off x="7288682" y="2011680"/>
            <a:ext cx="2103120" cy="2651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88682" y="47548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P4 runs the FR3 arm to move the box from Spot to SUMMIT-XL. Spot repeats for each package.</a:t>
            </a:r>
          </a:p>
        </p:txBody>
      </p:sp>
      <p:sp>
        <p:nvSpPr>
          <p:cNvPr id="20" name="Chevron 19"/>
          <p:cNvSpPr/>
          <p:nvPr/>
        </p:nvSpPr>
        <p:spPr>
          <a:xfrm>
            <a:off x="9535363" y="1325880"/>
            <a:ext cx="2212848" cy="502920"/>
          </a:xfrm>
          <a:prstGeom prst="chevron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9683" y="132588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5  Delivery</a:t>
            </a:r>
          </a:p>
        </p:txBody>
      </p:sp>
      <p:pic>
        <p:nvPicPr>
          <p:cNvPr id="22" name="Picture 21" descr="reel_216.jpg"/>
          <p:cNvPicPr>
            <a:picLocks noChangeAspect="1"/>
          </p:cNvPicPr>
          <p:nvPr/>
        </p:nvPicPr>
        <p:blipFill>
          <a:blip r:embed="rId6"/>
          <a:srcRect l="27694" r="27694"/>
          <a:stretch>
            <a:fillRect/>
          </a:stretch>
        </p:blipFill>
        <p:spPr>
          <a:xfrm>
            <a:off x="9535363" y="2011680"/>
            <a:ext cx="2103120" cy="2651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535363" y="47548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P4 sends SUMMIT-XL to delivery. P5 places the packages in their brackets for the judges.</a:t>
            </a:r>
          </a:p>
        </p:txBody>
      </p:sp>
      <p:sp>
        <p:nvSpPr>
          <p:cNvPr id="24" name="Citation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Stills from the Robot Logistics Challenge video. Sources: Robotic Awareness Event Edition 2 technical report (AD Ports × NYUAD, 9 Oct 2026); Edition 2: How Each Robot Works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Robot Logistics Challenge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How It Works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3.1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LOGISTICS</a:t>
            </a:r>
          </a:p>
        </p:txBody>
      </p:sp>
      <p:pic>
        <p:nvPicPr>
          <p:cNvPr id="4" name="Picture 3" descr="reel_48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1325880"/>
            <a:ext cx="3657600" cy="2057400"/>
          </a:xfrm>
          <a:prstGeom prst="rect">
            <a:avLst/>
          </a:prstGeom>
        </p:spPr>
      </p:pic>
      <p:pic>
        <p:nvPicPr>
          <p:cNvPr id="5" name="Picture 4" descr="reel_64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8640" y="3611880"/>
            <a:ext cx="3657600" cy="205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34840" y="137160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5B0F8B"/>
                </a:solidFill>
                <a:latin typeface="Montserrat"/>
              </a:rPr>
              <a:t>Voice commands: SUMMIT-XL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1F24"/>
                </a:solidFill>
                <a:latin typeface="Montserrat"/>
              </a:rPr>
              <a:t>Clicker + wireless mic → Whisper large-v3 on the laptop GPU (0.16–0.47 s) → the matcher needs exactly one of four stations; if unclear, a local LLM (gpt-oss:20b) decides, else "Not a valid command" → 5 s hold to put the clicker back → the ROS container sends the goal.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365760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5B0F8B"/>
                </a:solidFill>
                <a:latin typeface="Montserrat"/>
              </a:rPr>
              <a:t>Voice commands: Spot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1F24"/>
                </a:solidFill>
                <a:latin typeface="Montserrat"/>
              </a:rPr>
              <a:t>Same clicker and mic; Whisper runs offline on an Intel NUC and a parser needs exactly one waypoint on Spot's map (no LLM). At handoff and storage Spot tilts up and reads QR codes with its front cameras.</a:t>
            </a:r>
          </a:p>
        </p:txBody>
      </p:sp>
      <p:pic>
        <p:nvPicPr>
          <p:cNvPr id="8" name="Picture 7" descr="reel_152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982712" y="1325880"/>
            <a:ext cx="3657600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82712" y="347472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5B0F8B"/>
                </a:solidFill>
                <a:latin typeface="Montserrat"/>
              </a:rPr>
              <a:t>Arm: learning from demonstration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Setup → Teach (guide the arm by hand) → Validate → Run. A wrist RGB-D camera finds the package; the taught motions adapt to where it 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82712" y="4754880"/>
            <a:ext cx="3657600" cy="146304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65592" y="4818888"/>
            <a:ext cx="32918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ontserrat"/>
              </a:rPr>
              <a:t>Overseer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Clicks are ignored while a robot moves. A control panel sends or cancels a held goal; the space bar cancels any move. Each robot's own e-stop stays the safety device.</a:t>
            </a:r>
          </a:p>
        </p:txBody>
      </p:sp>
      <p:sp>
        <p:nvSpPr>
          <p:cNvPr id="12" name="Citation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Sources: Robotic Awareness Event Edition 2 technical report (AD Ports × NYUAD, 9 Oct 2026); Edition 2: How Each Robot Works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Robot Logistics Challenge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Video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3.1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LOGISTICS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59255" y="1161288"/>
            <a:ext cx="9473184" cy="539267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Video Placeholder" descr="poster_reel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32407" y="1234440"/>
            <a:ext cx="9326880" cy="5246370"/>
          </a:xfrm>
          <a:prstGeom prst="rect">
            <a:avLst/>
          </a:prstGeom>
        </p:spPr>
      </p:pic>
      <p:sp>
        <p:nvSpPr>
          <p:cNvPr id="6" name="Video Placeholder Veil"/>
          <p:cNvSpPr/>
          <p:nvPr/>
        </p:nvSpPr>
        <p:spPr>
          <a:xfrm>
            <a:off x="1432407" y="1234440"/>
            <a:ext cx="9326880" cy="5246370"/>
          </a:xfrm>
          <a:prstGeom prst="rect">
            <a:avLst/>
          </a:prstGeom>
          <a:solidFill>
            <a:srgbClr val="140A22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lay Mark"/>
          <p:cNvSpPr/>
          <p:nvPr/>
        </p:nvSpPr>
        <p:spPr>
          <a:xfrm>
            <a:off x="5501487" y="2851785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5912967" y="3171825"/>
            <a:ext cx="548640" cy="548640"/>
          </a:xfrm>
          <a:prstGeom prst="triangl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89607" y="4269105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ontserrat"/>
              </a:rPr>
              <a:t>Video placeholder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9607" y="4726305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Insert › Video › This Device: </a:t>
            </a:r>
            <a:r>
              <a:rPr sz="1300" b="0" i="0">
                <a:solidFill>
                  <a:srgbClr val="FFFFFF"/>
                </a:solidFill>
                <a:latin typeface="Montserrat"/>
              </a:rPr>
              <a:t>Media/Videos/reel_v7_3 (1).mp4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2407" y="664540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5A66"/>
                </a:solidFill>
                <a:latin typeface="Montserrat"/>
              </a:rPr>
              <a:t>Full video: one order from start to finish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References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44168"/>
            <a:ext cx="10469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Prieto, S. A., Giakoumidis, N., &amp; García de Soto, B. (2024). Multiagent robotic systems and exploration algorithms: Applications for data collection in construction sites. Journal of Field Robotics, 41(4), 1187–1203.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5B0F8B"/>
                </a:solidFill>
                <a:latin typeface="Montserrat"/>
              </a:rPr>
              <a:t>https://doi.org/10.1002/rob.22316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194560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167128"/>
            <a:ext cx="10469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Prieto, S. A., &amp; García de Soto, B. (2025). PACA: A Personal Autonomous Construction Assistant to facilitate human-robot interaction. 4th Workshop on the Future of Construction, IEEE ICRA 2025, Atlanta, USA.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5B0F8B"/>
                </a:solidFill>
                <a:latin typeface="Montserrat"/>
              </a:rPr>
              <a:t>No DOI · https://construction-robots.github.io/papers/112.pdf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17520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90088"/>
            <a:ext cx="10469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Gopee, M. A., Prieto, S. A., &amp; García de Soto, B. (2025). Enhancing human-machine interaction with on-device large language models in construction robotics: A case study on safety applications. Proc. Creative Construction Conference 2025.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5B0F8B"/>
                </a:solidFill>
                <a:latin typeface="Montserrat"/>
              </a:rPr>
              <a:t>https://doi.org/10.22260/CCC2025/0041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840480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13048"/>
            <a:ext cx="10469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Gopee, M. A., Prieto, S. A., &amp; García de Soto, B. (2026). Self-hosted multimodal large language models for speech-driven perception and navigation in construction robotics. Automation in Construction, 183, 106805.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5B0F8B"/>
                </a:solidFill>
                <a:latin typeface="Montserrat"/>
              </a:rPr>
              <a:t>https://doi.org/10.1016/j.autcon.2026.106805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663440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636008"/>
            <a:ext cx="10469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Mengiste, A. T., Prieto, S. A., &amp; García de Soto, B. (2026). SiteScope: An end-to-end schedule-driven robotic workflow for construction progress monitoring. IROS 2026 Workshop.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5B0F8B"/>
                </a:solidFill>
                <a:latin typeface="Montserrat"/>
              </a:rPr>
              <a:t>Workshop paper · no DOI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486400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58968"/>
            <a:ext cx="10469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Mengiste, A. T., Prieto, S. A., &amp; García de Soto, B. (2026). IROS Workshop experimental package for SiteScope. New York University Abu Dhabi.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5B0F8B"/>
                </a:solidFill>
                <a:latin typeface="Montserrat"/>
              </a:rPr>
              <a:t>https://github.com/SMART-NYUAD/sitescope-iros-evaluation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0F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442">
      <a:majorFont>
        <a:latin typeface="Montserrat"/>
        <a:ea typeface=""/>
        <a:cs typeface=""/>
      </a:majorFont>
      <a:minorFont>
        <a:latin typeface="Montserrat Th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3944</Words>
  <Application>Microsoft Office PowerPoint</Application>
  <PresentationFormat>Widescreen</PresentationFormat>
  <Paragraphs>765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Montserrat Medium</vt:lpstr>
      <vt:lpstr>Arial</vt:lpstr>
      <vt:lpstr>Calibri</vt:lpstr>
      <vt:lpstr>Montserrat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zain</dc:creator>
  <cp:lastModifiedBy>Aklile Tilahun Mengiste</cp:lastModifiedBy>
  <cp:revision>109</cp:revision>
  <dcterms:created xsi:type="dcterms:W3CDTF">2026-02-21T11:05:10Z</dcterms:created>
  <dcterms:modified xsi:type="dcterms:W3CDTF">2026-10-24T11:51:51Z</dcterms:modified>
</cp:coreProperties>
</file>
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dia/image151.svg" ContentType="image/svg+xml"/>
  <Override PartName="/ppt/media/image153.svg" ContentType="image/svg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4" r:id="rId54"/>
    <p:sldId id="311" r:id="rId21"/>
    <p:sldId id="325" r:id="rId55"/>
    <p:sldId id="282" r:id="rId24"/>
    <p:sldId id="322" r:id="rId52"/>
    <p:sldId id="321" r:id="rId51"/>
    <p:sldId id="320" r:id="rId50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7" r:id="rId77"/>
    <p:sldId id="348" r:id="rId78"/>
    <p:sldId id="349" r:id="rId79"/>
    <p:sldId id="350" r:id="rId80"/>
    <p:sldId id="351" r:id="rId81"/>
    <p:sldId id="352" r:id="rId82"/>
    <p:sldId id="353" r:id="rId83"/>
    <p:sldId id="354" r:id="rId84"/>
    <p:sldId id="355" r:id="rId85"/>
    <p:sldId id="319" r:id="rId49"/>
    <p:sldId id="356" r:id="rId86"/>
    <p:sldId id="357" r:id="rId87"/>
    <p:sldId id="358" r:id="rId88"/>
    <p:sldId id="359" r:id="rId89"/>
    <p:sldId id="360" r:id="rId90"/>
    <p:sldId id="361" r:id="rId91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Relationship Id="rId87" Type="http://schemas.openxmlformats.org/officeDocument/2006/relationships/slide" Target="slides/slide73.xml"/><Relationship Id="rId88" Type="http://schemas.openxmlformats.org/officeDocument/2006/relationships/slide" Target="slides/slide74.xml"/><Relationship Id="rId89" Type="http://schemas.openxmlformats.org/officeDocument/2006/relationships/slide" Target="slides/slide75.xml"/><Relationship Id="rId90" Type="http://schemas.openxmlformats.org/officeDocument/2006/relationships/slide" Target="slides/slide76.xml"/><Relationship Id="rId91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Recurring time per inspection (min:s, mean of 5)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Prepare camera (M1) / start robot (R1)</c:v>
                </c:pt>
              </c:strCache>
            </c:strRef>
          </c:tx>
          <c:spPr>
            <a:solidFill>
              <a:srgbClr val="5B0F8B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0.001388888888888889</c:v>
                </c:pt>
                <c:pt idx="1">
                  <c:v>0.0016898148148148148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Capture and upload (M2) / mission (R2)</c:v>
                </c:pt>
              </c:strCache>
            </c:strRef>
          </c:tx>
          <c:spPr>
            <a:solidFill>
              <a:srgbClr val="B78FD9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0.003159722222222222</c:v>
                </c:pt>
                <c:pt idx="1">
                  <c:v>0.004884259259259259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Review and publish report (C1)</c:v>
                </c:pt>
              </c:strCache>
            </c:strRef>
          </c:tx>
          <c:spPr>
            <a:solidFill>
              <a:srgbClr val="C9C9D6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0.0006018518518518519</c:v>
                </c:pt>
                <c:pt idx="1">
                  <c:v>0.0006018518518518519</c:v>
                </c:pt>
              </c:numCache>
            </c:numRef>
          </c:val>
        </c:ser>
        <c:dLbls>
          <c:numFmt formatCode="m:ss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7638888888888889"/>
          <c:min val="0.0"/>
        </c:scaling>
        <c:delete val="0"/>
        <c:axPos val="b"/>
        <c:majorGridlines>
          <c:spPr>
            <a:ln>
              <a:solidFill>
                <a:srgbClr val="E4E4E8"/>
              </a:solidFill>
            </a:ln>
          </c:spPr>
        </c:majorGridlines>
        <c:numFmt formatCode="m:ss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0.001388888888888889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Relationship Id="rId9" Type="http://schemas.openxmlformats.org/officeDocument/2006/relationships/image" Target="../media/image10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Relationship Id="rId3" Type="http://schemas.openxmlformats.org/officeDocument/2006/relationships/image" Target="../media/image108.jpg"/><Relationship Id="rId4" Type="http://schemas.openxmlformats.org/officeDocument/2006/relationships/image" Target="../media/image109.jpg"/><Relationship Id="rId5" Type="http://schemas.openxmlformats.org/officeDocument/2006/relationships/image" Target="../media/image110.jpg"/><Relationship Id="rId6" Type="http://schemas.openxmlformats.org/officeDocument/2006/relationships/image" Target="../media/image11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2.jpg"/><Relationship Id="rId3" Type="http://schemas.openxmlformats.org/officeDocument/2006/relationships/image" Target="../media/image113.jpg"/><Relationship Id="rId4" Type="http://schemas.openxmlformats.org/officeDocument/2006/relationships/image" Target="../media/image114.jpg"/><Relationship Id="rId5" Type="http://schemas.openxmlformats.org/officeDocument/2006/relationships/image" Target="../media/image115.jpg"/><Relationship Id="rId6" Type="http://schemas.openxmlformats.org/officeDocument/2006/relationships/image" Target="../media/image11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2.jpg"/><Relationship Id="rId3" Type="http://schemas.openxmlformats.org/officeDocument/2006/relationships/image" Target="../media/image114.jpg"/><Relationship Id="rId4" Type="http://schemas.openxmlformats.org/officeDocument/2006/relationships/image" Target="../media/image119.jpg"/><Relationship Id="rId5" Type="http://schemas.openxmlformats.org/officeDocument/2006/relationships/image" Target="../media/image120.jpg"/><Relationship Id="rId6" Type="http://schemas.openxmlformats.org/officeDocument/2006/relationships/image" Target="../media/image12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2.jpg"/><Relationship Id="rId3" Type="http://schemas.openxmlformats.org/officeDocument/2006/relationships/image" Target="../media/image123.jpg"/><Relationship Id="rId4" Type="http://schemas.openxmlformats.org/officeDocument/2006/relationships/image" Target="../media/image124.jpg"/><Relationship Id="rId5" Type="http://schemas.openxmlformats.org/officeDocument/2006/relationships/chart" Target="../charts/char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9.jpg"/><Relationship Id="rId3" Type="http://schemas.openxmlformats.org/officeDocument/2006/relationships/image" Target="../media/image125.jpg"/><Relationship Id="rId4" Type="http://schemas.openxmlformats.org/officeDocument/2006/relationships/image" Target="../media/image126.jpg"/><Relationship Id="rId5" Type="http://schemas.openxmlformats.org/officeDocument/2006/relationships/image" Target="../media/image127.jpg"/><Relationship Id="rId6" Type="http://schemas.openxmlformats.org/officeDocument/2006/relationships/image" Target="../media/image128.jpg"/><Relationship Id="rId7" Type="http://schemas.openxmlformats.org/officeDocument/2006/relationships/image" Target="../media/image129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0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8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3.jpg"/><Relationship Id="rId3" Type="http://schemas.openxmlformats.org/officeDocument/2006/relationships/image" Target="../media/image134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5.jpg"/><Relationship Id="rId3" Type="http://schemas.openxmlformats.org/officeDocument/2006/relationships/image" Target="../media/image136.jpg"/><Relationship Id="rId4" Type="http://schemas.openxmlformats.org/officeDocument/2006/relationships/image" Target="../media/image137.jpg"/><Relationship Id="rId5" Type="http://schemas.openxmlformats.org/officeDocument/2006/relationships/image" Target="../media/image138.jpg"/><Relationship Id="rId6" Type="http://schemas.openxmlformats.org/officeDocument/2006/relationships/image" Target="../media/image139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0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9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3.jpg"/><Relationship Id="rId3" Type="http://schemas.openxmlformats.org/officeDocument/2006/relationships/image" Target="../media/image144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5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7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8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9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0.png"/><Relationship Id="rId3" Type="http://schemas.openxmlformats.org/officeDocument/2006/relationships/image" Target="../media/image151.sv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2.png"/><Relationship Id="rId3" Type="http://schemas.openxmlformats.org/officeDocument/2006/relationships/image" Target="../media/image153.sv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4.jpg"/><Relationship Id="rId3" Type="http://schemas.openxmlformats.org/officeDocument/2006/relationships/image" Target="../media/image155.jpg"/><Relationship Id="rId4" Type="http://schemas.openxmlformats.org/officeDocument/2006/relationships/image" Target="../media/image156.jpg"/><Relationship Id="rId5" Type="http://schemas.openxmlformats.org/officeDocument/2006/relationships/image" Target="../media/image157.jpg"/><Relationship Id="rId6" Type="http://schemas.openxmlformats.org/officeDocument/2006/relationships/image" Target="../media/image158.jpg"/><Relationship Id="rId7" Type="http://schemas.openxmlformats.org/officeDocument/2006/relationships/image" Target="../media/image159.jpg"/><Relationship Id="rId8" Type="http://schemas.openxmlformats.org/officeDocument/2006/relationships/image" Target="../media/image160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1.jpg"/><Relationship Id="rId3" Type="http://schemas.openxmlformats.org/officeDocument/2006/relationships/image" Target="../media/image16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3.jpg"/><Relationship Id="rId3" Type="http://schemas.openxmlformats.org/officeDocument/2006/relationships/image" Target="../media/image164.jpg"/><Relationship Id="rId4" Type="http://schemas.openxmlformats.org/officeDocument/2006/relationships/image" Target="../media/image165.jpg"/><Relationship Id="rId5" Type="http://schemas.openxmlformats.org/officeDocument/2006/relationships/image" Target="../media/image166.jpg"/><Relationship Id="rId6" Type="http://schemas.openxmlformats.org/officeDocument/2006/relationships/image" Target="../media/image167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8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3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9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0.jpg"/><Relationship Id="rId3" Type="http://schemas.openxmlformats.org/officeDocument/2006/relationships/image" Target="../media/image111.jpg"/><Relationship Id="rId4" Type="http://schemas.openxmlformats.org/officeDocument/2006/relationships/image" Target="../media/image171.jpg"/><Relationship Id="rId5" Type="http://schemas.openxmlformats.org/officeDocument/2006/relationships/image" Target="../media/image172.jpg"/><Relationship Id="rId6" Type="http://schemas.openxmlformats.org/officeDocument/2006/relationships/image" Target="../media/image173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4.jpg"/><Relationship Id="rId3" Type="http://schemas.openxmlformats.org/officeDocument/2006/relationships/image" Target="../media/image175.jpg"/><Relationship Id="rId4" Type="http://schemas.openxmlformats.org/officeDocument/2006/relationships/image" Target="../media/image176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7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!!Lead Card"/>
          <p:cNvSpPr/>
          <p:nvPr/>
        </p:nvSpPr>
        <p:spPr>
          <a:xfrm>
            <a:off x="4419599" y="734528"/>
            <a:ext cx="3352800" cy="6123471"/>
          </a:xfrm>
          <a:prstGeom prst="rect">
            <a:avLst/>
          </a:prstGeom>
          <a:blipFill rotWithShape="1">
            <a:blip r:embed="rId9"/>
            <a:stretch>
              <a:fillRect/>
            </a:stretch>
          </a:blip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Lead Overlay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!!Lead Card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60" name="!!Lead Overlay"/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Picture Placeholder 42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The Robots in Our Lab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Publications: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Research Projects and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Lab Demonstrations: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Beyond the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Omnidirectional Mobile Base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Four-wheel mobile robot for indoor and outdoor sites.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Mecanum wheels: moves sideways and turns on the spot.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Independent suspension keeps all wheels on rough floors.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Our unit: Ouster OS-1-64 LiDAR, Astra camera, PX4 IMU, ROS.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Legged robot that climbs stairs and crosses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Walks up to 1.6 m/s for about 90 minutes per battery.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Carries up to 14 kg on its rails; IP54 dust and water rating.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Arm: 6 joints and a gripper to open doors and pick objects.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Compact Legged Platforms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light (~15 kg) quadruped with a built-in LiDAR and camera.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wheels on its legs; it rolls on flat floors and steps up.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up to 2.5 m/s and 35° slopes; 1.5–3 h per battery.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Both are open to research code through an SDK and ROS 2.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52044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434840"/>
            <a:ext cx="12191695" cy="24231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833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02  PUBLICATIONS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17904"/>
            <a:ext cx="8833104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46336" y="1188720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03  LAB DEMONSTRATION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546336" y="1517904"/>
            <a:ext cx="2084831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i_hero.jpg"/>
          <p:cNvPicPr>
            <a:picLocks noChangeAspect="1"/>
          </p:cNvPicPr>
          <p:nvPr/>
        </p:nvPicPr>
        <p:blipFill>
          <a:blip r:embed="rId2"/>
          <a:srcRect l="12984" r="12984"/>
          <a:stretch>
            <a:fillRect/>
          </a:stretch>
        </p:blipFill>
        <p:spPr>
          <a:xfrm>
            <a:off x="658368" y="1801368"/>
            <a:ext cx="1865376" cy="14173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5800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5" name="Chevron 14"/>
          <p:cNvSpPr/>
          <p:nvPr/>
        </p:nvSpPr>
        <p:spPr>
          <a:xfrm>
            <a:off x="2651760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aca_hero.jpg"/>
          <p:cNvPicPr>
            <a:picLocks noChangeAspect="1"/>
          </p:cNvPicPr>
          <p:nvPr/>
        </p:nvPicPr>
        <p:blipFill>
          <a:blip r:embed="rId3"/>
          <a:srcRect l="12984" r="12984"/>
          <a:stretch>
            <a:fillRect/>
          </a:stretch>
        </p:blipFill>
        <p:spPr>
          <a:xfrm>
            <a:off x="2907792" y="1801368"/>
            <a:ext cx="1865376" cy="141732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2935224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3512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23" name="Chevron 22"/>
          <p:cNvSpPr/>
          <p:nvPr/>
        </p:nvSpPr>
        <p:spPr>
          <a:xfrm>
            <a:off x="4901183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lisa_hero.jpg"/>
          <p:cNvPicPr>
            <a:picLocks noChangeAspect="1"/>
          </p:cNvPicPr>
          <p:nvPr/>
        </p:nvPicPr>
        <p:blipFill>
          <a:blip r:embed="rId4"/>
          <a:srcRect l="12984" r="12984"/>
          <a:stretch>
            <a:fillRect/>
          </a:stretch>
        </p:blipFill>
        <p:spPr>
          <a:xfrm>
            <a:off x="5157216" y="1801368"/>
            <a:ext cx="1865376" cy="141732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184648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31" name="Chevron 30"/>
          <p:cNvSpPr/>
          <p:nvPr/>
        </p:nvSpPr>
        <p:spPr>
          <a:xfrm>
            <a:off x="7150607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ss_75_robot.jpg"/>
          <p:cNvPicPr>
            <a:picLocks noChangeAspect="1"/>
          </p:cNvPicPr>
          <p:nvPr/>
        </p:nvPicPr>
        <p:blipFill>
          <a:blip r:embed="rId5"/>
          <a:srcRect t="25377" b="25377"/>
          <a:stretch>
            <a:fillRect/>
          </a:stretch>
        </p:blipFill>
        <p:spPr>
          <a:xfrm>
            <a:off x="7406640" y="1801368"/>
            <a:ext cx="1865376" cy="141732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7434071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Schedule-driven robot inspections, from capture to published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IROS 2026 Workshop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46336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eel_100.jpg"/>
          <p:cNvPicPr>
            <a:picLocks noChangeAspect="1"/>
          </p:cNvPicPr>
          <p:nvPr/>
        </p:nvPicPr>
        <p:blipFill>
          <a:blip r:embed="rId6"/>
          <a:srcRect l="12984" r="12984"/>
          <a:stretch>
            <a:fillRect/>
          </a:stretch>
        </p:blipFill>
        <p:spPr>
          <a:xfrm>
            <a:off x="9656063" y="1801368"/>
            <a:ext cx="1865376" cy="1417320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9683496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5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Logistics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01784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Three robots and five people fill delivery orders together.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· FR3 arm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 Ports × NYUAD event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Robotic Platforms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PLATFORMS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 · SiteScope · Logistics (backup)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multi.jpg"/>
          <p:cNvPicPr>
            <a:picLocks noChangeAspect="1"/>
          </p:cNvPicPr>
          <p:nvPr/>
        </p:nvPicPr>
        <p:blipFill>
          <a:blip r:embed="rId2"/>
          <a:srcRect t="17672" b="17672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Multi-Agent Robotic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Multiagent robotic systems and exploration algorithms: Applications for data collection in construction sites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Journal of Field Robotics, 41(4), 1187–1203 · 2024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doi:10.1002/rob.22316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N. Giakoumidis,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mul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Media/Videos/Multi-agent_robotic_system__An_example_for_data_collection(1080p).mp4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paca.jpg"/>
          <p:cNvPicPr>
            <a:picLocks noChangeAspect="1"/>
          </p:cNvPicPr>
          <p:nvPr/>
        </p:nvPicPr>
        <p:blipFill>
          <a:blip r:embed="rId2"/>
          <a:srcRect t="2833" b="2833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PACA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PACA: A Personal Autonomous Construction Assistant to facilitate human-robot interaction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4th Workshop on the Future of Construction, IEEE ICRA 2025 · Atlanta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construction-robots.github.io/papers/112.pdf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multilingual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wireless audio receiver captures the speech.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Wireless audio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pac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Media/Videos/PACA__The_Personal_Autonomous_Construction_Assistant_🏗️🤖(1080p).mp4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lis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LISA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 · 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Enhancing human-machine interaction with on-device large language models in construction robotics: A case study on safety applications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Creative Construction Conference 2025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doi:10.22260/CCC2025/0041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Self-hosted multimodal large language models for speech-driven perception and navigation in construction robotics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Automation in Construction, 183, 106805 ·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doi:10.1016/j.autcon.2026.106805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M. A. Gopee,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lis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Media/Videos/LISA__Local_Intelligent_Safety_Assistant_🤖🤝👷🏽(1080p).mp4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site.jpg"/>
          <p:cNvPicPr>
            <a:picLocks noChangeAspect="1"/>
          </p:cNvPicPr>
          <p:nvPr/>
        </p:nvPicPr>
        <p:blipFill>
          <a:blip r:embed="rId2"/>
          <a:srcRect t="639" b="639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SiteScope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SiteScope: An end-to-end schedule-driven robotic workflow for construction progress monitoring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IROS 2026 Workshop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construction-robots.github.io/papers/iros2026_5.pdf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A. T. Mengiste,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Progress documentation is manual: prepare a camera, walk the site, capture, transfer, upload, write it up.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Repeated inspections are hard to keep consistent and use skilled people's time.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Existing tools automate one step, not the chain from schedule to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recurring schedule sends the Go2-W to each capture point. It captures 360° images, uploads them with full provenance, and SiteScope stores, analyses and helps people publish the report.</a:t>
            </a:r>
          </a:p>
        </p:txBody>
      </p:sp>
      <p:pic>
        <p:nvPicPr>
          <p:cNvPr id="13" name="Picture 12" descr="ss_75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 time per inspection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time, vs 10 min 20 s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ig2_2x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443447"/>
            <a:ext cx="10817352" cy="4519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Schedule-to-report workflow: one-time setup, recurring manual vs. robotic execution, and the shared review-and-report subprocess C1 (Fig. 2 in [5])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Mission Loop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12s-mission-loop-summar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766848"/>
            <a:ext cx="10908792" cy="3872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What R2 does on every scheduled run, drawn from the SiteScope code. Full detail (cancel, stop, watchdog, failure paths): Media/BPMN/SiteScope, diagrams 11 and 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and Platform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6377"/>
            <a:ext cx="4023360" cy="2102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Go2-W sensing payload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Insta360 X4: 72 MP 360° photos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Livox MID-360 LiDAR for navigation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Jetson Orin NX + ROS 2 / Nav2</a:t>
            </a:r>
          </a:p>
        </p:txBody>
      </p:sp>
      <p:pic>
        <p:nvPicPr>
          <p:cNvPr id="8" name="Picture 7" descr="ss_42.jpg"/>
          <p:cNvPicPr>
            <a:picLocks noChangeAspect="1"/>
          </p:cNvPicPr>
          <p:nvPr/>
        </p:nvPicPr>
        <p:blipFill>
          <a:blip r:embed="rId3"/>
          <a:srcRect l="94" r="94"/>
          <a:stretch>
            <a:fillRect/>
          </a:stretch>
        </p:blipFill>
        <p:spPr>
          <a:xfrm>
            <a:off x="5029200" y="1325880"/>
            <a:ext cx="2157984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0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Schedule it once</a:t>
            </a:r>
          </a:p>
        </p:txBody>
      </p:sp>
      <p:pic>
        <p:nvPicPr>
          <p:cNvPr id="10" name="Picture 9" descr="ss_96.jpg"/>
          <p:cNvPicPr>
            <a:picLocks noChangeAspect="1"/>
          </p:cNvPicPr>
          <p:nvPr/>
        </p:nvPicPr>
        <p:blipFill>
          <a:blip r:embed="rId4"/>
          <a:srcRect l="94" r="94"/>
          <a:stretch>
            <a:fillRect/>
          </a:stretch>
        </p:blipFill>
        <p:spPr>
          <a:xfrm>
            <a:off x="7251192" y="1325880"/>
            <a:ext cx="2157984" cy="1216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1192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Every capture checked on board</a:t>
            </a:r>
          </a:p>
        </p:txBody>
      </p:sp>
      <p:pic>
        <p:nvPicPr>
          <p:cNvPr id="12" name="Picture 11" descr="ss_135.jpg"/>
          <p:cNvPicPr>
            <a:picLocks noChangeAspect="1"/>
          </p:cNvPicPr>
          <p:nvPr/>
        </p:nvPicPr>
        <p:blipFill>
          <a:blip r:embed="rId5"/>
          <a:srcRect l="94" r="94"/>
          <a:stretch>
            <a:fillRect/>
          </a:stretch>
        </p:blipFill>
        <p:spPr>
          <a:xfrm>
            <a:off x="9473184" y="1325880"/>
            <a:ext cx="2157984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73184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Auto-Describe: scene, quality, safety</a:t>
            </a:r>
          </a:p>
        </p:txBody>
      </p:sp>
      <p:pic>
        <p:nvPicPr>
          <p:cNvPr id="14" name="Picture 13" descr="ss_144.jpg"/>
          <p:cNvPicPr>
            <a:picLocks noChangeAspect="1"/>
          </p:cNvPicPr>
          <p:nvPr/>
        </p:nvPicPr>
        <p:blipFill>
          <a:blip r:embed="rId6"/>
          <a:srcRect l="94" r="94"/>
          <a:stretch>
            <a:fillRect/>
          </a:stretch>
        </p:blipFill>
        <p:spPr>
          <a:xfrm>
            <a:off x="5029200" y="3182112"/>
            <a:ext cx="2157984" cy="1216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Pin what matters</a:t>
            </a:r>
          </a:p>
        </p:txBody>
      </p:sp>
      <p:pic>
        <p:nvPicPr>
          <p:cNvPr id="16" name="Picture 15" descr="ss_150.jpg"/>
          <p:cNvPicPr>
            <a:picLocks noChangeAspect="1"/>
          </p:cNvPicPr>
          <p:nvPr/>
        </p:nvPicPr>
        <p:blipFill>
          <a:blip r:embed="rId7"/>
          <a:srcRect l="94" r="94"/>
          <a:stretch>
            <a:fillRect/>
          </a:stretch>
        </p:blipFill>
        <p:spPr>
          <a:xfrm>
            <a:off x="7251192" y="3182112"/>
            <a:ext cx="2157984" cy="12161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51192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Same room, two dates</a:t>
            </a:r>
          </a:p>
        </p:txBody>
      </p:sp>
      <p:pic>
        <p:nvPicPr>
          <p:cNvPr id="18" name="Picture 17" descr="ss_177.jpg"/>
          <p:cNvPicPr>
            <a:picLocks noChangeAspect="1"/>
          </p:cNvPicPr>
          <p:nvPr/>
        </p:nvPicPr>
        <p:blipFill>
          <a:blip r:embed="rId8"/>
          <a:srcRect l="94" r="94"/>
          <a:stretch>
            <a:fillRect/>
          </a:stretch>
        </p:blipFill>
        <p:spPr>
          <a:xfrm>
            <a:off x="9473184" y="3182112"/>
            <a:ext cx="2157984" cy="1216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73184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One PDF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5074920"/>
            <a:ext cx="6611112" cy="11887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257800" y="5138928"/>
            <a:ext cx="62179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Provenance: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every asset is stored with its project, location, date, mission, waypoint, sensor and robot pose.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Experiment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06" y="1417320"/>
            <a:ext cx="4626386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Navigation map with home pose H and capture points CP1–CP4 [5]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25880"/>
            <a:ext cx="21945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sp_sc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31271"/>
            <a:ext cx="2011680" cy="304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29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Recurring schedule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53312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inspection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645920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4 capture points → 4 × 360° images + 1 PDF report per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0" y="252374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0545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5 paired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98063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10 runs, alternating Manual → Robot and Robot → Manual.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675887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57599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50207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Route, camera settings (72 MP, HDR off), user, internet, report template.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828031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809744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One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102351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Manual camera on a 1.25 m pole; robot camera fixed at 0.67 m.</a:t>
            </a:r>
          </a:p>
        </p:txBody>
      </p:sp>
      <p:sp>
        <p:nvSpPr>
          <p:cNvPr id="2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583680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60920" y="1325880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43800" y="1417320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92807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end-to-end: 10:20 → 7:25 per inspection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2450592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2542032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−99.1%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3017520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 until images are in SiteScope: 9:28 → 0:05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575304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43800" y="3666744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 /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42232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 missions completed; 20 / 20 images, 0 retries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Trade-off: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one-time robot setup takes 15:31 (payload, map and home pose, pairing, capture points, schedule) vs 4:47 to plan the manual route. With 9:23 of human time saved per inspection, the extra 10:44 is recovered over the following recurring inspections (our estimate from Tables I–II).</a:t>
            </a:r>
          </a:p>
        </p:txBody>
      </p:sp>
      <p:sp>
        <p:nvSpPr>
          <p:cNvPr id="17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(construction-robots.github.io/papers/iros2026_5.pdf)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Captured Evidence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Manual (camera at 1.25 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Scheduled robot (camera at 0.67 m)</a:t>
            </a:r>
          </a:p>
        </p:txBody>
      </p:sp>
      <p:pic>
        <p:nvPicPr>
          <p:cNvPr id="6" name="Picture 5" descr="iros_man_CP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37360"/>
            <a:ext cx="3931920" cy="1965960"/>
          </a:xfrm>
          <a:prstGeom prst="rect">
            <a:avLst/>
          </a:prstGeom>
        </p:spPr>
      </p:pic>
      <p:pic>
        <p:nvPicPr>
          <p:cNvPr id="7" name="Picture 6" descr="iros_rob_CP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17720" y="1737360"/>
            <a:ext cx="3931920" cy="19659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CP1</a:t>
            </a:r>
          </a:p>
        </p:txBody>
      </p:sp>
      <p:pic>
        <p:nvPicPr>
          <p:cNvPr id="9" name="Picture 8" descr="iros_man_CP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8640" y="3931920"/>
            <a:ext cx="3931920" cy="1965960"/>
          </a:xfrm>
          <a:prstGeom prst="rect">
            <a:avLst/>
          </a:prstGeom>
        </p:spPr>
      </p:pic>
      <p:pic>
        <p:nvPicPr>
          <p:cNvPr id="10" name="Picture 9" descr="iros_rob_CP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17720" y="3931920"/>
            <a:ext cx="3931920" cy="19659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25880"/>
            <a:ext cx="28620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port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625868"/>
            <a:ext cx="2679192" cy="37891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Run 1 panoramas from the experimental package [6]; right: the PDF observation report SiteScope generated from the robot's CP1 image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si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Media/Videos/sitescope_v23_share.mp4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a scheduled inspection from robot capture to published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reel.jpg"/>
          <p:cNvPicPr>
            <a:picLocks noChangeAspect="1"/>
          </p:cNvPicPr>
          <p:nvPr/>
        </p:nvPicPr>
        <p:blipFill>
          <a:blip r:embed="rId2"/>
          <a:srcRect t="17718" b="17718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LAB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Robot Logistics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· Franka FR3 · Go2-W (backup)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Robotic Awareness Event, Edition 2: Multi-Robot Collaborative Operations Challenge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AD Ports × NYUAD · S.M.A.R.T. Lab with the REACH Lab · October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Technical report, 9 October 2026 · not a publication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B. García de Soto, S. A. Prieto, F. Abu-Dakka (PIs); A. T. Mengiste (lead software); A. Chasmawala, A. Sunesh, O. Mostafa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8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people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5984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1325880"/>
            <a:ext cx="1335024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88167" y="1417320"/>
            <a:ext cx="969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1892807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14600"/>
            <a:ext cx="4279392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People and robots work as one team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to complete delivery orders across five stations in the lab.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SUMMIT-XL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carries each order between stations.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Spot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fetches from storage and reads QR codes.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Franka FR3 arm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(REACH Lab) transfers packages.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Tasks worth 3, 6 or 12 points need one, two or three colour-coded packages;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operators P1–P5 staff the stations, and judges score what reaches the delivery station. A Unitree Go2-W was prepared as a backup for the SUMMIT-XL, with the same voice control: commands that need interpretation also go to the LLM.</a:t>
            </a:r>
          </a:p>
        </p:txBody>
      </p:sp>
      <p:sp>
        <p:nvSpPr>
          <p:cNvPr id="16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Order Workflow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1325880"/>
            <a:ext cx="2212848" cy="502920"/>
          </a:xfrm>
          <a:prstGeom prst="homePlat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1  Order</a:t>
            </a:r>
          </a:p>
        </p:txBody>
      </p:sp>
      <p:pic>
        <p:nvPicPr>
          <p:cNvPr id="6" name="Picture 5" descr="reel_84.jpg"/>
          <p:cNvPicPr>
            <a:picLocks noChangeAspect="1"/>
          </p:cNvPicPr>
          <p:nvPr/>
        </p:nvPicPr>
        <p:blipFill>
          <a:blip r:embed="rId2"/>
          <a:srcRect l="27694" r="27694"/>
          <a:stretch>
            <a:fillRect/>
          </a:stretch>
        </p:blipFill>
        <p:spPr>
          <a:xfrm>
            <a:off x="548640" y="2011680"/>
            <a:ext cx="210312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P1 picks a task (one to three packages) and gets its QR task card. Card and clicker go on SUMMIT-XL's tray.</a:t>
            </a:r>
          </a:p>
        </p:txBody>
      </p:sp>
      <p:sp>
        <p:nvSpPr>
          <p:cNvPr id="8" name="Chevron 7"/>
          <p:cNvSpPr/>
          <p:nvPr/>
        </p:nvSpPr>
        <p:spPr>
          <a:xfrm>
            <a:off x="2795320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9640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2  Handoff</a:t>
            </a:r>
          </a:p>
        </p:txBody>
      </p:sp>
      <p:pic>
        <p:nvPicPr>
          <p:cNvPr id="10" name="Picture 9" descr="reel_100.jpg"/>
          <p:cNvPicPr>
            <a:picLocks noChangeAspect="1"/>
          </p:cNvPicPr>
          <p:nvPr/>
        </p:nvPicPr>
        <p:blipFill>
          <a:blip r:embed="rId3"/>
          <a:srcRect l="27694" r="27694"/>
          <a:stretch>
            <a:fillRect/>
          </a:stretch>
        </p:blipFill>
        <p:spPr>
          <a:xfrm>
            <a:off x="2795320" y="2011680"/>
            <a:ext cx="210312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95320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drives to the handoff. Spot tilts up, reads the card, stores the package codes and walks to storage by itself.</a:t>
            </a:r>
          </a:p>
        </p:txBody>
      </p:sp>
      <p:sp>
        <p:nvSpPr>
          <p:cNvPr id="12" name="Chevron 11"/>
          <p:cNvSpPr/>
          <p:nvPr/>
        </p:nvSpPr>
        <p:spPr>
          <a:xfrm>
            <a:off x="5042001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6321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3  Storage</a:t>
            </a:r>
          </a:p>
        </p:txBody>
      </p:sp>
      <p:pic>
        <p:nvPicPr>
          <p:cNvPr id="14" name="Picture 13" descr="reel_108.jpg"/>
          <p:cNvPicPr>
            <a:picLocks noChangeAspect="1"/>
          </p:cNvPicPr>
          <p:nvPr/>
        </p:nvPicPr>
        <p:blipFill>
          <a:blip r:embed="rId4"/>
          <a:srcRect l="27694" r="27694"/>
          <a:stretch>
            <a:fillRect/>
          </a:stretch>
        </p:blipFill>
        <p:spPr>
          <a:xfrm>
            <a:off x="5042001" y="2011680"/>
            <a:ext cx="210312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42001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P3 shows each box label. Spot says "QR code matched", the box is loaded, and P3 sends Spot to the arm.</a:t>
            </a:r>
          </a:p>
        </p:txBody>
      </p:sp>
      <p:sp>
        <p:nvSpPr>
          <p:cNvPr id="16" name="Chevron 15"/>
          <p:cNvSpPr/>
          <p:nvPr/>
        </p:nvSpPr>
        <p:spPr>
          <a:xfrm>
            <a:off x="7288682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3002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4  Arm transfer</a:t>
            </a:r>
          </a:p>
        </p:txBody>
      </p:sp>
      <p:pic>
        <p:nvPicPr>
          <p:cNvPr id="18" name="Picture 17" descr="reel_192.jpg"/>
          <p:cNvPicPr>
            <a:picLocks noChangeAspect="1"/>
          </p:cNvPicPr>
          <p:nvPr/>
        </p:nvPicPr>
        <p:blipFill>
          <a:blip r:embed="rId5"/>
          <a:srcRect l="27694" r="27694"/>
          <a:stretch>
            <a:fillRect/>
          </a:stretch>
        </p:blipFill>
        <p:spPr>
          <a:xfrm>
            <a:off x="7288682" y="2011680"/>
            <a:ext cx="2103120" cy="265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8682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P4 runs the FR3 arm to move the box from Spot to SUMMIT-XL. Spot repeats for each package.</a:t>
            </a:r>
          </a:p>
        </p:txBody>
      </p:sp>
      <p:sp>
        <p:nvSpPr>
          <p:cNvPr id="20" name="Chevron 19"/>
          <p:cNvSpPr/>
          <p:nvPr/>
        </p:nvSpPr>
        <p:spPr>
          <a:xfrm>
            <a:off x="9535363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9683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5  Delivery</a:t>
            </a:r>
          </a:p>
        </p:txBody>
      </p:sp>
      <p:pic>
        <p:nvPicPr>
          <p:cNvPr id="22" name="Picture 21" descr="reel_216.jpg"/>
          <p:cNvPicPr>
            <a:picLocks noChangeAspect="1"/>
          </p:cNvPicPr>
          <p:nvPr/>
        </p:nvPicPr>
        <p:blipFill>
          <a:blip r:embed="rId6"/>
          <a:srcRect l="27694" r="27694"/>
          <a:stretch>
            <a:fillRect/>
          </a:stretch>
        </p:blipFill>
        <p:spPr>
          <a:xfrm>
            <a:off x="9535363" y="2011680"/>
            <a:ext cx="2103120" cy="2651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35363" y="47548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P4 sends SUMMIT-XL to delivery. P5 places the packages in their brackets for the judges.</a:t>
            </a:r>
          </a:p>
        </p:txBody>
      </p:sp>
      <p:sp>
        <p:nvSpPr>
          <p:cNvPr id="24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Stills from the Robot Logistics Challenge video. 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How It Works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4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pic>
        <p:nvPicPr>
          <p:cNvPr id="5" name="Picture 4" descr="reel_6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36118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840" y="1371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SUMMIT-XL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1F24"/>
                </a:solidFill>
                <a:latin typeface="Montserrat"/>
              </a:rPr>
              <a:t>Clicker + wireless mic → Whisper large-v3 on the laptop GPU (0.16–0.47 s) → the matcher needs exactly one of four stations; if unclear, a local LLM (gpt-oss:20b) decides, else "Not a valid command" → 5 s hold to put the clicker back → the ROS container sends the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657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Spot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1F24"/>
                </a:solidFill>
                <a:latin typeface="Montserrat"/>
              </a:rPr>
              <a:t>Same clicker and mic; Whisper runs offline on an Intel NUC and a parser needs exactly one waypoint on Spot's map (no LLM). At handoff and storage Spot tilts up and reads QR codes with its front cameras.</a:t>
            </a:r>
          </a:p>
        </p:txBody>
      </p:sp>
      <p:pic>
        <p:nvPicPr>
          <p:cNvPr id="8" name="Picture 7" descr="reel_152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982712" y="1325880"/>
            <a:ext cx="365760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82712" y="347472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Arm: learning from demonstration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Setup → Teach (guide the arm by hand) → Validate → Run. A wrist RGB-D camera finds the package; the taught motions adapt to where it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712" y="4754880"/>
            <a:ext cx="3657600" cy="14630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4818888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Overseer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Clicks are ignored while a robot moves. A control panel sends or cancels a held goal; the space bar cancels any move. Each robot's own e-stop stays the safety device.</a:t>
            </a:r>
          </a:p>
        </p:txBody>
      </p:sp>
      <p:sp>
        <p:nvSpPr>
          <p:cNvPr id="1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Sources: Robotic Awareness Event Edition 2 technical report (AD Ports × NYUAD, 9 Oct 2026); Edition 2: How Each Robot Works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re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Media/Videos/reel_v7_3 (1).mp4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one order from start to finish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1304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63600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SiteScope: An end-to-end schedule-driven robotic workflow for construction progress monitoring. IROS 2026 Workshop.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https://construction-robots.github.io/papers/iros2026_5.pdf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589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IROS Workshop experimental package for SiteScope. New York University Abu Dhabi.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https://github.com/SMART-NYUAD/sitescope-iros-evaluation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
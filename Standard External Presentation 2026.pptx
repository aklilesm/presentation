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7" r:id="rId2"/>
    <p:sldId id="260" r:id="rId3"/>
    <p:sldId id="262" r:id="rId4"/>
    <p:sldId id="263" r:id="rId5"/>
    <p:sldId id="264" r:id="rId6"/>
    <p:sldId id="316" r:id="rId7"/>
    <p:sldId id="256" r:id="rId8"/>
    <p:sldId id="309" r:id="rId9"/>
    <p:sldId id="258" r:id="rId10"/>
    <p:sldId id="267" r:id="rId11"/>
    <p:sldId id="269" r:id="rId12"/>
    <p:sldId id="270" r:id="rId13"/>
    <p:sldId id="271" r:id="rId14"/>
    <p:sldId id="310" r:id="rId15"/>
    <p:sldId id="273" r:id="rId16"/>
    <p:sldId id="274" r:id="rId17"/>
    <p:sldId id="275" r:id="rId18"/>
    <p:sldId id="276" r:id="rId19"/>
    <p:sldId id="277" r:id="rId20"/>
    <p:sldId id="311" r:id="rId21"/>
    <p:sldId id="279" r:id="rId22"/>
    <p:sldId id="312" r:id="rId23"/>
    <p:sldId id="282" r:id="rId24"/>
    <p:sldId id="299" r:id="rId25"/>
    <p:sldId id="300" r:id="rId26"/>
    <p:sldId id="313" r:id="rId27"/>
    <p:sldId id="302" r:id="rId28"/>
    <p:sldId id="314" r:id="rId29"/>
    <p:sldId id="304" r:id="rId30"/>
    <p:sldId id="305" r:id="rId31"/>
    <p:sldId id="306" r:id="rId32"/>
    <p:sldId id="307" r:id="rId33"/>
  </p:sldIdLst>
  <p:sldSz cx="12192000" cy="68580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Light" panose="00000400000000000000" pitchFamily="2" charset="0"/>
      <p:regular r:id="rId39"/>
      <p:italic r:id="rId40"/>
    </p:embeddedFont>
    <p:embeddedFont>
      <p:font typeface="Montserrat Medium" panose="00000600000000000000" pitchFamily="2" charset="0"/>
      <p:regular r:id="rId41"/>
      <p:italic r:id="rId42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C29"/>
    <a:srgbClr val="282828"/>
    <a:srgbClr val="1A2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1" autoAdjust="0"/>
    <p:restoredTop sz="94668" autoAdjust="0"/>
  </p:normalViewPr>
  <p:slideViewPr>
    <p:cSldViewPr snapToGrid="0" showGuides="1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12E3D-D5E8-4289-BF58-E13AD8E68C2A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C24FA-C163-4AD1-A539-A7EB13D21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1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C24FA-C163-4AD1-A539-A7EB13D214C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14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13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2B7198-A4A3-4860-9D39-F84D7B3C2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8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CD6642-189D-0C15-C5BB-5737769C13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5282" y="0"/>
            <a:ext cx="3569110" cy="6858000"/>
          </a:xfrm>
          <a:custGeom>
            <a:avLst/>
            <a:gdLst>
              <a:gd name="connsiteX0" fmla="*/ 0 w 3569110"/>
              <a:gd name="connsiteY0" fmla="*/ 0 h 6858000"/>
              <a:gd name="connsiteX1" fmla="*/ 3569110 w 3569110"/>
              <a:gd name="connsiteY1" fmla="*/ 0 h 6858000"/>
              <a:gd name="connsiteX2" fmla="*/ 3569110 w 3569110"/>
              <a:gd name="connsiteY2" fmla="*/ 6858000 h 6858000"/>
              <a:gd name="connsiteX3" fmla="*/ 0 w 35691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9110" h="6858000">
                <a:moveTo>
                  <a:pt x="0" y="0"/>
                </a:moveTo>
                <a:lnTo>
                  <a:pt x="3569110" y="0"/>
                </a:lnTo>
                <a:lnTo>
                  <a:pt x="35691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1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AAE2F7B9-BFBB-4FB2-A6FC-2053D7F1A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350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71DF27BB-AFA8-48A2-9FDA-158B84995F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726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A86930AD-A4AF-45B4-943A-0C44C3A73B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945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35A2BA7-C589-4CB6-AB8C-BB578F067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00948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D53B7A1-0718-4E9C-BF19-CEE2D1387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5350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E3B75DF0-0FE5-4F56-BF6E-A12CF1F6FB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726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7B8A6963-7D8D-45D7-B820-46B337D694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945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2F11556F-66DF-410F-B1C6-030171BCC5E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00948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484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4E4F43-2327-1F0A-78CE-226FC7F609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3182654"/>
          </a:xfrm>
          <a:custGeom>
            <a:avLst/>
            <a:gdLst>
              <a:gd name="connsiteX0" fmla="*/ 0 w 12191998"/>
              <a:gd name="connsiteY0" fmla="*/ 0 h 3182654"/>
              <a:gd name="connsiteX1" fmla="*/ 12191998 w 12191998"/>
              <a:gd name="connsiteY1" fmla="*/ 0 h 3182654"/>
              <a:gd name="connsiteX2" fmla="*/ 12191998 w 12191998"/>
              <a:gd name="connsiteY2" fmla="*/ 2017357 h 3182654"/>
              <a:gd name="connsiteX3" fmla="*/ 6096001 w 12191998"/>
              <a:gd name="connsiteY3" fmla="*/ 3182654 h 3182654"/>
              <a:gd name="connsiteX4" fmla="*/ 0 w 12191998"/>
              <a:gd name="connsiteY4" fmla="*/ 2017357 h 318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3182654">
                <a:moveTo>
                  <a:pt x="0" y="0"/>
                </a:moveTo>
                <a:lnTo>
                  <a:pt x="12191998" y="0"/>
                </a:lnTo>
                <a:lnTo>
                  <a:pt x="12191998" y="2017357"/>
                </a:lnTo>
                <a:lnTo>
                  <a:pt x="6096001" y="3182654"/>
                </a:lnTo>
                <a:lnTo>
                  <a:pt x="0" y="201735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529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wwr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B0F3A3-F859-4178-9628-AAD7ED63BA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960670" cy="6858000"/>
          </a:xfrm>
          <a:prstGeom prst="rect">
            <a:avLst/>
          </a:prstGeom>
        </p:spPr>
        <p:txBody>
          <a:bodyPr/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3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5643B10-764A-42B4-A85B-2E110BA18C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30318"/>
            <a:ext cx="6096000" cy="5827682"/>
          </a:xfrm>
          <a:custGeom>
            <a:avLst/>
            <a:gdLst>
              <a:gd name="connsiteX0" fmla="*/ 0 w 10832122"/>
              <a:gd name="connsiteY0" fmla="*/ 0 h 9324291"/>
              <a:gd name="connsiteX1" fmla="*/ 10832122 w 10832122"/>
              <a:gd name="connsiteY1" fmla="*/ 0 h 9324291"/>
              <a:gd name="connsiteX2" fmla="*/ 10832122 w 10832122"/>
              <a:gd name="connsiteY2" fmla="*/ 9324291 h 9324291"/>
              <a:gd name="connsiteX3" fmla="*/ 0 w 10832122"/>
              <a:gd name="connsiteY3" fmla="*/ 9324291 h 932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2122" h="9324291">
                <a:moveTo>
                  <a:pt x="0" y="0"/>
                </a:moveTo>
                <a:lnTo>
                  <a:pt x="10832122" y="0"/>
                </a:lnTo>
                <a:lnTo>
                  <a:pt x="10832122" y="9324291"/>
                </a:lnTo>
                <a:lnTo>
                  <a:pt x="0" y="932429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8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52AB4-AA04-892B-7FD0-742D303D4E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03900" y="0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BBAE86-B830-D0A2-5D3F-AB6CFD9E5C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35261" y="1905001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7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420CF5-980C-43E3-9644-6E25F95C7282}"/>
              </a:ext>
            </a:extLst>
          </p:cNvPr>
          <p:cNvSpPr/>
          <p:nvPr userDrawn="1"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7923D0C-6220-4370-9F98-13988C29B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7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2247A0-311F-E038-BEF2-682E0E52A2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2844" y="2647465"/>
            <a:ext cx="872856" cy="1327573"/>
          </a:xfrm>
          <a:custGeom>
            <a:avLst/>
            <a:gdLst>
              <a:gd name="connsiteX0" fmla="*/ 845948 w 872856"/>
              <a:gd name="connsiteY0" fmla="*/ 0 h 1327573"/>
              <a:gd name="connsiteX1" fmla="*/ 840458 w 872856"/>
              <a:gd name="connsiteY1" fmla="*/ 31471 h 1327573"/>
              <a:gd name="connsiteX2" fmla="*/ 830125 w 872856"/>
              <a:gd name="connsiteY2" fmla="*/ 682619 h 1327573"/>
              <a:gd name="connsiteX3" fmla="*/ 864406 w 872856"/>
              <a:gd name="connsiteY3" fmla="*/ 1267502 h 1327573"/>
              <a:gd name="connsiteX4" fmla="*/ 872856 w 872856"/>
              <a:gd name="connsiteY4" fmla="*/ 1327573 h 1327573"/>
              <a:gd name="connsiteX5" fmla="*/ 778796 w 872856"/>
              <a:gd name="connsiteY5" fmla="*/ 1289320 h 1327573"/>
              <a:gd name="connsiteX6" fmla="*/ 496468 w 872856"/>
              <a:gd name="connsiteY6" fmla="*/ 1126585 h 1327573"/>
              <a:gd name="connsiteX7" fmla="*/ 176914 w 872856"/>
              <a:gd name="connsiteY7" fmla="*/ 744264 h 1327573"/>
              <a:gd name="connsiteX8" fmla="*/ 2979 w 872856"/>
              <a:gd name="connsiteY8" fmla="*/ 253191 h 1327573"/>
              <a:gd name="connsiteX9" fmla="*/ 17225 w 872856"/>
              <a:gd name="connsiteY9" fmla="*/ 214084 h 1327573"/>
              <a:gd name="connsiteX10" fmla="*/ 314609 w 872856"/>
              <a:gd name="connsiteY10" fmla="*/ 62989 h 1327573"/>
              <a:gd name="connsiteX11" fmla="*/ 715750 w 872856"/>
              <a:gd name="connsiteY11" fmla="*/ 6139 h 132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2856" h="1327573">
                <a:moveTo>
                  <a:pt x="845948" y="0"/>
                </a:moveTo>
                <a:lnTo>
                  <a:pt x="840458" y="31471"/>
                </a:lnTo>
                <a:cubicBezTo>
                  <a:pt x="827391" y="139040"/>
                  <a:pt x="822690" y="390208"/>
                  <a:pt x="830125" y="682619"/>
                </a:cubicBezTo>
                <a:cubicBezTo>
                  <a:pt x="836320" y="926294"/>
                  <a:pt x="849477" y="1140938"/>
                  <a:pt x="864406" y="1267502"/>
                </a:cubicBezTo>
                <a:lnTo>
                  <a:pt x="872856" y="1327573"/>
                </a:lnTo>
                <a:lnTo>
                  <a:pt x="778796" y="1289320"/>
                </a:lnTo>
                <a:cubicBezTo>
                  <a:pt x="680348" y="1247686"/>
                  <a:pt x="584069" y="1199746"/>
                  <a:pt x="496468" y="1126585"/>
                </a:cubicBezTo>
                <a:cubicBezTo>
                  <a:pt x="379665" y="1029036"/>
                  <a:pt x="259162" y="889830"/>
                  <a:pt x="176914" y="744264"/>
                </a:cubicBezTo>
                <a:cubicBezTo>
                  <a:pt x="94666" y="598699"/>
                  <a:pt x="-19970" y="366737"/>
                  <a:pt x="2979" y="253191"/>
                </a:cubicBezTo>
                <a:cubicBezTo>
                  <a:pt x="5848" y="238998"/>
                  <a:pt x="10685" y="226016"/>
                  <a:pt x="17225" y="214084"/>
                </a:cubicBezTo>
                <a:cubicBezTo>
                  <a:pt x="63006" y="130562"/>
                  <a:pt x="192283" y="98522"/>
                  <a:pt x="314609" y="62989"/>
                </a:cubicBezTo>
                <a:cubicBezTo>
                  <a:pt x="419460" y="32532"/>
                  <a:pt x="566881" y="15474"/>
                  <a:pt x="715750" y="613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0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83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6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49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jpeg"/><Relationship Id="rId3" Type="http://schemas.openxmlformats.org/officeDocument/2006/relationships/image" Target="../media/image8.png"/><Relationship Id="rId7" Type="http://schemas.openxmlformats.org/officeDocument/2006/relationships/image" Target="../media/image10.jpeg"/><Relationship Id="rId12" Type="http://schemas.openxmlformats.org/officeDocument/2006/relationships/image" Target="../media/image16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7.jp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18" Type="http://schemas.openxmlformats.org/officeDocument/2006/relationships/image" Target="../media/image23.jpe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12" Type="http://schemas.openxmlformats.org/officeDocument/2006/relationships/image" Target="../media/image17.jpeg"/><Relationship Id="rId17" Type="http://schemas.openxmlformats.org/officeDocument/2006/relationships/image" Target="../media/image22.jpg"/><Relationship Id="rId2" Type="http://schemas.openxmlformats.org/officeDocument/2006/relationships/image" Target="../media/image9.png"/><Relationship Id="rId16" Type="http://schemas.openxmlformats.org/officeDocument/2006/relationships/image" Target="../media/image2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11" Type="http://schemas.openxmlformats.org/officeDocument/2006/relationships/image" Target="../media/image16.jpeg"/><Relationship Id="rId5" Type="http://schemas.openxmlformats.org/officeDocument/2006/relationships/image" Target="../media/image11.jpg"/><Relationship Id="rId15" Type="http://schemas.openxmlformats.org/officeDocument/2006/relationships/image" Target="../media/image20.jpeg"/><Relationship Id="rId10" Type="http://schemas.openxmlformats.org/officeDocument/2006/relationships/image" Target="../media/image15.png"/><Relationship Id="rId4" Type="http://schemas.openxmlformats.org/officeDocument/2006/relationships/image" Target="../media/image10.jpeg"/><Relationship Id="rId9" Type="http://schemas.openxmlformats.org/officeDocument/2006/relationships/image" Target="../media/image14.jpeg"/><Relationship Id="rId1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6.png"/><Relationship Id="rId18" Type="http://schemas.openxmlformats.org/officeDocument/2006/relationships/image" Target="../media/image23.jpe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5.png"/><Relationship Id="rId17" Type="http://schemas.openxmlformats.org/officeDocument/2006/relationships/image" Target="../media/image22.jpg"/><Relationship Id="rId2" Type="http://schemas.openxmlformats.org/officeDocument/2006/relationships/image" Target="../media/image7.jpg"/><Relationship Id="rId16" Type="http://schemas.openxmlformats.org/officeDocument/2006/relationships/image" Target="../media/image2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eg"/><Relationship Id="rId11" Type="http://schemas.openxmlformats.org/officeDocument/2006/relationships/image" Target="../media/image24.png"/><Relationship Id="rId5" Type="http://schemas.openxmlformats.org/officeDocument/2006/relationships/image" Target="../media/image13.jpeg"/><Relationship Id="rId15" Type="http://schemas.openxmlformats.org/officeDocument/2006/relationships/image" Target="../media/image20.jpeg"/><Relationship Id="rId10" Type="http://schemas.openxmlformats.org/officeDocument/2006/relationships/image" Target="../media/image18.png"/><Relationship Id="rId4" Type="http://schemas.openxmlformats.org/officeDocument/2006/relationships/image" Target="../media/image10.jpeg"/><Relationship Id="rId9" Type="http://schemas.openxmlformats.org/officeDocument/2006/relationships/image" Target="../media/image17.jpeg"/><Relationship Id="rId1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2.jpg"/><Relationship Id="rId5" Type="http://schemas.openxmlformats.org/officeDocument/2006/relationships/image" Target="../media/image27.jpeg"/><Relationship Id="rId10" Type="http://schemas.openxmlformats.org/officeDocument/2006/relationships/image" Target="../media/image21.jpeg"/><Relationship Id="rId4" Type="http://schemas.openxmlformats.org/officeDocument/2006/relationships/image" Target="../media/image26.png"/><Relationship Id="rId9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12" Type="http://schemas.openxmlformats.org/officeDocument/2006/relationships/image" Target="../media/image38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3" Type="http://schemas.openxmlformats.org/officeDocument/2006/relationships/image" Target="../media/image39.png"/><Relationship Id="rId7" Type="http://schemas.openxmlformats.org/officeDocument/2006/relationships/image" Target="../media/image30.png"/><Relationship Id="rId12" Type="http://schemas.openxmlformats.org/officeDocument/2006/relationships/image" Target="../media/image33.png"/><Relationship Id="rId17" Type="http://schemas.openxmlformats.org/officeDocument/2006/relationships/image" Target="../media/image43.png"/><Relationship Id="rId2" Type="http://schemas.openxmlformats.org/officeDocument/2006/relationships/image" Target="../media/image38.emf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41.png"/><Relationship Id="rId10" Type="http://schemas.openxmlformats.org/officeDocument/2006/relationships/image" Target="../media/image37.svg"/><Relationship Id="rId4" Type="http://schemas.openxmlformats.org/officeDocument/2006/relationships/image" Target="../media/image40.jpeg"/><Relationship Id="rId9" Type="http://schemas.openxmlformats.org/officeDocument/2006/relationships/image" Target="../media/image36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7.svg"/><Relationship Id="rId3" Type="http://schemas.openxmlformats.org/officeDocument/2006/relationships/image" Target="../media/image28.png"/><Relationship Id="rId7" Type="http://schemas.openxmlformats.org/officeDocument/2006/relationships/image" Target="../media/image43.png"/><Relationship Id="rId12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1.png"/><Relationship Id="rId5" Type="http://schemas.openxmlformats.org/officeDocument/2006/relationships/image" Target="../media/image41.png"/><Relationship Id="rId15" Type="http://schemas.openxmlformats.org/officeDocument/2006/relationships/image" Target="../media/image45.png"/><Relationship Id="rId10" Type="http://schemas.openxmlformats.org/officeDocument/2006/relationships/image" Target="../media/image40.jpeg"/><Relationship Id="rId4" Type="http://schemas.openxmlformats.org/officeDocument/2006/relationships/image" Target="../media/image3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6.jpg"/><Relationship Id="rId4" Type="http://schemas.openxmlformats.org/officeDocument/2006/relationships/image" Target="../media/image30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28.png"/><Relationship Id="rId7" Type="http://schemas.openxmlformats.org/officeDocument/2006/relationships/image" Target="../media/image45.png"/><Relationship Id="rId12" Type="http://schemas.openxmlformats.org/officeDocument/2006/relationships/image" Target="../media/image52.png"/><Relationship Id="rId17" Type="http://schemas.openxmlformats.org/officeDocument/2006/relationships/image" Target="../media/image57.jpeg"/><Relationship Id="rId2" Type="http://schemas.openxmlformats.org/officeDocument/2006/relationships/image" Target="../media/image47.jpe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11" Type="http://schemas.openxmlformats.org/officeDocument/2006/relationships/image" Target="../media/image51.png"/><Relationship Id="rId5" Type="http://schemas.openxmlformats.org/officeDocument/2006/relationships/image" Target="../media/image30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29.png"/><Relationship Id="rId9" Type="http://schemas.openxmlformats.org/officeDocument/2006/relationships/image" Target="../media/image49.png"/><Relationship Id="rId14" Type="http://schemas.openxmlformats.org/officeDocument/2006/relationships/image" Target="../media/image54.jpe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jpg"/><Relationship Id="rId18" Type="http://schemas.openxmlformats.org/officeDocument/2006/relationships/image" Target="../media/image62.svg"/><Relationship Id="rId26" Type="http://schemas.openxmlformats.org/officeDocument/2006/relationships/image" Target="../media/image70.svg"/><Relationship Id="rId21" Type="http://schemas.openxmlformats.org/officeDocument/2006/relationships/image" Target="../media/image65.png"/><Relationship Id="rId34" Type="http://schemas.openxmlformats.org/officeDocument/2006/relationships/image" Target="../media/image78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2" Type="http://schemas.openxmlformats.org/officeDocument/2006/relationships/image" Target="../media/image48.jpg"/><Relationship Id="rId16" Type="http://schemas.openxmlformats.org/officeDocument/2006/relationships/image" Target="../media/image60.svg"/><Relationship Id="rId20" Type="http://schemas.openxmlformats.org/officeDocument/2006/relationships/image" Target="../media/image64.sv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11" Type="http://schemas.openxmlformats.org/officeDocument/2006/relationships/image" Target="../media/image57.jpeg"/><Relationship Id="rId24" Type="http://schemas.openxmlformats.org/officeDocument/2006/relationships/image" Target="../media/image68.svg"/><Relationship Id="rId32" Type="http://schemas.openxmlformats.org/officeDocument/2006/relationships/image" Target="../media/image76.png"/><Relationship Id="rId37" Type="http://schemas.openxmlformats.org/officeDocument/2006/relationships/image" Target="../media/image37.svg"/><Relationship Id="rId5" Type="http://schemas.openxmlformats.org/officeDocument/2006/relationships/image" Target="../media/image51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svg"/><Relationship Id="rId36" Type="http://schemas.openxmlformats.org/officeDocument/2006/relationships/image" Target="../media/image36.png"/><Relationship Id="rId10" Type="http://schemas.openxmlformats.org/officeDocument/2006/relationships/image" Target="../media/image56.png"/><Relationship Id="rId19" Type="http://schemas.openxmlformats.org/officeDocument/2006/relationships/image" Target="../media/image63.png"/><Relationship Id="rId31" Type="http://schemas.openxmlformats.org/officeDocument/2006/relationships/image" Target="../media/image7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28.png"/><Relationship Id="rId22" Type="http://schemas.openxmlformats.org/officeDocument/2006/relationships/image" Target="../media/image66.sv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8" Type="http://schemas.openxmlformats.org/officeDocument/2006/relationships/image" Target="../media/image54.jpeg"/><Relationship Id="rId3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svg"/><Relationship Id="rId18" Type="http://schemas.openxmlformats.org/officeDocument/2006/relationships/image" Target="../media/image75.png"/><Relationship Id="rId26" Type="http://schemas.openxmlformats.org/officeDocument/2006/relationships/image" Target="../media/image49.png"/><Relationship Id="rId3" Type="http://schemas.openxmlformats.org/officeDocument/2006/relationships/image" Target="../media/image60.svg"/><Relationship Id="rId21" Type="http://schemas.openxmlformats.org/officeDocument/2006/relationships/image" Target="../media/image78.png"/><Relationship Id="rId34" Type="http://schemas.openxmlformats.org/officeDocument/2006/relationships/image" Target="../media/image57.jpeg"/><Relationship Id="rId7" Type="http://schemas.openxmlformats.org/officeDocument/2006/relationships/image" Target="../media/image64.sv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48.jpg"/><Relationship Id="rId33" Type="http://schemas.openxmlformats.org/officeDocument/2006/relationships/image" Target="../media/image56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24" Type="http://schemas.openxmlformats.org/officeDocument/2006/relationships/image" Target="../media/image37.svg"/><Relationship Id="rId32" Type="http://schemas.openxmlformats.org/officeDocument/2006/relationships/image" Target="../media/image55.png"/><Relationship Id="rId5" Type="http://schemas.openxmlformats.org/officeDocument/2006/relationships/image" Target="../media/image62.svg"/><Relationship Id="rId15" Type="http://schemas.openxmlformats.org/officeDocument/2006/relationships/image" Target="../media/image72.svg"/><Relationship Id="rId23" Type="http://schemas.openxmlformats.org/officeDocument/2006/relationships/image" Target="../media/image36.png"/><Relationship Id="rId28" Type="http://schemas.openxmlformats.org/officeDocument/2006/relationships/image" Target="../media/image51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31" Type="http://schemas.openxmlformats.org/officeDocument/2006/relationships/image" Target="../media/image54.jpeg"/><Relationship Id="rId4" Type="http://schemas.openxmlformats.org/officeDocument/2006/relationships/image" Target="../media/image61.png"/><Relationship Id="rId9" Type="http://schemas.openxmlformats.org/officeDocument/2006/relationships/image" Target="../media/image66.sv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Relationship Id="rId8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svg"/><Relationship Id="rId18" Type="http://schemas.openxmlformats.org/officeDocument/2006/relationships/image" Target="../media/image75.png"/><Relationship Id="rId26" Type="http://schemas.openxmlformats.org/officeDocument/2006/relationships/image" Target="../media/image81.png"/><Relationship Id="rId3" Type="http://schemas.openxmlformats.org/officeDocument/2006/relationships/image" Target="../media/image60.svg"/><Relationship Id="rId21" Type="http://schemas.openxmlformats.org/officeDocument/2006/relationships/image" Target="../media/image78.png"/><Relationship Id="rId7" Type="http://schemas.openxmlformats.org/officeDocument/2006/relationships/image" Target="../media/image64.sv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0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29" Type="http://schemas.openxmlformats.org/officeDocument/2006/relationships/image" Target="../media/image8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24" Type="http://schemas.openxmlformats.org/officeDocument/2006/relationships/image" Target="../media/image37.svg"/><Relationship Id="rId5" Type="http://schemas.openxmlformats.org/officeDocument/2006/relationships/image" Target="../media/image62.svg"/><Relationship Id="rId15" Type="http://schemas.openxmlformats.org/officeDocument/2006/relationships/image" Target="../media/image72.svg"/><Relationship Id="rId23" Type="http://schemas.openxmlformats.org/officeDocument/2006/relationships/image" Target="../media/image36.png"/><Relationship Id="rId28" Type="http://schemas.openxmlformats.org/officeDocument/2006/relationships/image" Target="../media/image82.jpe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jpeg"/><Relationship Id="rId5" Type="http://schemas.openxmlformats.org/officeDocument/2006/relationships/image" Target="../media/image82.jpeg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1.png"/><Relationship Id="rId7" Type="http://schemas.openxmlformats.org/officeDocument/2006/relationships/image" Target="../media/image47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jpeg"/><Relationship Id="rId5" Type="http://schemas.openxmlformats.org/officeDocument/2006/relationships/image" Target="../media/image82.jpeg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8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g"/><Relationship Id="rId5" Type="http://schemas.openxmlformats.org/officeDocument/2006/relationships/image" Target="../media/image85.png"/><Relationship Id="rId4" Type="http://schemas.openxmlformats.org/officeDocument/2006/relationships/image" Target="../media/image3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87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6.jpeg"/><Relationship Id="rId5" Type="http://schemas.openxmlformats.org/officeDocument/2006/relationships/image" Target="../media/image84.png"/><Relationship Id="rId4" Type="http://schemas.openxmlformats.org/officeDocument/2006/relationships/image" Target="../media/image3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7.jpeg"/><Relationship Id="rId7" Type="http://schemas.openxmlformats.org/officeDocument/2006/relationships/image" Target="../media/image28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5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87.jpe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6.jpe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28.png"/><Relationship Id="rId7" Type="http://schemas.openxmlformats.org/officeDocument/2006/relationships/image" Target="../media/image93.sv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svg"/><Relationship Id="rId4" Type="http://schemas.openxmlformats.org/officeDocument/2006/relationships/image" Target="../media/image90.png"/><Relationship Id="rId9" Type="http://schemas.openxmlformats.org/officeDocument/2006/relationships/image" Target="../media/image95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svg"/><Relationship Id="rId5" Type="http://schemas.openxmlformats.org/officeDocument/2006/relationships/image" Target="../media/image93.sv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2.png"/><Relationship Id="rId3" Type="http://schemas.openxmlformats.org/officeDocument/2006/relationships/image" Target="../media/image97.svg"/><Relationship Id="rId7" Type="http://schemas.openxmlformats.org/officeDocument/2006/relationships/image" Target="../media/image99.svg"/><Relationship Id="rId12" Type="http://schemas.openxmlformats.org/officeDocument/2006/relationships/image" Target="../media/image1.jpeg"/><Relationship Id="rId17" Type="http://schemas.openxmlformats.org/officeDocument/2006/relationships/image" Target="../media/image30.png"/><Relationship Id="rId2" Type="http://schemas.openxmlformats.org/officeDocument/2006/relationships/image" Target="../media/image96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95.svg"/><Relationship Id="rId5" Type="http://schemas.openxmlformats.org/officeDocument/2006/relationships/image" Target="../media/image91.svg"/><Relationship Id="rId15" Type="http://schemas.openxmlformats.org/officeDocument/2006/relationships/image" Target="../media/image3.png"/><Relationship Id="rId10" Type="http://schemas.openxmlformats.org/officeDocument/2006/relationships/image" Target="../media/image94.png"/><Relationship Id="rId4" Type="http://schemas.openxmlformats.org/officeDocument/2006/relationships/image" Target="../media/image90.png"/><Relationship Id="rId9" Type="http://schemas.openxmlformats.org/officeDocument/2006/relationships/image" Target="../media/image93.svg"/><Relationship Id="rId14" Type="http://schemas.openxmlformats.org/officeDocument/2006/relationships/image" Target="../media/image7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99.sv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12" Type="http://schemas.openxmlformats.org/officeDocument/2006/relationships/image" Target="../media/image9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91.svg"/><Relationship Id="rId5" Type="http://schemas.microsoft.com/office/2007/relationships/hdphoto" Target="../media/hdphoto1.wdp"/><Relationship Id="rId10" Type="http://schemas.openxmlformats.org/officeDocument/2006/relationships/image" Target="../media/image90.png"/><Relationship Id="rId4" Type="http://schemas.openxmlformats.org/officeDocument/2006/relationships/image" Target="../media/image3.png"/><Relationship Id="rId9" Type="http://schemas.openxmlformats.org/officeDocument/2006/relationships/image" Target="../media/image9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>
          <a:xfrm>
            <a:off x="0" y="0"/>
            <a:ext cx="12192000" cy="6434499"/>
          </a:xfr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5"/>
            <a:ext cx="2469428" cy="72964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426839E-4E71-38BD-AC2F-663D6DA204D9}"/>
              </a:ext>
            </a:extLst>
          </p:cNvPr>
          <p:cNvGrpSpPr/>
          <p:nvPr/>
        </p:nvGrpSpPr>
        <p:grpSpPr>
          <a:xfrm>
            <a:off x="5060656" y="1524729"/>
            <a:ext cx="6580482" cy="2480845"/>
            <a:chOff x="5060656" y="1524729"/>
            <a:chExt cx="6580482" cy="248084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7FD29E-AC9E-4BE2-BF89-D1F03B97F6B9}"/>
                </a:ext>
              </a:extLst>
            </p:cNvPr>
            <p:cNvSpPr/>
            <p:nvPr/>
          </p:nvSpPr>
          <p:spPr>
            <a:xfrm>
              <a:off x="5060656" y="3602937"/>
              <a:ext cx="3645798" cy="402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DB5D2A-DA2A-47CC-A84D-EDFCEDD8CB51}"/>
                </a:ext>
              </a:extLst>
            </p:cNvPr>
            <p:cNvSpPr/>
            <p:nvPr/>
          </p:nvSpPr>
          <p:spPr>
            <a:xfrm>
              <a:off x="5060656" y="1524729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Introduction Smart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B98F79-F044-4C07-B816-90906E2D44B4}"/>
                </a:ext>
              </a:extLst>
            </p:cNvPr>
            <p:cNvSpPr/>
            <p:nvPr/>
          </p:nvSpPr>
          <p:spPr>
            <a:xfrm>
              <a:off x="5060656" y="3619589"/>
              <a:ext cx="3741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b="1" dirty="0">
                  <a:solidFill>
                    <a:schemeClr val="accent1"/>
                  </a:solidFill>
                  <a:latin typeface="+mj-lt"/>
                </a:rPr>
                <a:t>Borja García de Soto, PhD, PE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CFF614-7703-4BD3-9828-A54324FC91AD}"/>
                </a:ext>
              </a:extLst>
            </p:cNvPr>
            <p:cNvSpPr/>
            <p:nvPr/>
          </p:nvSpPr>
          <p:spPr>
            <a:xfrm>
              <a:off x="5060656" y="2082580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Construction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AB627F-9A36-4BC8-9E81-089B183DEA96}"/>
                </a:ext>
              </a:extLst>
            </p:cNvPr>
            <p:cNvSpPr/>
            <p:nvPr/>
          </p:nvSpPr>
          <p:spPr>
            <a:xfrm>
              <a:off x="5060656" y="2640432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Research Group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1A53D25-75E0-10AF-5D16-D629F2936BAF}"/>
              </a:ext>
            </a:extLst>
          </p:cNvPr>
          <p:cNvSpPr/>
          <p:nvPr/>
        </p:nvSpPr>
        <p:spPr>
          <a:xfrm>
            <a:off x="0" y="-7266494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4A998-C6CE-E718-7898-68E5034ED9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r="57898"/>
          <a:stretch/>
        </p:blipFill>
        <p:spPr>
          <a:xfrm>
            <a:off x="4419599" y="8318721"/>
            <a:ext cx="3352800" cy="61234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5166E1E-7CC1-5633-C42A-CE1B728DBD2D}"/>
              </a:ext>
            </a:extLst>
          </p:cNvPr>
          <p:cNvSpPr/>
          <p:nvPr/>
        </p:nvSpPr>
        <p:spPr>
          <a:xfrm>
            <a:off x="4419600" y="8318721"/>
            <a:ext cx="3352800" cy="6123472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01B1CA-23EC-FD74-8D32-CD12A19E2569}"/>
              </a:ext>
            </a:extLst>
          </p:cNvPr>
          <p:cNvGrpSpPr/>
          <p:nvPr/>
        </p:nvGrpSpPr>
        <p:grpSpPr>
          <a:xfrm>
            <a:off x="685800" y="-5674384"/>
            <a:ext cx="3219451" cy="1950350"/>
            <a:chOff x="685800" y="1263206"/>
            <a:chExt cx="3219451" cy="19503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80AAD9-813D-0E6F-CB38-DD8D11D37553}"/>
                </a:ext>
              </a:extLst>
            </p:cNvPr>
            <p:cNvSpPr/>
            <p:nvPr/>
          </p:nvSpPr>
          <p:spPr>
            <a:xfrm>
              <a:off x="685800" y="1263206"/>
              <a:ext cx="32194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Overview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56A22B-DF42-62FE-2326-BBF308D13BCF}"/>
                </a:ext>
              </a:extLst>
            </p:cNvPr>
            <p:cNvSpPr/>
            <p:nvPr/>
          </p:nvSpPr>
          <p:spPr>
            <a:xfrm>
              <a:off x="685801" y="2044005"/>
              <a:ext cx="3219450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Our goal is to bridge scholarly excellence with practical application, optimizing every stage of the infrastructure lifecycle to build resilient future communities.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CFAC5A-82B6-CA81-78B4-A446FDFA0CB8}"/>
              </a:ext>
            </a:extLst>
          </p:cNvPr>
          <p:cNvCxnSpPr>
            <a:cxnSpLocks/>
          </p:cNvCxnSpPr>
          <p:nvPr/>
        </p:nvCxnSpPr>
        <p:spPr>
          <a:xfrm>
            <a:off x="18244446" y="189968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06B3A7A-42BC-5E59-98E6-F52108C01193}"/>
              </a:ext>
            </a:extLst>
          </p:cNvPr>
          <p:cNvCxnSpPr>
            <a:cxnSpLocks/>
          </p:cNvCxnSpPr>
          <p:nvPr/>
        </p:nvCxnSpPr>
        <p:spPr>
          <a:xfrm>
            <a:off x="19167810" y="2733286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19059C-895A-C8E5-970E-6F1134E86A9E}"/>
              </a:ext>
            </a:extLst>
          </p:cNvPr>
          <p:cNvCxnSpPr>
            <a:cxnSpLocks/>
          </p:cNvCxnSpPr>
          <p:nvPr/>
        </p:nvCxnSpPr>
        <p:spPr>
          <a:xfrm>
            <a:off x="21983636" y="3569900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42D1E2-BE3A-58A1-2981-978B9D9A5863}"/>
              </a:ext>
            </a:extLst>
          </p:cNvPr>
          <p:cNvCxnSpPr>
            <a:cxnSpLocks/>
          </p:cNvCxnSpPr>
          <p:nvPr/>
        </p:nvCxnSpPr>
        <p:spPr>
          <a:xfrm>
            <a:off x="22443347" y="440797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8362B7-0ABF-AA82-3986-A9D4565E92ED}"/>
              </a:ext>
            </a:extLst>
          </p:cNvPr>
          <p:cNvGrpSpPr/>
          <p:nvPr/>
        </p:nvGrpSpPr>
        <p:grpSpPr>
          <a:xfrm>
            <a:off x="17252656" y="1176736"/>
            <a:ext cx="4195568" cy="638176"/>
            <a:chOff x="7453312" y="1176736"/>
            <a:chExt cx="4195568" cy="63817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EBFA5AA-1243-1E23-1C61-87B8DCF082E1}"/>
                </a:ext>
              </a:extLst>
            </p:cNvPr>
            <p:cNvSpPr/>
            <p:nvPr/>
          </p:nvSpPr>
          <p:spPr>
            <a:xfrm>
              <a:off x="7453312" y="1176736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E4ADCE2-E541-400C-315A-2E85DFDDA2A7}"/>
                </a:ext>
              </a:extLst>
            </p:cNvPr>
            <p:cNvSpPr/>
            <p:nvPr/>
          </p:nvSpPr>
          <p:spPr>
            <a:xfrm>
              <a:off x="8206912" y="1300371"/>
              <a:ext cx="34419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S</a:t>
              </a:r>
              <a:r>
                <a:rPr lang="en-GB" sz="1400" dirty="0"/>
                <a:t>ustainable and resilient construction</a:t>
              </a: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6A464133-4FAA-88C2-CB30-01E502534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66853" y="1290277"/>
              <a:ext cx="411095" cy="41109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4AEF9C5-2E77-E5E0-26A1-199225EA227F}"/>
              </a:ext>
            </a:extLst>
          </p:cNvPr>
          <p:cNvGrpSpPr/>
          <p:nvPr/>
        </p:nvGrpSpPr>
        <p:grpSpPr>
          <a:xfrm>
            <a:off x="18414210" y="2008034"/>
            <a:ext cx="4168317" cy="638176"/>
            <a:chOff x="7453312" y="2008034"/>
            <a:chExt cx="4168317" cy="63817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1628D07-C67B-C3FB-D16A-601BD18E1E43}"/>
                </a:ext>
              </a:extLst>
            </p:cNvPr>
            <p:cNvSpPr/>
            <p:nvPr/>
          </p:nvSpPr>
          <p:spPr>
            <a:xfrm>
              <a:off x="7453312" y="2008034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EDA802-53DD-CDDF-929D-8658DB5A0512}"/>
                </a:ext>
              </a:extLst>
            </p:cNvPr>
            <p:cNvSpPr/>
            <p:nvPr/>
          </p:nvSpPr>
          <p:spPr>
            <a:xfrm>
              <a:off x="8206912" y="2104543"/>
              <a:ext cx="34147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M</a:t>
              </a:r>
              <a:r>
                <a:rPr lang="en-GB" sz="1400" dirty="0"/>
                <a:t>odularization and lean construction</a:t>
              </a: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5C84E1A6-20E8-A800-8DE2-FFB18FC9D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66853" y="2121574"/>
              <a:ext cx="411095" cy="411095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FBE0EF4-6EDC-C028-6E7C-AC151E28A3B1}"/>
              </a:ext>
            </a:extLst>
          </p:cNvPr>
          <p:cNvGrpSpPr/>
          <p:nvPr/>
        </p:nvGrpSpPr>
        <p:grpSpPr>
          <a:xfrm>
            <a:off x="20027598" y="2839332"/>
            <a:ext cx="2727217" cy="638176"/>
            <a:chOff x="7453312" y="2839332"/>
            <a:chExt cx="2727217" cy="63817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EC6D10B-D8F2-38F2-928D-BC100D3A3744}"/>
                </a:ext>
              </a:extLst>
            </p:cNvPr>
            <p:cNvSpPr/>
            <p:nvPr/>
          </p:nvSpPr>
          <p:spPr>
            <a:xfrm>
              <a:off x="7453312" y="2839332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04F2491-4499-A946-5BD5-03BCCEB7B8DE}"/>
                </a:ext>
              </a:extLst>
            </p:cNvPr>
            <p:cNvSpPr/>
            <p:nvPr/>
          </p:nvSpPr>
          <p:spPr>
            <a:xfrm>
              <a:off x="8206912" y="2962967"/>
              <a:ext cx="1973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A</a:t>
              </a:r>
              <a:r>
                <a:rPr lang="en-GB" sz="1400" dirty="0"/>
                <a:t>rtificial intelligence</a:t>
              </a:r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8716AC6-04CC-A950-AA91-7058656AB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66853" y="2952872"/>
              <a:ext cx="411095" cy="41109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FE1ABB-026C-29FC-49C1-515B6266EC2D}"/>
              </a:ext>
            </a:extLst>
          </p:cNvPr>
          <p:cNvGrpSpPr/>
          <p:nvPr/>
        </p:nvGrpSpPr>
        <p:grpSpPr>
          <a:xfrm>
            <a:off x="21448224" y="3670630"/>
            <a:ext cx="3781993" cy="638176"/>
            <a:chOff x="7453312" y="3670630"/>
            <a:chExt cx="3781993" cy="63817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C0088FC-4354-1FFD-6C84-F07B275616A4}"/>
                </a:ext>
              </a:extLst>
            </p:cNvPr>
            <p:cNvSpPr/>
            <p:nvPr/>
          </p:nvSpPr>
          <p:spPr>
            <a:xfrm>
              <a:off x="7453312" y="3670630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74056BB-6D11-6DB9-4A73-6D43DC304CF8}"/>
                </a:ext>
              </a:extLst>
            </p:cNvPr>
            <p:cNvSpPr/>
            <p:nvPr/>
          </p:nvSpPr>
          <p:spPr>
            <a:xfrm>
              <a:off x="8206912" y="3794265"/>
              <a:ext cx="302839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R</a:t>
              </a:r>
              <a:r>
                <a:rPr lang="en-GB" sz="1400" dirty="0"/>
                <a:t>obotic systems and automation</a:t>
              </a:r>
            </a:p>
          </p:txBody>
        </p: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AB7E735D-5B54-F874-C93E-CD6AD50AA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66853" y="3784170"/>
              <a:ext cx="411095" cy="411095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AFECED-9A5D-5A08-C19C-0272F5BC0E37}"/>
              </a:ext>
            </a:extLst>
          </p:cNvPr>
          <p:cNvGrpSpPr/>
          <p:nvPr/>
        </p:nvGrpSpPr>
        <p:grpSpPr>
          <a:xfrm>
            <a:off x="25243437" y="4501927"/>
            <a:ext cx="4187825" cy="638176"/>
            <a:chOff x="7453312" y="4501927"/>
            <a:chExt cx="4187825" cy="638176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7814D89-8270-B339-715B-42399F9A7EA0}"/>
                </a:ext>
              </a:extLst>
            </p:cNvPr>
            <p:cNvSpPr/>
            <p:nvPr/>
          </p:nvSpPr>
          <p:spPr>
            <a:xfrm>
              <a:off x="7453312" y="4501927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A566787-466B-AE49-D95A-8CF7ADA2AF9B}"/>
                </a:ext>
              </a:extLst>
            </p:cNvPr>
            <p:cNvSpPr/>
            <p:nvPr/>
          </p:nvSpPr>
          <p:spPr>
            <a:xfrm>
              <a:off x="8206912" y="4517840"/>
              <a:ext cx="3434225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b="1" dirty="0"/>
                <a:t>T</a:t>
              </a:r>
              <a:r>
                <a:rPr lang="en-GB" sz="1400" dirty="0"/>
                <a:t>echnology integration &amp; information modelling</a:t>
              </a:r>
            </a:p>
          </p:txBody>
        </p:sp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20E52464-81E0-53F6-C991-52A43B103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66853" y="4615467"/>
              <a:ext cx="411095" cy="411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539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8">
            <a:extLst>
              <a:ext uri="{FF2B5EF4-FFF2-40B4-BE49-F238E27FC236}">
                <a16:creationId xmlns:a16="http://schemas.microsoft.com/office/drawing/2014/main" id="{AE6FDD06-6D90-6C15-76D6-E68B1FB35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>
          <a:xfrm>
            <a:off x="0" y="-7849539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C9713F23-AAA0-FD35-8E37-8918258C12CA}"/>
              </a:ext>
            </a:extLst>
          </p:cNvPr>
          <p:cNvGrpSpPr/>
          <p:nvPr/>
        </p:nvGrpSpPr>
        <p:grpSpPr>
          <a:xfrm>
            <a:off x="19386256" y="1524729"/>
            <a:ext cx="6580482" cy="2480845"/>
            <a:chOff x="5060656" y="1524729"/>
            <a:chExt cx="6580482" cy="248084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517521C-D43E-6E2C-EB43-10F6F44ECC7F}"/>
                </a:ext>
              </a:extLst>
            </p:cNvPr>
            <p:cNvSpPr/>
            <p:nvPr/>
          </p:nvSpPr>
          <p:spPr>
            <a:xfrm>
              <a:off x="5060656" y="3602937"/>
              <a:ext cx="3645798" cy="402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>
                <a:latin typeface="+mj-lt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350B05E-C52B-4566-D37B-0686B2156E43}"/>
                </a:ext>
              </a:extLst>
            </p:cNvPr>
            <p:cNvSpPr/>
            <p:nvPr/>
          </p:nvSpPr>
          <p:spPr>
            <a:xfrm>
              <a:off x="5060656" y="1524729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Introduction Smart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5A8C742-3A67-5255-82E8-0492B00D5339}"/>
                </a:ext>
              </a:extLst>
            </p:cNvPr>
            <p:cNvSpPr/>
            <p:nvPr/>
          </p:nvSpPr>
          <p:spPr>
            <a:xfrm>
              <a:off x="5060656" y="3619589"/>
              <a:ext cx="3741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b="1" dirty="0">
                  <a:solidFill>
                    <a:schemeClr val="accent1"/>
                  </a:solidFill>
                  <a:latin typeface="+mj-lt"/>
                </a:rPr>
                <a:t>Borja García de Soto, PhD, PE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DA22207-1271-8F34-6715-4B598CD698D3}"/>
                </a:ext>
              </a:extLst>
            </p:cNvPr>
            <p:cNvSpPr/>
            <p:nvPr/>
          </p:nvSpPr>
          <p:spPr>
            <a:xfrm>
              <a:off x="5060656" y="2082580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Construction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F57E776-B2EB-6930-85CD-FB8219F3ABA2}"/>
                </a:ext>
              </a:extLst>
            </p:cNvPr>
            <p:cNvSpPr/>
            <p:nvPr/>
          </p:nvSpPr>
          <p:spPr>
            <a:xfrm>
              <a:off x="5060656" y="2640432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Research Group</a:t>
              </a: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C07953-D95E-5FF2-593E-84831256C3FA}"/>
              </a:ext>
            </a:extLst>
          </p:cNvPr>
          <p:cNvSpPr/>
          <p:nvPr/>
        </p:nvSpPr>
        <p:spPr>
          <a:xfrm>
            <a:off x="0" y="-7849539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D949825-1A5D-86B5-C017-8D6381C05186}"/>
              </a:ext>
            </a:extLst>
          </p:cNvPr>
          <p:cNvSpPr/>
          <p:nvPr/>
        </p:nvSpPr>
        <p:spPr>
          <a:xfrm flipH="1">
            <a:off x="-2810" y="-4957659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25" name="Picture 24" descr="A black and white logo&#10;&#10;AI-generated content may be incorrect.">
            <a:extLst>
              <a:ext uri="{FF2B5EF4-FFF2-40B4-BE49-F238E27FC236}">
                <a16:creationId xmlns:a16="http://schemas.microsoft.com/office/drawing/2014/main" id="{78F9C4CE-0729-7885-19FA-855E14174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-9629764"/>
            <a:ext cx="2469428" cy="729647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5EE40A3-4609-47BD-B1BD-0C9BDDC56A9D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16418F-073B-459D-AC5A-C842C4E0AE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r="57898"/>
          <a:stretch/>
        </p:blipFill>
        <p:spPr>
          <a:xfrm>
            <a:off x="4419599" y="734528"/>
            <a:ext cx="3352800" cy="61234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4C2B51-A2D3-4B17-BF11-6CD0A978DACE}"/>
              </a:ext>
            </a:extLst>
          </p:cNvPr>
          <p:cNvSpPr/>
          <p:nvPr/>
        </p:nvSpPr>
        <p:spPr>
          <a:xfrm>
            <a:off x="4419600" y="734528"/>
            <a:ext cx="3352800" cy="6123472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C6DA9D-BA98-420C-80FF-D120086D39B1}"/>
              </a:ext>
            </a:extLst>
          </p:cNvPr>
          <p:cNvGrpSpPr/>
          <p:nvPr/>
        </p:nvGrpSpPr>
        <p:grpSpPr>
          <a:xfrm>
            <a:off x="685800" y="1592110"/>
            <a:ext cx="3219451" cy="2165794"/>
            <a:chOff x="685800" y="1263206"/>
            <a:chExt cx="3219451" cy="21657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50C168-13BE-4ED9-92D0-AD4E35EE87F2}"/>
                </a:ext>
              </a:extLst>
            </p:cNvPr>
            <p:cNvSpPr/>
            <p:nvPr/>
          </p:nvSpPr>
          <p:spPr>
            <a:xfrm>
              <a:off x="685800" y="1263206"/>
              <a:ext cx="32194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Overview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360444-5A2C-40DF-8DE0-A7513EE6A1BF}"/>
                </a:ext>
              </a:extLst>
            </p:cNvPr>
            <p:cNvSpPr/>
            <p:nvPr/>
          </p:nvSpPr>
          <p:spPr>
            <a:xfrm>
              <a:off x="685801" y="2044005"/>
              <a:ext cx="321945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Light" pitchFamily="2" charset="77"/>
                </a:rPr>
                <a:t>Our goal is to bridge scholarly excellence with practical application, optimizing every stage of the infrastructure lifecycle to build resilient future communities.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4757A1-B81F-47F6-B2C3-65001A9EB59D}"/>
              </a:ext>
            </a:extLst>
          </p:cNvPr>
          <p:cNvCxnSpPr>
            <a:cxnSpLocks/>
          </p:cNvCxnSpPr>
          <p:nvPr/>
        </p:nvCxnSpPr>
        <p:spPr>
          <a:xfrm>
            <a:off x="8234622" y="189968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C86449-FC0C-42A6-AF92-9B87313A76BD}"/>
              </a:ext>
            </a:extLst>
          </p:cNvPr>
          <p:cNvCxnSpPr>
            <a:cxnSpLocks/>
          </p:cNvCxnSpPr>
          <p:nvPr/>
        </p:nvCxnSpPr>
        <p:spPr>
          <a:xfrm>
            <a:off x="8234622" y="2733286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14482E-AF57-43D5-A478-13F2C892B9E4}"/>
              </a:ext>
            </a:extLst>
          </p:cNvPr>
          <p:cNvCxnSpPr>
            <a:cxnSpLocks/>
          </p:cNvCxnSpPr>
          <p:nvPr/>
        </p:nvCxnSpPr>
        <p:spPr>
          <a:xfrm>
            <a:off x="8234622" y="3569900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4BC62D-C4AF-4BD0-8623-71D16536B9FB}"/>
              </a:ext>
            </a:extLst>
          </p:cNvPr>
          <p:cNvCxnSpPr>
            <a:cxnSpLocks/>
          </p:cNvCxnSpPr>
          <p:nvPr/>
        </p:nvCxnSpPr>
        <p:spPr>
          <a:xfrm>
            <a:off x="8234622" y="440797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631518-03BE-73F3-D1D7-971FE236FF95}"/>
              </a:ext>
            </a:extLst>
          </p:cNvPr>
          <p:cNvGrpSpPr/>
          <p:nvPr/>
        </p:nvGrpSpPr>
        <p:grpSpPr>
          <a:xfrm>
            <a:off x="7453312" y="1176736"/>
            <a:ext cx="4434416" cy="638176"/>
            <a:chOff x="7453312" y="1176736"/>
            <a:chExt cx="4434416" cy="6381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7990A2-ECF2-44CC-9327-397B19BF3AC6}"/>
                </a:ext>
              </a:extLst>
            </p:cNvPr>
            <p:cNvSpPr/>
            <p:nvPr/>
          </p:nvSpPr>
          <p:spPr>
            <a:xfrm>
              <a:off x="7453312" y="1176736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432E0B-1846-4005-91A4-E683595126F2}"/>
                </a:ext>
              </a:extLst>
            </p:cNvPr>
            <p:cNvSpPr/>
            <p:nvPr/>
          </p:nvSpPr>
          <p:spPr>
            <a:xfrm>
              <a:off x="8206912" y="1300371"/>
              <a:ext cx="36808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S</a:t>
              </a:r>
              <a:r>
                <a:rPr lang="en-GB" sz="1400" dirty="0">
                  <a:latin typeface="Montserrat Medium" pitchFamily="2" charset="77"/>
                </a:rPr>
                <a:t>ustainable and resilient construction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F816099-1684-5DA6-2158-DBB6F7C1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1290277"/>
              <a:ext cx="411095" cy="411095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E7303D-EE63-C4EE-AB0E-539BDC6BF449}"/>
              </a:ext>
            </a:extLst>
          </p:cNvPr>
          <p:cNvGrpSpPr/>
          <p:nvPr/>
        </p:nvGrpSpPr>
        <p:grpSpPr>
          <a:xfrm>
            <a:off x="7453312" y="2008034"/>
            <a:ext cx="4424798" cy="638176"/>
            <a:chOff x="7453312" y="2008034"/>
            <a:chExt cx="4424798" cy="6381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4B0933-6DE8-4C90-AC63-269DC86D5130}"/>
                </a:ext>
              </a:extLst>
            </p:cNvPr>
            <p:cNvSpPr/>
            <p:nvPr/>
          </p:nvSpPr>
          <p:spPr>
            <a:xfrm>
              <a:off x="7453312" y="2008034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E433B8-74CF-434D-8286-62E7F60F0A5C}"/>
                </a:ext>
              </a:extLst>
            </p:cNvPr>
            <p:cNvSpPr/>
            <p:nvPr/>
          </p:nvSpPr>
          <p:spPr>
            <a:xfrm>
              <a:off x="8206912" y="2104543"/>
              <a:ext cx="36711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M</a:t>
              </a:r>
              <a:r>
                <a:rPr lang="en-GB" sz="1400" dirty="0">
                  <a:latin typeface="Montserrat Medium" pitchFamily="2" charset="77"/>
                </a:rPr>
                <a:t>odularization and lean construction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45CB31-9B38-F1D4-1EEB-A0830553C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121574"/>
              <a:ext cx="411095" cy="411095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180186-BAD8-FF2A-F6D2-68467F81AEEB}"/>
              </a:ext>
            </a:extLst>
          </p:cNvPr>
          <p:cNvGrpSpPr/>
          <p:nvPr/>
        </p:nvGrpSpPr>
        <p:grpSpPr>
          <a:xfrm>
            <a:off x="7453312" y="2839332"/>
            <a:ext cx="2868281" cy="638176"/>
            <a:chOff x="7453312" y="2839332"/>
            <a:chExt cx="2868281" cy="638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D1466B-7512-422D-B7EE-CB2E59E9B038}"/>
                </a:ext>
              </a:extLst>
            </p:cNvPr>
            <p:cNvSpPr/>
            <p:nvPr/>
          </p:nvSpPr>
          <p:spPr>
            <a:xfrm>
              <a:off x="7453312" y="2839332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62F32A-5975-4373-879B-0549E8EC57E6}"/>
                </a:ext>
              </a:extLst>
            </p:cNvPr>
            <p:cNvSpPr/>
            <p:nvPr/>
          </p:nvSpPr>
          <p:spPr>
            <a:xfrm>
              <a:off x="8206912" y="2962967"/>
              <a:ext cx="211468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A</a:t>
              </a:r>
              <a:r>
                <a:rPr lang="en-GB" sz="1400" dirty="0">
                  <a:latin typeface="Montserrat Medium" pitchFamily="2" charset="77"/>
                </a:rPr>
                <a:t>rtificial intelligence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4B8E763-198F-5099-4CCF-0805B158B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952872"/>
              <a:ext cx="411095" cy="41109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C1722C-5AF1-C63F-4759-BB799870E3B3}"/>
              </a:ext>
            </a:extLst>
          </p:cNvPr>
          <p:cNvGrpSpPr/>
          <p:nvPr/>
        </p:nvGrpSpPr>
        <p:grpSpPr>
          <a:xfrm>
            <a:off x="7453312" y="3670630"/>
            <a:ext cx="4011223" cy="638176"/>
            <a:chOff x="7453312" y="3670630"/>
            <a:chExt cx="4011223" cy="638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2B12DE-4EDE-4BE0-8461-9720DBAEACAD}"/>
                </a:ext>
              </a:extLst>
            </p:cNvPr>
            <p:cNvSpPr/>
            <p:nvPr/>
          </p:nvSpPr>
          <p:spPr>
            <a:xfrm>
              <a:off x="7453312" y="3670630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CD669C-D60A-4A26-AAD0-A654AC02569E}"/>
                </a:ext>
              </a:extLst>
            </p:cNvPr>
            <p:cNvSpPr/>
            <p:nvPr/>
          </p:nvSpPr>
          <p:spPr>
            <a:xfrm>
              <a:off x="8206912" y="3794265"/>
              <a:ext cx="32576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R</a:t>
              </a:r>
              <a:r>
                <a:rPr lang="en-GB" sz="1400" dirty="0">
                  <a:latin typeface="Montserrat Medium" pitchFamily="2" charset="77"/>
                </a:rPr>
                <a:t>obotic systems and automation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B9F4BA4-21DE-CC4B-2462-FD235B34E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3784170"/>
              <a:ext cx="411095" cy="411095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59B1F5-2E8B-7CFB-12C0-8C2B7CD0B756}"/>
              </a:ext>
            </a:extLst>
          </p:cNvPr>
          <p:cNvGrpSpPr/>
          <p:nvPr/>
        </p:nvGrpSpPr>
        <p:grpSpPr>
          <a:xfrm>
            <a:off x="7453312" y="4501927"/>
            <a:ext cx="4187825" cy="638176"/>
            <a:chOff x="7453312" y="4501927"/>
            <a:chExt cx="4187825" cy="638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B50EDB-1FAD-48D9-94F1-84361939302C}"/>
                </a:ext>
              </a:extLst>
            </p:cNvPr>
            <p:cNvSpPr/>
            <p:nvPr/>
          </p:nvSpPr>
          <p:spPr>
            <a:xfrm>
              <a:off x="7453312" y="4501927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EADE07-6DA1-48DC-88C7-815245969754}"/>
                </a:ext>
              </a:extLst>
            </p:cNvPr>
            <p:cNvSpPr/>
            <p:nvPr/>
          </p:nvSpPr>
          <p:spPr>
            <a:xfrm>
              <a:off x="8206912" y="4517840"/>
              <a:ext cx="3434225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T</a:t>
              </a:r>
              <a:r>
                <a:rPr lang="en-GB" sz="1400" dirty="0">
                  <a:latin typeface="Montserrat Medium" pitchFamily="2" charset="77"/>
                </a:rPr>
                <a:t>echnology integration &amp; information modelling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1731A0D-8A21-5793-7206-CA0A8E917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4615467"/>
              <a:ext cx="411095" cy="411095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8321F75C-6ACD-F100-6166-250DC267E690}"/>
              </a:ext>
            </a:extLst>
          </p:cNvPr>
          <p:cNvSpPr/>
          <p:nvPr/>
        </p:nvSpPr>
        <p:spPr>
          <a:xfrm>
            <a:off x="-9050867" y="1"/>
            <a:ext cx="40930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34A1C4B-21D6-ECD1-F1CE-7C21B4DF7AF7}"/>
              </a:ext>
            </a:extLst>
          </p:cNvPr>
          <p:cNvGrpSpPr/>
          <p:nvPr/>
        </p:nvGrpSpPr>
        <p:grpSpPr>
          <a:xfrm>
            <a:off x="-8566802" y="2016740"/>
            <a:ext cx="3148987" cy="2722900"/>
            <a:chOff x="484065" y="2016740"/>
            <a:chExt cx="3148987" cy="27229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55C8A0F-962E-DF54-B32F-E096521C5378}"/>
                </a:ext>
              </a:extLst>
            </p:cNvPr>
            <p:cNvSpPr/>
            <p:nvPr/>
          </p:nvSpPr>
          <p:spPr>
            <a:xfrm>
              <a:off x="484065" y="2016740"/>
              <a:ext cx="9188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Bio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7EACAF-DC71-B6D4-7984-C748F3E576DF}"/>
                </a:ext>
              </a:extLst>
            </p:cNvPr>
            <p:cNvSpPr/>
            <p:nvPr/>
          </p:nvSpPr>
          <p:spPr>
            <a:xfrm>
              <a:off x="523591" y="2885479"/>
              <a:ext cx="28280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 err="1"/>
                <a:t>Dr.</a:t>
              </a:r>
              <a:r>
                <a:rPr lang="en-GB" b="1" dirty="0"/>
                <a:t> Borja Garcia DeSoto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33338F8-B4E7-95E7-B9E4-D831A9FB6AE4}"/>
                </a:ext>
              </a:extLst>
            </p:cNvPr>
            <p:cNvSpPr/>
            <p:nvPr/>
          </p:nvSpPr>
          <p:spPr>
            <a:xfrm>
              <a:off x="523591" y="3207186"/>
              <a:ext cx="29450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Associate Professor, NYU Abu Dhabi, 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FB0E96-9BD4-22A8-4F90-7C70824FDD6D}"/>
                </a:ext>
              </a:extLst>
            </p:cNvPr>
            <p:cNvSpPr/>
            <p:nvPr/>
          </p:nvSpPr>
          <p:spPr>
            <a:xfrm>
              <a:off x="523591" y="3570089"/>
              <a:ext cx="3109461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Driving digital twin research that links IoT sensing with BIM and AI to transform real-time data into predictive insights and scalable infrastructure optimization.</a:t>
              </a:r>
              <a:endParaRPr lang="en-GB" sz="1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61FDF28-9565-D0A4-361F-E2CC5E6FF8FD}"/>
              </a:ext>
            </a:extLst>
          </p:cNvPr>
          <p:cNvGrpSpPr/>
          <p:nvPr/>
        </p:nvGrpSpPr>
        <p:grpSpPr>
          <a:xfrm>
            <a:off x="4093026" y="10773910"/>
            <a:ext cx="5236376" cy="5277803"/>
            <a:chOff x="4093026" y="10773910"/>
            <a:chExt cx="5236376" cy="527780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9E21736-FB40-7E35-7BC6-3BDC9B468206}"/>
                </a:ext>
              </a:extLst>
            </p:cNvPr>
            <p:cNvGrpSpPr/>
            <p:nvPr/>
          </p:nvGrpSpPr>
          <p:grpSpPr>
            <a:xfrm>
              <a:off x="4093026" y="12095147"/>
              <a:ext cx="4049487" cy="3956566"/>
              <a:chOff x="4093026" y="2901434"/>
              <a:chExt cx="4049487" cy="395656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91ACD99-D9BC-9702-1D9E-FE45687AA29E}"/>
                  </a:ext>
                </a:extLst>
              </p:cNvPr>
              <p:cNvSpPr/>
              <p:nvPr/>
            </p:nvSpPr>
            <p:spPr>
              <a:xfrm>
                <a:off x="4093026" y="3124200"/>
                <a:ext cx="3860799" cy="37338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E4AFB4B-5DA0-A5F9-5731-24311200C3D4}"/>
                  </a:ext>
                </a:extLst>
              </p:cNvPr>
              <p:cNvSpPr/>
              <p:nvPr/>
            </p:nvSpPr>
            <p:spPr>
              <a:xfrm>
                <a:off x="4308132" y="3550553"/>
                <a:ext cx="16001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+mj-lt"/>
                  </a:rPr>
                  <a:t>Experience: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B430C21-F4C1-1721-99AD-7B739787996E}"/>
                  </a:ext>
                </a:extLst>
              </p:cNvPr>
              <p:cNvSpPr/>
              <p:nvPr/>
            </p:nvSpPr>
            <p:spPr>
              <a:xfrm>
                <a:off x="4302319" y="3906669"/>
                <a:ext cx="3158943" cy="2277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Moving research into real-world pilots.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Integrating IoT pipelines with enterprise systems.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Advancing twins from monitoring to optimization.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Creating value-driven, repeatable frameworks.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F69C2BF-598D-47C7-9971-3E3DD8F5AAEE}"/>
                  </a:ext>
                </a:extLst>
              </p:cNvPr>
              <p:cNvCxnSpPr/>
              <p:nvPr/>
            </p:nvCxnSpPr>
            <p:spPr>
              <a:xfrm>
                <a:off x="5372100" y="2901434"/>
                <a:ext cx="16383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144A32B-05D9-CC64-4AEF-0456DFD961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42513" y="3821965"/>
                <a:ext cx="0" cy="25947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0" name="Picture 69" descr="A person in a suit&#10;&#10;AI-generated content may be incorrect.">
              <a:extLst>
                <a:ext uri="{FF2B5EF4-FFF2-40B4-BE49-F238E27FC236}">
                  <a16:creationId xmlns:a16="http://schemas.microsoft.com/office/drawing/2014/main" id="{EE875846-6E35-1665-89BB-0FE595B821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29"/>
            <a:stretch/>
          </p:blipFill>
          <p:spPr>
            <a:xfrm>
              <a:off x="7339510" y="10773910"/>
              <a:ext cx="1989892" cy="1989892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50F6DCA6-A311-8DF5-D4F3-F4576F169F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1943" y="0"/>
            <a:ext cx="80993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4EE130A0-B05E-54BE-8A6E-362D60CC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623" y="0"/>
            <a:ext cx="8099377" cy="685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8FCC44-36F6-639E-70F4-5DFA53D1E356}"/>
              </a:ext>
            </a:extLst>
          </p:cNvPr>
          <p:cNvSpPr/>
          <p:nvPr/>
        </p:nvSpPr>
        <p:spPr>
          <a:xfrm>
            <a:off x="0" y="-11102465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2764A-8E94-4838-6504-86AD528080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r="57898"/>
          <a:stretch/>
        </p:blipFill>
        <p:spPr>
          <a:xfrm>
            <a:off x="4419599" y="13157421"/>
            <a:ext cx="3352800" cy="61234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4668DF-605F-191A-E8AD-C41056469E1F}"/>
              </a:ext>
            </a:extLst>
          </p:cNvPr>
          <p:cNvSpPr/>
          <p:nvPr/>
        </p:nvSpPr>
        <p:spPr>
          <a:xfrm>
            <a:off x="4419600" y="13157421"/>
            <a:ext cx="3352800" cy="6123472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F91203-1181-3F1D-0C57-C9488A66C45F}"/>
              </a:ext>
            </a:extLst>
          </p:cNvPr>
          <p:cNvGrpSpPr/>
          <p:nvPr/>
        </p:nvGrpSpPr>
        <p:grpSpPr>
          <a:xfrm>
            <a:off x="685800" y="-9510355"/>
            <a:ext cx="3219451" cy="1950350"/>
            <a:chOff x="685800" y="1263206"/>
            <a:chExt cx="3219451" cy="19503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3BA420-1D56-DBA4-94C7-E64780A22D2C}"/>
                </a:ext>
              </a:extLst>
            </p:cNvPr>
            <p:cNvSpPr/>
            <p:nvPr/>
          </p:nvSpPr>
          <p:spPr>
            <a:xfrm>
              <a:off x="685800" y="1263206"/>
              <a:ext cx="32194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Overview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3A1582-24FC-033B-BBAB-5D1CB872B978}"/>
                </a:ext>
              </a:extLst>
            </p:cNvPr>
            <p:cNvSpPr/>
            <p:nvPr/>
          </p:nvSpPr>
          <p:spPr>
            <a:xfrm>
              <a:off x="685801" y="2044005"/>
              <a:ext cx="3219450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Our goal is to bridge scholarly excellence with practical application, optimizing every stage of the infrastructure lifecycle to build resilient future communities.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95380B-F730-029C-2101-0C54213AF3ED}"/>
              </a:ext>
            </a:extLst>
          </p:cNvPr>
          <p:cNvCxnSpPr>
            <a:cxnSpLocks/>
          </p:cNvCxnSpPr>
          <p:nvPr/>
        </p:nvCxnSpPr>
        <p:spPr>
          <a:xfrm>
            <a:off x="26001327" y="189968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ED69FA-D0AD-3382-A00F-3EE45176DCEF}"/>
              </a:ext>
            </a:extLst>
          </p:cNvPr>
          <p:cNvCxnSpPr>
            <a:cxnSpLocks/>
          </p:cNvCxnSpPr>
          <p:nvPr/>
        </p:nvCxnSpPr>
        <p:spPr>
          <a:xfrm>
            <a:off x="22364748" y="2733286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119CD1-F837-C881-0607-D77312BF84ED}"/>
              </a:ext>
            </a:extLst>
          </p:cNvPr>
          <p:cNvCxnSpPr>
            <a:cxnSpLocks/>
          </p:cNvCxnSpPr>
          <p:nvPr/>
        </p:nvCxnSpPr>
        <p:spPr>
          <a:xfrm>
            <a:off x="20169269" y="3569900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FE2F4F-3F15-2B79-22B4-F21AAD155BD5}"/>
              </a:ext>
            </a:extLst>
          </p:cNvPr>
          <p:cNvCxnSpPr>
            <a:cxnSpLocks/>
          </p:cNvCxnSpPr>
          <p:nvPr/>
        </p:nvCxnSpPr>
        <p:spPr>
          <a:xfrm>
            <a:off x="14975747" y="440797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8E7562A-E2AA-C1DB-AB18-29AE2A05A54C}"/>
              </a:ext>
            </a:extLst>
          </p:cNvPr>
          <p:cNvGrpSpPr/>
          <p:nvPr/>
        </p:nvGrpSpPr>
        <p:grpSpPr>
          <a:xfrm>
            <a:off x="27714149" y="1176736"/>
            <a:ext cx="4195568" cy="638176"/>
            <a:chOff x="7453312" y="1176736"/>
            <a:chExt cx="4195568" cy="638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B103D1-E856-6771-E81B-FE5A7B74579D}"/>
                </a:ext>
              </a:extLst>
            </p:cNvPr>
            <p:cNvSpPr/>
            <p:nvPr/>
          </p:nvSpPr>
          <p:spPr>
            <a:xfrm>
              <a:off x="7453312" y="1176736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BFE9A3-39CA-85D0-EEAB-6B020C0A23A5}"/>
                </a:ext>
              </a:extLst>
            </p:cNvPr>
            <p:cNvSpPr/>
            <p:nvPr/>
          </p:nvSpPr>
          <p:spPr>
            <a:xfrm>
              <a:off x="8206912" y="1300371"/>
              <a:ext cx="34419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S</a:t>
              </a:r>
              <a:r>
                <a:rPr lang="en-GB" sz="1400" dirty="0"/>
                <a:t>ustainable and resilient construction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CEB1BB0-AD76-4324-561D-426BE3CF5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6853" y="1290277"/>
              <a:ext cx="411095" cy="411095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AEB111-B01C-981D-00D2-B3AE5788E358}"/>
              </a:ext>
            </a:extLst>
          </p:cNvPr>
          <p:cNvGrpSpPr/>
          <p:nvPr/>
        </p:nvGrpSpPr>
        <p:grpSpPr>
          <a:xfrm>
            <a:off x="24077568" y="2008034"/>
            <a:ext cx="4168317" cy="638176"/>
            <a:chOff x="7453312" y="2008034"/>
            <a:chExt cx="4168317" cy="638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AAE5E0-9AF6-5D51-47F3-8337801974DA}"/>
                </a:ext>
              </a:extLst>
            </p:cNvPr>
            <p:cNvSpPr/>
            <p:nvPr/>
          </p:nvSpPr>
          <p:spPr>
            <a:xfrm>
              <a:off x="7453312" y="2008034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4ECF0A-D901-372A-89B2-974913BAB082}"/>
                </a:ext>
              </a:extLst>
            </p:cNvPr>
            <p:cNvSpPr/>
            <p:nvPr/>
          </p:nvSpPr>
          <p:spPr>
            <a:xfrm>
              <a:off x="8206912" y="2104543"/>
              <a:ext cx="34147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M</a:t>
              </a:r>
              <a:r>
                <a:rPr lang="en-GB" sz="1400" dirty="0"/>
                <a:t>odularization and lean construction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4785B330-822B-152A-6EC4-B4FE616BE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6853" y="2121574"/>
              <a:ext cx="411095" cy="411095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A88195-AE0D-5B3E-0F58-CC8BD5AABE19}"/>
              </a:ext>
            </a:extLst>
          </p:cNvPr>
          <p:cNvGrpSpPr/>
          <p:nvPr/>
        </p:nvGrpSpPr>
        <p:grpSpPr>
          <a:xfrm>
            <a:off x="21882089" y="2839332"/>
            <a:ext cx="2727217" cy="638176"/>
            <a:chOff x="7453312" y="2839332"/>
            <a:chExt cx="2727217" cy="6381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E7E6735-A145-30D8-60D6-8884E84AFEDE}"/>
                </a:ext>
              </a:extLst>
            </p:cNvPr>
            <p:cNvSpPr/>
            <p:nvPr/>
          </p:nvSpPr>
          <p:spPr>
            <a:xfrm>
              <a:off x="7453312" y="2839332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16BADEB-1DDD-7D9F-8E52-7EC396E89889}"/>
                </a:ext>
              </a:extLst>
            </p:cNvPr>
            <p:cNvSpPr/>
            <p:nvPr/>
          </p:nvSpPr>
          <p:spPr>
            <a:xfrm>
              <a:off x="8206912" y="2962967"/>
              <a:ext cx="19736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A</a:t>
              </a:r>
              <a:r>
                <a:rPr lang="en-GB" sz="1400" dirty="0"/>
                <a:t>rtificial intelligence</a:t>
              </a: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38D3D48C-48B5-E678-D495-70A2B3110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6853" y="2952872"/>
              <a:ext cx="411095" cy="411095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AF22ED-2C3C-AC3A-1B5F-3045AB755636}"/>
              </a:ext>
            </a:extLst>
          </p:cNvPr>
          <p:cNvGrpSpPr/>
          <p:nvPr/>
        </p:nvGrpSpPr>
        <p:grpSpPr>
          <a:xfrm>
            <a:off x="18631834" y="3670630"/>
            <a:ext cx="3781993" cy="638176"/>
            <a:chOff x="7453312" y="3670630"/>
            <a:chExt cx="3781993" cy="63817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7E9561A-41C1-EF26-38F0-61BDB60AF31F}"/>
                </a:ext>
              </a:extLst>
            </p:cNvPr>
            <p:cNvSpPr/>
            <p:nvPr/>
          </p:nvSpPr>
          <p:spPr>
            <a:xfrm>
              <a:off x="7453312" y="3670630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06053E1-AC9F-8074-047F-A05D5C616FE3}"/>
                </a:ext>
              </a:extLst>
            </p:cNvPr>
            <p:cNvSpPr/>
            <p:nvPr/>
          </p:nvSpPr>
          <p:spPr>
            <a:xfrm>
              <a:off x="8206912" y="3794265"/>
              <a:ext cx="302839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R</a:t>
              </a:r>
              <a:r>
                <a:rPr lang="en-GB" sz="1400" dirty="0"/>
                <a:t>obotic systems and automation</a:t>
              </a: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AA87765F-F328-BFF0-0C0C-F5A410D9E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6853" y="3784170"/>
              <a:ext cx="411095" cy="411095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AFB08F-8BA6-A54D-9B87-1C7B3FD35E2C}"/>
              </a:ext>
            </a:extLst>
          </p:cNvPr>
          <p:cNvGrpSpPr/>
          <p:nvPr/>
        </p:nvGrpSpPr>
        <p:grpSpPr>
          <a:xfrm>
            <a:off x="16688567" y="4501927"/>
            <a:ext cx="4187825" cy="638176"/>
            <a:chOff x="7453312" y="4501927"/>
            <a:chExt cx="4187825" cy="63817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B67916-830E-67BB-7F9A-67149C7E3C50}"/>
                </a:ext>
              </a:extLst>
            </p:cNvPr>
            <p:cNvSpPr/>
            <p:nvPr/>
          </p:nvSpPr>
          <p:spPr>
            <a:xfrm>
              <a:off x="7453312" y="4501927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90643F-3AD4-676E-0FF2-EE74CD879678}"/>
                </a:ext>
              </a:extLst>
            </p:cNvPr>
            <p:cNvSpPr/>
            <p:nvPr/>
          </p:nvSpPr>
          <p:spPr>
            <a:xfrm>
              <a:off x="8206912" y="4517840"/>
              <a:ext cx="3434225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b="1" dirty="0"/>
                <a:t>T</a:t>
              </a:r>
              <a:r>
                <a:rPr lang="en-GB" sz="1400" dirty="0"/>
                <a:t>echnology integration &amp; information modelling</a:t>
              </a:r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814E3FDB-DFF5-D96A-D329-CBD1D0756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66853" y="4615467"/>
              <a:ext cx="411095" cy="411095"/>
            </a:xfrm>
            <a:prstGeom prst="rect">
              <a:avLst/>
            </a:prstGeom>
          </p:spPr>
        </p:pic>
      </p:grpSp>
      <p:sp>
        <p:nvSpPr>
          <p:cNvPr id="11" name="Rectangle 10"/>
          <p:cNvSpPr/>
          <p:nvPr/>
        </p:nvSpPr>
        <p:spPr>
          <a:xfrm>
            <a:off x="0" y="1"/>
            <a:ext cx="40930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2451CE-8B6E-3FEE-F2A6-4025BC16ACED}"/>
              </a:ext>
            </a:extLst>
          </p:cNvPr>
          <p:cNvGrpSpPr/>
          <p:nvPr/>
        </p:nvGrpSpPr>
        <p:grpSpPr>
          <a:xfrm>
            <a:off x="484065" y="2016740"/>
            <a:ext cx="3148987" cy="2722900"/>
            <a:chOff x="484065" y="2016740"/>
            <a:chExt cx="3148987" cy="27229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9E1FB9-BB30-4E61-BA05-3B1FCCC5E6AA}"/>
                </a:ext>
              </a:extLst>
            </p:cNvPr>
            <p:cNvSpPr/>
            <p:nvPr/>
          </p:nvSpPr>
          <p:spPr>
            <a:xfrm>
              <a:off x="484065" y="2016740"/>
              <a:ext cx="9188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Bio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FD97985-FB27-49F4-BC52-71432BE9A2D5}"/>
                </a:ext>
              </a:extLst>
            </p:cNvPr>
            <p:cNvSpPr/>
            <p:nvPr/>
          </p:nvSpPr>
          <p:spPr>
            <a:xfrm>
              <a:off x="523591" y="2885479"/>
              <a:ext cx="30267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 err="1">
                  <a:latin typeface="+mj-lt"/>
                </a:rPr>
                <a:t>Dr.</a:t>
              </a:r>
              <a:r>
                <a:rPr lang="en-GB" b="1" dirty="0">
                  <a:latin typeface="+mj-lt"/>
                </a:rPr>
                <a:t> Borja Garcia DeSoto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7BB1C8E-88CD-4671-B077-AB9A12EB7121}"/>
                </a:ext>
              </a:extLst>
            </p:cNvPr>
            <p:cNvSpPr/>
            <p:nvPr/>
          </p:nvSpPr>
          <p:spPr>
            <a:xfrm>
              <a:off x="523591" y="3207186"/>
              <a:ext cx="30027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latin typeface="Montserrat Light" pitchFamily="2" charset="77"/>
                </a:rPr>
                <a:t>Associate Professor, NYU Abu Dhabi,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DF6EF0-9CA8-B9AA-86D0-20E592A52DA5}"/>
                </a:ext>
              </a:extLst>
            </p:cNvPr>
            <p:cNvSpPr/>
            <p:nvPr/>
          </p:nvSpPr>
          <p:spPr>
            <a:xfrm>
              <a:off x="523591" y="3570089"/>
              <a:ext cx="3109461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Light" pitchFamily="2" charset="77"/>
                </a:rPr>
                <a:t>Driving digital twin research that links IoT sensing with BIM and AI to transform real-time data into predictive insights and scalable infrastructure optimization.</a:t>
              </a:r>
              <a:endParaRPr lang="en-GB" sz="1400" dirty="0">
                <a:latin typeface="Montserrat Light" pitchFamily="2" charset="77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7762218-6FA4-9453-23C1-67D3912F0812}"/>
              </a:ext>
            </a:extLst>
          </p:cNvPr>
          <p:cNvGrpSpPr/>
          <p:nvPr/>
        </p:nvGrpSpPr>
        <p:grpSpPr>
          <a:xfrm>
            <a:off x="4093026" y="1580197"/>
            <a:ext cx="5236376" cy="5277803"/>
            <a:chOff x="4093026" y="1580197"/>
            <a:chExt cx="5236376" cy="527780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2AEED99-A5C4-5819-F2C0-AF485510AA72}"/>
                </a:ext>
              </a:extLst>
            </p:cNvPr>
            <p:cNvGrpSpPr/>
            <p:nvPr/>
          </p:nvGrpSpPr>
          <p:grpSpPr>
            <a:xfrm>
              <a:off x="4093026" y="2901434"/>
              <a:ext cx="4049487" cy="3956566"/>
              <a:chOff x="4093026" y="2901434"/>
              <a:chExt cx="4049487" cy="3956566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4093026" y="3124200"/>
                <a:ext cx="3860799" cy="37338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823B283-3DF9-4F9F-84F1-CAED095B7D66}"/>
                  </a:ext>
                </a:extLst>
              </p:cNvPr>
              <p:cNvSpPr/>
              <p:nvPr/>
            </p:nvSpPr>
            <p:spPr>
              <a:xfrm>
                <a:off x="4308132" y="3550553"/>
                <a:ext cx="16001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+mj-lt"/>
                  </a:rPr>
                  <a:t>Experience: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123B846-D854-422E-8518-8025AB77B66F}"/>
                  </a:ext>
                </a:extLst>
              </p:cNvPr>
              <p:cNvSpPr/>
              <p:nvPr/>
            </p:nvSpPr>
            <p:spPr>
              <a:xfrm>
                <a:off x="4302319" y="3906669"/>
                <a:ext cx="3158943" cy="2277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latin typeface="Montserrat Medium" pitchFamily="2" charset="77"/>
                  </a:rPr>
                  <a:t>Moving research into real-world pilots.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latin typeface="Montserrat Medium" pitchFamily="2" charset="77"/>
                  </a:rPr>
                  <a:t>Integrating IoT pipelines with enterprise systems.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latin typeface="Montserrat Medium" pitchFamily="2" charset="77"/>
                  </a:rPr>
                  <a:t>Advancing twins from monitoring to optimization.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latin typeface="Montserrat Medium" pitchFamily="2" charset="77"/>
                  </a:rPr>
                  <a:t>Creating value-driven, repeatable frameworks.</a:t>
                </a:r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7B9E85C-72F0-41F1-8829-00C8C0DE81E1}"/>
                  </a:ext>
                </a:extLst>
              </p:cNvPr>
              <p:cNvCxnSpPr/>
              <p:nvPr/>
            </p:nvCxnSpPr>
            <p:spPr>
              <a:xfrm>
                <a:off x="5372100" y="2901434"/>
                <a:ext cx="16383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6C6A557-E0A8-44B9-A069-C4E20E0E44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42513" y="3821965"/>
                <a:ext cx="0" cy="25947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3" name="Picture 42" descr="A person in a suit&#10;&#10;AI-generated content may be incorrect.">
              <a:extLst>
                <a:ext uri="{FF2B5EF4-FFF2-40B4-BE49-F238E27FC236}">
                  <a16:creationId xmlns:a16="http://schemas.microsoft.com/office/drawing/2014/main" id="{30963D7E-12A6-4B47-8564-800BAD02C4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29"/>
            <a:stretch/>
          </p:blipFill>
          <p:spPr>
            <a:xfrm>
              <a:off x="7339510" y="1580197"/>
              <a:ext cx="1989892" cy="1989892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55F59B6D-5212-157D-1F6E-6CA52B6B8C57}"/>
              </a:ext>
            </a:extLst>
          </p:cNvPr>
          <p:cNvSpPr/>
          <p:nvPr/>
        </p:nvSpPr>
        <p:spPr>
          <a:xfrm>
            <a:off x="-10997689" y="1"/>
            <a:ext cx="40930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C2A2A5-338F-4606-B1C3-C38BC72FADF6}"/>
              </a:ext>
            </a:extLst>
          </p:cNvPr>
          <p:cNvSpPr/>
          <p:nvPr/>
        </p:nvSpPr>
        <p:spPr>
          <a:xfrm>
            <a:off x="-10329437" y="520184"/>
            <a:ext cx="918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accent1"/>
                </a:solidFill>
                <a:latin typeface="+mj-lt"/>
              </a:rPr>
              <a:t>Bio</a:t>
            </a:r>
          </a:p>
        </p:txBody>
      </p:sp>
      <p:pic>
        <p:nvPicPr>
          <p:cNvPr id="51" name="Google Shape;166;p4" descr="A group of books with text overlay&#10;&#10;AI-generated content may be incorrect.">
            <a:extLst>
              <a:ext uri="{FF2B5EF4-FFF2-40B4-BE49-F238E27FC236}">
                <a16:creationId xmlns:a16="http://schemas.microsoft.com/office/drawing/2014/main" id="{C2A6CA08-221D-C413-9236-4B41F26796A0}"/>
              </a:ext>
            </a:extLst>
          </p:cNvPr>
          <p:cNvPicPr preferRelativeResize="0"/>
          <p:nvPr/>
        </p:nvPicPr>
        <p:blipFill rotWithShape="1">
          <a:blip r:embed="rId7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5830" b="77277" l="7509" r="91990">
                        <a14:foregroundMark x1="9262" y1="40851" x2="34418" y2="39915"/>
                        <a14:foregroundMark x1="8886" y1="40170" x2="11389" y2="62553"/>
                        <a14:foregroundMark x1="9262" y1="71064" x2="10763" y2="61191"/>
                        <a14:foregroundMark x1="10763" y1="61191" x2="15895" y2="53106"/>
                        <a14:foregroundMark x1="15895" y1="53106" x2="26783" y2="47574"/>
                        <a14:foregroundMark x1="26783" y1="47574" x2="37672" y2="51064"/>
                        <a14:foregroundMark x1="37672" y1="51064" x2="34919" y2="59745"/>
                        <a14:foregroundMark x1="34919" y1="59745" x2="21402" y2="56340"/>
                        <a14:foregroundMark x1="21402" y1="56340" x2="35169" y2="51319"/>
                        <a14:foregroundMark x1="35169" y1="51319" x2="66083" y2="54723"/>
                        <a14:foregroundMark x1="66083" y1="54723" x2="73467" y2="61021"/>
                        <a14:foregroundMark x1="73467" y1="61021" x2="54568" y2="63149"/>
                        <a14:foregroundMark x1="54568" y1="63149" x2="41427" y2="61872"/>
                        <a14:foregroundMark x1="41427" y1="61872" x2="71965" y2="58638"/>
                        <a14:foregroundMark x1="71965" y1="58638" x2="49687" y2="60766"/>
                        <a14:foregroundMark x1="49687" y1="60766" x2="69337" y2="48085"/>
                        <a14:foregroundMark x1="69337" y1="48085" x2="69212" y2="64766"/>
                        <a14:foregroundMark x1="69212" y1="64766" x2="58824" y2="69532"/>
                        <a14:foregroundMark x1="58824" y1="69532" x2="56696" y2="69617"/>
                        <a14:foregroundMark x1="50063" y1="43745" x2="62453" y2="44681"/>
                        <a14:foregroundMark x1="62453" y1="44681" x2="38423" y2="39915"/>
                        <a14:foregroundMark x1="38423" y1="39915" x2="60826" y2="38894"/>
                        <a14:foregroundMark x1="60826" y1="38894" x2="50063" y2="39915"/>
                        <a14:foregroundMark x1="62078" y1="35830" x2="41802" y2="37021"/>
                        <a14:foregroundMark x1="61327" y1="38979" x2="61327" y2="66894"/>
                        <a14:foregroundMark x1="77722" y1="52255" x2="77347" y2="73447"/>
                        <a14:foregroundMark x1="77347" y1="73447" x2="77347" y2="73447"/>
                        <a14:foregroundMark x1="65207" y1="37532" x2="73467" y2="55830"/>
                        <a14:foregroundMark x1="68461" y1="37957" x2="70213" y2="50979"/>
                        <a14:foregroundMark x1="92240" y1="39660" x2="91489" y2="67404"/>
                        <a14:foregroundMark x1="91865" y1="76596" x2="90738" y2="65957"/>
                        <a14:foregroundMark x1="90113" y1="77021" x2="65957" y2="73957"/>
                        <a14:foregroundMark x1="65957" y1="73957" x2="65957" y2="73957"/>
                        <a14:foregroundMark x1="69212" y1="77277" x2="36546" y2="77277"/>
                        <a14:foregroundMark x1="7509" y1="74638" x2="8135" y2="62553"/>
                        <a14:foregroundMark x1="73467" y1="68851" x2="74093" y2="62809"/>
                      </a14:backgroundRemoval>
                    </a14:imgEffect>
                  </a14:imgLayer>
                </a14:imgProps>
              </a:ext>
            </a:extLst>
          </a:blip>
          <a:srcRect t="31698" b="18310"/>
          <a:stretch/>
        </p:blipFill>
        <p:spPr>
          <a:xfrm>
            <a:off x="-10241577" y="4137243"/>
            <a:ext cx="2873832" cy="2112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9CA0BB6B-8EE8-E4A3-0434-BAE562519831}"/>
              </a:ext>
            </a:extLst>
          </p:cNvPr>
          <p:cNvGrpSpPr/>
          <p:nvPr/>
        </p:nvGrpSpPr>
        <p:grpSpPr>
          <a:xfrm>
            <a:off x="4093026" y="7873530"/>
            <a:ext cx="5230322" cy="5283890"/>
            <a:chOff x="4093026" y="1574110"/>
            <a:chExt cx="5230322" cy="528389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BC07851-C41E-AE61-BD51-7B05523D4395}"/>
                </a:ext>
              </a:extLst>
            </p:cNvPr>
            <p:cNvSpPr/>
            <p:nvPr/>
          </p:nvSpPr>
          <p:spPr>
            <a:xfrm>
              <a:off x="4093026" y="3124200"/>
              <a:ext cx="3860799" cy="37338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A68568-6193-0599-9F27-B557E5A63C58}"/>
                </a:ext>
              </a:extLst>
            </p:cNvPr>
            <p:cNvCxnSpPr/>
            <p:nvPr/>
          </p:nvCxnSpPr>
          <p:spPr>
            <a:xfrm>
              <a:off x="5372100" y="2901434"/>
              <a:ext cx="1638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A819F57-DFFE-B5BD-65EF-68BF90354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2513" y="3821965"/>
              <a:ext cx="0" cy="259471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 descr="A person in a white shirt&#10;&#10;AI-generated content may be incorrect.">
              <a:extLst>
                <a:ext uri="{FF2B5EF4-FFF2-40B4-BE49-F238E27FC236}">
                  <a16:creationId xmlns:a16="http://schemas.microsoft.com/office/drawing/2014/main" id="{BDE98FD3-5AD0-0448-42E2-E92C120C19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96" r="20904"/>
            <a:stretch/>
          </p:blipFill>
          <p:spPr>
            <a:xfrm>
              <a:off x="7333456" y="1574110"/>
              <a:ext cx="1989892" cy="1999297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9AA389C-BA1A-EF16-F25D-257431E955CF}"/>
                </a:ext>
              </a:extLst>
            </p:cNvPr>
            <p:cNvSpPr/>
            <p:nvPr/>
          </p:nvSpPr>
          <p:spPr>
            <a:xfrm>
              <a:off x="4308132" y="3550553"/>
              <a:ext cx="16001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+mj-lt"/>
                </a:rPr>
                <a:t>Experience: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EA98A25-6664-4E06-8962-CA3073B7055D}"/>
                </a:ext>
              </a:extLst>
            </p:cNvPr>
            <p:cNvSpPr/>
            <p:nvPr/>
          </p:nvSpPr>
          <p:spPr>
            <a:xfrm>
              <a:off x="4302319" y="3906669"/>
              <a:ext cx="3494662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Digital construction, BIM, Digital Twins, and cybersecurity.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Construction 4.0 and the built environment.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Data, automation, and intelligent systems.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Improving project management, asset performance, and infrastructure resilience.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F593F403-52E7-D4FF-D131-A04946945B3D}"/>
              </a:ext>
            </a:extLst>
          </p:cNvPr>
          <p:cNvSpPr/>
          <p:nvPr/>
        </p:nvSpPr>
        <p:spPr>
          <a:xfrm>
            <a:off x="-10474098" y="1563587"/>
            <a:ext cx="1854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+mj-lt"/>
              </a:rPr>
              <a:t>Dr. Erika Parn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AF6EA9-AE44-F671-C9B9-43D19670EE2B}"/>
              </a:ext>
            </a:extLst>
          </p:cNvPr>
          <p:cNvSpPr/>
          <p:nvPr/>
        </p:nvSpPr>
        <p:spPr>
          <a:xfrm>
            <a:off x="-10474098" y="1885294"/>
            <a:ext cx="3405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Research Scientist at NYU Abu Dhabi and </a:t>
            </a:r>
          </a:p>
          <a:p>
            <a:r>
              <a:rPr lang="en-US" sz="1200" dirty="0"/>
              <a:t>Collaborator at the University of Cambridge.</a:t>
            </a:r>
            <a:endParaRPr lang="en-GB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F6062EB-ECD3-6E60-008E-76EF67F6D90D}"/>
              </a:ext>
            </a:extLst>
          </p:cNvPr>
          <p:cNvSpPr/>
          <p:nvPr/>
        </p:nvSpPr>
        <p:spPr>
          <a:xfrm>
            <a:off x="-10474098" y="2480585"/>
            <a:ext cx="310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Research into Digital Twins of the Built Environment and Business Value of Digital Twins and Cybersecurity of Digital Twins.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85496511-BBC4-3415-1A2F-C166197AE4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9" r="23039"/>
          <a:stretch>
            <a:fillRect/>
          </a:stretch>
        </p:blipFill>
        <p:spPr>
          <a:xfrm>
            <a:off x="14630338" y="0"/>
            <a:ext cx="8099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1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73DE9DD4-C3AD-C2AD-C0B5-3D35B85CD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9" r="23039"/>
          <a:stretch>
            <a:fillRect/>
          </a:stretch>
        </p:blipFill>
        <p:spPr>
          <a:xfrm>
            <a:off x="4092623" y="0"/>
            <a:ext cx="8099378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A565892-3045-7FFC-4034-1E83B0F10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5443" y="0"/>
            <a:ext cx="809937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29BB9A4-2881-A306-B03A-21736B243F12}"/>
              </a:ext>
            </a:extLst>
          </p:cNvPr>
          <p:cNvSpPr/>
          <p:nvPr/>
        </p:nvSpPr>
        <p:spPr>
          <a:xfrm>
            <a:off x="-14803967" y="1"/>
            <a:ext cx="40930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95236C-9A00-9C9A-EB0B-512D02651526}"/>
              </a:ext>
            </a:extLst>
          </p:cNvPr>
          <p:cNvGrpSpPr/>
          <p:nvPr/>
        </p:nvGrpSpPr>
        <p:grpSpPr>
          <a:xfrm>
            <a:off x="-14319902" y="2016740"/>
            <a:ext cx="3148987" cy="2722900"/>
            <a:chOff x="484065" y="2016740"/>
            <a:chExt cx="3148987" cy="27229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5FA07D-52A9-5B58-335A-5883ACA88F22}"/>
                </a:ext>
              </a:extLst>
            </p:cNvPr>
            <p:cNvSpPr/>
            <p:nvPr/>
          </p:nvSpPr>
          <p:spPr>
            <a:xfrm>
              <a:off x="484065" y="2016740"/>
              <a:ext cx="9188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Bio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AF6D28-2378-A7CE-55C7-07D34A10E383}"/>
                </a:ext>
              </a:extLst>
            </p:cNvPr>
            <p:cNvSpPr/>
            <p:nvPr/>
          </p:nvSpPr>
          <p:spPr>
            <a:xfrm>
              <a:off x="523591" y="2885479"/>
              <a:ext cx="30267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latin typeface="+mj-lt"/>
                </a:rPr>
                <a:t>Dr. Borja Garcia DeSoto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BD11EC-5547-6DD3-AA8F-9AA36C5C6554}"/>
                </a:ext>
              </a:extLst>
            </p:cNvPr>
            <p:cNvSpPr/>
            <p:nvPr/>
          </p:nvSpPr>
          <p:spPr>
            <a:xfrm>
              <a:off x="523591" y="3207186"/>
              <a:ext cx="29450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/>
                <a:t>Associate Professor, NYU Abu Dhabi, 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15FE32-6AF9-F432-128E-BC147F3F22F9}"/>
                </a:ext>
              </a:extLst>
            </p:cNvPr>
            <p:cNvSpPr/>
            <p:nvPr/>
          </p:nvSpPr>
          <p:spPr>
            <a:xfrm>
              <a:off x="523591" y="3570089"/>
              <a:ext cx="3109461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Driving digital twin research that links IoT sensing with BIM and AI to transform real-time data into predictive insights and scalable infrastructure optimization.</a:t>
              </a:r>
              <a:endParaRPr lang="en-GB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290EC0-DF2D-B382-BE29-DD7C1193F491}"/>
              </a:ext>
            </a:extLst>
          </p:cNvPr>
          <p:cNvGrpSpPr/>
          <p:nvPr/>
        </p:nvGrpSpPr>
        <p:grpSpPr>
          <a:xfrm>
            <a:off x="4093026" y="14774410"/>
            <a:ext cx="5236376" cy="5277803"/>
            <a:chOff x="4093026" y="14774410"/>
            <a:chExt cx="5236376" cy="527780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65BECBC-62F4-504F-A3F7-E58BC15BE77A}"/>
                </a:ext>
              </a:extLst>
            </p:cNvPr>
            <p:cNvGrpSpPr/>
            <p:nvPr/>
          </p:nvGrpSpPr>
          <p:grpSpPr>
            <a:xfrm>
              <a:off x="4093026" y="16095647"/>
              <a:ext cx="4049487" cy="3956566"/>
              <a:chOff x="4093026" y="2901434"/>
              <a:chExt cx="4049487" cy="39565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4E106B-3042-3149-35C3-14DAEFD0EE11}"/>
                  </a:ext>
                </a:extLst>
              </p:cNvPr>
              <p:cNvSpPr/>
              <p:nvPr/>
            </p:nvSpPr>
            <p:spPr>
              <a:xfrm>
                <a:off x="4093026" y="3124200"/>
                <a:ext cx="3860799" cy="37338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EB2E62E-41D4-B2E7-4C40-A6F5DEBCE0AF}"/>
                  </a:ext>
                </a:extLst>
              </p:cNvPr>
              <p:cNvSpPr/>
              <p:nvPr/>
            </p:nvSpPr>
            <p:spPr>
              <a:xfrm>
                <a:off x="4308132" y="3550553"/>
                <a:ext cx="16001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+mj-lt"/>
                  </a:rPr>
                  <a:t>Experience: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5BC6C07-952C-BDE8-D2C6-D0ACF49DFE43}"/>
                  </a:ext>
                </a:extLst>
              </p:cNvPr>
              <p:cNvSpPr/>
              <p:nvPr/>
            </p:nvSpPr>
            <p:spPr>
              <a:xfrm>
                <a:off x="4302319" y="3906669"/>
                <a:ext cx="3158943" cy="22775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Moving research into real-world pilots.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Integrating IoT pipelines with enterprise systems.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Advancing twins from monitoring to optimization.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Creating value-driven, repeatable frameworks.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F30C90B-4C65-7EBD-F61A-A87BD40D038A}"/>
                  </a:ext>
                </a:extLst>
              </p:cNvPr>
              <p:cNvCxnSpPr/>
              <p:nvPr/>
            </p:nvCxnSpPr>
            <p:spPr>
              <a:xfrm>
                <a:off x="5372100" y="2901434"/>
                <a:ext cx="16383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CB566F8-9CBD-2A99-1193-07FAFE3A7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42513" y="3821965"/>
                <a:ext cx="0" cy="25947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6" name="Picture 25" descr="A person in a suit&#10;&#10;AI-generated content may be incorrect.">
              <a:extLst>
                <a:ext uri="{FF2B5EF4-FFF2-40B4-BE49-F238E27FC236}">
                  <a16:creationId xmlns:a16="http://schemas.microsoft.com/office/drawing/2014/main" id="{731F4953-888D-5680-1002-F5900B1BB0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29"/>
            <a:stretch/>
          </p:blipFill>
          <p:spPr>
            <a:xfrm>
              <a:off x="7339510" y="14774410"/>
              <a:ext cx="1989892" cy="1989892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</p:grpSp>
      <p:sp>
        <p:nvSpPr>
          <p:cNvPr id="11" name="Rectangle 10"/>
          <p:cNvSpPr/>
          <p:nvPr/>
        </p:nvSpPr>
        <p:spPr>
          <a:xfrm>
            <a:off x="0" y="1"/>
            <a:ext cx="40930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9E1FB9-BB30-4E61-BA05-3B1FCCC5E6AA}"/>
              </a:ext>
            </a:extLst>
          </p:cNvPr>
          <p:cNvSpPr/>
          <p:nvPr/>
        </p:nvSpPr>
        <p:spPr>
          <a:xfrm>
            <a:off x="668252" y="520184"/>
            <a:ext cx="918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accent1"/>
                </a:solidFill>
                <a:latin typeface="+mj-lt"/>
              </a:rPr>
              <a:t>Bio</a:t>
            </a:r>
          </a:p>
        </p:txBody>
      </p:sp>
      <p:pic>
        <p:nvPicPr>
          <p:cNvPr id="16" name="Google Shape;166;p4" descr="A group of books with text overlay&#10;&#10;AI-generated content may be incorrect.">
            <a:extLst>
              <a:ext uri="{FF2B5EF4-FFF2-40B4-BE49-F238E27FC236}">
                <a16:creationId xmlns:a16="http://schemas.microsoft.com/office/drawing/2014/main" id="{E21FEE82-2816-499F-BF4A-9179E0D40E8F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5830" b="77277" l="7509" r="91990">
                        <a14:foregroundMark x1="9262" y1="40851" x2="34418" y2="39915"/>
                        <a14:foregroundMark x1="8886" y1="40170" x2="11389" y2="62553"/>
                        <a14:foregroundMark x1="9262" y1="71064" x2="10763" y2="61191"/>
                        <a14:foregroundMark x1="10763" y1="61191" x2="15895" y2="53106"/>
                        <a14:foregroundMark x1="15895" y1="53106" x2="26783" y2="47574"/>
                        <a14:foregroundMark x1="26783" y1="47574" x2="37672" y2="51064"/>
                        <a14:foregroundMark x1="37672" y1="51064" x2="34919" y2="59745"/>
                        <a14:foregroundMark x1="34919" y1="59745" x2="21402" y2="56340"/>
                        <a14:foregroundMark x1="21402" y1="56340" x2="35169" y2="51319"/>
                        <a14:foregroundMark x1="35169" y1="51319" x2="66083" y2="54723"/>
                        <a14:foregroundMark x1="66083" y1="54723" x2="73467" y2="61021"/>
                        <a14:foregroundMark x1="73467" y1="61021" x2="54568" y2="63149"/>
                        <a14:foregroundMark x1="54568" y1="63149" x2="41427" y2="61872"/>
                        <a14:foregroundMark x1="41427" y1="61872" x2="71965" y2="58638"/>
                        <a14:foregroundMark x1="71965" y1="58638" x2="49687" y2="60766"/>
                        <a14:foregroundMark x1="49687" y1="60766" x2="69337" y2="48085"/>
                        <a14:foregroundMark x1="69337" y1="48085" x2="69212" y2="64766"/>
                        <a14:foregroundMark x1="69212" y1="64766" x2="58824" y2="69532"/>
                        <a14:foregroundMark x1="58824" y1="69532" x2="56696" y2="69617"/>
                        <a14:foregroundMark x1="50063" y1="43745" x2="62453" y2="44681"/>
                        <a14:foregroundMark x1="62453" y1="44681" x2="38423" y2="39915"/>
                        <a14:foregroundMark x1="38423" y1="39915" x2="60826" y2="38894"/>
                        <a14:foregroundMark x1="60826" y1="38894" x2="50063" y2="39915"/>
                        <a14:foregroundMark x1="62078" y1="35830" x2="41802" y2="37021"/>
                        <a14:foregroundMark x1="61327" y1="38979" x2="61327" y2="66894"/>
                        <a14:foregroundMark x1="77722" y1="52255" x2="77347" y2="73447"/>
                        <a14:foregroundMark x1="77347" y1="73447" x2="77347" y2="73447"/>
                        <a14:foregroundMark x1="65207" y1="37532" x2="73467" y2="55830"/>
                        <a14:foregroundMark x1="68461" y1="37957" x2="70213" y2="50979"/>
                        <a14:foregroundMark x1="92240" y1="39660" x2="91489" y2="67404"/>
                        <a14:foregroundMark x1="91865" y1="76596" x2="90738" y2="65957"/>
                        <a14:foregroundMark x1="90113" y1="77021" x2="65957" y2="73957"/>
                        <a14:foregroundMark x1="65957" y1="73957" x2="65957" y2="73957"/>
                        <a14:foregroundMark x1="69212" y1="77277" x2="36546" y2="77277"/>
                        <a14:foregroundMark x1="7509" y1="74638" x2="8135" y2="62553"/>
                        <a14:foregroundMark x1="73467" y1="68851" x2="74093" y2="62809"/>
                      </a14:backgroundRemoval>
                    </a14:imgEffect>
                  </a14:imgLayer>
                </a14:imgProps>
              </a:ext>
            </a:extLst>
          </a:blip>
          <a:srcRect t="31698" b="18310"/>
          <a:stretch/>
        </p:blipFill>
        <p:spPr>
          <a:xfrm>
            <a:off x="756112" y="4137243"/>
            <a:ext cx="2873832" cy="2112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D79EA5B-7E8D-01FC-0E2E-B302CD5F01E3}"/>
              </a:ext>
            </a:extLst>
          </p:cNvPr>
          <p:cNvGrpSpPr/>
          <p:nvPr/>
        </p:nvGrpSpPr>
        <p:grpSpPr>
          <a:xfrm>
            <a:off x="4093026" y="1574110"/>
            <a:ext cx="5230322" cy="5283890"/>
            <a:chOff x="4093026" y="1574110"/>
            <a:chExt cx="5230322" cy="5283890"/>
          </a:xfrm>
        </p:grpSpPr>
        <p:sp>
          <p:nvSpPr>
            <p:cNvPr id="2" name="Rectangle 1"/>
            <p:cNvSpPr/>
            <p:nvPr/>
          </p:nvSpPr>
          <p:spPr>
            <a:xfrm>
              <a:off x="4093026" y="3124200"/>
              <a:ext cx="3860799" cy="37338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7B9E85C-72F0-41F1-8829-00C8C0DE81E1}"/>
                </a:ext>
              </a:extLst>
            </p:cNvPr>
            <p:cNvCxnSpPr/>
            <p:nvPr/>
          </p:nvCxnSpPr>
          <p:spPr>
            <a:xfrm>
              <a:off x="5372100" y="2901434"/>
              <a:ext cx="1638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6C6A557-E0A8-44B9-A069-C4E20E0E4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2513" y="3821965"/>
              <a:ext cx="0" cy="259471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 descr="A person in a white shirt&#10;&#10;AI-generated content may be incorrect.">
              <a:extLst>
                <a:ext uri="{FF2B5EF4-FFF2-40B4-BE49-F238E27FC236}">
                  <a16:creationId xmlns:a16="http://schemas.microsoft.com/office/drawing/2014/main" id="{89A75E37-7759-4448-A7D5-82BD44AA16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96" r="20904"/>
            <a:stretch/>
          </p:blipFill>
          <p:spPr>
            <a:xfrm>
              <a:off x="7333456" y="1574110"/>
              <a:ext cx="1989892" cy="1999297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96E0DC-3980-6972-A7AF-7AADE541B2C0}"/>
                </a:ext>
              </a:extLst>
            </p:cNvPr>
            <p:cNvSpPr/>
            <p:nvPr/>
          </p:nvSpPr>
          <p:spPr>
            <a:xfrm>
              <a:off x="4308132" y="3550553"/>
              <a:ext cx="16001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+mj-lt"/>
                </a:rPr>
                <a:t>Experience: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EEC154-EE5F-65C4-E838-4974B54B983D}"/>
                </a:ext>
              </a:extLst>
            </p:cNvPr>
            <p:cNvSpPr/>
            <p:nvPr/>
          </p:nvSpPr>
          <p:spPr>
            <a:xfrm>
              <a:off x="4302319" y="3906669"/>
              <a:ext cx="3494662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Digital construction, BIM, Digital Twins, and cybersecurity.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Construction 4.0 and the built environment.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Data, automation, and intelligent systems.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Improving project management, asset performance, and infrastructure resilience.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C4428A2-18BE-A293-0388-7EED318DE447}"/>
              </a:ext>
            </a:extLst>
          </p:cNvPr>
          <p:cNvSpPr/>
          <p:nvPr/>
        </p:nvSpPr>
        <p:spPr>
          <a:xfrm>
            <a:off x="523591" y="1563587"/>
            <a:ext cx="1854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+mj-lt"/>
              </a:rPr>
              <a:t>Dr. Erika Parn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52252-CFBA-C983-3AE5-B04D386B5B10}"/>
              </a:ext>
            </a:extLst>
          </p:cNvPr>
          <p:cNvSpPr/>
          <p:nvPr/>
        </p:nvSpPr>
        <p:spPr>
          <a:xfrm>
            <a:off x="523591" y="1885294"/>
            <a:ext cx="3539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Montserrat Light" pitchFamily="2" charset="77"/>
              </a:rPr>
              <a:t>Research Scientist at NYU Abu Dhabi and </a:t>
            </a:r>
          </a:p>
          <a:p>
            <a:r>
              <a:rPr lang="en-US" sz="1200" dirty="0">
                <a:latin typeface="Montserrat Light" pitchFamily="2" charset="77"/>
              </a:rPr>
              <a:t>Collaborator at the University of Cambridge.</a:t>
            </a:r>
            <a:endParaRPr lang="en-GB" sz="1200" dirty="0">
              <a:latin typeface="Montserrat Light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D16DD-FB90-9169-7834-1EA92EBD399B}"/>
              </a:ext>
            </a:extLst>
          </p:cNvPr>
          <p:cNvSpPr/>
          <p:nvPr/>
        </p:nvSpPr>
        <p:spPr>
          <a:xfrm>
            <a:off x="523591" y="2480585"/>
            <a:ext cx="310946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Montserrat Light" pitchFamily="2" charset="77"/>
              </a:rPr>
              <a:t>Research into Digital Twins of the Built Environment and Business Value of Digital Twins and Cybersecurity of Digital Twins.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9D1F43-E341-1618-BEF9-FEA9F909B9FC}"/>
              </a:ext>
            </a:extLst>
          </p:cNvPr>
          <p:cNvSpPr/>
          <p:nvPr/>
        </p:nvSpPr>
        <p:spPr>
          <a:xfrm>
            <a:off x="668252" y="-1613550"/>
            <a:ext cx="959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Research Team | 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people </a:t>
            </a:r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Of S.M.A.R.T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. Labs</a:t>
            </a:r>
            <a:endParaRPr lang="en-GB" sz="3600" b="1" spc="-1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03442-B46D-A2B4-53FB-B1169E4CE617}"/>
              </a:ext>
            </a:extLst>
          </p:cNvPr>
          <p:cNvSpPr/>
          <p:nvPr/>
        </p:nvSpPr>
        <p:spPr>
          <a:xfrm>
            <a:off x="-2126069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038329-28B0-13A9-0F1E-F1C04205A4C1}"/>
              </a:ext>
            </a:extLst>
          </p:cNvPr>
          <p:cNvSpPr/>
          <p:nvPr/>
        </p:nvSpPr>
        <p:spPr>
          <a:xfrm>
            <a:off x="-4727981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6359A5-C6DC-74AE-9081-CEB48F11200E}"/>
              </a:ext>
            </a:extLst>
          </p:cNvPr>
          <p:cNvSpPr/>
          <p:nvPr/>
        </p:nvSpPr>
        <p:spPr>
          <a:xfrm>
            <a:off x="-7329893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F10D0B-F514-592E-65C3-903B4FAFF8D8}"/>
              </a:ext>
            </a:extLst>
          </p:cNvPr>
          <p:cNvSpPr/>
          <p:nvPr/>
        </p:nvSpPr>
        <p:spPr>
          <a:xfrm>
            <a:off x="-9934185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40DB2F-1EBB-A4AF-5538-2B00FF492669}"/>
              </a:ext>
            </a:extLst>
          </p:cNvPr>
          <p:cNvGrpSpPr/>
          <p:nvPr/>
        </p:nvGrpSpPr>
        <p:grpSpPr>
          <a:xfrm>
            <a:off x="-9967526" y="3081477"/>
            <a:ext cx="1983235" cy="520147"/>
            <a:chOff x="809625" y="3081477"/>
            <a:chExt cx="1983235" cy="52014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849AD6B-D3B4-B0C6-BEC9-1855A7DE77C7}"/>
                </a:ext>
              </a:extLst>
            </p:cNvPr>
            <p:cNvSpPr/>
            <p:nvPr/>
          </p:nvSpPr>
          <p:spPr>
            <a:xfrm>
              <a:off x="809625" y="3081477"/>
              <a:ext cx="198323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Borja García De Soto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74B936F-7E4C-D7EA-8380-4592858EBCB2}"/>
                </a:ext>
              </a:extLst>
            </p:cNvPr>
            <p:cNvSpPr/>
            <p:nvPr/>
          </p:nvSpPr>
          <p:spPr>
            <a:xfrm>
              <a:off x="809625" y="3324625"/>
              <a:ext cx="16417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Associate Professor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44373B-E639-D53D-13FA-28FDDFE0C9C9}"/>
              </a:ext>
            </a:extLst>
          </p:cNvPr>
          <p:cNvGrpSpPr/>
          <p:nvPr/>
        </p:nvGrpSpPr>
        <p:grpSpPr>
          <a:xfrm>
            <a:off x="-7369110" y="3081477"/>
            <a:ext cx="2076209" cy="520147"/>
            <a:chOff x="3408041" y="3081477"/>
            <a:chExt cx="2076209" cy="5201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E965116-2044-0BA9-2698-AAF1A5EDCDE0}"/>
                </a:ext>
              </a:extLst>
            </p:cNvPr>
            <p:cNvSpPr/>
            <p:nvPr/>
          </p:nvSpPr>
          <p:spPr>
            <a:xfrm>
              <a:off x="3408041" y="3081477"/>
              <a:ext cx="149111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Eyob </a:t>
              </a:r>
              <a:r>
                <a:rPr lang="en-GB" sz="1400" dirty="0" err="1">
                  <a:solidFill>
                    <a:schemeClr val="bg1"/>
                  </a:solidFill>
                </a:rPr>
                <a:t>Mengiste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FEDABA3-F79B-CBED-D0A7-3862FAE39458}"/>
                </a:ext>
              </a:extLst>
            </p:cNvPr>
            <p:cNvSpPr/>
            <p:nvPr/>
          </p:nvSpPr>
          <p:spPr>
            <a:xfrm>
              <a:off x="3408041" y="3324625"/>
              <a:ext cx="20762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Instructor and Researcher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5506B77-99FF-B01A-858E-88D0AC5A1032}"/>
              </a:ext>
            </a:extLst>
          </p:cNvPr>
          <p:cNvGrpSpPr/>
          <p:nvPr/>
        </p:nvGrpSpPr>
        <p:grpSpPr>
          <a:xfrm>
            <a:off x="-4768785" y="3081477"/>
            <a:ext cx="1537600" cy="520147"/>
            <a:chOff x="6008366" y="3081477"/>
            <a:chExt cx="1537600" cy="52014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7F58A46-0FF5-BBFE-1A80-276013478F90}"/>
                </a:ext>
              </a:extLst>
            </p:cNvPr>
            <p:cNvSpPr/>
            <p:nvPr/>
          </p:nvSpPr>
          <p:spPr>
            <a:xfrm>
              <a:off x="6008366" y="3081477"/>
              <a:ext cx="130356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Erika A. </a:t>
              </a:r>
              <a:r>
                <a:rPr lang="en-GB" sz="1400" dirty="0" err="1">
                  <a:solidFill>
                    <a:schemeClr val="bg1"/>
                  </a:solidFill>
                </a:rPr>
                <a:t>Pärn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D046D50-290E-964D-B905-2E0549F1C9FB}"/>
                </a:ext>
              </a:extLst>
            </p:cNvPr>
            <p:cNvSpPr/>
            <p:nvPr/>
          </p:nvSpPr>
          <p:spPr>
            <a:xfrm>
              <a:off x="6008366" y="3324625"/>
              <a:ext cx="15376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Research Scientist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C66ADB5-BAC3-B0B7-B3E7-87015876443B}"/>
              </a:ext>
            </a:extLst>
          </p:cNvPr>
          <p:cNvGrpSpPr/>
          <p:nvPr/>
        </p:nvGrpSpPr>
        <p:grpSpPr>
          <a:xfrm>
            <a:off x="-2152585" y="3081477"/>
            <a:ext cx="1867819" cy="520147"/>
            <a:chOff x="8624566" y="3081477"/>
            <a:chExt cx="1867819" cy="52014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763D840-3B03-918C-B164-31922D17297F}"/>
                </a:ext>
              </a:extLst>
            </p:cNvPr>
            <p:cNvSpPr/>
            <p:nvPr/>
          </p:nvSpPr>
          <p:spPr>
            <a:xfrm>
              <a:off x="8624566" y="3081477"/>
              <a:ext cx="130356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Zihao</a:t>
              </a:r>
              <a:r>
                <a:rPr lang="en-GB" sz="1400" dirty="0">
                  <a:solidFill>
                    <a:schemeClr val="bg1"/>
                  </a:solidFill>
                </a:rPr>
                <a:t> Zheng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3D2B306-7D64-0340-6E38-7A3A56BAC0A0}"/>
                </a:ext>
              </a:extLst>
            </p:cNvPr>
            <p:cNvSpPr/>
            <p:nvPr/>
          </p:nvSpPr>
          <p:spPr>
            <a:xfrm>
              <a:off x="8624566" y="3324625"/>
              <a:ext cx="18678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Postdoctoral Associate</a:t>
              </a:r>
            </a:p>
          </p:txBody>
        </p:sp>
      </p:grpSp>
      <p:pic>
        <p:nvPicPr>
          <p:cNvPr id="46" name="Picture Placeholder 42" descr="A person in a suit&#10;&#10;AI-generated content may be incorrect.">
            <a:extLst>
              <a:ext uri="{FF2B5EF4-FFF2-40B4-BE49-F238E27FC236}">
                <a16:creationId xmlns:a16="http://schemas.microsoft.com/office/drawing/2014/main" id="{C2F708F8-69C6-3672-8062-6A4A61527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r="565"/>
          <a:stretch/>
        </p:blipFill>
        <p:spPr>
          <a:xfrm>
            <a:off x="-9881801" y="1560513"/>
            <a:ext cx="1485900" cy="1373187"/>
          </a:xfrm>
          <a:prstGeom prst="rect">
            <a:avLst/>
          </a:prstGeom>
        </p:spPr>
      </p:pic>
      <p:pic>
        <p:nvPicPr>
          <p:cNvPr id="47" name="Picture 6" descr="Eyob Mengiste, PhD, Instructor and Researcher">
            <a:extLst>
              <a:ext uri="{FF2B5EF4-FFF2-40B4-BE49-F238E27FC236}">
                <a16:creationId xmlns:a16="http://schemas.microsoft.com/office/drawing/2014/main" id="{9FB259B2-0E98-291F-E768-F61ABA386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-7279888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Placeholder 45" descr="A person in a white shirt&#10;&#10;AI-generated content may be incorrect.">
            <a:extLst>
              <a:ext uri="{FF2B5EF4-FFF2-40B4-BE49-F238E27FC236}">
                <a16:creationId xmlns:a16="http://schemas.microsoft.com/office/drawing/2014/main" id="{513F0D54-5F59-09CF-043E-AD7D752D06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558"/>
          <a:stretch/>
        </p:blipFill>
        <p:spPr>
          <a:xfrm>
            <a:off x="-4677976" y="1560513"/>
            <a:ext cx="1485900" cy="1373187"/>
          </a:xfrm>
          <a:prstGeom prst="rect">
            <a:avLst/>
          </a:prstGeom>
        </p:spPr>
      </p:pic>
      <p:pic>
        <p:nvPicPr>
          <p:cNvPr id="49" name="Picture 10" descr="Zihao Zheng, PhD, Post-Doctoral Associate">
            <a:extLst>
              <a:ext uri="{FF2B5EF4-FFF2-40B4-BE49-F238E27FC236}">
                <a16:creationId xmlns:a16="http://schemas.microsoft.com/office/drawing/2014/main" id="{C5195832-1499-A551-5CDC-25F2535C4D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3" r="3182"/>
          <a:stretch/>
        </p:blipFill>
        <p:spPr bwMode="auto">
          <a:xfrm>
            <a:off x="-2076063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851D99B-964E-38F5-2121-659BF27BD816}"/>
              </a:ext>
            </a:extLst>
          </p:cNvPr>
          <p:cNvSpPr/>
          <p:nvPr/>
        </p:nvSpPr>
        <p:spPr>
          <a:xfrm>
            <a:off x="15414970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E75CD57-6E2C-3D38-2F5C-B6932A3C4184}"/>
              </a:ext>
            </a:extLst>
          </p:cNvPr>
          <p:cNvSpPr/>
          <p:nvPr/>
        </p:nvSpPr>
        <p:spPr>
          <a:xfrm>
            <a:off x="20618794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57FEB41-AAE4-E389-FB73-4033185F7CBB}"/>
              </a:ext>
            </a:extLst>
          </p:cNvPr>
          <p:cNvSpPr/>
          <p:nvPr/>
        </p:nvSpPr>
        <p:spPr>
          <a:xfrm>
            <a:off x="18016882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ACE4271-3A99-5158-EAED-269439560EDB}"/>
              </a:ext>
            </a:extLst>
          </p:cNvPr>
          <p:cNvSpPr/>
          <p:nvPr/>
        </p:nvSpPr>
        <p:spPr>
          <a:xfrm>
            <a:off x="12810678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CE36911-3257-A2A6-3047-C107C01B5B3B}"/>
              </a:ext>
            </a:extLst>
          </p:cNvPr>
          <p:cNvGrpSpPr/>
          <p:nvPr/>
        </p:nvGrpSpPr>
        <p:grpSpPr>
          <a:xfrm>
            <a:off x="12777337" y="5629051"/>
            <a:ext cx="1402948" cy="520147"/>
            <a:chOff x="809625" y="5629051"/>
            <a:chExt cx="1402948" cy="520147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7B7AD6E-954E-9854-671D-AA9D9408F62D}"/>
                </a:ext>
              </a:extLst>
            </p:cNvPr>
            <p:cNvSpPr/>
            <p:nvPr/>
          </p:nvSpPr>
          <p:spPr>
            <a:xfrm>
              <a:off x="809625" y="5629051"/>
              <a:ext cx="14029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Semih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</a:rPr>
                <a:t>Sonkor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9716BA-1CF0-B731-8D92-88C410A8444B}"/>
                </a:ext>
              </a:extLst>
            </p:cNvPr>
            <p:cNvSpPr/>
            <p:nvPr/>
          </p:nvSpPr>
          <p:spPr>
            <a:xfrm>
              <a:off x="809625" y="5872199"/>
              <a:ext cx="110318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PhD Student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999E6CE-2D70-4331-F978-CF23D8E19FBD}"/>
              </a:ext>
            </a:extLst>
          </p:cNvPr>
          <p:cNvGrpSpPr/>
          <p:nvPr/>
        </p:nvGrpSpPr>
        <p:grpSpPr>
          <a:xfrm>
            <a:off x="15375753" y="5629051"/>
            <a:ext cx="2042547" cy="520147"/>
            <a:chOff x="3408041" y="5629051"/>
            <a:chExt cx="2042547" cy="520147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4912D4D-9C9F-6B1F-0BC2-C5B4A032E070}"/>
                </a:ext>
              </a:extLst>
            </p:cNvPr>
            <p:cNvSpPr/>
            <p:nvPr/>
          </p:nvSpPr>
          <p:spPr>
            <a:xfrm>
              <a:off x="3408041" y="5629051"/>
              <a:ext cx="204254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Dongchi</a:t>
              </a:r>
              <a:r>
                <a:rPr lang="en-GB" sz="1400" dirty="0">
                  <a:solidFill>
                    <a:schemeClr val="bg1"/>
                  </a:solidFill>
                </a:rPr>
                <a:t> (Daniel) Yao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FBF30E3-E7D7-37A4-7D17-6957045CCAAA}"/>
                </a:ext>
              </a:extLst>
            </p:cNvPr>
            <p:cNvSpPr/>
            <p:nvPr/>
          </p:nvSpPr>
          <p:spPr>
            <a:xfrm>
              <a:off x="3408041" y="5872199"/>
              <a:ext cx="18678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Postdoctoral Associate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505F7EA-C7A2-ED31-7C16-C65794E2A9DF}"/>
              </a:ext>
            </a:extLst>
          </p:cNvPr>
          <p:cNvGrpSpPr/>
          <p:nvPr/>
        </p:nvGrpSpPr>
        <p:grpSpPr>
          <a:xfrm>
            <a:off x="17976078" y="5629051"/>
            <a:ext cx="1577676" cy="520147"/>
            <a:chOff x="6008366" y="5629051"/>
            <a:chExt cx="1577676" cy="52014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B86F70C-90C2-64B7-E711-71770C5CFEC7}"/>
                </a:ext>
              </a:extLst>
            </p:cNvPr>
            <p:cNvSpPr/>
            <p:nvPr/>
          </p:nvSpPr>
          <p:spPr>
            <a:xfrm>
              <a:off x="6008366" y="5629051"/>
              <a:ext cx="113845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Nas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</a:rPr>
                <a:t>Gopee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96CBE52-C84F-72D4-2B5E-959D79BC8BC9}"/>
                </a:ext>
              </a:extLst>
            </p:cNvPr>
            <p:cNvSpPr/>
            <p:nvPr/>
          </p:nvSpPr>
          <p:spPr>
            <a:xfrm>
              <a:off x="6008366" y="5872199"/>
              <a:ext cx="15776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Research Assistant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7DECEAC-B8E3-3FD2-BA5A-38252F7C6CA4}"/>
              </a:ext>
            </a:extLst>
          </p:cNvPr>
          <p:cNvGrpSpPr/>
          <p:nvPr/>
        </p:nvGrpSpPr>
        <p:grpSpPr>
          <a:xfrm>
            <a:off x="20592278" y="5629051"/>
            <a:ext cx="1867819" cy="520147"/>
            <a:chOff x="8624566" y="5629051"/>
            <a:chExt cx="1867819" cy="520147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5F6614A-900C-EC77-A079-A5FCBEC8B249}"/>
                </a:ext>
              </a:extLst>
            </p:cNvPr>
            <p:cNvSpPr/>
            <p:nvPr/>
          </p:nvSpPr>
          <p:spPr>
            <a:xfrm>
              <a:off x="8624566" y="5629051"/>
              <a:ext cx="122180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Boyu</a:t>
              </a:r>
              <a:r>
                <a:rPr lang="en-GB" sz="1400" dirty="0">
                  <a:solidFill>
                    <a:schemeClr val="bg1"/>
                  </a:solidFill>
                </a:rPr>
                <a:t> Wang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95E7A6C-B16B-1A2C-F985-D315FC503A4A}"/>
                </a:ext>
              </a:extLst>
            </p:cNvPr>
            <p:cNvSpPr/>
            <p:nvPr/>
          </p:nvSpPr>
          <p:spPr>
            <a:xfrm>
              <a:off x="8624566" y="5872199"/>
              <a:ext cx="18678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Postdoctoral Associate</a:t>
              </a:r>
            </a:p>
          </p:txBody>
        </p:sp>
      </p:grpSp>
      <p:pic>
        <p:nvPicPr>
          <p:cNvPr id="68" name="Picture 16" descr="Semih Sonkor, PhD Student, NYUAD">
            <a:extLst>
              <a:ext uri="{FF2B5EF4-FFF2-40B4-BE49-F238E27FC236}">
                <a16:creationId xmlns:a16="http://schemas.microsoft.com/office/drawing/2014/main" id="{692A3B1F-C5FB-CF9E-6A34-6996998284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12863062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12" descr="Daniel Yao, PhD Student, NYUAD">
            <a:extLst>
              <a:ext uri="{FF2B5EF4-FFF2-40B4-BE49-F238E27FC236}">
                <a16:creationId xmlns:a16="http://schemas.microsoft.com/office/drawing/2014/main" id="{085B3EE9-1A47-62B9-297D-1118ECD60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15464975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8" descr="Nas Gopee, Research Assistant">
            <a:extLst>
              <a:ext uri="{FF2B5EF4-FFF2-40B4-BE49-F238E27FC236}">
                <a16:creationId xmlns:a16="http://schemas.microsoft.com/office/drawing/2014/main" id="{217A1D72-64ED-A675-9377-A9FFAC023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r="19776"/>
          <a:stretch/>
        </p:blipFill>
        <p:spPr bwMode="auto">
          <a:xfrm>
            <a:off x="18066887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4" descr="Boyu Wang, PhD, Post-Doctoral Associate">
            <a:extLst>
              <a:ext uri="{FF2B5EF4-FFF2-40B4-BE49-F238E27FC236}">
                <a16:creationId xmlns:a16="http://schemas.microsoft.com/office/drawing/2014/main" id="{720EDA0B-022D-0843-D62A-BE1FA96CBC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19590"/>
          <a:stretch/>
        </p:blipFill>
        <p:spPr bwMode="auto">
          <a:xfrm>
            <a:off x="20668800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975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0E36F0-499E-3442-66F7-9B4997B4801E}"/>
              </a:ext>
            </a:extLst>
          </p:cNvPr>
          <p:cNvSpPr/>
          <p:nvPr/>
        </p:nvSpPr>
        <p:spPr>
          <a:xfrm>
            <a:off x="-10997689" y="1"/>
            <a:ext cx="40930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ACF96-4377-03EF-998A-55B0BB40CE90}"/>
              </a:ext>
            </a:extLst>
          </p:cNvPr>
          <p:cNvSpPr/>
          <p:nvPr/>
        </p:nvSpPr>
        <p:spPr>
          <a:xfrm>
            <a:off x="-10329437" y="520184"/>
            <a:ext cx="918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accent1"/>
                </a:solidFill>
                <a:latin typeface="+mj-lt"/>
              </a:rPr>
              <a:t>Bio</a:t>
            </a:r>
          </a:p>
        </p:txBody>
      </p:sp>
      <p:pic>
        <p:nvPicPr>
          <p:cNvPr id="6" name="Google Shape;166;p4" descr="A group of books with text overlay&#10;&#10;AI-generated content may be incorrect.">
            <a:extLst>
              <a:ext uri="{FF2B5EF4-FFF2-40B4-BE49-F238E27FC236}">
                <a16:creationId xmlns:a16="http://schemas.microsoft.com/office/drawing/2014/main" id="{B51A76EB-A78C-F1C6-886F-3333FC8FE654}"/>
              </a:ext>
            </a:extLst>
          </p:cNvPr>
          <p:cNvPicPr preferRelativeResize="0"/>
          <p:nvPr/>
        </p:nvPicPr>
        <p:blipFill rotWithShape="1">
          <a:blip r:embed="rId2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830" b="77277" l="7509" r="91990">
                        <a14:foregroundMark x1="9262" y1="40851" x2="34418" y2="39915"/>
                        <a14:foregroundMark x1="8886" y1="40170" x2="11389" y2="62553"/>
                        <a14:foregroundMark x1="9262" y1="71064" x2="10763" y2="61191"/>
                        <a14:foregroundMark x1="10763" y1="61191" x2="15895" y2="53106"/>
                        <a14:foregroundMark x1="15895" y1="53106" x2="26783" y2="47574"/>
                        <a14:foregroundMark x1="26783" y1="47574" x2="37672" y2="51064"/>
                        <a14:foregroundMark x1="37672" y1="51064" x2="34919" y2="59745"/>
                        <a14:foregroundMark x1="34919" y1="59745" x2="21402" y2="56340"/>
                        <a14:foregroundMark x1="21402" y1="56340" x2="35169" y2="51319"/>
                        <a14:foregroundMark x1="35169" y1="51319" x2="66083" y2="54723"/>
                        <a14:foregroundMark x1="66083" y1="54723" x2="73467" y2="61021"/>
                        <a14:foregroundMark x1="73467" y1="61021" x2="54568" y2="63149"/>
                        <a14:foregroundMark x1="54568" y1="63149" x2="41427" y2="61872"/>
                        <a14:foregroundMark x1="41427" y1="61872" x2="71965" y2="58638"/>
                        <a14:foregroundMark x1="71965" y1="58638" x2="49687" y2="60766"/>
                        <a14:foregroundMark x1="49687" y1="60766" x2="69337" y2="48085"/>
                        <a14:foregroundMark x1="69337" y1="48085" x2="69212" y2="64766"/>
                        <a14:foregroundMark x1="69212" y1="64766" x2="58824" y2="69532"/>
                        <a14:foregroundMark x1="58824" y1="69532" x2="56696" y2="69617"/>
                        <a14:foregroundMark x1="50063" y1="43745" x2="62453" y2="44681"/>
                        <a14:foregroundMark x1="62453" y1="44681" x2="38423" y2="39915"/>
                        <a14:foregroundMark x1="38423" y1="39915" x2="60826" y2="38894"/>
                        <a14:foregroundMark x1="60826" y1="38894" x2="50063" y2="39915"/>
                        <a14:foregroundMark x1="62078" y1="35830" x2="41802" y2="37021"/>
                        <a14:foregroundMark x1="61327" y1="38979" x2="61327" y2="66894"/>
                        <a14:foregroundMark x1="77722" y1="52255" x2="77347" y2="73447"/>
                        <a14:foregroundMark x1="77347" y1="73447" x2="77347" y2="73447"/>
                        <a14:foregroundMark x1="65207" y1="37532" x2="73467" y2="55830"/>
                        <a14:foregroundMark x1="68461" y1="37957" x2="70213" y2="50979"/>
                        <a14:foregroundMark x1="92240" y1="39660" x2="91489" y2="67404"/>
                        <a14:foregroundMark x1="91865" y1="76596" x2="90738" y2="65957"/>
                        <a14:foregroundMark x1="90113" y1="77021" x2="65957" y2="73957"/>
                        <a14:foregroundMark x1="65957" y1="73957" x2="65957" y2="73957"/>
                        <a14:foregroundMark x1="69212" y1="77277" x2="36546" y2="77277"/>
                        <a14:foregroundMark x1="7509" y1="74638" x2="8135" y2="62553"/>
                        <a14:foregroundMark x1="73467" y1="68851" x2="74093" y2="62809"/>
                      </a14:backgroundRemoval>
                    </a14:imgEffect>
                  </a14:imgLayer>
                </a14:imgProps>
              </a:ext>
            </a:extLst>
          </a:blip>
          <a:srcRect t="31698" b="18310"/>
          <a:stretch/>
        </p:blipFill>
        <p:spPr>
          <a:xfrm>
            <a:off x="-10241577" y="4137243"/>
            <a:ext cx="2873832" cy="21127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B99B4B0-FBC9-E97C-8577-66D1FAB8ECE3}"/>
              </a:ext>
            </a:extLst>
          </p:cNvPr>
          <p:cNvGrpSpPr/>
          <p:nvPr/>
        </p:nvGrpSpPr>
        <p:grpSpPr>
          <a:xfrm>
            <a:off x="4093026" y="11112030"/>
            <a:ext cx="5230322" cy="5283890"/>
            <a:chOff x="4093026" y="1574110"/>
            <a:chExt cx="5230322" cy="52838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490283-F13E-32E5-579B-9A9709290F4F}"/>
                </a:ext>
              </a:extLst>
            </p:cNvPr>
            <p:cNvSpPr/>
            <p:nvPr/>
          </p:nvSpPr>
          <p:spPr>
            <a:xfrm>
              <a:off x="4093026" y="3124200"/>
              <a:ext cx="3860799" cy="37338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302ABA-3CC8-734E-B99C-D5BAA3F74FAA}"/>
                </a:ext>
              </a:extLst>
            </p:cNvPr>
            <p:cNvCxnSpPr/>
            <p:nvPr/>
          </p:nvCxnSpPr>
          <p:spPr>
            <a:xfrm>
              <a:off x="5372100" y="2901434"/>
              <a:ext cx="1638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C1CF514-178D-21FB-7502-D6F07FF076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2513" y="3821965"/>
              <a:ext cx="0" cy="259471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person in a white shirt&#10;&#10;AI-generated content may be incorrect.">
              <a:extLst>
                <a:ext uri="{FF2B5EF4-FFF2-40B4-BE49-F238E27FC236}">
                  <a16:creationId xmlns:a16="http://schemas.microsoft.com/office/drawing/2014/main" id="{AEEB7181-97FB-0928-96D6-C052AB03B5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96" r="20904"/>
            <a:stretch/>
          </p:blipFill>
          <p:spPr>
            <a:xfrm>
              <a:off x="7333456" y="1574110"/>
              <a:ext cx="1989892" cy="1999297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EF5DF3-B191-AB21-1DD2-5342E21F7CD0}"/>
                </a:ext>
              </a:extLst>
            </p:cNvPr>
            <p:cNvSpPr/>
            <p:nvPr/>
          </p:nvSpPr>
          <p:spPr>
            <a:xfrm>
              <a:off x="4308132" y="3550553"/>
              <a:ext cx="16001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+mj-lt"/>
                </a:rPr>
                <a:t>Experience: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08B479-F774-8384-3002-823491F65404}"/>
                </a:ext>
              </a:extLst>
            </p:cNvPr>
            <p:cNvSpPr/>
            <p:nvPr/>
          </p:nvSpPr>
          <p:spPr>
            <a:xfrm>
              <a:off x="4302319" y="3906669"/>
              <a:ext cx="3494662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Digital construction, BIM, Digital Twins, and cybersecurity.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Construction 4.0 and the built environment.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Data, automation, and intelligent systems.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Improving project management, asset performance, and infrastructure resilience.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3D13062-78B7-BE49-2C58-3C1B1BB3D75C}"/>
              </a:ext>
            </a:extLst>
          </p:cNvPr>
          <p:cNvSpPr/>
          <p:nvPr/>
        </p:nvSpPr>
        <p:spPr>
          <a:xfrm>
            <a:off x="-10474098" y="1563587"/>
            <a:ext cx="1854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+mj-lt"/>
              </a:rPr>
              <a:t>Dr. Erika Parn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194581-C351-38B9-F974-3FF89BB3B59B}"/>
              </a:ext>
            </a:extLst>
          </p:cNvPr>
          <p:cNvSpPr/>
          <p:nvPr/>
        </p:nvSpPr>
        <p:spPr>
          <a:xfrm>
            <a:off x="-10474098" y="1885294"/>
            <a:ext cx="3405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Research Scientist at NYU Abu Dhabi and </a:t>
            </a:r>
          </a:p>
          <a:p>
            <a:r>
              <a:rPr lang="en-US" sz="1200" dirty="0"/>
              <a:t>Collaborator at the University of Cambridge.</a:t>
            </a:r>
            <a:endParaRPr lang="en-GB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E9BD5-2001-B5CB-BF56-C02B22B3D28C}"/>
              </a:ext>
            </a:extLst>
          </p:cNvPr>
          <p:cNvSpPr/>
          <p:nvPr/>
        </p:nvSpPr>
        <p:spPr>
          <a:xfrm>
            <a:off x="-10474098" y="2480585"/>
            <a:ext cx="31094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Research into Digital Twins of the Built Environment and Business Value of Digital Twins and Cybersecurity of Digital Twins.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59E6F7-907F-BF4A-FF92-CEC02892FF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9" r="23039"/>
          <a:stretch>
            <a:fillRect/>
          </a:stretch>
        </p:blipFill>
        <p:spPr>
          <a:xfrm>
            <a:off x="17199023" y="0"/>
            <a:ext cx="8099378" cy="6858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55A80CFD-4A0D-4553-8264-FE390932BCB5}"/>
              </a:ext>
            </a:extLst>
          </p:cNvPr>
          <p:cNvSpPr/>
          <p:nvPr/>
        </p:nvSpPr>
        <p:spPr>
          <a:xfrm>
            <a:off x="3447258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337466-BDF5-4575-8902-C3210326B3BD}"/>
              </a:ext>
            </a:extLst>
          </p:cNvPr>
          <p:cNvSpPr/>
          <p:nvPr/>
        </p:nvSpPr>
        <p:spPr>
          <a:xfrm>
            <a:off x="8651082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973921-29F2-4F65-A2E2-89BCBBDD1840}"/>
              </a:ext>
            </a:extLst>
          </p:cNvPr>
          <p:cNvSpPr/>
          <p:nvPr/>
        </p:nvSpPr>
        <p:spPr>
          <a:xfrm>
            <a:off x="6049170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422CA2-E32B-43BC-A3C8-4E04C3452974}"/>
              </a:ext>
            </a:extLst>
          </p:cNvPr>
          <p:cNvSpPr/>
          <p:nvPr/>
        </p:nvSpPr>
        <p:spPr>
          <a:xfrm>
            <a:off x="842966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6CD29B-C437-4540-81C3-BA348E9AB3E3}"/>
              </a:ext>
            </a:extLst>
          </p:cNvPr>
          <p:cNvSpPr/>
          <p:nvPr/>
        </p:nvSpPr>
        <p:spPr>
          <a:xfrm>
            <a:off x="8651082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91C84A-511F-485E-8AF5-1F279DC13D21}"/>
              </a:ext>
            </a:extLst>
          </p:cNvPr>
          <p:cNvSpPr/>
          <p:nvPr/>
        </p:nvSpPr>
        <p:spPr>
          <a:xfrm>
            <a:off x="6049170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8C4B42-E8C5-44A7-B22A-8C37A2C90748}"/>
              </a:ext>
            </a:extLst>
          </p:cNvPr>
          <p:cNvSpPr/>
          <p:nvPr/>
        </p:nvSpPr>
        <p:spPr>
          <a:xfrm>
            <a:off x="3447258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2D998D-B3DB-4CC2-BAB5-6792FCB48004}"/>
              </a:ext>
            </a:extLst>
          </p:cNvPr>
          <p:cNvSpPr/>
          <p:nvPr/>
        </p:nvSpPr>
        <p:spPr>
          <a:xfrm>
            <a:off x="842966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7350B-3DF7-4F9B-9667-9A59FB9A9689}"/>
              </a:ext>
            </a:extLst>
          </p:cNvPr>
          <p:cNvSpPr/>
          <p:nvPr/>
        </p:nvSpPr>
        <p:spPr>
          <a:xfrm>
            <a:off x="668252" y="520184"/>
            <a:ext cx="959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Research Team | 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people </a:t>
            </a:r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Of S.M.A.R.T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. Labs</a:t>
            </a:r>
            <a:endParaRPr lang="en-GB" sz="3600" b="1" spc="-15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1629B2-A71C-861E-A30C-85E9E46BCDD4}"/>
              </a:ext>
            </a:extLst>
          </p:cNvPr>
          <p:cNvGrpSpPr/>
          <p:nvPr/>
        </p:nvGrpSpPr>
        <p:grpSpPr>
          <a:xfrm>
            <a:off x="809625" y="3081477"/>
            <a:ext cx="2063385" cy="520147"/>
            <a:chOff x="809625" y="3081477"/>
            <a:chExt cx="2063385" cy="5201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B02691-81C7-43E8-A3B6-CD47ED95B1BA}"/>
                </a:ext>
              </a:extLst>
            </p:cNvPr>
            <p:cNvSpPr/>
            <p:nvPr/>
          </p:nvSpPr>
          <p:spPr>
            <a:xfrm>
              <a:off x="809625" y="3081477"/>
              <a:ext cx="206338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Borja García De Soto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247FE3-7895-4242-B02A-BA04C662A354}"/>
                </a:ext>
              </a:extLst>
            </p:cNvPr>
            <p:cNvSpPr/>
            <p:nvPr/>
          </p:nvSpPr>
          <p:spPr>
            <a:xfrm>
              <a:off x="809625" y="3324625"/>
              <a:ext cx="17059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Associate Professor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121985-1B00-BFFD-0ACB-B9CE3D76B8FE}"/>
              </a:ext>
            </a:extLst>
          </p:cNvPr>
          <p:cNvGrpSpPr/>
          <p:nvPr/>
        </p:nvGrpSpPr>
        <p:grpSpPr>
          <a:xfrm>
            <a:off x="3408041" y="3081477"/>
            <a:ext cx="2222083" cy="520147"/>
            <a:chOff x="3408041" y="3081477"/>
            <a:chExt cx="2222083" cy="520147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822E70-8D47-47B0-92B9-4110A9704487}"/>
                </a:ext>
              </a:extLst>
            </p:cNvPr>
            <p:cNvSpPr/>
            <p:nvPr/>
          </p:nvSpPr>
          <p:spPr>
            <a:xfrm>
              <a:off x="3408041" y="3081477"/>
              <a:ext cx="154080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Eyob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Mengiste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B8AE3A-E613-4D09-90A1-8AFC81E02E65}"/>
                </a:ext>
              </a:extLst>
            </p:cNvPr>
            <p:cNvSpPr/>
            <p:nvPr/>
          </p:nvSpPr>
          <p:spPr>
            <a:xfrm>
              <a:off x="3408041" y="3324625"/>
              <a:ext cx="222208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Instructor and Researcher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3A1269-2FBF-1A1E-F4F5-CFB3FC1DABC3}"/>
              </a:ext>
            </a:extLst>
          </p:cNvPr>
          <p:cNvGrpSpPr/>
          <p:nvPr/>
        </p:nvGrpSpPr>
        <p:grpSpPr>
          <a:xfrm>
            <a:off x="6008366" y="3081477"/>
            <a:ext cx="1625766" cy="520147"/>
            <a:chOff x="6008366" y="3081477"/>
            <a:chExt cx="1625766" cy="52014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394284-2D3F-405D-925D-ADC07412499E}"/>
                </a:ext>
              </a:extLst>
            </p:cNvPr>
            <p:cNvSpPr/>
            <p:nvPr/>
          </p:nvSpPr>
          <p:spPr>
            <a:xfrm>
              <a:off x="6008366" y="3081477"/>
              <a:ext cx="13468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Erika A.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Pärn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84AB72-7E8F-4A3B-BB9C-DD76FFB45395}"/>
                </a:ext>
              </a:extLst>
            </p:cNvPr>
            <p:cNvSpPr/>
            <p:nvPr/>
          </p:nvSpPr>
          <p:spPr>
            <a:xfrm>
              <a:off x="6008366" y="3324625"/>
              <a:ext cx="162576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Scientist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B6C102-23E2-DD74-F1BD-5C4B5A3B96FE}"/>
              </a:ext>
            </a:extLst>
          </p:cNvPr>
          <p:cNvGrpSpPr/>
          <p:nvPr/>
        </p:nvGrpSpPr>
        <p:grpSpPr>
          <a:xfrm>
            <a:off x="8624566" y="3081477"/>
            <a:ext cx="1970411" cy="520147"/>
            <a:chOff x="8624566" y="3081477"/>
            <a:chExt cx="1970411" cy="52014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79B844-DDA3-494D-B146-FE8C6214DA8F}"/>
                </a:ext>
              </a:extLst>
            </p:cNvPr>
            <p:cNvSpPr/>
            <p:nvPr/>
          </p:nvSpPr>
          <p:spPr>
            <a:xfrm>
              <a:off x="8624566" y="3081477"/>
              <a:ext cx="13404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Zihao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Zheng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079BD68-FFDE-4023-BAE9-01FEB71F938D}"/>
                </a:ext>
              </a:extLst>
            </p:cNvPr>
            <p:cNvSpPr/>
            <p:nvPr/>
          </p:nvSpPr>
          <p:spPr>
            <a:xfrm>
              <a:off x="8624566" y="3324625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7E2679-74BE-A7A8-BDCC-7B25BFCC34AC}"/>
              </a:ext>
            </a:extLst>
          </p:cNvPr>
          <p:cNvGrpSpPr/>
          <p:nvPr/>
        </p:nvGrpSpPr>
        <p:grpSpPr>
          <a:xfrm>
            <a:off x="809625" y="5629051"/>
            <a:ext cx="1462260" cy="520147"/>
            <a:chOff x="809625" y="5629051"/>
            <a:chExt cx="1462260" cy="52014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93DDCE-6231-4490-B5FD-4EF08773A0E4}"/>
                </a:ext>
              </a:extLst>
            </p:cNvPr>
            <p:cNvSpPr/>
            <p:nvPr/>
          </p:nvSpPr>
          <p:spPr>
            <a:xfrm>
              <a:off x="809625" y="5629051"/>
              <a:ext cx="14622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Semih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Sonkor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46782A-8193-4BF3-80B8-29D3E8DB35C1}"/>
                </a:ext>
              </a:extLst>
            </p:cNvPr>
            <p:cNvSpPr/>
            <p:nvPr/>
          </p:nvSpPr>
          <p:spPr>
            <a:xfrm>
              <a:off x="809625" y="5872199"/>
              <a:ext cx="11993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PhD Student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D39959-F375-07AA-84D7-1F77436E9F9C}"/>
              </a:ext>
            </a:extLst>
          </p:cNvPr>
          <p:cNvGrpSpPr/>
          <p:nvPr/>
        </p:nvGrpSpPr>
        <p:grpSpPr>
          <a:xfrm>
            <a:off x="3408041" y="5629051"/>
            <a:ext cx="2109873" cy="520147"/>
            <a:chOff x="3408041" y="5629051"/>
            <a:chExt cx="2109873" cy="5201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535875-F975-42EB-B979-DD1BE91538EB}"/>
                </a:ext>
              </a:extLst>
            </p:cNvPr>
            <p:cNvSpPr/>
            <p:nvPr/>
          </p:nvSpPr>
          <p:spPr>
            <a:xfrm>
              <a:off x="3408041" y="5629051"/>
              <a:ext cx="21098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Dongchi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(Daniel) Yao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D37AA5-91CC-4B0B-90BA-AE41A14EC302}"/>
                </a:ext>
              </a:extLst>
            </p:cNvPr>
            <p:cNvSpPr/>
            <p:nvPr/>
          </p:nvSpPr>
          <p:spPr>
            <a:xfrm>
              <a:off x="3408041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9EB26A7-32DD-3728-48DB-56F2A06010DF}"/>
              </a:ext>
            </a:extLst>
          </p:cNvPr>
          <p:cNvGrpSpPr/>
          <p:nvPr/>
        </p:nvGrpSpPr>
        <p:grpSpPr>
          <a:xfrm>
            <a:off x="6008366" y="5629051"/>
            <a:ext cx="1661032" cy="520147"/>
            <a:chOff x="6008366" y="5629051"/>
            <a:chExt cx="1661032" cy="5201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3F09F3B-CE49-45AF-A6F8-E67CA9419BC6}"/>
                </a:ext>
              </a:extLst>
            </p:cNvPr>
            <p:cNvSpPr/>
            <p:nvPr/>
          </p:nvSpPr>
          <p:spPr>
            <a:xfrm>
              <a:off x="6008366" y="5629051"/>
              <a:ext cx="117051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Nas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Gopee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D7E7E9-5D34-45CC-B973-67625B7AB433}"/>
                </a:ext>
              </a:extLst>
            </p:cNvPr>
            <p:cNvSpPr/>
            <p:nvPr/>
          </p:nvSpPr>
          <p:spPr>
            <a:xfrm>
              <a:off x="6008366" y="5872199"/>
              <a:ext cx="16610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Assistant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FF77F2-A078-7BDC-DB83-28A69EB6BDCA}"/>
              </a:ext>
            </a:extLst>
          </p:cNvPr>
          <p:cNvGrpSpPr/>
          <p:nvPr/>
        </p:nvGrpSpPr>
        <p:grpSpPr>
          <a:xfrm>
            <a:off x="8624566" y="5629051"/>
            <a:ext cx="1970411" cy="520147"/>
            <a:chOff x="8624566" y="5629051"/>
            <a:chExt cx="1970411" cy="52014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4A10A6D-0062-44C9-A162-BA20F5A56DD3}"/>
                </a:ext>
              </a:extLst>
            </p:cNvPr>
            <p:cNvSpPr/>
            <p:nvPr/>
          </p:nvSpPr>
          <p:spPr>
            <a:xfrm>
              <a:off x="8624566" y="5629051"/>
              <a:ext cx="126028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Boyu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Wang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31ECE8-A3CD-44D4-B427-F85AE240A6E0}"/>
                </a:ext>
              </a:extLst>
            </p:cNvPr>
            <p:cNvSpPr/>
            <p:nvPr/>
          </p:nvSpPr>
          <p:spPr>
            <a:xfrm>
              <a:off x="8624566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pic>
        <p:nvPicPr>
          <p:cNvPr id="43" name="Picture Placeholder 42" descr="A person in a suit&#10;&#10;AI-generated content may be incorrect.">
            <a:extLst>
              <a:ext uri="{FF2B5EF4-FFF2-40B4-BE49-F238E27FC236}">
                <a16:creationId xmlns:a16="http://schemas.microsoft.com/office/drawing/2014/main" id="{4FE99F1C-DB50-45CE-97BF-05B7B231EA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r="565"/>
          <a:stretch/>
        </p:blipFill>
        <p:spPr>
          <a:xfrm>
            <a:off x="895350" y="1560513"/>
            <a:ext cx="1485900" cy="1373187"/>
          </a:xfrm>
          <a:prstGeom prst="rect">
            <a:avLst/>
          </a:prstGeom>
        </p:spPr>
      </p:pic>
      <p:pic>
        <p:nvPicPr>
          <p:cNvPr id="45" name="Picture 6" descr="Eyob Mengiste, PhD, Instructor and Researcher">
            <a:extLst>
              <a:ext uri="{FF2B5EF4-FFF2-40B4-BE49-F238E27FC236}">
                <a16:creationId xmlns:a16="http://schemas.microsoft.com/office/drawing/2014/main" id="{D99F8848-2751-4123-93E7-AF33C0729C35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Placeholder 45" descr="A person in a white shirt&#10;&#10;AI-generated content may be incorrect.">
            <a:extLst>
              <a:ext uri="{FF2B5EF4-FFF2-40B4-BE49-F238E27FC236}">
                <a16:creationId xmlns:a16="http://schemas.microsoft.com/office/drawing/2014/main" id="{F2B1BB0D-2834-4BC3-9358-245C5DCE8D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558"/>
          <a:stretch/>
        </p:blipFill>
        <p:spPr>
          <a:xfrm>
            <a:off x="6099175" y="1560513"/>
            <a:ext cx="1485900" cy="1373187"/>
          </a:xfrm>
          <a:prstGeom prst="rect">
            <a:avLst/>
          </a:prstGeom>
        </p:spPr>
      </p:pic>
      <p:pic>
        <p:nvPicPr>
          <p:cNvPr id="47" name="Picture 10" descr="Zihao Zheng, PhD, Post-Doctoral Associate">
            <a:extLst>
              <a:ext uri="{FF2B5EF4-FFF2-40B4-BE49-F238E27FC236}">
                <a16:creationId xmlns:a16="http://schemas.microsoft.com/office/drawing/2014/main" id="{119B6BFA-9BF3-470D-A3FC-AD41BE48601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3" r="3182"/>
          <a:stretch/>
        </p:blipFill>
        <p:spPr bwMode="auto">
          <a:xfrm>
            <a:off x="8701088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Semih Sonkor, PhD Student, NYUAD">
            <a:extLst>
              <a:ext uri="{FF2B5EF4-FFF2-40B4-BE49-F238E27FC236}">
                <a16:creationId xmlns:a16="http://schemas.microsoft.com/office/drawing/2014/main" id="{FE316733-ED87-41B0-97BE-81C0DA33B857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895350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aniel Yao, PhD Student, NYUAD">
            <a:extLst>
              <a:ext uri="{FF2B5EF4-FFF2-40B4-BE49-F238E27FC236}">
                <a16:creationId xmlns:a16="http://schemas.microsoft.com/office/drawing/2014/main" id="{F369EA2D-EED4-40B4-83CC-1972F4A90933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8" descr="Nas Gopee, Research Assistant">
            <a:extLst>
              <a:ext uri="{FF2B5EF4-FFF2-40B4-BE49-F238E27FC236}">
                <a16:creationId xmlns:a16="http://schemas.microsoft.com/office/drawing/2014/main" id="{94F055F1-330A-4DC2-8E2B-93C9E8FC9DEF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r="19776"/>
          <a:stretch/>
        </p:blipFill>
        <p:spPr bwMode="auto">
          <a:xfrm>
            <a:off x="6099175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4" descr="Boyu Wang, PhD, Post-Doctoral Associate">
            <a:extLst>
              <a:ext uri="{FF2B5EF4-FFF2-40B4-BE49-F238E27FC236}">
                <a16:creationId xmlns:a16="http://schemas.microsoft.com/office/drawing/2014/main" id="{F1A2C0B5-8243-42AB-85CB-E2C149705103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19590"/>
          <a:stretch/>
        </p:blipFill>
        <p:spPr bwMode="auto">
          <a:xfrm>
            <a:off x="8701088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333828-BEA4-FB9E-5A50-2A377C23BB7E}"/>
              </a:ext>
            </a:extLst>
          </p:cNvPr>
          <p:cNvSpPr/>
          <p:nvPr/>
        </p:nvSpPr>
        <p:spPr>
          <a:xfrm>
            <a:off x="12639126" y="0"/>
            <a:ext cx="85344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400" dist="38100" dir="10800000" sx="103000" sy="103000" algn="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26D94-5F39-C0A2-A724-AB7FD1A41BAD}"/>
              </a:ext>
            </a:extLst>
          </p:cNvPr>
          <p:cNvSpPr/>
          <p:nvPr/>
        </p:nvSpPr>
        <p:spPr>
          <a:xfrm>
            <a:off x="17699211" y="774184"/>
            <a:ext cx="20072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Artificial Intelligence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702DCB-1CD3-3321-A832-874EE5A4F54B}"/>
              </a:ext>
            </a:extLst>
          </p:cNvPr>
          <p:cNvSpPr/>
          <p:nvPr/>
        </p:nvSpPr>
        <p:spPr>
          <a:xfrm>
            <a:off x="17699211" y="987623"/>
            <a:ext cx="14446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Cybersecurity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068ACFC-3539-87F9-8574-373A04285148}"/>
              </a:ext>
            </a:extLst>
          </p:cNvPr>
          <p:cNvSpPr/>
          <p:nvPr/>
        </p:nvSpPr>
        <p:spPr>
          <a:xfrm>
            <a:off x="17699211" y="1235214"/>
            <a:ext cx="2209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Crowdsourcing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Risk identification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Machine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Vulnerability assessment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602B83A-EB16-515E-97F5-F20A0BA92B0A}"/>
              </a:ext>
            </a:extLst>
          </p:cNvPr>
          <p:cNvSpPr/>
          <p:nvPr/>
        </p:nvSpPr>
        <p:spPr>
          <a:xfrm>
            <a:off x="19154226" y="2268135"/>
            <a:ext cx="963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Robotics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89BBBF-B6CF-8190-4585-5987ECEAD3A3}"/>
              </a:ext>
            </a:extLst>
          </p:cNvPr>
          <p:cNvSpPr/>
          <p:nvPr/>
        </p:nvSpPr>
        <p:spPr>
          <a:xfrm>
            <a:off x="19154226" y="2481574"/>
            <a:ext cx="13516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Robotics &amp; AI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1DB0402-E993-54EA-4C6C-96FEFB6020C3}"/>
              </a:ext>
            </a:extLst>
          </p:cNvPr>
          <p:cNvSpPr/>
          <p:nvPr/>
        </p:nvSpPr>
        <p:spPr>
          <a:xfrm>
            <a:off x="19154226" y="2729165"/>
            <a:ext cx="14684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Autonomous reality capture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Progress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Inspection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Human-Robot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LLM integration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FA1BE87-00E9-6FFA-568D-66CE40750AEE}"/>
              </a:ext>
            </a:extLst>
          </p:cNvPr>
          <p:cNvSpPr/>
          <p:nvPr/>
        </p:nvSpPr>
        <p:spPr>
          <a:xfrm>
            <a:off x="18910473" y="4414554"/>
            <a:ext cx="15954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Technology Integration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1504D7-0DB3-CB1E-C649-7DBB4DF81171}"/>
              </a:ext>
            </a:extLst>
          </p:cNvPr>
          <p:cNvSpPr/>
          <p:nvPr/>
        </p:nvSpPr>
        <p:spPr>
          <a:xfrm>
            <a:off x="18910473" y="4910375"/>
            <a:ext cx="1465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Data Analytics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6169D6-4645-4D7C-38DD-F63E8399B3DD}"/>
              </a:ext>
            </a:extLst>
          </p:cNvPr>
          <p:cNvSpPr/>
          <p:nvPr/>
        </p:nvSpPr>
        <p:spPr>
          <a:xfrm>
            <a:off x="18910473" y="5157966"/>
            <a:ext cx="2209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Digital Twin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Data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Data visualization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9F8EB3-59AA-0DCE-D172-CD4B3C2DFBC7}"/>
              </a:ext>
            </a:extLst>
          </p:cNvPr>
          <p:cNvSpPr/>
          <p:nvPr/>
        </p:nvSpPr>
        <p:spPr>
          <a:xfrm>
            <a:off x="13124678" y="2575276"/>
            <a:ext cx="15071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Modularization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02FBC09-27B3-CDFE-532A-F1E76D802091}"/>
              </a:ext>
            </a:extLst>
          </p:cNvPr>
          <p:cNvSpPr/>
          <p:nvPr/>
        </p:nvSpPr>
        <p:spPr>
          <a:xfrm>
            <a:off x="13436713" y="4850189"/>
            <a:ext cx="13885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Sustainability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D69ADB-7F89-F752-BB58-AFDFC23050DE}"/>
              </a:ext>
            </a:extLst>
          </p:cNvPr>
          <p:cNvSpPr txBox="1"/>
          <p:nvPr/>
        </p:nvSpPr>
        <p:spPr>
          <a:xfrm>
            <a:off x="-3765906" y="2274838"/>
            <a:ext cx="2916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latin typeface="+mj-lt"/>
              </a:rPr>
              <a:t>Overview Research| Focus of S.M.A.R.T.</a:t>
            </a:r>
          </a:p>
        </p:txBody>
      </p:sp>
      <p:pic>
        <p:nvPicPr>
          <p:cNvPr id="76" name="Picture 75" descr="A purple flower with a hexagon and four circles&#10;&#10;AI-generated content may be incorrect.">
            <a:extLst>
              <a:ext uri="{FF2B5EF4-FFF2-40B4-BE49-F238E27FC236}">
                <a16:creationId xmlns:a16="http://schemas.microsoft.com/office/drawing/2014/main" id="{58EA06AB-3FD7-9E30-EAF1-9F97BF6EBC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69930" y="1295400"/>
            <a:ext cx="4432300" cy="4267200"/>
          </a:xfrm>
          <a:prstGeom prst="rect">
            <a:avLst/>
          </a:prstGeom>
        </p:spPr>
      </p:pic>
      <p:pic>
        <p:nvPicPr>
          <p:cNvPr id="77" name="Picture Placeholder 81">
            <a:extLst>
              <a:ext uri="{FF2B5EF4-FFF2-40B4-BE49-F238E27FC236}">
                <a16:creationId xmlns:a16="http://schemas.microsoft.com/office/drawing/2014/main" id="{2EAB55BF-46CA-AC2B-1357-1A1CED7CF5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6" r="1772"/>
          <a:stretch>
            <a:fillRect/>
          </a:stretch>
        </p:blipFill>
        <p:spPr>
          <a:xfrm>
            <a:off x="1497256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78" name="Picture Placeholder 75">
            <a:extLst>
              <a:ext uri="{FF2B5EF4-FFF2-40B4-BE49-F238E27FC236}">
                <a16:creationId xmlns:a16="http://schemas.microsoft.com/office/drawing/2014/main" id="{4741BD4E-27F1-AD2C-A35D-E53F951994E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2" b="2174"/>
          <a:stretch>
            <a:fillRect/>
          </a:stretch>
        </p:blipFill>
        <p:spPr>
          <a:xfrm>
            <a:off x="1747185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79" name="Picture Placeholder 77">
            <a:extLst>
              <a:ext uri="{FF2B5EF4-FFF2-40B4-BE49-F238E27FC236}">
                <a16:creationId xmlns:a16="http://schemas.microsoft.com/office/drawing/2014/main" id="{807A7AA2-2879-C505-CD32-B1E27D657A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1" r="26941"/>
          <a:stretch>
            <a:fillRect/>
          </a:stretch>
        </p:blipFill>
        <p:spPr>
          <a:xfrm>
            <a:off x="1729814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81" name="Picture Placeholder 79">
            <a:extLst>
              <a:ext uri="{FF2B5EF4-FFF2-40B4-BE49-F238E27FC236}">
                <a16:creationId xmlns:a16="http://schemas.microsoft.com/office/drawing/2014/main" id="{CCA0F10D-C8CC-3AF7-49A8-7D506B22B98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8" b="20348"/>
          <a:stretch>
            <a:fillRect/>
          </a:stretch>
        </p:blipFill>
        <p:spPr>
          <a:xfrm>
            <a:off x="1542694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83" name="Picture Placeholder 73">
            <a:extLst>
              <a:ext uri="{FF2B5EF4-FFF2-40B4-BE49-F238E27FC236}">
                <a16:creationId xmlns:a16="http://schemas.microsoft.com/office/drawing/2014/main" id="{02DD8D09-471A-D0BF-6121-01B006C2D6D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8" b="9998"/>
          <a:stretch>
            <a:fillRect/>
          </a:stretch>
        </p:blipFill>
        <p:spPr>
          <a:xfrm>
            <a:off x="1635376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158577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D03BDC9-3167-4369-AE3A-4ECB1301CAAB}"/>
              </a:ext>
            </a:extLst>
          </p:cNvPr>
          <p:cNvSpPr/>
          <p:nvPr/>
        </p:nvSpPr>
        <p:spPr>
          <a:xfrm>
            <a:off x="3657600" y="0"/>
            <a:ext cx="85344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400" dist="38100" dir="10800000" sx="103000" sy="103000" algn="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03CAF-3B09-419C-23FD-4A728289595B}"/>
              </a:ext>
            </a:extLst>
          </p:cNvPr>
          <p:cNvSpPr/>
          <p:nvPr/>
        </p:nvSpPr>
        <p:spPr>
          <a:xfrm>
            <a:off x="-7786910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0564FC-8846-E2B8-05B7-31EC8D762B3B}"/>
              </a:ext>
            </a:extLst>
          </p:cNvPr>
          <p:cNvSpPr/>
          <p:nvPr/>
        </p:nvSpPr>
        <p:spPr>
          <a:xfrm>
            <a:off x="-10388822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3B36F6-F37A-B5BB-168F-F1D79FDE8B8B}"/>
              </a:ext>
            </a:extLst>
          </p:cNvPr>
          <p:cNvSpPr/>
          <p:nvPr/>
        </p:nvSpPr>
        <p:spPr>
          <a:xfrm>
            <a:off x="-12990734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F1781-FB4B-B52E-C62B-05D237867CDE}"/>
              </a:ext>
            </a:extLst>
          </p:cNvPr>
          <p:cNvSpPr/>
          <p:nvPr/>
        </p:nvSpPr>
        <p:spPr>
          <a:xfrm>
            <a:off x="-15595026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DD5EBC-C865-7B55-261A-88CFF4C77E88}"/>
              </a:ext>
            </a:extLst>
          </p:cNvPr>
          <p:cNvGrpSpPr/>
          <p:nvPr/>
        </p:nvGrpSpPr>
        <p:grpSpPr>
          <a:xfrm>
            <a:off x="-15628367" y="3081477"/>
            <a:ext cx="1983235" cy="520147"/>
            <a:chOff x="809625" y="3081477"/>
            <a:chExt cx="1983235" cy="5201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11854-7797-D4FE-8426-A7A073627BB3}"/>
                </a:ext>
              </a:extLst>
            </p:cNvPr>
            <p:cNvSpPr/>
            <p:nvPr/>
          </p:nvSpPr>
          <p:spPr>
            <a:xfrm>
              <a:off x="809625" y="3081477"/>
              <a:ext cx="198323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Borja García De Soto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662500-0799-8FFC-6EC0-91014E7D7983}"/>
                </a:ext>
              </a:extLst>
            </p:cNvPr>
            <p:cNvSpPr/>
            <p:nvPr/>
          </p:nvSpPr>
          <p:spPr>
            <a:xfrm>
              <a:off x="809625" y="3324625"/>
              <a:ext cx="164179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Associate Professor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445ED9-1B28-5B54-FFAC-EFD505940935}"/>
              </a:ext>
            </a:extLst>
          </p:cNvPr>
          <p:cNvGrpSpPr/>
          <p:nvPr/>
        </p:nvGrpSpPr>
        <p:grpSpPr>
          <a:xfrm>
            <a:off x="-13029951" y="3081477"/>
            <a:ext cx="2076209" cy="520147"/>
            <a:chOff x="3408041" y="3081477"/>
            <a:chExt cx="2076209" cy="5201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E96B31-22D6-A7B4-3494-812EE71B9C84}"/>
                </a:ext>
              </a:extLst>
            </p:cNvPr>
            <p:cNvSpPr/>
            <p:nvPr/>
          </p:nvSpPr>
          <p:spPr>
            <a:xfrm>
              <a:off x="3408041" y="3081477"/>
              <a:ext cx="149111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Eyob </a:t>
              </a:r>
              <a:r>
                <a:rPr lang="en-GB" sz="1400" dirty="0" err="1">
                  <a:solidFill>
                    <a:schemeClr val="bg1"/>
                  </a:solidFill>
                </a:rPr>
                <a:t>Mengiste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08A455-BC43-5147-1DD6-92884531455B}"/>
                </a:ext>
              </a:extLst>
            </p:cNvPr>
            <p:cNvSpPr/>
            <p:nvPr/>
          </p:nvSpPr>
          <p:spPr>
            <a:xfrm>
              <a:off x="3408041" y="3324625"/>
              <a:ext cx="20762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Instructor and Researcher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CA4FEC-C4E6-BB4B-336C-78A15C9180D9}"/>
              </a:ext>
            </a:extLst>
          </p:cNvPr>
          <p:cNvGrpSpPr/>
          <p:nvPr/>
        </p:nvGrpSpPr>
        <p:grpSpPr>
          <a:xfrm>
            <a:off x="-10429626" y="3081477"/>
            <a:ext cx="1537600" cy="520147"/>
            <a:chOff x="6008366" y="3081477"/>
            <a:chExt cx="1537600" cy="52014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CE7B943-742F-162F-D88A-61AFBABAD2F4}"/>
                </a:ext>
              </a:extLst>
            </p:cNvPr>
            <p:cNvSpPr/>
            <p:nvPr/>
          </p:nvSpPr>
          <p:spPr>
            <a:xfrm>
              <a:off x="6008366" y="3081477"/>
              <a:ext cx="130356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Erika A. </a:t>
              </a:r>
              <a:r>
                <a:rPr lang="en-GB" sz="1400" dirty="0" err="1">
                  <a:solidFill>
                    <a:schemeClr val="bg1"/>
                  </a:solidFill>
                </a:rPr>
                <a:t>Pärn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0517A9-7F25-54E2-4202-BA98CA5EFAD1}"/>
                </a:ext>
              </a:extLst>
            </p:cNvPr>
            <p:cNvSpPr/>
            <p:nvPr/>
          </p:nvSpPr>
          <p:spPr>
            <a:xfrm>
              <a:off x="6008366" y="3324625"/>
              <a:ext cx="15376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Research Scientist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155F10D-8EC3-2271-B777-A71B61F120D9}"/>
              </a:ext>
            </a:extLst>
          </p:cNvPr>
          <p:cNvGrpSpPr/>
          <p:nvPr/>
        </p:nvGrpSpPr>
        <p:grpSpPr>
          <a:xfrm>
            <a:off x="-7813426" y="3081477"/>
            <a:ext cx="1867819" cy="520147"/>
            <a:chOff x="8624566" y="3081477"/>
            <a:chExt cx="1867819" cy="5201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A2F714A-2114-3858-845E-F49961FB034D}"/>
                </a:ext>
              </a:extLst>
            </p:cNvPr>
            <p:cNvSpPr/>
            <p:nvPr/>
          </p:nvSpPr>
          <p:spPr>
            <a:xfrm>
              <a:off x="8624566" y="3081477"/>
              <a:ext cx="130356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Zihao</a:t>
              </a:r>
              <a:r>
                <a:rPr lang="en-GB" sz="1400" dirty="0">
                  <a:solidFill>
                    <a:schemeClr val="bg1"/>
                  </a:solidFill>
                </a:rPr>
                <a:t> Zheng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E0D8B85-219D-A9A2-2807-4ACD9B3C2ADB}"/>
                </a:ext>
              </a:extLst>
            </p:cNvPr>
            <p:cNvSpPr/>
            <p:nvPr/>
          </p:nvSpPr>
          <p:spPr>
            <a:xfrm>
              <a:off x="8624566" y="3324625"/>
              <a:ext cx="18678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Postdoctoral Associate</a:t>
              </a:r>
            </a:p>
          </p:txBody>
        </p:sp>
      </p:grpSp>
      <p:pic>
        <p:nvPicPr>
          <p:cNvPr id="38" name="Picture Placeholder 42" descr="A person in a suit&#10;&#10;AI-generated content may be incorrect.">
            <a:extLst>
              <a:ext uri="{FF2B5EF4-FFF2-40B4-BE49-F238E27FC236}">
                <a16:creationId xmlns:a16="http://schemas.microsoft.com/office/drawing/2014/main" id="{41518556-1C8F-03C8-8B99-582C361F6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r="565"/>
          <a:stretch/>
        </p:blipFill>
        <p:spPr>
          <a:xfrm>
            <a:off x="-15542642" y="1560513"/>
            <a:ext cx="1485900" cy="1373187"/>
          </a:xfrm>
          <a:prstGeom prst="rect">
            <a:avLst/>
          </a:prstGeom>
        </p:spPr>
      </p:pic>
      <p:pic>
        <p:nvPicPr>
          <p:cNvPr id="39" name="Picture 6" descr="Eyob Mengiste, PhD, Instructor and Researcher">
            <a:extLst>
              <a:ext uri="{FF2B5EF4-FFF2-40B4-BE49-F238E27FC236}">
                <a16:creationId xmlns:a16="http://schemas.microsoft.com/office/drawing/2014/main" id="{62F6CCDC-E0AE-8296-E978-DE088ECA8E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-12940729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Placeholder 45" descr="A person in a white shirt&#10;&#10;AI-generated content may be incorrect.">
            <a:extLst>
              <a:ext uri="{FF2B5EF4-FFF2-40B4-BE49-F238E27FC236}">
                <a16:creationId xmlns:a16="http://schemas.microsoft.com/office/drawing/2014/main" id="{C1BE8D9B-DFF1-DA36-88C8-BE9E46C30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558"/>
          <a:stretch/>
        </p:blipFill>
        <p:spPr>
          <a:xfrm>
            <a:off x="-10338817" y="1560513"/>
            <a:ext cx="1485900" cy="1373187"/>
          </a:xfrm>
          <a:prstGeom prst="rect">
            <a:avLst/>
          </a:prstGeom>
        </p:spPr>
      </p:pic>
      <p:pic>
        <p:nvPicPr>
          <p:cNvPr id="41" name="Picture 10" descr="Zihao Zheng, PhD, Post-Doctoral Associate">
            <a:extLst>
              <a:ext uri="{FF2B5EF4-FFF2-40B4-BE49-F238E27FC236}">
                <a16:creationId xmlns:a16="http://schemas.microsoft.com/office/drawing/2014/main" id="{BAD6F232-E13F-E396-3C46-7B3B8D26B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3" r="3182"/>
          <a:stretch/>
        </p:blipFill>
        <p:spPr bwMode="auto">
          <a:xfrm>
            <a:off x="-7736904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73E7480B-D8FA-0473-30A0-DE42EF016598}"/>
              </a:ext>
            </a:extLst>
          </p:cNvPr>
          <p:cNvSpPr/>
          <p:nvPr/>
        </p:nvSpPr>
        <p:spPr>
          <a:xfrm>
            <a:off x="18861618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22A94C-2011-0854-A315-FD69C295B278}"/>
              </a:ext>
            </a:extLst>
          </p:cNvPr>
          <p:cNvSpPr/>
          <p:nvPr/>
        </p:nvSpPr>
        <p:spPr>
          <a:xfrm>
            <a:off x="24065442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7E2509-7A54-A878-B74C-09DA8C6236A4}"/>
              </a:ext>
            </a:extLst>
          </p:cNvPr>
          <p:cNvSpPr/>
          <p:nvPr/>
        </p:nvSpPr>
        <p:spPr>
          <a:xfrm>
            <a:off x="21463530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389BFC-63B7-0880-E16A-2BA01BD998BD}"/>
              </a:ext>
            </a:extLst>
          </p:cNvPr>
          <p:cNvSpPr/>
          <p:nvPr/>
        </p:nvSpPr>
        <p:spPr>
          <a:xfrm>
            <a:off x="16257326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A4D87A1-1926-CDE3-CEDF-FC803C6838AD}"/>
              </a:ext>
            </a:extLst>
          </p:cNvPr>
          <p:cNvGrpSpPr/>
          <p:nvPr/>
        </p:nvGrpSpPr>
        <p:grpSpPr>
          <a:xfrm>
            <a:off x="16223985" y="5629051"/>
            <a:ext cx="1402948" cy="520147"/>
            <a:chOff x="809625" y="5629051"/>
            <a:chExt cx="1402948" cy="52014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199DF0B-E727-743D-2225-665D3697E7DE}"/>
                </a:ext>
              </a:extLst>
            </p:cNvPr>
            <p:cNvSpPr/>
            <p:nvPr/>
          </p:nvSpPr>
          <p:spPr>
            <a:xfrm>
              <a:off x="809625" y="5629051"/>
              <a:ext cx="14029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Semih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</a:rPr>
                <a:t>Sonkor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E0B404-5136-A37C-BC43-C26F68F138BB}"/>
                </a:ext>
              </a:extLst>
            </p:cNvPr>
            <p:cNvSpPr/>
            <p:nvPr/>
          </p:nvSpPr>
          <p:spPr>
            <a:xfrm>
              <a:off x="809625" y="5872199"/>
              <a:ext cx="110318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PhD Student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A440201-DC29-3C5D-5662-296518083506}"/>
              </a:ext>
            </a:extLst>
          </p:cNvPr>
          <p:cNvGrpSpPr/>
          <p:nvPr/>
        </p:nvGrpSpPr>
        <p:grpSpPr>
          <a:xfrm>
            <a:off x="18822401" y="5629051"/>
            <a:ext cx="2042547" cy="520147"/>
            <a:chOff x="3408041" y="5629051"/>
            <a:chExt cx="2042547" cy="520147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CDD2244-C52D-8182-3BE7-DA052CB05438}"/>
                </a:ext>
              </a:extLst>
            </p:cNvPr>
            <p:cNvSpPr/>
            <p:nvPr/>
          </p:nvSpPr>
          <p:spPr>
            <a:xfrm>
              <a:off x="3408041" y="5629051"/>
              <a:ext cx="204254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Dongchi</a:t>
              </a:r>
              <a:r>
                <a:rPr lang="en-GB" sz="1400" dirty="0">
                  <a:solidFill>
                    <a:schemeClr val="bg1"/>
                  </a:solidFill>
                </a:rPr>
                <a:t> (Daniel) Yao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84FF7AA-465F-A61C-25EA-C2907051E927}"/>
                </a:ext>
              </a:extLst>
            </p:cNvPr>
            <p:cNvSpPr/>
            <p:nvPr/>
          </p:nvSpPr>
          <p:spPr>
            <a:xfrm>
              <a:off x="3408041" y="5872199"/>
              <a:ext cx="18678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Postdoctoral Associate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4C232A9-CA05-E295-C638-1E25BBA36530}"/>
              </a:ext>
            </a:extLst>
          </p:cNvPr>
          <p:cNvGrpSpPr/>
          <p:nvPr/>
        </p:nvGrpSpPr>
        <p:grpSpPr>
          <a:xfrm>
            <a:off x="21422726" y="5629051"/>
            <a:ext cx="1577676" cy="520147"/>
            <a:chOff x="6008366" y="5629051"/>
            <a:chExt cx="1577676" cy="52014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7A571E7-4430-E3BE-9A3E-55475EC1DE5D}"/>
                </a:ext>
              </a:extLst>
            </p:cNvPr>
            <p:cNvSpPr/>
            <p:nvPr/>
          </p:nvSpPr>
          <p:spPr>
            <a:xfrm>
              <a:off x="6008366" y="5629051"/>
              <a:ext cx="113845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Nas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</a:rPr>
                <a:t>Gopee</a:t>
              </a:r>
              <a:endParaRPr lang="en-GB" sz="1400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79F2579-81D9-BFA7-06A1-6505C340C424}"/>
                </a:ext>
              </a:extLst>
            </p:cNvPr>
            <p:cNvSpPr/>
            <p:nvPr/>
          </p:nvSpPr>
          <p:spPr>
            <a:xfrm>
              <a:off x="6008366" y="5872199"/>
              <a:ext cx="15776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Research Assistant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F242DD-AD9E-60BE-16A9-775BD1AEB25B}"/>
              </a:ext>
            </a:extLst>
          </p:cNvPr>
          <p:cNvGrpSpPr/>
          <p:nvPr/>
        </p:nvGrpSpPr>
        <p:grpSpPr>
          <a:xfrm>
            <a:off x="24038926" y="5629051"/>
            <a:ext cx="1867819" cy="520147"/>
            <a:chOff x="8624566" y="5629051"/>
            <a:chExt cx="1867819" cy="52014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11EA94-B298-949F-2289-EE7FB8A6428A}"/>
                </a:ext>
              </a:extLst>
            </p:cNvPr>
            <p:cNvSpPr/>
            <p:nvPr/>
          </p:nvSpPr>
          <p:spPr>
            <a:xfrm>
              <a:off x="8624566" y="5629051"/>
              <a:ext cx="122180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</a:rPr>
                <a:t>Boyu</a:t>
              </a:r>
              <a:r>
                <a:rPr lang="en-GB" sz="1400" dirty="0">
                  <a:solidFill>
                    <a:schemeClr val="bg1"/>
                  </a:solidFill>
                </a:rPr>
                <a:t> Wang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2A1FFD0-5705-043C-80B4-758BBE1C5B9C}"/>
                </a:ext>
              </a:extLst>
            </p:cNvPr>
            <p:cNvSpPr/>
            <p:nvPr/>
          </p:nvSpPr>
          <p:spPr>
            <a:xfrm>
              <a:off x="8624566" y="5872199"/>
              <a:ext cx="18678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Postdoctoral Associate</a:t>
              </a:r>
            </a:p>
          </p:txBody>
        </p:sp>
      </p:grpSp>
      <p:pic>
        <p:nvPicPr>
          <p:cNvPr id="58" name="Picture 16" descr="Semih Sonkor, PhD Student, NYUAD">
            <a:extLst>
              <a:ext uri="{FF2B5EF4-FFF2-40B4-BE49-F238E27FC236}">
                <a16:creationId xmlns:a16="http://schemas.microsoft.com/office/drawing/2014/main" id="{A3EB1FAF-9FA6-2EB4-6E23-3B3B7D73A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16309710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2" descr="Daniel Yao, PhD Student, NYUAD">
            <a:extLst>
              <a:ext uri="{FF2B5EF4-FFF2-40B4-BE49-F238E27FC236}">
                <a16:creationId xmlns:a16="http://schemas.microsoft.com/office/drawing/2014/main" id="{1A587B67-837A-5BBB-0CC8-DD30A9E6A7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18911623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18" descr="Nas Gopee, Research Assistant">
            <a:extLst>
              <a:ext uri="{FF2B5EF4-FFF2-40B4-BE49-F238E27FC236}">
                <a16:creationId xmlns:a16="http://schemas.microsoft.com/office/drawing/2014/main" id="{EB11A881-685F-52F3-7D51-BD606ACCC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r="19776"/>
          <a:stretch/>
        </p:blipFill>
        <p:spPr bwMode="auto">
          <a:xfrm>
            <a:off x="21513535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4" descr="Boyu Wang, PhD, Post-Doctoral Associate">
            <a:extLst>
              <a:ext uri="{FF2B5EF4-FFF2-40B4-BE49-F238E27FC236}">
                <a16:creationId xmlns:a16="http://schemas.microsoft.com/office/drawing/2014/main" id="{1FB282E1-721E-8485-40C6-0E8F063752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19590"/>
          <a:stretch/>
        </p:blipFill>
        <p:spPr bwMode="auto">
          <a:xfrm>
            <a:off x="24115448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1D7287-9F16-4E26-9F0B-7C646BB4854D}"/>
              </a:ext>
            </a:extLst>
          </p:cNvPr>
          <p:cNvSpPr txBox="1"/>
          <p:nvPr/>
        </p:nvSpPr>
        <p:spPr>
          <a:xfrm>
            <a:off x="550863" y="2274838"/>
            <a:ext cx="2916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latin typeface="+mj-lt"/>
              </a:rPr>
              <a:t>Overview Research| Focus of S.M.A.R.T.</a:t>
            </a:r>
          </a:p>
        </p:txBody>
      </p:sp>
      <p:pic>
        <p:nvPicPr>
          <p:cNvPr id="11" name="Picture 10" descr="A purple flower with a hexagon and four circles&#10;&#10;AI-generated content may be incorrect.">
            <a:extLst>
              <a:ext uri="{FF2B5EF4-FFF2-40B4-BE49-F238E27FC236}">
                <a16:creationId xmlns:a16="http://schemas.microsoft.com/office/drawing/2014/main" id="{5FCBD7FA-88CC-4DC4-A650-D0CBE94AF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8650" y="1295400"/>
            <a:ext cx="4432300" cy="4267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F6F9A22-AAD5-4225-9BE6-DAE9EDC9DBB0}"/>
              </a:ext>
            </a:extLst>
          </p:cNvPr>
          <p:cNvSpPr/>
          <p:nvPr/>
        </p:nvSpPr>
        <p:spPr>
          <a:xfrm>
            <a:off x="8717685" y="774184"/>
            <a:ext cx="21531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  <a:latin typeface="+mj-lt"/>
              </a:rPr>
              <a:t>Artificial Intelligence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5E3DA7-F9D8-4660-9EE4-B3910373CB58}"/>
              </a:ext>
            </a:extLst>
          </p:cNvPr>
          <p:cNvSpPr/>
          <p:nvPr/>
        </p:nvSpPr>
        <p:spPr>
          <a:xfrm>
            <a:off x="8717685" y="987623"/>
            <a:ext cx="14927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latin typeface="Montserrat" pitchFamily="2" charset="77"/>
              </a:rPr>
              <a:t>Cybersecurity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03AB62-4317-41B2-862C-B8AA27F8BCB1}"/>
              </a:ext>
            </a:extLst>
          </p:cNvPr>
          <p:cNvSpPr/>
          <p:nvPr/>
        </p:nvSpPr>
        <p:spPr>
          <a:xfrm>
            <a:off x="8717685" y="1235214"/>
            <a:ext cx="2209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Crowdsourcing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Risk identification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Machine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Vulnerability assessment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F7E330-FA63-45A9-9585-6E90B5B3EF15}"/>
              </a:ext>
            </a:extLst>
          </p:cNvPr>
          <p:cNvSpPr/>
          <p:nvPr/>
        </p:nvSpPr>
        <p:spPr>
          <a:xfrm>
            <a:off x="10172700" y="2268135"/>
            <a:ext cx="10070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  <a:latin typeface="+mj-lt"/>
              </a:rPr>
              <a:t>Robotics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6BA87E-7A0D-4199-B3AC-C2A7F55D1AA1}"/>
              </a:ext>
            </a:extLst>
          </p:cNvPr>
          <p:cNvSpPr/>
          <p:nvPr/>
        </p:nvSpPr>
        <p:spPr>
          <a:xfrm>
            <a:off x="10172700" y="2481574"/>
            <a:ext cx="13708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latin typeface="Montserrat" pitchFamily="2" charset="77"/>
              </a:rPr>
              <a:t>Robotics</a:t>
            </a:r>
            <a:r>
              <a:rPr lang="en-GB" sz="1400" b="1" dirty="0"/>
              <a:t> &amp; AI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6AC65A-59AB-4DB2-8178-65ED163C2690}"/>
              </a:ext>
            </a:extLst>
          </p:cNvPr>
          <p:cNvSpPr/>
          <p:nvPr/>
        </p:nvSpPr>
        <p:spPr>
          <a:xfrm>
            <a:off x="10172700" y="2729165"/>
            <a:ext cx="14684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Autonomous reality capture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Progress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Inspection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Human-Robot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LLM integration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74C61B-85D0-4B82-9E9E-C466BE20C858}"/>
              </a:ext>
            </a:extLst>
          </p:cNvPr>
          <p:cNvSpPr/>
          <p:nvPr/>
        </p:nvSpPr>
        <p:spPr>
          <a:xfrm>
            <a:off x="9928947" y="4414554"/>
            <a:ext cx="15954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  <a:latin typeface="+mj-lt"/>
              </a:rPr>
              <a:t>Technology Integration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0B2642-1033-45F5-A091-A2AD24BFBE4F}"/>
              </a:ext>
            </a:extLst>
          </p:cNvPr>
          <p:cNvSpPr/>
          <p:nvPr/>
        </p:nvSpPr>
        <p:spPr>
          <a:xfrm>
            <a:off x="9928947" y="4910375"/>
            <a:ext cx="15520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latin typeface="Montserrat" pitchFamily="2" charset="77"/>
              </a:rPr>
              <a:t>Data Analytics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B3C3C2-6989-4214-A4CC-947EB578300B}"/>
              </a:ext>
            </a:extLst>
          </p:cNvPr>
          <p:cNvSpPr/>
          <p:nvPr/>
        </p:nvSpPr>
        <p:spPr>
          <a:xfrm>
            <a:off x="9928947" y="5157966"/>
            <a:ext cx="2209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Digital Twin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Data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Montserrat Light" pitchFamily="2" charset="77"/>
              </a:rPr>
              <a:t>Data visualization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65C51C-9B36-4265-B666-548C11D493DC}"/>
              </a:ext>
            </a:extLst>
          </p:cNvPr>
          <p:cNvSpPr/>
          <p:nvPr/>
        </p:nvSpPr>
        <p:spPr>
          <a:xfrm>
            <a:off x="4143152" y="2575276"/>
            <a:ext cx="16001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  <a:latin typeface="+mj-lt"/>
              </a:rPr>
              <a:t>Modularization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59F698-FC9C-4585-98B7-5C44584C01B9}"/>
              </a:ext>
            </a:extLst>
          </p:cNvPr>
          <p:cNvSpPr/>
          <p:nvPr/>
        </p:nvSpPr>
        <p:spPr>
          <a:xfrm>
            <a:off x="4455187" y="4850189"/>
            <a:ext cx="14670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  <a:latin typeface="+mj-lt"/>
              </a:rPr>
              <a:t>Sustainability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32BC9-8125-4B6C-904A-0DB4E3690D2E}"/>
              </a:ext>
            </a:extLst>
          </p:cNvPr>
          <p:cNvSpPr/>
          <p:nvPr/>
        </p:nvSpPr>
        <p:spPr>
          <a:xfrm>
            <a:off x="668252" y="-1613550"/>
            <a:ext cx="959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Research Team | 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people </a:t>
            </a:r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Of S.M.A.R.T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. Labs</a:t>
            </a:r>
            <a:endParaRPr lang="en-GB" sz="3600" b="1" spc="-1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2FCF89-3CBC-B74A-1AB2-8E630906224B}"/>
              </a:ext>
            </a:extLst>
          </p:cNvPr>
          <p:cNvSpPr txBox="1"/>
          <p:nvPr/>
        </p:nvSpPr>
        <p:spPr>
          <a:xfrm>
            <a:off x="1694928" y="-3246241"/>
            <a:ext cx="8802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>
                <a:latin typeface="+mj-lt"/>
              </a:rPr>
              <a:t>Areas Of Research Focus| 2026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7B753F8-4F33-BE28-1511-7FFB973F4529}"/>
              </a:ext>
            </a:extLst>
          </p:cNvPr>
          <p:cNvSpPr/>
          <p:nvPr/>
        </p:nvSpPr>
        <p:spPr>
          <a:xfrm>
            <a:off x="0" y="9823869"/>
            <a:ext cx="12192000" cy="2686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7526A7-A38D-D3DE-B916-E91AA6B84AC4}"/>
              </a:ext>
            </a:extLst>
          </p:cNvPr>
          <p:cNvSpPr/>
          <p:nvPr/>
        </p:nvSpPr>
        <p:spPr>
          <a:xfrm>
            <a:off x="505217" y="7456451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6669742-CBB9-D0DB-F7CC-A76D530C48A1}"/>
              </a:ext>
            </a:extLst>
          </p:cNvPr>
          <p:cNvSpPr/>
          <p:nvPr/>
        </p:nvSpPr>
        <p:spPr>
          <a:xfrm>
            <a:off x="4349650" y="8825136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3F275B-17D9-DD41-99DD-266A4E58D607}"/>
              </a:ext>
            </a:extLst>
          </p:cNvPr>
          <p:cNvSpPr/>
          <p:nvPr/>
        </p:nvSpPr>
        <p:spPr>
          <a:xfrm>
            <a:off x="8194083" y="10631798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C88ECF-1A4F-B01E-A373-7A0EFD3DD015}"/>
              </a:ext>
            </a:extLst>
          </p:cNvPr>
          <p:cNvSpPr txBox="1"/>
          <p:nvPr/>
        </p:nvSpPr>
        <p:spPr>
          <a:xfrm>
            <a:off x="1008345" y="7818051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Robotics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A6D3EF-D619-4895-5273-EBD85A528718}"/>
              </a:ext>
            </a:extLst>
          </p:cNvPr>
          <p:cNvSpPr txBox="1"/>
          <p:nvPr/>
        </p:nvSpPr>
        <p:spPr>
          <a:xfrm>
            <a:off x="4953000" y="918673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Cybersecurity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10320D-08EC-4C7F-1C55-39BB392728CE}"/>
              </a:ext>
            </a:extLst>
          </p:cNvPr>
          <p:cNvSpPr txBox="1"/>
          <p:nvPr/>
        </p:nvSpPr>
        <p:spPr>
          <a:xfrm>
            <a:off x="8381973" y="10993398"/>
            <a:ext cx="3116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Technology Integration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7753E68E-A39D-FF6D-F5E6-C0BA8BAADB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885" y="8115589"/>
            <a:ext cx="2688920" cy="341656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5879051F-DCC8-E919-1ED5-ED252F9B89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7358" y="9948446"/>
            <a:ext cx="2897283" cy="282081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A21B7D3-6AF0-460A-4A5D-07A9EE0CDEC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2654"/>
          <a:stretch>
            <a:fillRect/>
          </a:stretch>
        </p:blipFill>
        <p:spPr>
          <a:xfrm>
            <a:off x="8491791" y="11755107"/>
            <a:ext cx="2893324" cy="2820815"/>
          </a:xfrm>
          <a:prstGeom prst="rect">
            <a:avLst/>
          </a:prstGeom>
        </p:spPr>
      </p:pic>
      <p:pic>
        <p:nvPicPr>
          <p:cNvPr id="82" name="Picture Placeholder 81">
            <a:extLst>
              <a:ext uri="{FF2B5EF4-FFF2-40B4-BE49-F238E27FC236}">
                <a16:creationId xmlns:a16="http://schemas.microsoft.com/office/drawing/2014/main" id="{9B0E45E3-B458-8E06-6813-311AD6D25A9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6" r="1772"/>
          <a:stretch>
            <a:fillRect/>
          </a:stretch>
        </p:blipFill>
        <p:spPr>
          <a:xfrm>
            <a:off x="5911280" y="2519109"/>
            <a:ext cx="1104667" cy="1413865"/>
          </a:xfrm>
        </p:spPr>
      </p:pic>
      <p:pic>
        <p:nvPicPr>
          <p:cNvPr id="76" name="Picture Placeholder 75">
            <a:extLst>
              <a:ext uri="{FF2B5EF4-FFF2-40B4-BE49-F238E27FC236}">
                <a16:creationId xmlns:a16="http://schemas.microsoft.com/office/drawing/2014/main" id="{F6CE5B2A-032A-3361-3AD7-0F5E16DB6C5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2" b="2174"/>
          <a:stretch>
            <a:fillRect/>
          </a:stretch>
        </p:blipFill>
        <p:spPr>
          <a:xfrm>
            <a:off x="8410575" y="2594744"/>
            <a:ext cx="1429030" cy="1087508"/>
          </a:xfrm>
        </p:spPr>
      </p:pic>
      <p:pic>
        <p:nvPicPr>
          <p:cNvPr id="78" name="Picture Placeholder 77">
            <a:extLst>
              <a:ext uri="{FF2B5EF4-FFF2-40B4-BE49-F238E27FC236}">
                <a16:creationId xmlns:a16="http://schemas.microsoft.com/office/drawing/2014/main" id="{7FB5F81F-5A53-4BC2-9A83-24981D91F5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1" r="26941"/>
          <a:stretch>
            <a:fillRect/>
          </a:stretch>
        </p:blipFill>
        <p:spPr/>
      </p:pic>
      <p:pic>
        <p:nvPicPr>
          <p:cNvPr id="80" name="Picture Placeholder 79">
            <a:extLst>
              <a:ext uri="{FF2B5EF4-FFF2-40B4-BE49-F238E27FC236}">
                <a16:creationId xmlns:a16="http://schemas.microsoft.com/office/drawing/2014/main" id="{12861A29-69B7-1874-7ACC-903A4A1C66B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8" b="20348"/>
          <a:stretch>
            <a:fillRect/>
          </a:stretch>
        </p:blipFill>
        <p:spPr/>
      </p:pic>
      <p:pic>
        <p:nvPicPr>
          <p:cNvPr id="74" name="Picture Placeholder 73">
            <a:extLst>
              <a:ext uri="{FF2B5EF4-FFF2-40B4-BE49-F238E27FC236}">
                <a16:creationId xmlns:a16="http://schemas.microsoft.com/office/drawing/2014/main" id="{D0AC23D6-F9B9-CDA9-306C-1970BBB028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8" b="99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0243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1255AB-0014-BB2A-D236-C47B736B42D4}"/>
              </a:ext>
            </a:extLst>
          </p:cNvPr>
          <p:cNvSpPr txBox="1"/>
          <p:nvPr/>
        </p:nvSpPr>
        <p:spPr>
          <a:xfrm>
            <a:off x="1694928" y="436532"/>
            <a:ext cx="8802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>
                <a:latin typeface="+mj-lt"/>
              </a:rPr>
              <a:t>Areas Of Research Focus|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D5A516-201B-CC03-96DB-B8D29DB37834}"/>
              </a:ext>
            </a:extLst>
          </p:cNvPr>
          <p:cNvSpPr/>
          <p:nvPr/>
        </p:nvSpPr>
        <p:spPr>
          <a:xfrm>
            <a:off x="0" y="4171167"/>
            <a:ext cx="12192000" cy="2686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13AD9-8C39-7149-40EA-D2C5976BE40B}"/>
              </a:ext>
            </a:extLst>
          </p:cNvPr>
          <p:cNvSpPr/>
          <p:nvPr/>
        </p:nvSpPr>
        <p:spPr>
          <a:xfrm>
            <a:off x="505217" y="1803749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7EA55-848F-22DD-B886-4CD100763197}"/>
              </a:ext>
            </a:extLst>
          </p:cNvPr>
          <p:cNvSpPr/>
          <p:nvPr/>
        </p:nvSpPr>
        <p:spPr>
          <a:xfrm>
            <a:off x="4349650" y="1803749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E5C5C7-6056-69EC-0856-54BF00975574}"/>
              </a:ext>
            </a:extLst>
          </p:cNvPr>
          <p:cNvSpPr/>
          <p:nvPr/>
        </p:nvSpPr>
        <p:spPr>
          <a:xfrm>
            <a:off x="8194083" y="1803749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1E90C-517C-F5BC-8A00-2F3B61549160}"/>
              </a:ext>
            </a:extLst>
          </p:cNvPr>
          <p:cNvSpPr txBox="1"/>
          <p:nvPr/>
        </p:nvSpPr>
        <p:spPr>
          <a:xfrm>
            <a:off x="1008345" y="216534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Robotics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E4338-0B39-DFFB-C718-71EA39D8E1D1}"/>
              </a:ext>
            </a:extLst>
          </p:cNvPr>
          <p:cNvSpPr txBox="1"/>
          <p:nvPr/>
        </p:nvSpPr>
        <p:spPr>
          <a:xfrm>
            <a:off x="4953000" y="216534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Cybersecurity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FC2CBB-5D17-2D3B-869B-6B6EA52AE18E}"/>
              </a:ext>
            </a:extLst>
          </p:cNvPr>
          <p:cNvSpPr txBox="1"/>
          <p:nvPr/>
        </p:nvSpPr>
        <p:spPr>
          <a:xfrm>
            <a:off x="8381973" y="2165349"/>
            <a:ext cx="3116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Technology Integration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BF169F-14F6-2327-55B1-5EB1BBE1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85" y="2462887"/>
            <a:ext cx="2688920" cy="34165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2AE11F-ACE0-35D3-AB5D-6327C272A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358" y="2927059"/>
            <a:ext cx="2897283" cy="28208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E869BCC-B2BD-16F7-3A00-AC6CE7F058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54"/>
          <a:stretch>
            <a:fillRect/>
          </a:stretch>
        </p:blipFill>
        <p:spPr>
          <a:xfrm>
            <a:off x="8491791" y="2927058"/>
            <a:ext cx="2893324" cy="28208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D18033-6049-BB52-3046-B1D5846CA1F0}"/>
              </a:ext>
            </a:extLst>
          </p:cNvPr>
          <p:cNvSpPr/>
          <p:nvPr/>
        </p:nvSpPr>
        <p:spPr>
          <a:xfrm>
            <a:off x="12639126" y="0"/>
            <a:ext cx="85344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33400" dist="38100" dir="10800000" sx="103000" sy="103000" algn="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0F5AA-013D-A43E-CD68-C101C0E9BA93}"/>
              </a:ext>
            </a:extLst>
          </p:cNvPr>
          <p:cNvSpPr/>
          <p:nvPr/>
        </p:nvSpPr>
        <p:spPr>
          <a:xfrm>
            <a:off x="17699211" y="774184"/>
            <a:ext cx="20072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Artificial Intelligence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342D6-754A-B4D7-643D-2BC70EEE7231}"/>
              </a:ext>
            </a:extLst>
          </p:cNvPr>
          <p:cNvSpPr/>
          <p:nvPr/>
        </p:nvSpPr>
        <p:spPr>
          <a:xfrm>
            <a:off x="17699211" y="987623"/>
            <a:ext cx="14446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Cybersecurity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8759A-71DF-C445-159E-59355B37BAF8}"/>
              </a:ext>
            </a:extLst>
          </p:cNvPr>
          <p:cNvSpPr/>
          <p:nvPr/>
        </p:nvSpPr>
        <p:spPr>
          <a:xfrm>
            <a:off x="17699211" y="1235214"/>
            <a:ext cx="2209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Crowdsourcing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Risk identification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Machine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Vulnerability assessment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CC47A-BAA8-196F-2377-E428786B9808}"/>
              </a:ext>
            </a:extLst>
          </p:cNvPr>
          <p:cNvSpPr/>
          <p:nvPr/>
        </p:nvSpPr>
        <p:spPr>
          <a:xfrm>
            <a:off x="19154226" y="2268135"/>
            <a:ext cx="963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Robotics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776D4-9795-61CB-D0A5-577814F3F25D}"/>
              </a:ext>
            </a:extLst>
          </p:cNvPr>
          <p:cNvSpPr/>
          <p:nvPr/>
        </p:nvSpPr>
        <p:spPr>
          <a:xfrm>
            <a:off x="19154226" y="2481574"/>
            <a:ext cx="13516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Robotics &amp; 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82801-D1CB-0361-AC07-9E2D4FF888A8}"/>
              </a:ext>
            </a:extLst>
          </p:cNvPr>
          <p:cNvSpPr/>
          <p:nvPr/>
        </p:nvSpPr>
        <p:spPr>
          <a:xfrm>
            <a:off x="19154226" y="2729165"/>
            <a:ext cx="14684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Autonomous reality capture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Progress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Inspection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Human-Robot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LLM integration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169A90-5E2A-D845-102E-0212DE5B730E}"/>
              </a:ext>
            </a:extLst>
          </p:cNvPr>
          <p:cNvSpPr/>
          <p:nvPr/>
        </p:nvSpPr>
        <p:spPr>
          <a:xfrm>
            <a:off x="18910473" y="4414554"/>
            <a:ext cx="15954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Technology Integration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7BEF3-E75A-42D2-0C07-D5561D50BFDE}"/>
              </a:ext>
            </a:extLst>
          </p:cNvPr>
          <p:cNvSpPr/>
          <p:nvPr/>
        </p:nvSpPr>
        <p:spPr>
          <a:xfrm>
            <a:off x="18910473" y="4910375"/>
            <a:ext cx="1465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Data Analytics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7E7A6D-81B3-4CB2-49F1-10360AE3FF2F}"/>
              </a:ext>
            </a:extLst>
          </p:cNvPr>
          <p:cNvSpPr/>
          <p:nvPr/>
        </p:nvSpPr>
        <p:spPr>
          <a:xfrm>
            <a:off x="18910473" y="5157966"/>
            <a:ext cx="2209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Digital Twin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Data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Data visualization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C945D5-76FD-5E88-B49B-D181C6B5B6AC}"/>
              </a:ext>
            </a:extLst>
          </p:cNvPr>
          <p:cNvSpPr/>
          <p:nvPr/>
        </p:nvSpPr>
        <p:spPr>
          <a:xfrm>
            <a:off x="13124678" y="2575276"/>
            <a:ext cx="15071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Modularization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E53F4-79C3-089D-A036-2F140C04ED87}"/>
              </a:ext>
            </a:extLst>
          </p:cNvPr>
          <p:cNvSpPr/>
          <p:nvPr/>
        </p:nvSpPr>
        <p:spPr>
          <a:xfrm>
            <a:off x="13436713" y="4850189"/>
            <a:ext cx="13885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/>
                </a:solidFill>
              </a:rPr>
              <a:t>Sustainability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02EE09-0375-F466-4DDC-F5F4985E5B5A}"/>
              </a:ext>
            </a:extLst>
          </p:cNvPr>
          <p:cNvSpPr txBox="1"/>
          <p:nvPr/>
        </p:nvSpPr>
        <p:spPr>
          <a:xfrm>
            <a:off x="-3765906" y="2274838"/>
            <a:ext cx="2916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GB" dirty="0">
                <a:latin typeface="+mj-lt"/>
              </a:rPr>
              <a:t>Overview Research| Focus of S.M.A.R.T.</a:t>
            </a:r>
          </a:p>
        </p:txBody>
      </p:sp>
      <p:pic>
        <p:nvPicPr>
          <p:cNvPr id="41" name="Picture Placeholder 11">
            <a:extLst>
              <a:ext uri="{FF2B5EF4-FFF2-40B4-BE49-F238E27FC236}">
                <a16:creationId xmlns:a16="http://schemas.microsoft.com/office/drawing/2014/main" id="{0AFC6410-0342-A8B0-7DB1-813C50D1A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" b="1059"/>
          <a:stretch/>
        </p:blipFill>
        <p:spPr>
          <a:xfrm>
            <a:off x="0" y="8729821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E730D20-BB66-4CC1-3F44-6681DA06C444}"/>
              </a:ext>
            </a:extLst>
          </p:cNvPr>
          <p:cNvSpPr/>
          <p:nvPr/>
        </p:nvSpPr>
        <p:spPr>
          <a:xfrm rot="10800000">
            <a:off x="0" y="8756542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469434B-1D32-22F5-664E-9F546FB86782}"/>
              </a:ext>
            </a:extLst>
          </p:cNvPr>
          <p:cNvSpPr/>
          <p:nvPr/>
        </p:nvSpPr>
        <p:spPr>
          <a:xfrm>
            <a:off x="10391005" y="12466200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Picture Placeholder 34">
            <a:extLst>
              <a:ext uri="{FF2B5EF4-FFF2-40B4-BE49-F238E27FC236}">
                <a16:creationId xmlns:a16="http://schemas.microsoft.com/office/drawing/2014/main" id="{0FA2A58D-871B-214E-01F2-D681D4A6704D}"/>
              </a:ext>
            </a:extLst>
          </p:cNvPr>
          <p:cNvSpPr txBox="1">
            <a:spLocks/>
          </p:cNvSpPr>
          <p:nvPr/>
        </p:nvSpPr>
        <p:spPr>
          <a:xfrm>
            <a:off x="7673138" y="-5649560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0B08FD0-0E79-8831-A3E8-E6D399287F9A}"/>
              </a:ext>
            </a:extLst>
          </p:cNvPr>
          <p:cNvSpPr/>
          <p:nvPr/>
        </p:nvSpPr>
        <p:spPr>
          <a:xfrm>
            <a:off x="7595062" y="-5734668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AB87109-DE46-C8CA-702F-79C5026406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-5097868"/>
            <a:ext cx="1292123" cy="119652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F065DC7-E575-F38F-5111-8EAA67A5727C}"/>
              </a:ext>
            </a:extLst>
          </p:cNvPr>
          <p:cNvSpPr txBox="1"/>
          <p:nvPr/>
        </p:nvSpPr>
        <p:spPr>
          <a:xfrm>
            <a:off x="723900" y="11973793"/>
            <a:ext cx="990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AI &amp; Tech Integration: </a:t>
            </a:r>
            <a:br>
              <a:rPr lang="en-US" sz="4000" b="1" dirty="0">
                <a:solidFill>
                  <a:schemeClr val="bg1"/>
                </a:solidFill>
                <a:latin typeface="+mj-lt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</a:rPr>
              <a:t>NYU CAMPUS DIGITAL TWIN</a:t>
            </a:r>
          </a:p>
        </p:txBody>
      </p:sp>
      <p:pic>
        <p:nvPicPr>
          <p:cNvPr id="33" name="Picture 32" descr="A purple flower with a hexagon and four circles&#10;&#10;AI-generated content may be incorrect.">
            <a:extLst>
              <a:ext uri="{FF2B5EF4-FFF2-40B4-BE49-F238E27FC236}">
                <a16:creationId xmlns:a16="http://schemas.microsoft.com/office/drawing/2014/main" id="{93570DEC-0034-F028-489F-3AB2675264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1822" y="1295400"/>
            <a:ext cx="4432300" cy="4267200"/>
          </a:xfrm>
          <a:prstGeom prst="rect">
            <a:avLst/>
          </a:prstGeom>
        </p:spPr>
      </p:pic>
      <p:pic>
        <p:nvPicPr>
          <p:cNvPr id="34" name="Picture Placeholder 81">
            <a:extLst>
              <a:ext uri="{FF2B5EF4-FFF2-40B4-BE49-F238E27FC236}">
                <a16:creationId xmlns:a16="http://schemas.microsoft.com/office/drawing/2014/main" id="{35809F25-0594-7357-FCAB-3F4447FA84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6" r="1772"/>
          <a:stretch>
            <a:fillRect/>
          </a:stretch>
        </p:blipFill>
        <p:spPr>
          <a:xfrm>
            <a:off x="14834452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35" name="Picture Placeholder 75">
            <a:extLst>
              <a:ext uri="{FF2B5EF4-FFF2-40B4-BE49-F238E27FC236}">
                <a16:creationId xmlns:a16="http://schemas.microsoft.com/office/drawing/2014/main" id="{7678009A-18E7-DDD2-FB76-ECBF106347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2" b="2174"/>
          <a:stretch>
            <a:fillRect/>
          </a:stretch>
        </p:blipFill>
        <p:spPr>
          <a:xfrm>
            <a:off x="17333747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36" name="Picture Placeholder 77">
            <a:extLst>
              <a:ext uri="{FF2B5EF4-FFF2-40B4-BE49-F238E27FC236}">
                <a16:creationId xmlns:a16="http://schemas.microsoft.com/office/drawing/2014/main" id="{7216790F-A401-C75C-AAB8-2A7EE3F2B6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1" r="26941"/>
          <a:stretch>
            <a:fillRect/>
          </a:stretch>
        </p:blipFill>
        <p:spPr>
          <a:xfrm>
            <a:off x="17160037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37" name="Picture Placeholder 79">
            <a:extLst>
              <a:ext uri="{FF2B5EF4-FFF2-40B4-BE49-F238E27FC236}">
                <a16:creationId xmlns:a16="http://schemas.microsoft.com/office/drawing/2014/main" id="{E0707876-12BF-5E83-FD61-397764A6E1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8" b="20348"/>
          <a:stretch>
            <a:fillRect/>
          </a:stretch>
        </p:blipFill>
        <p:spPr>
          <a:xfrm>
            <a:off x="15288834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38" name="Picture Placeholder 73">
            <a:extLst>
              <a:ext uri="{FF2B5EF4-FFF2-40B4-BE49-F238E27FC236}">
                <a16:creationId xmlns:a16="http://schemas.microsoft.com/office/drawing/2014/main" id="{8AF0DF98-3FD0-0E48-525D-11C1BD86E4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8" b="9998"/>
          <a:stretch>
            <a:fillRect/>
          </a:stretch>
        </p:blipFill>
        <p:spPr>
          <a:xfrm>
            <a:off x="16215661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B9E118B-38F0-FA5E-DC7C-A848E8392E36}"/>
              </a:ext>
            </a:extLst>
          </p:cNvPr>
          <p:cNvGrpSpPr/>
          <p:nvPr/>
        </p:nvGrpSpPr>
        <p:grpSpPr>
          <a:xfrm>
            <a:off x="999355" y="-5304396"/>
            <a:ext cx="3324995" cy="3324994"/>
            <a:chOff x="999355" y="518747"/>
            <a:chExt cx="3324995" cy="332499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30B6BE6-54C9-D344-9085-1D925E19CAA7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923D197-AAD8-7459-FF4B-D327545FD7DA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DFF71B-B816-FF17-D101-A806C7025160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1024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" b="1059"/>
          <a:stretch/>
        </p:blipFill>
        <p:spPr>
          <a:xfrm>
            <a:off x="0" y="1547450"/>
            <a:ext cx="12192000" cy="5310550"/>
          </a:xfr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990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AI &amp; Tech Integration: </a:t>
            </a:r>
            <a:br>
              <a:rPr lang="en-US" sz="4000" b="1" dirty="0">
                <a:solidFill>
                  <a:schemeClr val="bg1"/>
                </a:solidFill>
                <a:latin typeface="+mj-lt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</a:rPr>
              <a:t>NYU CAMPUS DIGITAL TWIN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EC78C5-C748-EFA1-9065-59D6B830D51D}"/>
              </a:ext>
            </a:extLst>
          </p:cNvPr>
          <p:cNvSpPr txBox="1"/>
          <p:nvPr/>
        </p:nvSpPr>
        <p:spPr>
          <a:xfrm>
            <a:off x="1694928" y="-3246241"/>
            <a:ext cx="8802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>
                <a:latin typeface="+mj-lt"/>
              </a:rPr>
              <a:t>Areas Of Research Focus|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E142AF-4118-4387-2884-06D8EDC9244A}"/>
              </a:ext>
            </a:extLst>
          </p:cNvPr>
          <p:cNvSpPr/>
          <p:nvPr/>
        </p:nvSpPr>
        <p:spPr>
          <a:xfrm>
            <a:off x="0" y="9823869"/>
            <a:ext cx="12192000" cy="2686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4E4A1-504D-48DD-806A-953D426C5824}"/>
              </a:ext>
            </a:extLst>
          </p:cNvPr>
          <p:cNvSpPr/>
          <p:nvPr/>
        </p:nvSpPr>
        <p:spPr>
          <a:xfrm>
            <a:off x="505217" y="7456451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4E48BC-FBB4-9552-0E44-6B9D0F5138EC}"/>
              </a:ext>
            </a:extLst>
          </p:cNvPr>
          <p:cNvSpPr/>
          <p:nvPr/>
        </p:nvSpPr>
        <p:spPr>
          <a:xfrm>
            <a:off x="4349650" y="8825136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0DEBE4-B600-8154-EFD4-5EB4A4762F24}"/>
              </a:ext>
            </a:extLst>
          </p:cNvPr>
          <p:cNvSpPr/>
          <p:nvPr/>
        </p:nvSpPr>
        <p:spPr>
          <a:xfrm>
            <a:off x="8194083" y="10631798"/>
            <a:ext cx="3492701" cy="424632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14EF6-3AEB-C1A1-B8A5-E7088BDFB081}"/>
              </a:ext>
            </a:extLst>
          </p:cNvPr>
          <p:cNvSpPr txBox="1"/>
          <p:nvPr/>
        </p:nvSpPr>
        <p:spPr>
          <a:xfrm>
            <a:off x="1008345" y="7818051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Robotics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9F296-5AB5-EA48-12A2-D5FF4F9CC4F9}"/>
              </a:ext>
            </a:extLst>
          </p:cNvPr>
          <p:cNvSpPr txBox="1"/>
          <p:nvPr/>
        </p:nvSpPr>
        <p:spPr>
          <a:xfrm>
            <a:off x="4953000" y="918673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Cybersecurity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646ED-5ACB-5C35-2EAC-7C42DEC81639}"/>
              </a:ext>
            </a:extLst>
          </p:cNvPr>
          <p:cNvSpPr txBox="1"/>
          <p:nvPr/>
        </p:nvSpPr>
        <p:spPr>
          <a:xfrm>
            <a:off x="8381973" y="10993398"/>
            <a:ext cx="3116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+mj-lt"/>
              </a:rPr>
              <a:t>Technology Integration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EF919F-9DC8-9129-8E4B-82A5F0B73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85" y="8115589"/>
            <a:ext cx="2688920" cy="3416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FFE15F-8085-CF89-0B15-995F45FE3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58" y="9948446"/>
            <a:ext cx="2897283" cy="28208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2FEC9D-D30B-B18C-B8FB-C39A8DBA4C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654"/>
          <a:stretch>
            <a:fillRect/>
          </a:stretch>
        </p:blipFill>
        <p:spPr>
          <a:xfrm>
            <a:off x="8491791" y="11755107"/>
            <a:ext cx="2893324" cy="282081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6DAC5A7-84A5-F7AB-BB6B-60F0E79E5413}"/>
              </a:ext>
            </a:extLst>
          </p:cNvPr>
          <p:cNvSpPr/>
          <p:nvPr/>
        </p:nvSpPr>
        <p:spPr>
          <a:xfrm>
            <a:off x="20483304" y="222996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06B1F3-2FF2-B904-373B-D4173D977EF9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E7D24D-7F1E-4547-85AF-6A5573B9808D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7D3F2B9-3A88-BE64-F81F-DCE4E377FB04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A68A31-D417-185A-8FDA-D080250BAB95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791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22CDB7-2451-8407-48BE-3DB1A9FAE536}"/>
              </a:ext>
            </a:extLst>
          </p:cNvPr>
          <p:cNvSpPr/>
          <p:nvPr/>
        </p:nvSpPr>
        <p:spPr>
          <a:xfrm>
            <a:off x="0" y="222996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pic>
        <p:nvPicPr>
          <p:cNvPr id="5" name="Picture Placeholder 11">
            <a:extLst>
              <a:ext uri="{FF2B5EF4-FFF2-40B4-BE49-F238E27FC236}">
                <a16:creationId xmlns:a16="http://schemas.microsoft.com/office/drawing/2014/main" id="{11D405F3-C8D6-54D5-7C23-5A50DA98E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" b="1059"/>
          <a:stretch/>
        </p:blipFill>
        <p:spPr>
          <a:xfrm>
            <a:off x="-12895385" y="1547451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9338682-6430-D840-EDD4-BC9508BB4EAD}"/>
              </a:ext>
            </a:extLst>
          </p:cNvPr>
          <p:cNvSpPr/>
          <p:nvPr/>
        </p:nvSpPr>
        <p:spPr>
          <a:xfrm rot="10800000">
            <a:off x="-12895385" y="1574172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56A0F3-E8A0-5B1B-5778-CEC5C1A0FBA2}"/>
              </a:ext>
            </a:extLst>
          </p:cNvPr>
          <p:cNvSpPr/>
          <p:nvPr/>
        </p:nvSpPr>
        <p:spPr>
          <a:xfrm>
            <a:off x="15067829" y="4490563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Picture Placeholder 34">
            <a:extLst>
              <a:ext uri="{FF2B5EF4-FFF2-40B4-BE49-F238E27FC236}">
                <a16:creationId xmlns:a16="http://schemas.microsoft.com/office/drawing/2014/main" id="{57176188-9DB6-1200-6722-46DBFFB1D00B}"/>
              </a:ext>
            </a:extLst>
          </p:cNvPr>
          <p:cNvSpPr txBox="1">
            <a:spLocks/>
          </p:cNvSpPr>
          <p:nvPr/>
        </p:nvSpPr>
        <p:spPr>
          <a:xfrm>
            <a:off x="14824215" y="481744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D0C42B-A5F5-D708-0030-F07EA70129FC}"/>
              </a:ext>
            </a:extLst>
          </p:cNvPr>
          <p:cNvSpPr/>
          <p:nvPr/>
        </p:nvSpPr>
        <p:spPr>
          <a:xfrm>
            <a:off x="14746139" y="396636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12D966-CC17-18F0-2FA9-E4A72D4BD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15233091" y="1033436"/>
            <a:ext cx="1292123" cy="11965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CF69AE-D666-033D-2F08-A7EE14F2A2E1}"/>
              </a:ext>
            </a:extLst>
          </p:cNvPr>
          <p:cNvSpPr txBox="1"/>
          <p:nvPr/>
        </p:nvSpPr>
        <p:spPr>
          <a:xfrm>
            <a:off x="-12171485" y="4791423"/>
            <a:ext cx="990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AI &amp; Tech Integration: </a:t>
            </a:r>
            <a:br>
              <a:rPr lang="en-US" sz="4000" b="1" dirty="0">
                <a:solidFill>
                  <a:schemeClr val="bg1"/>
                </a:solidFill>
                <a:latin typeface="+mj-lt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</a:rPr>
              <a:t>NYU CAMPUS DIGITAL TWIN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010BCE-0EBD-9D0C-2C9C-AF8AF9CA077A}"/>
              </a:ext>
            </a:extLst>
          </p:cNvPr>
          <p:cNvSpPr txBox="1"/>
          <p:nvPr/>
        </p:nvSpPr>
        <p:spPr>
          <a:xfrm>
            <a:off x="550863" y="-1838730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Our Digital Twin Maturity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C6172-0182-46EC-1B7A-AB8AA593BD5E}"/>
              </a:ext>
            </a:extLst>
          </p:cNvPr>
          <p:cNvSpPr txBox="1"/>
          <p:nvPr/>
        </p:nvSpPr>
        <p:spPr>
          <a:xfrm>
            <a:off x="550863" y="12620138"/>
            <a:ext cx="10408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[1] Mousavi, Y.; </a:t>
            </a:r>
            <a:r>
              <a:rPr lang="en-US" sz="800" dirty="0" err="1"/>
              <a:t>Gharineiat</a:t>
            </a:r>
            <a:r>
              <a:rPr lang="en-US" sz="800" dirty="0"/>
              <a:t>, Z.; Karimi, A.A.; McDougall, K.; Rossi, A.; </a:t>
            </a:r>
            <a:r>
              <a:rPr lang="en-US" sz="800" dirty="0" err="1"/>
              <a:t>Gonizzi</a:t>
            </a:r>
            <a:r>
              <a:rPr lang="en-US" sz="800" dirty="0"/>
              <a:t> Barsanti, S. Digital Twin Technology in Built Environment: A Review of Applications, Capabilities and Challenges. Smart Cities 2024, 7, 2594-2615. https://doi.org/10.3390/smartcities7050101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9A783B-4BFF-354F-A357-35920344D2B6}"/>
              </a:ext>
            </a:extLst>
          </p:cNvPr>
          <p:cNvSpPr/>
          <p:nvPr/>
        </p:nvSpPr>
        <p:spPr>
          <a:xfrm>
            <a:off x="706588" y="8586915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98F4D9-41A4-E225-EC1F-0F648566E7CA}"/>
              </a:ext>
            </a:extLst>
          </p:cNvPr>
          <p:cNvSpPr/>
          <p:nvPr/>
        </p:nvSpPr>
        <p:spPr>
          <a:xfrm>
            <a:off x="4371240" y="10537527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57E56C-950B-715D-1B52-40B3A3A4A8AE}"/>
              </a:ext>
            </a:extLst>
          </p:cNvPr>
          <p:cNvSpPr txBox="1"/>
          <p:nvPr/>
        </p:nvSpPr>
        <p:spPr>
          <a:xfrm>
            <a:off x="4609617" y="10675791"/>
            <a:ext cx="5400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Digital Twin Maturity Level [1]: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CAE400-7AE1-D8F1-2EF5-31CCBF57B0F1}"/>
              </a:ext>
            </a:extLst>
          </p:cNvPr>
          <p:cNvGrpSpPr/>
          <p:nvPr/>
        </p:nvGrpSpPr>
        <p:grpSpPr>
          <a:xfrm>
            <a:off x="991495" y="11871814"/>
            <a:ext cx="2879706" cy="442492"/>
            <a:chOff x="343772" y="165561"/>
            <a:chExt cx="5915883" cy="90902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4B595DC-9A04-2644-D340-92604B8F8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23" name="Picture 22" descr="A close-up of a logo&#10;&#10;AI-generated content may be incorrect.">
              <a:extLst>
                <a:ext uri="{FF2B5EF4-FFF2-40B4-BE49-F238E27FC236}">
                  <a16:creationId xmlns:a16="http://schemas.microsoft.com/office/drawing/2014/main" id="{BA095589-EBAE-66DE-8B90-829040605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F761462-E300-281C-9239-6CF8C8ECE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8FD7C54-D358-1A5D-D3E6-3A4BF0168713}"/>
              </a:ext>
            </a:extLst>
          </p:cNvPr>
          <p:cNvSpPr txBox="1"/>
          <p:nvPr/>
        </p:nvSpPr>
        <p:spPr>
          <a:xfrm>
            <a:off x="913516" y="8810878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Scan Me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844EE8-6CA3-3238-B259-A3EE71BB5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838" y="9401465"/>
            <a:ext cx="2155366" cy="215536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CA3F64F-4428-FD74-DFFE-B2463D7BBB4F}"/>
              </a:ext>
            </a:extLst>
          </p:cNvPr>
          <p:cNvSpPr/>
          <p:nvPr/>
        </p:nvSpPr>
        <p:spPr>
          <a:xfrm>
            <a:off x="4609617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3A2C78-9CCB-A522-8D49-56CC2BAF316F}"/>
              </a:ext>
            </a:extLst>
          </p:cNvPr>
          <p:cNvSpPr/>
          <p:nvPr/>
        </p:nvSpPr>
        <p:spPr>
          <a:xfrm>
            <a:off x="6291763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0E1786-AC2B-5082-141A-A19C3E7409B5}"/>
              </a:ext>
            </a:extLst>
          </p:cNvPr>
          <p:cNvSpPr/>
          <p:nvPr/>
        </p:nvSpPr>
        <p:spPr>
          <a:xfrm>
            <a:off x="7973909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BB7D8C-A22A-EE34-E2B9-941D09CC9690}"/>
              </a:ext>
            </a:extLst>
          </p:cNvPr>
          <p:cNvSpPr/>
          <p:nvPr/>
        </p:nvSpPr>
        <p:spPr>
          <a:xfrm>
            <a:off x="9656056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292124-DB92-A835-6424-64250B17D431}"/>
              </a:ext>
            </a:extLst>
          </p:cNvPr>
          <p:cNvGrpSpPr/>
          <p:nvPr/>
        </p:nvGrpSpPr>
        <p:grpSpPr>
          <a:xfrm>
            <a:off x="4609617" y="11274112"/>
            <a:ext cx="6590888" cy="1253723"/>
            <a:chOff x="4609617" y="3099934"/>
            <a:chExt cx="6590888" cy="125372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F47ACA-9D17-C736-D7D2-96658F47EAAC}"/>
                </a:ext>
              </a:extLst>
            </p:cNvPr>
            <p:cNvGrpSpPr/>
            <p:nvPr/>
          </p:nvGrpSpPr>
          <p:grpSpPr>
            <a:xfrm>
              <a:off x="4609617" y="3099934"/>
              <a:ext cx="6590888" cy="1253723"/>
              <a:chOff x="1063625" y="2471738"/>
              <a:chExt cx="10064751" cy="19145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38" name="Freeform 5">
                <a:extLst>
                  <a:ext uri="{FF2B5EF4-FFF2-40B4-BE49-F238E27FC236}">
                    <a16:creationId xmlns:a16="http://schemas.microsoft.com/office/drawing/2014/main" id="{E4D1917F-7FFB-DED0-2E37-E8D042379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4388" y="2471738"/>
                <a:ext cx="3963988" cy="1914525"/>
              </a:xfrm>
              <a:custGeom>
                <a:avLst/>
                <a:gdLst>
                  <a:gd name="T0" fmla="*/ 858 w 2497"/>
                  <a:gd name="T1" fmla="*/ 1052 h 1206"/>
                  <a:gd name="T2" fmla="*/ 810 w 2497"/>
                  <a:gd name="T3" fmla="*/ 1070 h 1206"/>
                  <a:gd name="T4" fmla="*/ 330 w 2497"/>
                  <a:gd name="T5" fmla="*/ 1068 h 1206"/>
                  <a:gd name="T6" fmla="*/ 290 w 2497"/>
                  <a:gd name="T7" fmla="*/ 1038 h 1206"/>
                  <a:gd name="T8" fmla="*/ 120 w 2497"/>
                  <a:gd name="T9" fmla="*/ 745 h 1206"/>
                  <a:gd name="T10" fmla="*/ 100 w 2497"/>
                  <a:gd name="T11" fmla="*/ 727 h 1206"/>
                  <a:gd name="T12" fmla="*/ 50 w 2497"/>
                  <a:gd name="T13" fmla="*/ 721 h 1206"/>
                  <a:gd name="T14" fmla="*/ 20 w 2497"/>
                  <a:gd name="T15" fmla="*/ 739 h 1206"/>
                  <a:gd name="T16" fmla="*/ 10 w 2497"/>
                  <a:gd name="T17" fmla="*/ 753 h 1206"/>
                  <a:gd name="T18" fmla="*/ 0 w 2497"/>
                  <a:gd name="T19" fmla="*/ 787 h 1206"/>
                  <a:gd name="T20" fmla="*/ 212 w 2497"/>
                  <a:gd name="T21" fmla="*/ 1172 h 1206"/>
                  <a:gd name="T22" fmla="*/ 236 w 2497"/>
                  <a:gd name="T23" fmla="*/ 1196 h 1206"/>
                  <a:gd name="T24" fmla="*/ 888 w 2497"/>
                  <a:gd name="T25" fmla="*/ 1206 h 1206"/>
                  <a:gd name="T26" fmla="*/ 919 w 2497"/>
                  <a:gd name="T27" fmla="*/ 1196 h 1206"/>
                  <a:gd name="T28" fmla="*/ 945 w 2497"/>
                  <a:gd name="T29" fmla="*/ 1172 h 1206"/>
                  <a:gd name="T30" fmla="*/ 1533 w 2497"/>
                  <a:gd name="T31" fmla="*/ 154 h 1206"/>
                  <a:gd name="T32" fmla="*/ 1581 w 2497"/>
                  <a:gd name="T33" fmla="*/ 134 h 1206"/>
                  <a:gd name="T34" fmla="*/ 2061 w 2497"/>
                  <a:gd name="T35" fmla="*/ 136 h 1206"/>
                  <a:gd name="T36" fmla="*/ 2101 w 2497"/>
                  <a:gd name="T37" fmla="*/ 168 h 1206"/>
                  <a:gd name="T38" fmla="*/ 2339 w 2497"/>
                  <a:gd name="T39" fmla="*/ 585 h 1206"/>
                  <a:gd name="T40" fmla="*/ 2333 w 2497"/>
                  <a:gd name="T41" fmla="*/ 635 h 1206"/>
                  <a:gd name="T42" fmla="*/ 2091 w 2497"/>
                  <a:gd name="T43" fmla="*/ 1052 h 1206"/>
                  <a:gd name="T44" fmla="*/ 2043 w 2497"/>
                  <a:gd name="T45" fmla="*/ 1070 h 1206"/>
                  <a:gd name="T46" fmla="*/ 1563 w 2497"/>
                  <a:gd name="T47" fmla="*/ 1068 h 1206"/>
                  <a:gd name="T48" fmla="*/ 1523 w 2497"/>
                  <a:gd name="T49" fmla="*/ 1038 h 1206"/>
                  <a:gd name="T50" fmla="*/ 1355 w 2497"/>
                  <a:gd name="T51" fmla="*/ 747 h 1206"/>
                  <a:gd name="T52" fmla="*/ 1335 w 2497"/>
                  <a:gd name="T53" fmla="*/ 729 h 1206"/>
                  <a:gd name="T54" fmla="*/ 1285 w 2497"/>
                  <a:gd name="T55" fmla="*/ 723 h 1206"/>
                  <a:gd name="T56" fmla="*/ 1255 w 2497"/>
                  <a:gd name="T57" fmla="*/ 739 h 1206"/>
                  <a:gd name="T58" fmla="*/ 1243 w 2497"/>
                  <a:gd name="T59" fmla="*/ 755 h 1206"/>
                  <a:gd name="T60" fmla="*/ 1235 w 2497"/>
                  <a:gd name="T61" fmla="*/ 787 h 1206"/>
                  <a:gd name="T62" fmla="*/ 1445 w 2497"/>
                  <a:gd name="T63" fmla="*/ 1172 h 1206"/>
                  <a:gd name="T64" fmla="*/ 1471 w 2497"/>
                  <a:gd name="T65" fmla="*/ 1196 h 1206"/>
                  <a:gd name="T66" fmla="*/ 2121 w 2497"/>
                  <a:gd name="T67" fmla="*/ 1206 h 1206"/>
                  <a:gd name="T68" fmla="*/ 2155 w 2497"/>
                  <a:gd name="T69" fmla="*/ 1196 h 1206"/>
                  <a:gd name="T70" fmla="*/ 2489 w 2497"/>
                  <a:gd name="T71" fmla="*/ 635 h 1206"/>
                  <a:gd name="T72" fmla="*/ 2497 w 2497"/>
                  <a:gd name="T73" fmla="*/ 603 h 1206"/>
                  <a:gd name="T74" fmla="*/ 2179 w 2497"/>
                  <a:gd name="T75" fmla="*/ 32 h 1206"/>
                  <a:gd name="T76" fmla="*/ 2155 w 2497"/>
                  <a:gd name="T77" fmla="*/ 8 h 1206"/>
                  <a:gd name="T78" fmla="*/ 1503 w 2497"/>
                  <a:gd name="T79" fmla="*/ 0 h 1206"/>
                  <a:gd name="T80" fmla="*/ 1471 w 2497"/>
                  <a:gd name="T81" fmla="*/ 8 h 1206"/>
                  <a:gd name="T82" fmla="*/ 1445 w 2497"/>
                  <a:gd name="T83" fmla="*/ 3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7" h="1206">
                    <a:moveTo>
                      <a:pt x="868" y="1038"/>
                    </a:moveTo>
                    <a:lnTo>
                      <a:pt x="868" y="1038"/>
                    </a:lnTo>
                    <a:lnTo>
                      <a:pt x="858" y="1052"/>
                    </a:lnTo>
                    <a:lnTo>
                      <a:pt x="844" y="1062"/>
                    </a:lnTo>
                    <a:lnTo>
                      <a:pt x="828" y="1068"/>
                    </a:lnTo>
                    <a:lnTo>
                      <a:pt x="810" y="1070"/>
                    </a:lnTo>
                    <a:lnTo>
                      <a:pt x="348" y="1070"/>
                    </a:lnTo>
                    <a:lnTo>
                      <a:pt x="348" y="1070"/>
                    </a:lnTo>
                    <a:lnTo>
                      <a:pt x="330" y="1068"/>
                    </a:lnTo>
                    <a:lnTo>
                      <a:pt x="314" y="1062"/>
                    </a:lnTo>
                    <a:lnTo>
                      <a:pt x="300" y="1052"/>
                    </a:lnTo>
                    <a:lnTo>
                      <a:pt x="290" y="1038"/>
                    </a:lnTo>
                    <a:lnTo>
                      <a:pt x="126" y="753"/>
                    </a:lnTo>
                    <a:lnTo>
                      <a:pt x="126" y="753"/>
                    </a:lnTo>
                    <a:lnTo>
                      <a:pt x="120" y="745"/>
                    </a:lnTo>
                    <a:lnTo>
                      <a:pt x="114" y="739"/>
                    </a:lnTo>
                    <a:lnTo>
                      <a:pt x="108" y="733"/>
                    </a:lnTo>
                    <a:lnTo>
                      <a:pt x="100" y="727"/>
                    </a:lnTo>
                    <a:lnTo>
                      <a:pt x="84" y="721"/>
                    </a:lnTo>
                    <a:lnTo>
                      <a:pt x="68" y="719"/>
                    </a:lnTo>
                    <a:lnTo>
                      <a:pt x="50" y="721"/>
                    </a:lnTo>
                    <a:lnTo>
                      <a:pt x="34" y="729"/>
                    </a:lnTo>
                    <a:lnTo>
                      <a:pt x="28" y="733"/>
                    </a:lnTo>
                    <a:lnTo>
                      <a:pt x="20" y="739"/>
                    </a:lnTo>
                    <a:lnTo>
                      <a:pt x="14" y="745"/>
                    </a:lnTo>
                    <a:lnTo>
                      <a:pt x="10" y="753"/>
                    </a:lnTo>
                    <a:lnTo>
                      <a:pt x="10" y="753"/>
                    </a:lnTo>
                    <a:lnTo>
                      <a:pt x="10" y="753"/>
                    </a:lnTo>
                    <a:lnTo>
                      <a:pt x="2" y="769"/>
                    </a:lnTo>
                    <a:lnTo>
                      <a:pt x="0" y="787"/>
                    </a:lnTo>
                    <a:lnTo>
                      <a:pt x="2" y="805"/>
                    </a:lnTo>
                    <a:lnTo>
                      <a:pt x="10" y="821"/>
                    </a:lnTo>
                    <a:lnTo>
                      <a:pt x="212" y="1172"/>
                    </a:lnTo>
                    <a:lnTo>
                      <a:pt x="212" y="1172"/>
                    </a:lnTo>
                    <a:lnTo>
                      <a:pt x="222" y="1186"/>
                    </a:lnTo>
                    <a:lnTo>
                      <a:pt x="236" y="1196"/>
                    </a:lnTo>
                    <a:lnTo>
                      <a:pt x="252" y="1202"/>
                    </a:lnTo>
                    <a:lnTo>
                      <a:pt x="270" y="1206"/>
                    </a:lnTo>
                    <a:lnTo>
                      <a:pt x="888" y="1206"/>
                    </a:lnTo>
                    <a:lnTo>
                      <a:pt x="888" y="1206"/>
                    </a:lnTo>
                    <a:lnTo>
                      <a:pt x="904" y="1202"/>
                    </a:lnTo>
                    <a:lnTo>
                      <a:pt x="919" y="1196"/>
                    </a:lnTo>
                    <a:lnTo>
                      <a:pt x="933" y="1186"/>
                    </a:lnTo>
                    <a:lnTo>
                      <a:pt x="945" y="1172"/>
                    </a:lnTo>
                    <a:lnTo>
                      <a:pt x="945" y="1172"/>
                    </a:lnTo>
                    <a:lnTo>
                      <a:pt x="1523" y="168"/>
                    </a:lnTo>
                    <a:lnTo>
                      <a:pt x="1523" y="168"/>
                    </a:lnTo>
                    <a:lnTo>
                      <a:pt x="1533" y="154"/>
                    </a:lnTo>
                    <a:lnTo>
                      <a:pt x="1547" y="142"/>
                    </a:lnTo>
                    <a:lnTo>
                      <a:pt x="1563" y="136"/>
                    </a:lnTo>
                    <a:lnTo>
                      <a:pt x="1581" y="134"/>
                    </a:lnTo>
                    <a:lnTo>
                      <a:pt x="2043" y="134"/>
                    </a:lnTo>
                    <a:lnTo>
                      <a:pt x="2043" y="134"/>
                    </a:lnTo>
                    <a:lnTo>
                      <a:pt x="2061" y="136"/>
                    </a:lnTo>
                    <a:lnTo>
                      <a:pt x="2077" y="142"/>
                    </a:lnTo>
                    <a:lnTo>
                      <a:pt x="2091" y="154"/>
                    </a:lnTo>
                    <a:lnTo>
                      <a:pt x="2101" y="168"/>
                    </a:lnTo>
                    <a:lnTo>
                      <a:pt x="2333" y="569"/>
                    </a:lnTo>
                    <a:lnTo>
                      <a:pt x="2333" y="569"/>
                    </a:lnTo>
                    <a:lnTo>
                      <a:pt x="2339" y="585"/>
                    </a:lnTo>
                    <a:lnTo>
                      <a:pt x="2341" y="603"/>
                    </a:lnTo>
                    <a:lnTo>
                      <a:pt x="2339" y="619"/>
                    </a:lnTo>
                    <a:lnTo>
                      <a:pt x="2333" y="635"/>
                    </a:lnTo>
                    <a:lnTo>
                      <a:pt x="2101" y="1038"/>
                    </a:lnTo>
                    <a:lnTo>
                      <a:pt x="2101" y="1038"/>
                    </a:lnTo>
                    <a:lnTo>
                      <a:pt x="2091" y="1052"/>
                    </a:lnTo>
                    <a:lnTo>
                      <a:pt x="2077" y="1062"/>
                    </a:lnTo>
                    <a:lnTo>
                      <a:pt x="2061" y="1068"/>
                    </a:lnTo>
                    <a:lnTo>
                      <a:pt x="2043" y="1070"/>
                    </a:lnTo>
                    <a:lnTo>
                      <a:pt x="1581" y="1070"/>
                    </a:lnTo>
                    <a:lnTo>
                      <a:pt x="1581" y="1070"/>
                    </a:lnTo>
                    <a:lnTo>
                      <a:pt x="1563" y="1068"/>
                    </a:lnTo>
                    <a:lnTo>
                      <a:pt x="1547" y="1062"/>
                    </a:lnTo>
                    <a:lnTo>
                      <a:pt x="1533" y="1052"/>
                    </a:lnTo>
                    <a:lnTo>
                      <a:pt x="1523" y="1038"/>
                    </a:lnTo>
                    <a:lnTo>
                      <a:pt x="1361" y="755"/>
                    </a:lnTo>
                    <a:lnTo>
                      <a:pt x="1361" y="755"/>
                    </a:lnTo>
                    <a:lnTo>
                      <a:pt x="1355" y="747"/>
                    </a:lnTo>
                    <a:lnTo>
                      <a:pt x="1349" y="739"/>
                    </a:lnTo>
                    <a:lnTo>
                      <a:pt x="1343" y="733"/>
                    </a:lnTo>
                    <a:lnTo>
                      <a:pt x="1335" y="729"/>
                    </a:lnTo>
                    <a:lnTo>
                      <a:pt x="1319" y="723"/>
                    </a:lnTo>
                    <a:lnTo>
                      <a:pt x="1301" y="721"/>
                    </a:lnTo>
                    <a:lnTo>
                      <a:pt x="1285" y="723"/>
                    </a:lnTo>
                    <a:lnTo>
                      <a:pt x="1269" y="729"/>
                    </a:lnTo>
                    <a:lnTo>
                      <a:pt x="1261" y="733"/>
                    </a:lnTo>
                    <a:lnTo>
                      <a:pt x="1255" y="739"/>
                    </a:lnTo>
                    <a:lnTo>
                      <a:pt x="1249" y="747"/>
                    </a:lnTo>
                    <a:lnTo>
                      <a:pt x="1243" y="755"/>
                    </a:lnTo>
                    <a:lnTo>
                      <a:pt x="1243" y="755"/>
                    </a:lnTo>
                    <a:lnTo>
                      <a:pt x="1243" y="755"/>
                    </a:lnTo>
                    <a:lnTo>
                      <a:pt x="1237" y="771"/>
                    </a:lnTo>
                    <a:lnTo>
                      <a:pt x="1235" y="787"/>
                    </a:lnTo>
                    <a:lnTo>
                      <a:pt x="1237" y="805"/>
                    </a:lnTo>
                    <a:lnTo>
                      <a:pt x="1243" y="821"/>
                    </a:lnTo>
                    <a:lnTo>
                      <a:pt x="1445" y="1172"/>
                    </a:lnTo>
                    <a:lnTo>
                      <a:pt x="1445" y="1172"/>
                    </a:lnTo>
                    <a:lnTo>
                      <a:pt x="1457" y="1186"/>
                    </a:lnTo>
                    <a:lnTo>
                      <a:pt x="1471" y="1196"/>
                    </a:lnTo>
                    <a:lnTo>
                      <a:pt x="1487" y="1202"/>
                    </a:lnTo>
                    <a:lnTo>
                      <a:pt x="1503" y="1206"/>
                    </a:lnTo>
                    <a:lnTo>
                      <a:pt x="2121" y="1206"/>
                    </a:lnTo>
                    <a:lnTo>
                      <a:pt x="2121" y="1206"/>
                    </a:lnTo>
                    <a:lnTo>
                      <a:pt x="2139" y="1202"/>
                    </a:lnTo>
                    <a:lnTo>
                      <a:pt x="2155" y="1196"/>
                    </a:lnTo>
                    <a:lnTo>
                      <a:pt x="2169" y="1186"/>
                    </a:lnTo>
                    <a:lnTo>
                      <a:pt x="2179" y="1172"/>
                    </a:lnTo>
                    <a:lnTo>
                      <a:pt x="2489" y="635"/>
                    </a:lnTo>
                    <a:lnTo>
                      <a:pt x="2489" y="635"/>
                    </a:lnTo>
                    <a:lnTo>
                      <a:pt x="2495" y="619"/>
                    </a:lnTo>
                    <a:lnTo>
                      <a:pt x="2497" y="603"/>
                    </a:lnTo>
                    <a:lnTo>
                      <a:pt x="2495" y="585"/>
                    </a:lnTo>
                    <a:lnTo>
                      <a:pt x="2489" y="569"/>
                    </a:lnTo>
                    <a:lnTo>
                      <a:pt x="2179" y="32"/>
                    </a:lnTo>
                    <a:lnTo>
                      <a:pt x="2179" y="32"/>
                    </a:lnTo>
                    <a:lnTo>
                      <a:pt x="2169" y="18"/>
                    </a:lnTo>
                    <a:lnTo>
                      <a:pt x="2155" y="8"/>
                    </a:lnTo>
                    <a:lnTo>
                      <a:pt x="2139" y="2"/>
                    </a:lnTo>
                    <a:lnTo>
                      <a:pt x="2121" y="0"/>
                    </a:lnTo>
                    <a:lnTo>
                      <a:pt x="1503" y="0"/>
                    </a:lnTo>
                    <a:lnTo>
                      <a:pt x="1503" y="0"/>
                    </a:lnTo>
                    <a:lnTo>
                      <a:pt x="1487" y="2"/>
                    </a:lnTo>
                    <a:lnTo>
                      <a:pt x="1471" y="8"/>
                    </a:lnTo>
                    <a:lnTo>
                      <a:pt x="1457" y="18"/>
                    </a:lnTo>
                    <a:lnTo>
                      <a:pt x="1445" y="32"/>
                    </a:lnTo>
                    <a:lnTo>
                      <a:pt x="1445" y="32"/>
                    </a:lnTo>
                    <a:lnTo>
                      <a:pt x="868" y="1038"/>
                    </a:lnTo>
                    <a:lnTo>
                      <a:pt x="868" y="103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6">
                <a:extLst>
                  <a:ext uri="{FF2B5EF4-FFF2-40B4-BE49-F238E27FC236}">
                    <a16:creationId xmlns:a16="http://schemas.microsoft.com/office/drawing/2014/main" id="{485B2C28-3712-91D6-3BEA-5C70687A0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0488" y="2471738"/>
                <a:ext cx="3795713" cy="1914525"/>
              </a:xfrm>
              <a:custGeom>
                <a:avLst/>
                <a:gdLst>
                  <a:gd name="T0" fmla="*/ 944 w 2391"/>
                  <a:gd name="T1" fmla="*/ 1172 h 1206"/>
                  <a:gd name="T2" fmla="*/ 920 w 2391"/>
                  <a:gd name="T3" fmla="*/ 1196 h 1206"/>
                  <a:gd name="T4" fmla="*/ 886 w 2391"/>
                  <a:gd name="T5" fmla="*/ 1206 h 1206"/>
                  <a:gd name="T6" fmla="*/ 270 w 2391"/>
                  <a:gd name="T7" fmla="*/ 1206 h 1206"/>
                  <a:gd name="T8" fmla="*/ 236 w 2391"/>
                  <a:gd name="T9" fmla="*/ 1196 h 1206"/>
                  <a:gd name="T10" fmla="*/ 210 w 2391"/>
                  <a:gd name="T11" fmla="*/ 1172 h 1206"/>
                  <a:gd name="T12" fmla="*/ 8 w 2391"/>
                  <a:gd name="T13" fmla="*/ 821 h 1206"/>
                  <a:gd name="T14" fmla="*/ 0 w 2391"/>
                  <a:gd name="T15" fmla="*/ 787 h 1206"/>
                  <a:gd name="T16" fmla="*/ 8 w 2391"/>
                  <a:gd name="T17" fmla="*/ 753 h 1206"/>
                  <a:gd name="T18" fmla="*/ 8 w 2391"/>
                  <a:gd name="T19" fmla="*/ 753 h 1206"/>
                  <a:gd name="T20" fmla="*/ 20 w 2391"/>
                  <a:gd name="T21" fmla="*/ 739 h 1206"/>
                  <a:gd name="T22" fmla="*/ 34 w 2391"/>
                  <a:gd name="T23" fmla="*/ 729 h 1206"/>
                  <a:gd name="T24" fmla="*/ 68 w 2391"/>
                  <a:gd name="T25" fmla="*/ 719 h 1206"/>
                  <a:gd name="T26" fmla="*/ 100 w 2391"/>
                  <a:gd name="T27" fmla="*/ 729 h 1206"/>
                  <a:gd name="T28" fmla="*/ 114 w 2391"/>
                  <a:gd name="T29" fmla="*/ 739 h 1206"/>
                  <a:gd name="T30" fmla="*/ 126 w 2391"/>
                  <a:gd name="T31" fmla="*/ 753 h 1206"/>
                  <a:gd name="T32" fmla="*/ 288 w 2391"/>
                  <a:gd name="T33" fmla="*/ 1038 h 1206"/>
                  <a:gd name="T34" fmla="*/ 314 w 2391"/>
                  <a:gd name="T35" fmla="*/ 1062 h 1206"/>
                  <a:gd name="T36" fmla="*/ 346 w 2391"/>
                  <a:gd name="T37" fmla="*/ 1070 h 1206"/>
                  <a:gd name="T38" fmla="*/ 810 w 2391"/>
                  <a:gd name="T39" fmla="*/ 1070 h 1206"/>
                  <a:gd name="T40" fmla="*/ 842 w 2391"/>
                  <a:gd name="T41" fmla="*/ 1062 h 1206"/>
                  <a:gd name="T42" fmla="*/ 868 w 2391"/>
                  <a:gd name="T43" fmla="*/ 1038 h 1206"/>
                  <a:gd name="T44" fmla="*/ 1446 w 2391"/>
                  <a:gd name="T45" fmla="*/ 32 h 1206"/>
                  <a:gd name="T46" fmla="*/ 1456 w 2391"/>
                  <a:gd name="T47" fmla="*/ 18 h 1206"/>
                  <a:gd name="T48" fmla="*/ 1486 w 2391"/>
                  <a:gd name="T49" fmla="*/ 2 h 1206"/>
                  <a:gd name="T50" fmla="*/ 2122 w 2391"/>
                  <a:gd name="T51" fmla="*/ 0 h 1206"/>
                  <a:gd name="T52" fmla="*/ 2138 w 2391"/>
                  <a:gd name="T53" fmla="*/ 2 h 1206"/>
                  <a:gd name="T54" fmla="*/ 2168 w 2391"/>
                  <a:gd name="T55" fmla="*/ 18 h 1206"/>
                  <a:gd name="T56" fmla="*/ 2383 w 2391"/>
                  <a:gd name="T57" fmla="*/ 387 h 1206"/>
                  <a:gd name="T58" fmla="*/ 2387 w 2391"/>
                  <a:gd name="T59" fmla="*/ 399 h 1206"/>
                  <a:gd name="T60" fmla="*/ 2391 w 2391"/>
                  <a:gd name="T61" fmla="*/ 425 h 1206"/>
                  <a:gd name="T62" fmla="*/ 2383 w 2391"/>
                  <a:gd name="T63" fmla="*/ 451 h 1206"/>
                  <a:gd name="T64" fmla="*/ 2367 w 2391"/>
                  <a:gd name="T65" fmla="*/ 471 h 1206"/>
                  <a:gd name="T66" fmla="*/ 2357 w 2391"/>
                  <a:gd name="T67" fmla="*/ 479 h 1206"/>
                  <a:gd name="T68" fmla="*/ 2345 w 2391"/>
                  <a:gd name="T69" fmla="*/ 485 h 1206"/>
                  <a:gd name="T70" fmla="*/ 2319 w 2391"/>
                  <a:gd name="T71" fmla="*/ 487 h 1206"/>
                  <a:gd name="T72" fmla="*/ 2293 w 2391"/>
                  <a:gd name="T73" fmla="*/ 481 h 1206"/>
                  <a:gd name="T74" fmla="*/ 2273 w 2391"/>
                  <a:gd name="T75" fmla="*/ 465 h 1206"/>
                  <a:gd name="T76" fmla="*/ 2102 w 2391"/>
                  <a:gd name="T77" fmla="*/ 168 h 1206"/>
                  <a:gd name="T78" fmla="*/ 2092 w 2391"/>
                  <a:gd name="T79" fmla="*/ 154 h 1206"/>
                  <a:gd name="T80" fmla="*/ 2062 w 2391"/>
                  <a:gd name="T81" fmla="*/ 136 h 1206"/>
                  <a:gd name="T82" fmla="*/ 1582 w 2391"/>
                  <a:gd name="T83" fmla="*/ 134 h 1206"/>
                  <a:gd name="T84" fmla="*/ 1564 w 2391"/>
                  <a:gd name="T85" fmla="*/ 136 h 1206"/>
                  <a:gd name="T86" fmla="*/ 1534 w 2391"/>
                  <a:gd name="T87" fmla="*/ 154 h 1206"/>
                  <a:gd name="T88" fmla="*/ 1524 w 2391"/>
                  <a:gd name="T89" fmla="*/ 168 h 1206"/>
                  <a:gd name="T90" fmla="*/ 944 w 2391"/>
                  <a:gd name="T91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91" h="1206">
                    <a:moveTo>
                      <a:pt x="944" y="1172"/>
                    </a:moveTo>
                    <a:lnTo>
                      <a:pt x="944" y="1172"/>
                    </a:lnTo>
                    <a:lnTo>
                      <a:pt x="934" y="1186"/>
                    </a:lnTo>
                    <a:lnTo>
                      <a:pt x="920" y="1196"/>
                    </a:lnTo>
                    <a:lnTo>
                      <a:pt x="904" y="1202"/>
                    </a:lnTo>
                    <a:lnTo>
                      <a:pt x="886" y="1206"/>
                    </a:lnTo>
                    <a:lnTo>
                      <a:pt x="270" y="1206"/>
                    </a:lnTo>
                    <a:lnTo>
                      <a:pt x="270" y="1206"/>
                    </a:lnTo>
                    <a:lnTo>
                      <a:pt x="252" y="1202"/>
                    </a:lnTo>
                    <a:lnTo>
                      <a:pt x="236" y="1196"/>
                    </a:lnTo>
                    <a:lnTo>
                      <a:pt x="222" y="1186"/>
                    </a:lnTo>
                    <a:lnTo>
                      <a:pt x="210" y="1172"/>
                    </a:lnTo>
                    <a:lnTo>
                      <a:pt x="8" y="821"/>
                    </a:lnTo>
                    <a:lnTo>
                      <a:pt x="8" y="821"/>
                    </a:lnTo>
                    <a:lnTo>
                      <a:pt x="2" y="805"/>
                    </a:lnTo>
                    <a:lnTo>
                      <a:pt x="0" y="787"/>
                    </a:lnTo>
                    <a:lnTo>
                      <a:pt x="2" y="769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14" y="745"/>
                    </a:lnTo>
                    <a:lnTo>
                      <a:pt x="20" y="739"/>
                    </a:lnTo>
                    <a:lnTo>
                      <a:pt x="28" y="733"/>
                    </a:lnTo>
                    <a:lnTo>
                      <a:pt x="34" y="729"/>
                    </a:lnTo>
                    <a:lnTo>
                      <a:pt x="50" y="721"/>
                    </a:lnTo>
                    <a:lnTo>
                      <a:pt x="68" y="719"/>
                    </a:lnTo>
                    <a:lnTo>
                      <a:pt x="84" y="721"/>
                    </a:lnTo>
                    <a:lnTo>
                      <a:pt x="100" y="729"/>
                    </a:lnTo>
                    <a:lnTo>
                      <a:pt x="108" y="733"/>
                    </a:lnTo>
                    <a:lnTo>
                      <a:pt x="114" y="739"/>
                    </a:lnTo>
                    <a:lnTo>
                      <a:pt x="120" y="745"/>
                    </a:lnTo>
                    <a:lnTo>
                      <a:pt x="126" y="753"/>
                    </a:lnTo>
                    <a:lnTo>
                      <a:pt x="288" y="1038"/>
                    </a:lnTo>
                    <a:lnTo>
                      <a:pt x="288" y="1038"/>
                    </a:lnTo>
                    <a:lnTo>
                      <a:pt x="300" y="1052"/>
                    </a:lnTo>
                    <a:lnTo>
                      <a:pt x="314" y="1062"/>
                    </a:lnTo>
                    <a:lnTo>
                      <a:pt x="330" y="1068"/>
                    </a:lnTo>
                    <a:lnTo>
                      <a:pt x="346" y="1070"/>
                    </a:lnTo>
                    <a:lnTo>
                      <a:pt x="810" y="1070"/>
                    </a:lnTo>
                    <a:lnTo>
                      <a:pt x="810" y="1070"/>
                    </a:lnTo>
                    <a:lnTo>
                      <a:pt x="826" y="1068"/>
                    </a:lnTo>
                    <a:lnTo>
                      <a:pt x="842" y="1062"/>
                    </a:lnTo>
                    <a:lnTo>
                      <a:pt x="856" y="1052"/>
                    </a:lnTo>
                    <a:lnTo>
                      <a:pt x="868" y="1038"/>
                    </a:lnTo>
                    <a:lnTo>
                      <a:pt x="868" y="1038"/>
                    </a:lnTo>
                    <a:lnTo>
                      <a:pt x="1446" y="32"/>
                    </a:lnTo>
                    <a:lnTo>
                      <a:pt x="1446" y="32"/>
                    </a:lnTo>
                    <a:lnTo>
                      <a:pt x="1456" y="18"/>
                    </a:lnTo>
                    <a:lnTo>
                      <a:pt x="1470" y="8"/>
                    </a:lnTo>
                    <a:lnTo>
                      <a:pt x="1486" y="2"/>
                    </a:lnTo>
                    <a:lnTo>
                      <a:pt x="1504" y="0"/>
                    </a:lnTo>
                    <a:lnTo>
                      <a:pt x="2122" y="0"/>
                    </a:lnTo>
                    <a:lnTo>
                      <a:pt x="2122" y="0"/>
                    </a:lnTo>
                    <a:lnTo>
                      <a:pt x="2138" y="2"/>
                    </a:lnTo>
                    <a:lnTo>
                      <a:pt x="2154" y="8"/>
                    </a:lnTo>
                    <a:lnTo>
                      <a:pt x="2168" y="18"/>
                    </a:lnTo>
                    <a:lnTo>
                      <a:pt x="2179" y="32"/>
                    </a:lnTo>
                    <a:lnTo>
                      <a:pt x="2383" y="387"/>
                    </a:lnTo>
                    <a:lnTo>
                      <a:pt x="2383" y="387"/>
                    </a:lnTo>
                    <a:lnTo>
                      <a:pt x="2387" y="399"/>
                    </a:lnTo>
                    <a:lnTo>
                      <a:pt x="2391" y="413"/>
                    </a:lnTo>
                    <a:lnTo>
                      <a:pt x="2391" y="425"/>
                    </a:lnTo>
                    <a:lnTo>
                      <a:pt x="2389" y="439"/>
                    </a:lnTo>
                    <a:lnTo>
                      <a:pt x="2383" y="451"/>
                    </a:lnTo>
                    <a:lnTo>
                      <a:pt x="2377" y="461"/>
                    </a:lnTo>
                    <a:lnTo>
                      <a:pt x="2367" y="471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45" y="485"/>
                    </a:lnTo>
                    <a:lnTo>
                      <a:pt x="2331" y="487"/>
                    </a:lnTo>
                    <a:lnTo>
                      <a:pt x="2319" y="487"/>
                    </a:lnTo>
                    <a:lnTo>
                      <a:pt x="2305" y="485"/>
                    </a:lnTo>
                    <a:lnTo>
                      <a:pt x="2293" y="481"/>
                    </a:lnTo>
                    <a:lnTo>
                      <a:pt x="2283" y="473"/>
                    </a:lnTo>
                    <a:lnTo>
                      <a:pt x="2273" y="465"/>
                    </a:lnTo>
                    <a:lnTo>
                      <a:pt x="2265" y="453"/>
                    </a:lnTo>
                    <a:lnTo>
                      <a:pt x="2102" y="168"/>
                    </a:lnTo>
                    <a:lnTo>
                      <a:pt x="2102" y="168"/>
                    </a:lnTo>
                    <a:lnTo>
                      <a:pt x="2092" y="154"/>
                    </a:lnTo>
                    <a:lnTo>
                      <a:pt x="2078" y="142"/>
                    </a:lnTo>
                    <a:lnTo>
                      <a:pt x="2062" y="136"/>
                    </a:lnTo>
                    <a:lnTo>
                      <a:pt x="2044" y="134"/>
                    </a:lnTo>
                    <a:lnTo>
                      <a:pt x="1582" y="134"/>
                    </a:lnTo>
                    <a:lnTo>
                      <a:pt x="1582" y="134"/>
                    </a:lnTo>
                    <a:lnTo>
                      <a:pt x="1564" y="136"/>
                    </a:lnTo>
                    <a:lnTo>
                      <a:pt x="1548" y="142"/>
                    </a:lnTo>
                    <a:lnTo>
                      <a:pt x="1534" y="154"/>
                    </a:lnTo>
                    <a:lnTo>
                      <a:pt x="1524" y="168"/>
                    </a:lnTo>
                    <a:lnTo>
                      <a:pt x="1524" y="168"/>
                    </a:lnTo>
                    <a:lnTo>
                      <a:pt x="944" y="1172"/>
                    </a:lnTo>
                    <a:lnTo>
                      <a:pt x="944" y="117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7">
                <a:extLst>
                  <a:ext uri="{FF2B5EF4-FFF2-40B4-BE49-F238E27FC236}">
                    <a16:creationId xmlns:a16="http://schemas.microsoft.com/office/drawing/2014/main" id="{9A8A4D39-E0CC-FDDA-8AE9-8296274D2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0" y="2471738"/>
                <a:ext cx="3795713" cy="1914525"/>
              </a:xfrm>
              <a:custGeom>
                <a:avLst/>
                <a:gdLst>
                  <a:gd name="T0" fmla="*/ 943 w 2391"/>
                  <a:gd name="T1" fmla="*/ 1172 h 1206"/>
                  <a:gd name="T2" fmla="*/ 919 w 2391"/>
                  <a:gd name="T3" fmla="*/ 1196 h 1206"/>
                  <a:gd name="T4" fmla="*/ 885 w 2391"/>
                  <a:gd name="T5" fmla="*/ 1206 h 1206"/>
                  <a:gd name="T6" fmla="*/ 267 w 2391"/>
                  <a:gd name="T7" fmla="*/ 1206 h 1206"/>
                  <a:gd name="T8" fmla="*/ 236 w 2391"/>
                  <a:gd name="T9" fmla="*/ 1196 h 1206"/>
                  <a:gd name="T10" fmla="*/ 210 w 2391"/>
                  <a:gd name="T11" fmla="*/ 1172 h 1206"/>
                  <a:gd name="T12" fmla="*/ 8 w 2391"/>
                  <a:gd name="T13" fmla="*/ 821 h 1206"/>
                  <a:gd name="T14" fmla="*/ 0 w 2391"/>
                  <a:gd name="T15" fmla="*/ 787 h 1206"/>
                  <a:gd name="T16" fmla="*/ 8 w 2391"/>
                  <a:gd name="T17" fmla="*/ 753 h 1206"/>
                  <a:gd name="T18" fmla="*/ 8 w 2391"/>
                  <a:gd name="T19" fmla="*/ 753 h 1206"/>
                  <a:gd name="T20" fmla="*/ 20 w 2391"/>
                  <a:gd name="T21" fmla="*/ 739 h 1206"/>
                  <a:gd name="T22" fmla="*/ 34 w 2391"/>
                  <a:gd name="T23" fmla="*/ 729 h 1206"/>
                  <a:gd name="T24" fmla="*/ 66 w 2391"/>
                  <a:gd name="T25" fmla="*/ 719 h 1206"/>
                  <a:gd name="T26" fmla="*/ 100 w 2391"/>
                  <a:gd name="T27" fmla="*/ 729 h 1206"/>
                  <a:gd name="T28" fmla="*/ 114 w 2391"/>
                  <a:gd name="T29" fmla="*/ 739 h 1206"/>
                  <a:gd name="T30" fmla="*/ 126 w 2391"/>
                  <a:gd name="T31" fmla="*/ 753 h 1206"/>
                  <a:gd name="T32" fmla="*/ 287 w 2391"/>
                  <a:gd name="T33" fmla="*/ 1038 h 1206"/>
                  <a:gd name="T34" fmla="*/ 313 w 2391"/>
                  <a:gd name="T35" fmla="*/ 1062 h 1206"/>
                  <a:gd name="T36" fmla="*/ 345 w 2391"/>
                  <a:gd name="T37" fmla="*/ 1070 h 1206"/>
                  <a:gd name="T38" fmla="*/ 807 w 2391"/>
                  <a:gd name="T39" fmla="*/ 1070 h 1206"/>
                  <a:gd name="T40" fmla="*/ 841 w 2391"/>
                  <a:gd name="T41" fmla="*/ 1062 h 1206"/>
                  <a:gd name="T42" fmla="*/ 867 w 2391"/>
                  <a:gd name="T43" fmla="*/ 1038 h 1206"/>
                  <a:gd name="T44" fmla="*/ 1445 w 2391"/>
                  <a:gd name="T45" fmla="*/ 32 h 1206"/>
                  <a:gd name="T46" fmla="*/ 1455 w 2391"/>
                  <a:gd name="T47" fmla="*/ 18 h 1206"/>
                  <a:gd name="T48" fmla="*/ 1485 w 2391"/>
                  <a:gd name="T49" fmla="*/ 2 h 1206"/>
                  <a:gd name="T50" fmla="*/ 2121 w 2391"/>
                  <a:gd name="T51" fmla="*/ 0 h 1206"/>
                  <a:gd name="T52" fmla="*/ 2137 w 2391"/>
                  <a:gd name="T53" fmla="*/ 2 h 1206"/>
                  <a:gd name="T54" fmla="*/ 2167 w 2391"/>
                  <a:gd name="T55" fmla="*/ 18 h 1206"/>
                  <a:gd name="T56" fmla="*/ 2381 w 2391"/>
                  <a:gd name="T57" fmla="*/ 387 h 1206"/>
                  <a:gd name="T58" fmla="*/ 2387 w 2391"/>
                  <a:gd name="T59" fmla="*/ 399 h 1206"/>
                  <a:gd name="T60" fmla="*/ 2391 w 2391"/>
                  <a:gd name="T61" fmla="*/ 425 h 1206"/>
                  <a:gd name="T62" fmla="*/ 2383 w 2391"/>
                  <a:gd name="T63" fmla="*/ 451 h 1206"/>
                  <a:gd name="T64" fmla="*/ 2367 w 2391"/>
                  <a:gd name="T65" fmla="*/ 471 h 1206"/>
                  <a:gd name="T66" fmla="*/ 2357 w 2391"/>
                  <a:gd name="T67" fmla="*/ 479 h 1206"/>
                  <a:gd name="T68" fmla="*/ 2343 w 2391"/>
                  <a:gd name="T69" fmla="*/ 485 h 1206"/>
                  <a:gd name="T70" fmla="*/ 2319 w 2391"/>
                  <a:gd name="T71" fmla="*/ 487 h 1206"/>
                  <a:gd name="T72" fmla="*/ 2293 w 2391"/>
                  <a:gd name="T73" fmla="*/ 481 h 1206"/>
                  <a:gd name="T74" fmla="*/ 2273 w 2391"/>
                  <a:gd name="T75" fmla="*/ 465 h 1206"/>
                  <a:gd name="T76" fmla="*/ 2101 w 2391"/>
                  <a:gd name="T77" fmla="*/ 168 h 1206"/>
                  <a:gd name="T78" fmla="*/ 2089 w 2391"/>
                  <a:gd name="T79" fmla="*/ 154 h 1206"/>
                  <a:gd name="T80" fmla="*/ 2061 w 2391"/>
                  <a:gd name="T81" fmla="*/ 136 h 1206"/>
                  <a:gd name="T82" fmla="*/ 1581 w 2391"/>
                  <a:gd name="T83" fmla="*/ 134 h 1206"/>
                  <a:gd name="T84" fmla="*/ 1563 w 2391"/>
                  <a:gd name="T85" fmla="*/ 136 h 1206"/>
                  <a:gd name="T86" fmla="*/ 1533 w 2391"/>
                  <a:gd name="T87" fmla="*/ 154 h 1206"/>
                  <a:gd name="T88" fmla="*/ 1523 w 2391"/>
                  <a:gd name="T89" fmla="*/ 168 h 1206"/>
                  <a:gd name="T90" fmla="*/ 943 w 2391"/>
                  <a:gd name="T91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91" h="1206">
                    <a:moveTo>
                      <a:pt x="943" y="1172"/>
                    </a:moveTo>
                    <a:lnTo>
                      <a:pt x="943" y="1172"/>
                    </a:lnTo>
                    <a:lnTo>
                      <a:pt x="933" y="1186"/>
                    </a:lnTo>
                    <a:lnTo>
                      <a:pt x="919" y="1196"/>
                    </a:lnTo>
                    <a:lnTo>
                      <a:pt x="903" y="1202"/>
                    </a:lnTo>
                    <a:lnTo>
                      <a:pt x="885" y="1206"/>
                    </a:lnTo>
                    <a:lnTo>
                      <a:pt x="267" y="1206"/>
                    </a:lnTo>
                    <a:lnTo>
                      <a:pt x="267" y="1206"/>
                    </a:lnTo>
                    <a:lnTo>
                      <a:pt x="251" y="1202"/>
                    </a:lnTo>
                    <a:lnTo>
                      <a:pt x="236" y="1196"/>
                    </a:lnTo>
                    <a:lnTo>
                      <a:pt x="222" y="1186"/>
                    </a:lnTo>
                    <a:lnTo>
                      <a:pt x="210" y="1172"/>
                    </a:lnTo>
                    <a:lnTo>
                      <a:pt x="8" y="821"/>
                    </a:lnTo>
                    <a:lnTo>
                      <a:pt x="8" y="821"/>
                    </a:lnTo>
                    <a:lnTo>
                      <a:pt x="2" y="805"/>
                    </a:lnTo>
                    <a:lnTo>
                      <a:pt x="0" y="787"/>
                    </a:lnTo>
                    <a:lnTo>
                      <a:pt x="2" y="769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14" y="745"/>
                    </a:lnTo>
                    <a:lnTo>
                      <a:pt x="20" y="739"/>
                    </a:lnTo>
                    <a:lnTo>
                      <a:pt x="26" y="733"/>
                    </a:lnTo>
                    <a:lnTo>
                      <a:pt x="34" y="729"/>
                    </a:lnTo>
                    <a:lnTo>
                      <a:pt x="50" y="721"/>
                    </a:lnTo>
                    <a:lnTo>
                      <a:pt x="66" y="719"/>
                    </a:lnTo>
                    <a:lnTo>
                      <a:pt x="84" y="721"/>
                    </a:lnTo>
                    <a:lnTo>
                      <a:pt x="100" y="729"/>
                    </a:lnTo>
                    <a:lnTo>
                      <a:pt x="108" y="733"/>
                    </a:lnTo>
                    <a:lnTo>
                      <a:pt x="114" y="739"/>
                    </a:lnTo>
                    <a:lnTo>
                      <a:pt x="120" y="745"/>
                    </a:lnTo>
                    <a:lnTo>
                      <a:pt x="126" y="753"/>
                    </a:lnTo>
                    <a:lnTo>
                      <a:pt x="287" y="1038"/>
                    </a:lnTo>
                    <a:lnTo>
                      <a:pt x="287" y="1038"/>
                    </a:lnTo>
                    <a:lnTo>
                      <a:pt x="299" y="1052"/>
                    </a:lnTo>
                    <a:lnTo>
                      <a:pt x="313" y="1062"/>
                    </a:lnTo>
                    <a:lnTo>
                      <a:pt x="329" y="1068"/>
                    </a:lnTo>
                    <a:lnTo>
                      <a:pt x="345" y="1070"/>
                    </a:lnTo>
                    <a:lnTo>
                      <a:pt x="807" y="1070"/>
                    </a:lnTo>
                    <a:lnTo>
                      <a:pt x="807" y="1070"/>
                    </a:lnTo>
                    <a:lnTo>
                      <a:pt x="825" y="1068"/>
                    </a:lnTo>
                    <a:lnTo>
                      <a:pt x="841" y="1062"/>
                    </a:lnTo>
                    <a:lnTo>
                      <a:pt x="855" y="1052"/>
                    </a:lnTo>
                    <a:lnTo>
                      <a:pt x="867" y="1038"/>
                    </a:lnTo>
                    <a:lnTo>
                      <a:pt x="867" y="1038"/>
                    </a:lnTo>
                    <a:lnTo>
                      <a:pt x="1445" y="32"/>
                    </a:lnTo>
                    <a:lnTo>
                      <a:pt x="1445" y="32"/>
                    </a:lnTo>
                    <a:lnTo>
                      <a:pt x="1455" y="18"/>
                    </a:lnTo>
                    <a:lnTo>
                      <a:pt x="1469" y="8"/>
                    </a:lnTo>
                    <a:lnTo>
                      <a:pt x="1485" y="2"/>
                    </a:lnTo>
                    <a:lnTo>
                      <a:pt x="1503" y="0"/>
                    </a:lnTo>
                    <a:lnTo>
                      <a:pt x="2121" y="0"/>
                    </a:lnTo>
                    <a:lnTo>
                      <a:pt x="2121" y="0"/>
                    </a:lnTo>
                    <a:lnTo>
                      <a:pt x="2137" y="2"/>
                    </a:lnTo>
                    <a:lnTo>
                      <a:pt x="2153" y="8"/>
                    </a:lnTo>
                    <a:lnTo>
                      <a:pt x="2167" y="18"/>
                    </a:lnTo>
                    <a:lnTo>
                      <a:pt x="2179" y="32"/>
                    </a:lnTo>
                    <a:lnTo>
                      <a:pt x="2381" y="387"/>
                    </a:lnTo>
                    <a:lnTo>
                      <a:pt x="2381" y="387"/>
                    </a:lnTo>
                    <a:lnTo>
                      <a:pt x="2387" y="399"/>
                    </a:lnTo>
                    <a:lnTo>
                      <a:pt x="2391" y="413"/>
                    </a:lnTo>
                    <a:lnTo>
                      <a:pt x="2391" y="425"/>
                    </a:lnTo>
                    <a:lnTo>
                      <a:pt x="2389" y="439"/>
                    </a:lnTo>
                    <a:lnTo>
                      <a:pt x="2383" y="451"/>
                    </a:lnTo>
                    <a:lnTo>
                      <a:pt x="2377" y="461"/>
                    </a:lnTo>
                    <a:lnTo>
                      <a:pt x="2367" y="471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43" y="485"/>
                    </a:lnTo>
                    <a:lnTo>
                      <a:pt x="2331" y="487"/>
                    </a:lnTo>
                    <a:lnTo>
                      <a:pt x="2319" y="487"/>
                    </a:lnTo>
                    <a:lnTo>
                      <a:pt x="2305" y="485"/>
                    </a:lnTo>
                    <a:lnTo>
                      <a:pt x="2293" y="481"/>
                    </a:lnTo>
                    <a:lnTo>
                      <a:pt x="2283" y="473"/>
                    </a:lnTo>
                    <a:lnTo>
                      <a:pt x="2273" y="465"/>
                    </a:lnTo>
                    <a:lnTo>
                      <a:pt x="2265" y="453"/>
                    </a:lnTo>
                    <a:lnTo>
                      <a:pt x="2101" y="168"/>
                    </a:lnTo>
                    <a:lnTo>
                      <a:pt x="2101" y="168"/>
                    </a:lnTo>
                    <a:lnTo>
                      <a:pt x="2089" y="154"/>
                    </a:lnTo>
                    <a:lnTo>
                      <a:pt x="2077" y="142"/>
                    </a:lnTo>
                    <a:lnTo>
                      <a:pt x="2061" y="136"/>
                    </a:lnTo>
                    <a:lnTo>
                      <a:pt x="2043" y="134"/>
                    </a:lnTo>
                    <a:lnTo>
                      <a:pt x="1581" y="134"/>
                    </a:lnTo>
                    <a:lnTo>
                      <a:pt x="1581" y="134"/>
                    </a:lnTo>
                    <a:lnTo>
                      <a:pt x="1563" y="136"/>
                    </a:lnTo>
                    <a:lnTo>
                      <a:pt x="1547" y="142"/>
                    </a:lnTo>
                    <a:lnTo>
                      <a:pt x="1533" y="154"/>
                    </a:lnTo>
                    <a:lnTo>
                      <a:pt x="1523" y="168"/>
                    </a:lnTo>
                    <a:lnTo>
                      <a:pt x="1523" y="168"/>
                    </a:lnTo>
                    <a:lnTo>
                      <a:pt x="943" y="1172"/>
                    </a:lnTo>
                    <a:lnTo>
                      <a:pt x="943" y="117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8">
                <a:extLst>
                  <a:ext uri="{FF2B5EF4-FFF2-40B4-BE49-F238E27FC236}">
                    <a16:creationId xmlns:a16="http://schemas.microsoft.com/office/drawing/2014/main" id="{79701E8C-C0AE-CABA-D266-D0CB1D2FF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625" y="2471738"/>
                <a:ext cx="3963988" cy="1914525"/>
              </a:xfrm>
              <a:custGeom>
                <a:avLst/>
                <a:gdLst>
                  <a:gd name="T0" fmla="*/ 1641 w 2497"/>
                  <a:gd name="T1" fmla="*/ 154 h 1206"/>
                  <a:gd name="T2" fmla="*/ 1687 w 2497"/>
                  <a:gd name="T3" fmla="*/ 134 h 1206"/>
                  <a:gd name="T4" fmla="*/ 2167 w 2497"/>
                  <a:gd name="T5" fmla="*/ 136 h 1206"/>
                  <a:gd name="T6" fmla="*/ 2209 w 2497"/>
                  <a:gd name="T7" fmla="*/ 168 h 1206"/>
                  <a:gd name="T8" fmla="*/ 2377 w 2497"/>
                  <a:gd name="T9" fmla="*/ 459 h 1206"/>
                  <a:gd name="T10" fmla="*/ 2397 w 2497"/>
                  <a:gd name="T11" fmla="*/ 477 h 1206"/>
                  <a:gd name="T12" fmla="*/ 2447 w 2497"/>
                  <a:gd name="T13" fmla="*/ 483 h 1206"/>
                  <a:gd name="T14" fmla="*/ 2477 w 2497"/>
                  <a:gd name="T15" fmla="*/ 465 h 1206"/>
                  <a:gd name="T16" fmla="*/ 2487 w 2497"/>
                  <a:gd name="T17" fmla="*/ 451 h 1206"/>
                  <a:gd name="T18" fmla="*/ 2497 w 2497"/>
                  <a:gd name="T19" fmla="*/ 417 h 1206"/>
                  <a:gd name="T20" fmla="*/ 2285 w 2497"/>
                  <a:gd name="T21" fmla="*/ 32 h 1206"/>
                  <a:gd name="T22" fmla="*/ 2261 w 2497"/>
                  <a:gd name="T23" fmla="*/ 8 h 1206"/>
                  <a:gd name="T24" fmla="*/ 1611 w 2497"/>
                  <a:gd name="T25" fmla="*/ 0 h 1206"/>
                  <a:gd name="T26" fmla="*/ 1578 w 2497"/>
                  <a:gd name="T27" fmla="*/ 8 h 1206"/>
                  <a:gd name="T28" fmla="*/ 1552 w 2497"/>
                  <a:gd name="T29" fmla="*/ 32 h 1206"/>
                  <a:gd name="T30" fmla="*/ 964 w 2497"/>
                  <a:gd name="T31" fmla="*/ 1052 h 1206"/>
                  <a:gd name="T32" fmla="*/ 916 w 2497"/>
                  <a:gd name="T33" fmla="*/ 1070 h 1206"/>
                  <a:gd name="T34" fmla="*/ 436 w 2497"/>
                  <a:gd name="T35" fmla="*/ 1068 h 1206"/>
                  <a:gd name="T36" fmla="*/ 396 w 2497"/>
                  <a:gd name="T37" fmla="*/ 1038 h 1206"/>
                  <a:gd name="T38" fmla="*/ 158 w 2497"/>
                  <a:gd name="T39" fmla="*/ 619 h 1206"/>
                  <a:gd name="T40" fmla="*/ 164 w 2497"/>
                  <a:gd name="T41" fmla="*/ 569 h 1206"/>
                  <a:gd name="T42" fmla="*/ 406 w 2497"/>
                  <a:gd name="T43" fmla="*/ 154 h 1206"/>
                  <a:gd name="T44" fmla="*/ 454 w 2497"/>
                  <a:gd name="T45" fmla="*/ 134 h 1206"/>
                  <a:gd name="T46" fmla="*/ 934 w 2497"/>
                  <a:gd name="T47" fmla="*/ 136 h 1206"/>
                  <a:gd name="T48" fmla="*/ 974 w 2497"/>
                  <a:gd name="T49" fmla="*/ 168 h 1206"/>
                  <a:gd name="T50" fmla="*/ 1142 w 2497"/>
                  <a:gd name="T51" fmla="*/ 459 h 1206"/>
                  <a:gd name="T52" fmla="*/ 1162 w 2497"/>
                  <a:gd name="T53" fmla="*/ 475 h 1206"/>
                  <a:gd name="T54" fmla="*/ 1212 w 2497"/>
                  <a:gd name="T55" fmla="*/ 481 h 1206"/>
                  <a:gd name="T56" fmla="*/ 1242 w 2497"/>
                  <a:gd name="T57" fmla="*/ 465 h 1206"/>
                  <a:gd name="T58" fmla="*/ 1254 w 2497"/>
                  <a:gd name="T59" fmla="*/ 451 h 1206"/>
                  <a:gd name="T60" fmla="*/ 1262 w 2497"/>
                  <a:gd name="T61" fmla="*/ 417 h 1206"/>
                  <a:gd name="T62" fmla="*/ 1052 w 2497"/>
                  <a:gd name="T63" fmla="*/ 32 h 1206"/>
                  <a:gd name="T64" fmla="*/ 1028 w 2497"/>
                  <a:gd name="T65" fmla="*/ 8 h 1206"/>
                  <a:gd name="T66" fmla="*/ 376 w 2497"/>
                  <a:gd name="T67" fmla="*/ 0 h 1206"/>
                  <a:gd name="T68" fmla="*/ 342 w 2497"/>
                  <a:gd name="T69" fmla="*/ 8 h 1206"/>
                  <a:gd name="T70" fmla="*/ 10 w 2497"/>
                  <a:gd name="T71" fmla="*/ 569 h 1206"/>
                  <a:gd name="T72" fmla="*/ 0 w 2497"/>
                  <a:gd name="T73" fmla="*/ 603 h 1206"/>
                  <a:gd name="T74" fmla="*/ 318 w 2497"/>
                  <a:gd name="T75" fmla="*/ 1172 h 1206"/>
                  <a:gd name="T76" fmla="*/ 342 w 2497"/>
                  <a:gd name="T77" fmla="*/ 1196 h 1206"/>
                  <a:gd name="T78" fmla="*/ 994 w 2497"/>
                  <a:gd name="T79" fmla="*/ 1206 h 1206"/>
                  <a:gd name="T80" fmla="*/ 1028 w 2497"/>
                  <a:gd name="T81" fmla="*/ 1196 h 1206"/>
                  <a:gd name="T82" fmla="*/ 1052 w 2497"/>
                  <a:gd name="T83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7" h="1206">
                    <a:moveTo>
                      <a:pt x="1629" y="168"/>
                    </a:moveTo>
                    <a:lnTo>
                      <a:pt x="1629" y="168"/>
                    </a:lnTo>
                    <a:lnTo>
                      <a:pt x="1641" y="154"/>
                    </a:lnTo>
                    <a:lnTo>
                      <a:pt x="1655" y="142"/>
                    </a:lnTo>
                    <a:lnTo>
                      <a:pt x="1671" y="136"/>
                    </a:lnTo>
                    <a:lnTo>
                      <a:pt x="1687" y="134"/>
                    </a:lnTo>
                    <a:lnTo>
                      <a:pt x="2149" y="134"/>
                    </a:lnTo>
                    <a:lnTo>
                      <a:pt x="2149" y="134"/>
                    </a:lnTo>
                    <a:lnTo>
                      <a:pt x="2167" y="136"/>
                    </a:lnTo>
                    <a:lnTo>
                      <a:pt x="2183" y="142"/>
                    </a:lnTo>
                    <a:lnTo>
                      <a:pt x="2197" y="154"/>
                    </a:lnTo>
                    <a:lnTo>
                      <a:pt x="2209" y="168"/>
                    </a:lnTo>
                    <a:lnTo>
                      <a:pt x="2371" y="451"/>
                    </a:lnTo>
                    <a:lnTo>
                      <a:pt x="2371" y="451"/>
                    </a:lnTo>
                    <a:lnTo>
                      <a:pt x="2377" y="459"/>
                    </a:lnTo>
                    <a:lnTo>
                      <a:pt x="2383" y="465"/>
                    </a:lnTo>
                    <a:lnTo>
                      <a:pt x="2389" y="471"/>
                    </a:lnTo>
                    <a:lnTo>
                      <a:pt x="2397" y="477"/>
                    </a:lnTo>
                    <a:lnTo>
                      <a:pt x="2413" y="483"/>
                    </a:lnTo>
                    <a:lnTo>
                      <a:pt x="2429" y="485"/>
                    </a:lnTo>
                    <a:lnTo>
                      <a:pt x="2447" y="483"/>
                    </a:lnTo>
                    <a:lnTo>
                      <a:pt x="2463" y="477"/>
                    </a:lnTo>
                    <a:lnTo>
                      <a:pt x="2469" y="471"/>
                    </a:lnTo>
                    <a:lnTo>
                      <a:pt x="2477" y="465"/>
                    </a:lnTo>
                    <a:lnTo>
                      <a:pt x="2483" y="459"/>
                    </a:lnTo>
                    <a:lnTo>
                      <a:pt x="2487" y="451"/>
                    </a:lnTo>
                    <a:lnTo>
                      <a:pt x="2487" y="451"/>
                    </a:lnTo>
                    <a:lnTo>
                      <a:pt x="2487" y="451"/>
                    </a:lnTo>
                    <a:lnTo>
                      <a:pt x="2495" y="435"/>
                    </a:lnTo>
                    <a:lnTo>
                      <a:pt x="2497" y="417"/>
                    </a:lnTo>
                    <a:lnTo>
                      <a:pt x="2495" y="401"/>
                    </a:lnTo>
                    <a:lnTo>
                      <a:pt x="2487" y="383"/>
                    </a:lnTo>
                    <a:lnTo>
                      <a:pt x="2285" y="32"/>
                    </a:lnTo>
                    <a:lnTo>
                      <a:pt x="2285" y="32"/>
                    </a:lnTo>
                    <a:lnTo>
                      <a:pt x="2275" y="18"/>
                    </a:lnTo>
                    <a:lnTo>
                      <a:pt x="2261" y="8"/>
                    </a:lnTo>
                    <a:lnTo>
                      <a:pt x="2245" y="2"/>
                    </a:lnTo>
                    <a:lnTo>
                      <a:pt x="2227" y="0"/>
                    </a:lnTo>
                    <a:lnTo>
                      <a:pt x="1611" y="0"/>
                    </a:lnTo>
                    <a:lnTo>
                      <a:pt x="1611" y="0"/>
                    </a:lnTo>
                    <a:lnTo>
                      <a:pt x="1593" y="2"/>
                    </a:lnTo>
                    <a:lnTo>
                      <a:pt x="1578" y="8"/>
                    </a:lnTo>
                    <a:lnTo>
                      <a:pt x="1564" y="18"/>
                    </a:lnTo>
                    <a:lnTo>
                      <a:pt x="1552" y="32"/>
                    </a:lnTo>
                    <a:lnTo>
                      <a:pt x="1552" y="32"/>
                    </a:lnTo>
                    <a:lnTo>
                      <a:pt x="974" y="1038"/>
                    </a:lnTo>
                    <a:lnTo>
                      <a:pt x="974" y="1038"/>
                    </a:lnTo>
                    <a:lnTo>
                      <a:pt x="964" y="1052"/>
                    </a:lnTo>
                    <a:lnTo>
                      <a:pt x="950" y="1062"/>
                    </a:lnTo>
                    <a:lnTo>
                      <a:pt x="934" y="1068"/>
                    </a:lnTo>
                    <a:lnTo>
                      <a:pt x="916" y="1070"/>
                    </a:lnTo>
                    <a:lnTo>
                      <a:pt x="454" y="1070"/>
                    </a:lnTo>
                    <a:lnTo>
                      <a:pt x="454" y="1070"/>
                    </a:lnTo>
                    <a:lnTo>
                      <a:pt x="436" y="1068"/>
                    </a:lnTo>
                    <a:lnTo>
                      <a:pt x="420" y="1062"/>
                    </a:lnTo>
                    <a:lnTo>
                      <a:pt x="406" y="1052"/>
                    </a:lnTo>
                    <a:lnTo>
                      <a:pt x="396" y="1038"/>
                    </a:lnTo>
                    <a:lnTo>
                      <a:pt x="164" y="635"/>
                    </a:lnTo>
                    <a:lnTo>
                      <a:pt x="164" y="635"/>
                    </a:lnTo>
                    <a:lnTo>
                      <a:pt x="158" y="619"/>
                    </a:lnTo>
                    <a:lnTo>
                      <a:pt x="156" y="603"/>
                    </a:lnTo>
                    <a:lnTo>
                      <a:pt x="158" y="585"/>
                    </a:lnTo>
                    <a:lnTo>
                      <a:pt x="164" y="569"/>
                    </a:lnTo>
                    <a:lnTo>
                      <a:pt x="396" y="168"/>
                    </a:lnTo>
                    <a:lnTo>
                      <a:pt x="396" y="168"/>
                    </a:lnTo>
                    <a:lnTo>
                      <a:pt x="406" y="154"/>
                    </a:lnTo>
                    <a:lnTo>
                      <a:pt x="420" y="142"/>
                    </a:lnTo>
                    <a:lnTo>
                      <a:pt x="436" y="136"/>
                    </a:lnTo>
                    <a:lnTo>
                      <a:pt x="454" y="134"/>
                    </a:lnTo>
                    <a:lnTo>
                      <a:pt x="916" y="134"/>
                    </a:lnTo>
                    <a:lnTo>
                      <a:pt x="916" y="134"/>
                    </a:lnTo>
                    <a:lnTo>
                      <a:pt x="934" y="136"/>
                    </a:lnTo>
                    <a:lnTo>
                      <a:pt x="950" y="142"/>
                    </a:lnTo>
                    <a:lnTo>
                      <a:pt x="964" y="154"/>
                    </a:lnTo>
                    <a:lnTo>
                      <a:pt x="974" y="168"/>
                    </a:lnTo>
                    <a:lnTo>
                      <a:pt x="1138" y="451"/>
                    </a:lnTo>
                    <a:lnTo>
                      <a:pt x="1138" y="451"/>
                    </a:lnTo>
                    <a:lnTo>
                      <a:pt x="1142" y="459"/>
                    </a:lnTo>
                    <a:lnTo>
                      <a:pt x="1148" y="465"/>
                    </a:lnTo>
                    <a:lnTo>
                      <a:pt x="1156" y="471"/>
                    </a:lnTo>
                    <a:lnTo>
                      <a:pt x="1162" y="475"/>
                    </a:lnTo>
                    <a:lnTo>
                      <a:pt x="1178" y="481"/>
                    </a:lnTo>
                    <a:lnTo>
                      <a:pt x="1196" y="483"/>
                    </a:lnTo>
                    <a:lnTo>
                      <a:pt x="1212" y="481"/>
                    </a:lnTo>
                    <a:lnTo>
                      <a:pt x="1228" y="475"/>
                    </a:lnTo>
                    <a:lnTo>
                      <a:pt x="1236" y="471"/>
                    </a:lnTo>
                    <a:lnTo>
                      <a:pt x="1242" y="465"/>
                    </a:lnTo>
                    <a:lnTo>
                      <a:pt x="1248" y="459"/>
                    </a:lnTo>
                    <a:lnTo>
                      <a:pt x="1254" y="451"/>
                    </a:lnTo>
                    <a:lnTo>
                      <a:pt x="1254" y="451"/>
                    </a:lnTo>
                    <a:lnTo>
                      <a:pt x="1254" y="451"/>
                    </a:lnTo>
                    <a:lnTo>
                      <a:pt x="1260" y="433"/>
                    </a:lnTo>
                    <a:lnTo>
                      <a:pt x="1262" y="417"/>
                    </a:lnTo>
                    <a:lnTo>
                      <a:pt x="1260" y="399"/>
                    </a:lnTo>
                    <a:lnTo>
                      <a:pt x="1254" y="383"/>
                    </a:lnTo>
                    <a:lnTo>
                      <a:pt x="1052" y="32"/>
                    </a:lnTo>
                    <a:lnTo>
                      <a:pt x="1052" y="32"/>
                    </a:lnTo>
                    <a:lnTo>
                      <a:pt x="1042" y="18"/>
                    </a:lnTo>
                    <a:lnTo>
                      <a:pt x="1028" y="8"/>
                    </a:lnTo>
                    <a:lnTo>
                      <a:pt x="1012" y="2"/>
                    </a:lnTo>
                    <a:lnTo>
                      <a:pt x="994" y="0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58" y="2"/>
                    </a:lnTo>
                    <a:lnTo>
                      <a:pt x="342" y="8"/>
                    </a:lnTo>
                    <a:lnTo>
                      <a:pt x="328" y="18"/>
                    </a:lnTo>
                    <a:lnTo>
                      <a:pt x="318" y="32"/>
                    </a:lnTo>
                    <a:lnTo>
                      <a:pt x="10" y="569"/>
                    </a:lnTo>
                    <a:lnTo>
                      <a:pt x="10" y="569"/>
                    </a:lnTo>
                    <a:lnTo>
                      <a:pt x="2" y="585"/>
                    </a:lnTo>
                    <a:lnTo>
                      <a:pt x="0" y="603"/>
                    </a:lnTo>
                    <a:lnTo>
                      <a:pt x="2" y="619"/>
                    </a:lnTo>
                    <a:lnTo>
                      <a:pt x="10" y="635"/>
                    </a:lnTo>
                    <a:lnTo>
                      <a:pt x="318" y="1172"/>
                    </a:lnTo>
                    <a:lnTo>
                      <a:pt x="318" y="1172"/>
                    </a:lnTo>
                    <a:lnTo>
                      <a:pt x="328" y="1186"/>
                    </a:lnTo>
                    <a:lnTo>
                      <a:pt x="342" y="1196"/>
                    </a:lnTo>
                    <a:lnTo>
                      <a:pt x="358" y="1202"/>
                    </a:lnTo>
                    <a:lnTo>
                      <a:pt x="376" y="1206"/>
                    </a:lnTo>
                    <a:lnTo>
                      <a:pt x="994" y="1206"/>
                    </a:lnTo>
                    <a:lnTo>
                      <a:pt x="994" y="1206"/>
                    </a:lnTo>
                    <a:lnTo>
                      <a:pt x="1012" y="1202"/>
                    </a:lnTo>
                    <a:lnTo>
                      <a:pt x="1028" y="1196"/>
                    </a:lnTo>
                    <a:lnTo>
                      <a:pt x="1042" y="1186"/>
                    </a:lnTo>
                    <a:lnTo>
                      <a:pt x="1052" y="1172"/>
                    </a:lnTo>
                    <a:lnTo>
                      <a:pt x="1052" y="1172"/>
                    </a:lnTo>
                    <a:lnTo>
                      <a:pt x="1629" y="168"/>
                    </a:lnTo>
                    <a:lnTo>
                      <a:pt x="1629" y="16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9D5F973-876D-7334-2980-419DE849192F}"/>
                </a:ext>
              </a:extLst>
            </p:cNvPr>
            <p:cNvSpPr txBox="1"/>
            <p:nvPr/>
          </p:nvSpPr>
          <p:spPr>
            <a:xfrm>
              <a:off x="5016933" y="3519046"/>
              <a:ext cx="6273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model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2EE342-0108-603A-0B10-1749A36F310A}"/>
                </a:ext>
              </a:extLst>
            </p:cNvPr>
            <p:cNvSpPr txBox="1"/>
            <p:nvPr/>
          </p:nvSpPr>
          <p:spPr>
            <a:xfrm>
              <a:off x="6256449" y="3519046"/>
              <a:ext cx="75763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Shadow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664BB6-DA6C-02E5-B0C3-CA2F9EDC3E60}"/>
                </a:ext>
              </a:extLst>
            </p:cNvPr>
            <p:cNvSpPr txBox="1"/>
            <p:nvPr/>
          </p:nvSpPr>
          <p:spPr>
            <a:xfrm>
              <a:off x="7504809" y="3519046"/>
              <a:ext cx="75763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Twin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57DD98-A082-E7CB-DC32-A1D8F07A4CD8}"/>
                </a:ext>
              </a:extLst>
            </p:cNvPr>
            <p:cNvSpPr txBox="1"/>
            <p:nvPr/>
          </p:nvSpPr>
          <p:spPr>
            <a:xfrm>
              <a:off x="8645142" y="3519046"/>
              <a:ext cx="106320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Autonomous Digital Twin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57A7CD-A812-3502-6BF9-5C0DF7A7A8C3}"/>
                </a:ext>
              </a:extLst>
            </p:cNvPr>
            <p:cNvSpPr txBox="1"/>
            <p:nvPr/>
          </p:nvSpPr>
          <p:spPr>
            <a:xfrm>
              <a:off x="9956249" y="3519046"/>
              <a:ext cx="106320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Federated Digital Twin</a:t>
              </a: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25C68C56-AE2C-F27C-5F9F-969CF50442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500" y="13226636"/>
            <a:ext cx="1026975" cy="95258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7868770-11E6-B281-A16D-087177D2AC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3661"/>
          <a:stretch/>
        </p:blipFill>
        <p:spPr>
          <a:xfrm>
            <a:off x="8106808" y="13226637"/>
            <a:ext cx="1278650" cy="95697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CC9E7E0-1492-C0D6-DAD1-268C0CEBF60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928" r="6928"/>
          <a:stretch>
            <a:fillRect/>
          </a:stretch>
        </p:blipFill>
        <p:spPr>
          <a:xfrm>
            <a:off x="9777174" y="13236785"/>
            <a:ext cx="1302212" cy="94243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94645C0-EBDC-25CD-670E-684E509A4D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67" y="13226636"/>
            <a:ext cx="1133949" cy="95258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DA536D0-6D6F-E0A6-514F-326D31078D8D}"/>
              </a:ext>
            </a:extLst>
          </p:cNvPr>
          <p:cNvSpPr txBox="1"/>
          <p:nvPr/>
        </p:nvSpPr>
        <p:spPr>
          <a:xfrm>
            <a:off x="4814867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Building models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FD045A-1268-D9C2-34FE-E222CD9E8A4E}"/>
              </a:ext>
            </a:extLst>
          </p:cNvPr>
          <p:cNvSpPr txBox="1"/>
          <p:nvPr/>
        </p:nvSpPr>
        <p:spPr>
          <a:xfrm>
            <a:off x="6497013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IoT sensors/CPS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A32357-DF6C-A6DA-A544-55137C16810E}"/>
              </a:ext>
            </a:extLst>
          </p:cNvPr>
          <p:cNvSpPr txBox="1"/>
          <p:nvPr/>
        </p:nvSpPr>
        <p:spPr>
          <a:xfrm>
            <a:off x="8179158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Twin analytics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78DBC9-3547-93D0-03EE-E7E64445150D}"/>
              </a:ext>
            </a:extLst>
          </p:cNvPr>
          <p:cNvSpPr txBox="1"/>
          <p:nvPr/>
        </p:nvSpPr>
        <p:spPr>
          <a:xfrm>
            <a:off x="9861305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Future work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3F5A1EF-9E70-B233-04F5-F247A558D33F}"/>
              </a:ext>
            </a:extLst>
          </p:cNvPr>
          <p:cNvGrpSpPr/>
          <p:nvPr/>
        </p:nvGrpSpPr>
        <p:grpSpPr>
          <a:xfrm>
            <a:off x="706588" y="7748497"/>
            <a:ext cx="10778824" cy="650570"/>
            <a:chOff x="706588" y="1375915"/>
            <a:chExt cx="10778824" cy="65057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C14765B-D77B-FF27-11E9-E7048F628E02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E63C60F-6604-73AB-6D6D-B25CA2D61BA1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2C3C861-0775-A459-0BA8-484C013A44BD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AF285B-9B7B-7EEC-1E48-C956E2D23CDA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DB96DB2-4810-0922-663D-0CE3BAFACEE6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8F788A5-D917-2A3C-5639-1268E88BC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B8F3B36-2961-CFB5-068A-DC9E099DA9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8" name="Graphic 57">
            <a:extLst>
              <a:ext uri="{FF2B5EF4-FFF2-40B4-BE49-F238E27FC236}">
                <a16:creationId xmlns:a16="http://schemas.microsoft.com/office/drawing/2014/main" id="{FC77EF93-2C3D-488B-CAC8-97F3C85316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3367" y="13378627"/>
            <a:ext cx="254298" cy="254298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79F13CB-1EDB-24FD-2461-B4D8905FC4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7912" y="13378627"/>
            <a:ext cx="254298" cy="254298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1E718612-94DF-7A2F-390F-6394999725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60058" y="13378627"/>
            <a:ext cx="254298" cy="25429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AFC03-FA24-E12C-57F3-B0A15A7A0488}"/>
              </a:ext>
            </a:extLst>
          </p:cNvPr>
          <p:cNvGrpSpPr/>
          <p:nvPr/>
        </p:nvGrpSpPr>
        <p:grpSpPr>
          <a:xfrm>
            <a:off x="-5548210" y="-543340"/>
            <a:ext cx="3324995" cy="3324994"/>
            <a:chOff x="999355" y="518747"/>
            <a:chExt cx="3324995" cy="3324994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CA0951C-F00B-4EED-A562-B1036D31FFCF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E8A9510-3B08-51B5-D1B1-DC085CB13A82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B40A060-97D4-FE18-7025-4AAF8B3AB6BC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9652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92B32E-6B42-A8B0-168B-91C089118FCD}"/>
              </a:ext>
            </a:extLst>
          </p:cNvPr>
          <p:cNvSpPr txBox="1"/>
          <p:nvPr/>
        </p:nvSpPr>
        <p:spPr>
          <a:xfrm>
            <a:off x="550863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Our Digital Twin Maturity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33E04-4522-3A83-7FB6-CCF7BF08C7B7}"/>
              </a:ext>
            </a:extLst>
          </p:cNvPr>
          <p:cNvSpPr txBox="1"/>
          <p:nvPr/>
        </p:nvSpPr>
        <p:spPr>
          <a:xfrm>
            <a:off x="550863" y="6247556"/>
            <a:ext cx="10408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Montserrat Light" pitchFamily="2" charset="77"/>
              </a:rPr>
              <a:t>[1] Mousavi, Y.; </a:t>
            </a:r>
            <a:r>
              <a:rPr lang="en-US" sz="800" dirty="0" err="1">
                <a:latin typeface="Montserrat Light" pitchFamily="2" charset="77"/>
              </a:rPr>
              <a:t>Gharineiat</a:t>
            </a:r>
            <a:r>
              <a:rPr lang="en-US" sz="800" dirty="0">
                <a:latin typeface="Montserrat Light" pitchFamily="2" charset="77"/>
              </a:rPr>
              <a:t>, Z.; Karimi, A.A.; McDougall, K.; Rossi, A.; </a:t>
            </a:r>
            <a:r>
              <a:rPr lang="en-US" sz="800" dirty="0" err="1">
                <a:latin typeface="Montserrat Light" pitchFamily="2" charset="77"/>
              </a:rPr>
              <a:t>Gonizzi</a:t>
            </a:r>
            <a:r>
              <a:rPr lang="en-US" sz="800" dirty="0">
                <a:latin typeface="Montserrat Light" pitchFamily="2" charset="77"/>
              </a:rPr>
              <a:t> Barsanti, S. Digital Twin Technology in Built Environment: A Review of Applications, Capabilities and Challenges. Smart Cities 2024, 7, 2594-2615. https://doi.org/10.3390/smartcities7050101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FDB934-A060-8982-01C3-F0C122953A7F}"/>
              </a:ext>
            </a:extLst>
          </p:cNvPr>
          <p:cNvSpPr/>
          <p:nvPr/>
        </p:nvSpPr>
        <p:spPr>
          <a:xfrm>
            <a:off x="706588" y="2214333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525D57-496B-49ED-FA88-B7A2D3D19DE3}"/>
              </a:ext>
            </a:extLst>
          </p:cNvPr>
          <p:cNvSpPr/>
          <p:nvPr/>
        </p:nvSpPr>
        <p:spPr>
          <a:xfrm>
            <a:off x="4371240" y="2214333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DC9FBF-9797-AF70-148D-3E6D869D71E4}"/>
              </a:ext>
            </a:extLst>
          </p:cNvPr>
          <p:cNvSpPr txBox="1"/>
          <p:nvPr/>
        </p:nvSpPr>
        <p:spPr>
          <a:xfrm>
            <a:off x="4609617" y="2352597"/>
            <a:ext cx="5400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Montserrat Medium" pitchFamily="2" charset="77"/>
              </a:rPr>
              <a:t>Digital Twin Maturity Level [1]: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313434-F3CD-0045-9E1B-76F4F5A7E302}"/>
              </a:ext>
            </a:extLst>
          </p:cNvPr>
          <p:cNvGrpSpPr/>
          <p:nvPr/>
        </p:nvGrpSpPr>
        <p:grpSpPr>
          <a:xfrm>
            <a:off x="991495" y="5499232"/>
            <a:ext cx="2879706" cy="442492"/>
            <a:chOff x="343772" y="165561"/>
            <a:chExt cx="5915883" cy="90902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96D603E-D1D4-560B-B6FD-AC19917B0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35" name="Picture 34" descr="A close-up of a logo&#10;&#10;AI-generated content may be incorrect.">
              <a:extLst>
                <a:ext uri="{FF2B5EF4-FFF2-40B4-BE49-F238E27FC236}">
                  <a16:creationId xmlns:a16="http://schemas.microsoft.com/office/drawing/2014/main" id="{91FC59A5-A715-DA61-8978-CFA002934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C8DB0BC-6072-3606-A08E-D9663B80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DE85DCF-7A36-4C3F-6080-177BA1B2EF11}"/>
              </a:ext>
            </a:extLst>
          </p:cNvPr>
          <p:cNvSpPr txBox="1"/>
          <p:nvPr/>
        </p:nvSpPr>
        <p:spPr>
          <a:xfrm>
            <a:off x="913516" y="2438296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Montserrat Medium" pitchFamily="2" charset="77"/>
              </a:rPr>
              <a:t>Scan Me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6F368B5-8320-5CFF-3B63-22D808D7A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838" y="3028883"/>
            <a:ext cx="2155366" cy="215536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1700E049-FDEA-474A-5858-425D620EEDA5}"/>
              </a:ext>
            </a:extLst>
          </p:cNvPr>
          <p:cNvSpPr/>
          <p:nvPr/>
        </p:nvSpPr>
        <p:spPr>
          <a:xfrm>
            <a:off x="4609617" y="4409914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CE1F35-378C-F50A-5191-A34178E9CA60}"/>
              </a:ext>
            </a:extLst>
          </p:cNvPr>
          <p:cNvSpPr/>
          <p:nvPr/>
        </p:nvSpPr>
        <p:spPr>
          <a:xfrm>
            <a:off x="6291763" y="4409914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A2C357-8A8B-6CB7-18EB-8BE695002AF7}"/>
              </a:ext>
            </a:extLst>
          </p:cNvPr>
          <p:cNvSpPr/>
          <p:nvPr/>
        </p:nvSpPr>
        <p:spPr>
          <a:xfrm>
            <a:off x="7973909" y="4409914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A27E42-4743-1BE5-F6D8-A0E737F58102}"/>
              </a:ext>
            </a:extLst>
          </p:cNvPr>
          <p:cNvSpPr/>
          <p:nvPr/>
        </p:nvSpPr>
        <p:spPr>
          <a:xfrm>
            <a:off x="9656056" y="4409914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5AF0BC-4477-4862-0E3B-05EC6F9C2D3E}"/>
              </a:ext>
            </a:extLst>
          </p:cNvPr>
          <p:cNvGrpSpPr/>
          <p:nvPr/>
        </p:nvGrpSpPr>
        <p:grpSpPr>
          <a:xfrm>
            <a:off x="4609617" y="2950918"/>
            <a:ext cx="6590888" cy="1253723"/>
            <a:chOff x="4609617" y="3099934"/>
            <a:chExt cx="6590888" cy="125372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C6E8FE3-9E1F-DEDC-0B6A-C379C236C579}"/>
                </a:ext>
              </a:extLst>
            </p:cNvPr>
            <p:cNvGrpSpPr/>
            <p:nvPr/>
          </p:nvGrpSpPr>
          <p:grpSpPr>
            <a:xfrm>
              <a:off x="4609617" y="3099934"/>
              <a:ext cx="6590888" cy="1253723"/>
              <a:chOff x="1063625" y="2471738"/>
              <a:chExt cx="10064751" cy="19145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47" name="Freeform 5">
                <a:extLst>
                  <a:ext uri="{FF2B5EF4-FFF2-40B4-BE49-F238E27FC236}">
                    <a16:creationId xmlns:a16="http://schemas.microsoft.com/office/drawing/2014/main" id="{9E4E1DF8-011E-B364-5EC1-EEB09C0CB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4388" y="2471738"/>
                <a:ext cx="3963988" cy="1914525"/>
              </a:xfrm>
              <a:custGeom>
                <a:avLst/>
                <a:gdLst>
                  <a:gd name="T0" fmla="*/ 858 w 2497"/>
                  <a:gd name="T1" fmla="*/ 1052 h 1206"/>
                  <a:gd name="T2" fmla="*/ 810 w 2497"/>
                  <a:gd name="T3" fmla="*/ 1070 h 1206"/>
                  <a:gd name="T4" fmla="*/ 330 w 2497"/>
                  <a:gd name="T5" fmla="*/ 1068 h 1206"/>
                  <a:gd name="T6" fmla="*/ 290 w 2497"/>
                  <a:gd name="T7" fmla="*/ 1038 h 1206"/>
                  <a:gd name="T8" fmla="*/ 120 w 2497"/>
                  <a:gd name="T9" fmla="*/ 745 h 1206"/>
                  <a:gd name="T10" fmla="*/ 100 w 2497"/>
                  <a:gd name="T11" fmla="*/ 727 h 1206"/>
                  <a:gd name="T12" fmla="*/ 50 w 2497"/>
                  <a:gd name="T13" fmla="*/ 721 h 1206"/>
                  <a:gd name="T14" fmla="*/ 20 w 2497"/>
                  <a:gd name="T15" fmla="*/ 739 h 1206"/>
                  <a:gd name="T16" fmla="*/ 10 w 2497"/>
                  <a:gd name="T17" fmla="*/ 753 h 1206"/>
                  <a:gd name="T18" fmla="*/ 0 w 2497"/>
                  <a:gd name="T19" fmla="*/ 787 h 1206"/>
                  <a:gd name="T20" fmla="*/ 212 w 2497"/>
                  <a:gd name="T21" fmla="*/ 1172 h 1206"/>
                  <a:gd name="T22" fmla="*/ 236 w 2497"/>
                  <a:gd name="T23" fmla="*/ 1196 h 1206"/>
                  <a:gd name="T24" fmla="*/ 888 w 2497"/>
                  <a:gd name="T25" fmla="*/ 1206 h 1206"/>
                  <a:gd name="T26" fmla="*/ 919 w 2497"/>
                  <a:gd name="T27" fmla="*/ 1196 h 1206"/>
                  <a:gd name="T28" fmla="*/ 945 w 2497"/>
                  <a:gd name="T29" fmla="*/ 1172 h 1206"/>
                  <a:gd name="T30" fmla="*/ 1533 w 2497"/>
                  <a:gd name="T31" fmla="*/ 154 h 1206"/>
                  <a:gd name="T32" fmla="*/ 1581 w 2497"/>
                  <a:gd name="T33" fmla="*/ 134 h 1206"/>
                  <a:gd name="T34" fmla="*/ 2061 w 2497"/>
                  <a:gd name="T35" fmla="*/ 136 h 1206"/>
                  <a:gd name="T36" fmla="*/ 2101 w 2497"/>
                  <a:gd name="T37" fmla="*/ 168 h 1206"/>
                  <a:gd name="T38" fmla="*/ 2339 w 2497"/>
                  <a:gd name="T39" fmla="*/ 585 h 1206"/>
                  <a:gd name="T40" fmla="*/ 2333 w 2497"/>
                  <a:gd name="T41" fmla="*/ 635 h 1206"/>
                  <a:gd name="T42" fmla="*/ 2091 w 2497"/>
                  <a:gd name="T43" fmla="*/ 1052 h 1206"/>
                  <a:gd name="T44" fmla="*/ 2043 w 2497"/>
                  <a:gd name="T45" fmla="*/ 1070 h 1206"/>
                  <a:gd name="T46" fmla="*/ 1563 w 2497"/>
                  <a:gd name="T47" fmla="*/ 1068 h 1206"/>
                  <a:gd name="T48" fmla="*/ 1523 w 2497"/>
                  <a:gd name="T49" fmla="*/ 1038 h 1206"/>
                  <a:gd name="T50" fmla="*/ 1355 w 2497"/>
                  <a:gd name="T51" fmla="*/ 747 h 1206"/>
                  <a:gd name="T52" fmla="*/ 1335 w 2497"/>
                  <a:gd name="T53" fmla="*/ 729 h 1206"/>
                  <a:gd name="T54" fmla="*/ 1285 w 2497"/>
                  <a:gd name="T55" fmla="*/ 723 h 1206"/>
                  <a:gd name="T56" fmla="*/ 1255 w 2497"/>
                  <a:gd name="T57" fmla="*/ 739 h 1206"/>
                  <a:gd name="T58" fmla="*/ 1243 w 2497"/>
                  <a:gd name="T59" fmla="*/ 755 h 1206"/>
                  <a:gd name="T60" fmla="*/ 1235 w 2497"/>
                  <a:gd name="T61" fmla="*/ 787 h 1206"/>
                  <a:gd name="T62" fmla="*/ 1445 w 2497"/>
                  <a:gd name="T63" fmla="*/ 1172 h 1206"/>
                  <a:gd name="T64" fmla="*/ 1471 w 2497"/>
                  <a:gd name="T65" fmla="*/ 1196 h 1206"/>
                  <a:gd name="T66" fmla="*/ 2121 w 2497"/>
                  <a:gd name="T67" fmla="*/ 1206 h 1206"/>
                  <a:gd name="T68" fmla="*/ 2155 w 2497"/>
                  <a:gd name="T69" fmla="*/ 1196 h 1206"/>
                  <a:gd name="T70" fmla="*/ 2489 w 2497"/>
                  <a:gd name="T71" fmla="*/ 635 h 1206"/>
                  <a:gd name="T72" fmla="*/ 2497 w 2497"/>
                  <a:gd name="T73" fmla="*/ 603 h 1206"/>
                  <a:gd name="T74" fmla="*/ 2179 w 2497"/>
                  <a:gd name="T75" fmla="*/ 32 h 1206"/>
                  <a:gd name="T76" fmla="*/ 2155 w 2497"/>
                  <a:gd name="T77" fmla="*/ 8 h 1206"/>
                  <a:gd name="T78" fmla="*/ 1503 w 2497"/>
                  <a:gd name="T79" fmla="*/ 0 h 1206"/>
                  <a:gd name="T80" fmla="*/ 1471 w 2497"/>
                  <a:gd name="T81" fmla="*/ 8 h 1206"/>
                  <a:gd name="T82" fmla="*/ 1445 w 2497"/>
                  <a:gd name="T83" fmla="*/ 3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7" h="1206">
                    <a:moveTo>
                      <a:pt x="868" y="1038"/>
                    </a:moveTo>
                    <a:lnTo>
                      <a:pt x="868" y="1038"/>
                    </a:lnTo>
                    <a:lnTo>
                      <a:pt x="858" y="1052"/>
                    </a:lnTo>
                    <a:lnTo>
                      <a:pt x="844" y="1062"/>
                    </a:lnTo>
                    <a:lnTo>
                      <a:pt x="828" y="1068"/>
                    </a:lnTo>
                    <a:lnTo>
                      <a:pt x="810" y="1070"/>
                    </a:lnTo>
                    <a:lnTo>
                      <a:pt x="348" y="1070"/>
                    </a:lnTo>
                    <a:lnTo>
                      <a:pt x="348" y="1070"/>
                    </a:lnTo>
                    <a:lnTo>
                      <a:pt x="330" y="1068"/>
                    </a:lnTo>
                    <a:lnTo>
                      <a:pt x="314" y="1062"/>
                    </a:lnTo>
                    <a:lnTo>
                      <a:pt x="300" y="1052"/>
                    </a:lnTo>
                    <a:lnTo>
                      <a:pt x="290" y="1038"/>
                    </a:lnTo>
                    <a:lnTo>
                      <a:pt x="126" y="753"/>
                    </a:lnTo>
                    <a:lnTo>
                      <a:pt x="126" y="753"/>
                    </a:lnTo>
                    <a:lnTo>
                      <a:pt x="120" y="745"/>
                    </a:lnTo>
                    <a:lnTo>
                      <a:pt x="114" y="739"/>
                    </a:lnTo>
                    <a:lnTo>
                      <a:pt x="108" y="733"/>
                    </a:lnTo>
                    <a:lnTo>
                      <a:pt x="100" y="727"/>
                    </a:lnTo>
                    <a:lnTo>
                      <a:pt x="84" y="721"/>
                    </a:lnTo>
                    <a:lnTo>
                      <a:pt x="68" y="719"/>
                    </a:lnTo>
                    <a:lnTo>
                      <a:pt x="50" y="721"/>
                    </a:lnTo>
                    <a:lnTo>
                      <a:pt x="34" y="729"/>
                    </a:lnTo>
                    <a:lnTo>
                      <a:pt x="28" y="733"/>
                    </a:lnTo>
                    <a:lnTo>
                      <a:pt x="20" y="739"/>
                    </a:lnTo>
                    <a:lnTo>
                      <a:pt x="14" y="745"/>
                    </a:lnTo>
                    <a:lnTo>
                      <a:pt x="10" y="753"/>
                    </a:lnTo>
                    <a:lnTo>
                      <a:pt x="10" y="753"/>
                    </a:lnTo>
                    <a:lnTo>
                      <a:pt x="10" y="753"/>
                    </a:lnTo>
                    <a:lnTo>
                      <a:pt x="2" y="769"/>
                    </a:lnTo>
                    <a:lnTo>
                      <a:pt x="0" y="787"/>
                    </a:lnTo>
                    <a:lnTo>
                      <a:pt x="2" y="805"/>
                    </a:lnTo>
                    <a:lnTo>
                      <a:pt x="10" y="821"/>
                    </a:lnTo>
                    <a:lnTo>
                      <a:pt x="212" y="1172"/>
                    </a:lnTo>
                    <a:lnTo>
                      <a:pt x="212" y="1172"/>
                    </a:lnTo>
                    <a:lnTo>
                      <a:pt x="222" y="1186"/>
                    </a:lnTo>
                    <a:lnTo>
                      <a:pt x="236" y="1196"/>
                    </a:lnTo>
                    <a:lnTo>
                      <a:pt x="252" y="1202"/>
                    </a:lnTo>
                    <a:lnTo>
                      <a:pt x="270" y="1206"/>
                    </a:lnTo>
                    <a:lnTo>
                      <a:pt x="888" y="1206"/>
                    </a:lnTo>
                    <a:lnTo>
                      <a:pt x="888" y="1206"/>
                    </a:lnTo>
                    <a:lnTo>
                      <a:pt x="904" y="1202"/>
                    </a:lnTo>
                    <a:lnTo>
                      <a:pt x="919" y="1196"/>
                    </a:lnTo>
                    <a:lnTo>
                      <a:pt x="933" y="1186"/>
                    </a:lnTo>
                    <a:lnTo>
                      <a:pt x="945" y="1172"/>
                    </a:lnTo>
                    <a:lnTo>
                      <a:pt x="945" y="1172"/>
                    </a:lnTo>
                    <a:lnTo>
                      <a:pt x="1523" y="168"/>
                    </a:lnTo>
                    <a:lnTo>
                      <a:pt x="1523" y="168"/>
                    </a:lnTo>
                    <a:lnTo>
                      <a:pt x="1533" y="154"/>
                    </a:lnTo>
                    <a:lnTo>
                      <a:pt x="1547" y="142"/>
                    </a:lnTo>
                    <a:lnTo>
                      <a:pt x="1563" y="136"/>
                    </a:lnTo>
                    <a:lnTo>
                      <a:pt x="1581" y="134"/>
                    </a:lnTo>
                    <a:lnTo>
                      <a:pt x="2043" y="134"/>
                    </a:lnTo>
                    <a:lnTo>
                      <a:pt x="2043" y="134"/>
                    </a:lnTo>
                    <a:lnTo>
                      <a:pt x="2061" y="136"/>
                    </a:lnTo>
                    <a:lnTo>
                      <a:pt x="2077" y="142"/>
                    </a:lnTo>
                    <a:lnTo>
                      <a:pt x="2091" y="154"/>
                    </a:lnTo>
                    <a:lnTo>
                      <a:pt x="2101" y="168"/>
                    </a:lnTo>
                    <a:lnTo>
                      <a:pt x="2333" y="569"/>
                    </a:lnTo>
                    <a:lnTo>
                      <a:pt x="2333" y="569"/>
                    </a:lnTo>
                    <a:lnTo>
                      <a:pt x="2339" y="585"/>
                    </a:lnTo>
                    <a:lnTo>
                      <a:pt x="2341" y="603"/>
                    </a:lnTo>
                    <a:lnTo>
                      <a:pt x="2339" y="619"/>
                    </a:lnTo>
                    <a:lnTo>
                      <a:pt x="2333" y="635"/>
                    </a:lnTo>
                    <a:lnTo>
                      <a:pt x="2101" y="1038"/>
                    </a:lnTo>
                    <a:lnTo>
                      <a:pt x="2101" y="1038"/>
                    </a:lnTo>
                    <a:lnTo>
                      <a:pt x="2091" y="1052"/>
                    </a:lnTo>
                    <a:lnTo>
                      <a:pt x="2077" y="1062"/>
                    </a:lnTo>
                    <a:lnTo>
                      <a:pt x="2061" y="1068"/>
                    </a:lnTo>
                    <a:lnTo>
                      <a:pt x="2043" y="1070"/>
                    </a:lnTo>
                    <a:lnTo>
                      <a:pt x="1581" y="1070"/>
                    </a:lnTo>
                    <a:lnTo>
                      <a:pt x="1581" y="1070"/>
                    </a:lnTo>
                    <a:lnTo>
                      <a:pt x="1563" y="1068"/>
                    </a:lnTo>
                    <a:lnTo>
                      <a:pt x="1547" y="1062"/>
                    </a:lnTo>
                    <a:lnTo>
                      <a:pt x="1533" y="1052"/>
                    </a:lnTo>
                    <a:lnTo>
                      <a:pt x="1523" y="1038"/>
                    </a:lnTo>
                    <a:lnTo>
                      <a:pt x="1361" y="755"/>
                    </a:lnTo>
                    <a:lnTo>
                      <a:pt x="1361" y="755"/>
                    </a:lnTo>
                    <a:lnTo>
                      <a:pt x="1355" y="747"/>
                    </a:lnTo>
                    <a:lnTo>
                      <a:pt x="1349" y="739"/>
                    </a:lnTo>
                    <a:lnTo>
                      <a:pt x="1343" y="733"/>
                    </a:lnTo>
                    <a:lnTo>
                      <a:pt x="1335" y="729"/>
                    </a:lnTo>
                    <a:lnTo>
                      <a:pt x="1319" y="723"/>
                    </a:lnTo>
                    <a:lnTo>
                      <a:pt x="1301" y="721"/>
                    </a:lnTo>
                    <a:lnTo>
                      <a:pt x="1285" y="723"/>
                    </a:lnTo>
                    <a:lnTo>
                      <a:pt x="1269" y="729"/>
                    </a:lnTo>
                    <a:lnTo>
                      <a:pt x="1261" y="733"/>
                    </a:lnTo>
                    <a:lnTo>
                      <a:pt x="1255" y="739"/>
                    </a:lnTo>
                    <a:lnTo>
                      <a:pt x="1249" y="747"/>
                    </a:lnTo>
                    <a:lnTo>
                      <a:pt x="1243" y="755"/>
                    </a:lnTo>
                    <a:lnTo>
                      <a:pt x="1243" y="755"/>
                    </a:lnTo>
                    <a:lnTo>
                      <a:pt x="1243" y="755"/>
                    </a:lnTo>
                    <a:lnTo>
                      <a:pt x="1237" y="771"/>
                    </a:lnTo>
                    <a:lnTo>
                      <a:pt x="1235" y="787"/>
                    </a:lnTo>
                    <a:lnTo>
                      <a:pt x="1237" y="805"/>
                    </a:lnTo>
                    <a:lnTo>
                      <a:pt x="1243" y="821"/>
                    </a:lnTo>
                    <a:lnTo>
                      <a:pt x="1445" y="1172"/>
                    </a:lnTo>
                    <a:lnTo>
                      <a:pt x="1445" y="1172"/>
                    </a:lnTo>
                    <a:lnTo>
                      <a:pt x="1457" y="1186"/>
                    </a:lnTo>
                    <a:lnTo>
                      <a:pt x="1471" y="1196"/>
                    </a:lnTo>
                    <a:lnTo>
                      <a:pt x="1487" y="1202"/>
                    </a:lnTo>
                    <a:lnTo>
                      <a:pt x="1503" y="1206"/>
                    </a:lnTo>
                    <a:lnTo>
                      <a:pt x="2121" y="1206"/>
                    </a:lnTo>
                    <a:lnTo>
                      <a:pt x="2121" y="1206"/>
                    </a:lnTo>
                    <a:lnTo>
                      <a:pt x="2139" y="1202"/>
                    </a:lnTo>
                    <a:lnTo>
                      <a:pt x="2155" y="1196"/>
                    </a:lnTo>
                    <a:lnTo>
                      <a:pt x="2169" y="1186"/>
                    </a:lnTo>
                    <a:lnTo>
                      <a:pt x="2179" y="1172"/>
                    </a:lnTo>
                    <a:lnTo>
                      <a:pt x="2489" y="635"/>
                    </a:lnTo>
                    <a:lnTo>
                      <a:pt x="2489" y="635"/>
                    </a:lnTo>
                    <a:lnTo>
                      <a:pt x="2495" y="619"/>
                    </a:lnTo>
                    <a:lnTo>
                      <a:pt x="2497" y="603"/>
                    </a:lnTo>
                    <a:lnTo>
                      <a:pt x="2495" y="585"/>
                    </a:lnTo>
                    <a:lnTo>
                      <a:pt x="2489" y="569"/>
                    </a:lnTo>
                    <a:lnTo>
                      <a:pt x="2179" y="32"/>
                    </a:lnTo>
                    <a:lnTo>
                      <a:pt x="2179" y="32"/>
                    </a:lnTo>
                    <a:lnTo>
                      <a:pt x="2169" y="18"/>
                    </a:lnTo>
                    <a:lnTo>
                      <a:pt x="2155" y="8"/>
                    </a:lnTo>
                    <a:lnTo>
                      <a:pt x="2139" y="2"/>
                    </a:lnTo>
                    <a:lnTo>
                      <a:pt x="2121" y="0"/>
                    </a:lnTo>
                    <a:lnTo>
                      <a:pt x="1503" y="0"/>
                    </a:lnTo>
                    <a:lnTo>
                      <a:pt x="1503" y="0"/>
                    </a:lnTo>
                    <a:lnTo>
                      <a:pt x="1487" y="2"/>
                    </a:lnTo>
                    <a:lnTo>
                      <a:pt x="1471" y="8"/>
                    </a:lnTo>
                    <a:lnTo>
                      <a:pt x="1457" y="18"/>
                    </a:lnTo>
                    <a:lnTo>
                      <a:pt x="1445" y="32"/>
                    </a:lnTo>
                    <a:lnTo>
                      <a:pt x="1445" y="32"/>
                    </a:lnTo>
                    <a:lnTo>
                      <a:pt x="868" y="1038"/>
                    </a:lnTo>
                    <a:lnTo>
                      <a:pt x="868" y="103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6">
                <a:extLst>
                  <a:ext uri="{FF2B5EF4-FFF2-40B4-BE49-F238E27FC236}">
                    <a16:creationId xmlns:a16="http://schemas.microsoft.com/office/drawing/2014/main" id="{46B9D0D2-608E-DC14-E233-B4ED86D58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0488" y="2471738"/>
                <a:ext cx="3795713" cy="1914525"/>
              </a:xfrm>
              <a:custGeom>
                <a:avLst/>
                <a:gdLst>
                  <a:gd name="T0" fmla="*/ 944 w 2391"/>
                  <a:gd name="T1" fmla="*/ 1172 h 1206"/>
                  <a:gd name="T2" fmla="*/ 920 w 2391"/>
                  <a:gd name="T3" fmla="*/ 1196 h 1206"/>
                  <a:gd name="T4" fmla="*/ 886 w 2391"/>
                  <a:gd name="T5" fmla="*/ 1206 h 1206"/>
                  <a:gd name="T6" fmla="*/ 270 w 2391"/>
                  <a:gd name="T7" fmla="*/ 1206 h 1206"/>
                  <a:gd name="T8" fmla="*/ 236 w 2391"/>
                  <a:gd name="T9" fmla="*/ 1196 h 1206"/>
                  <a:gd name="T10" fmla="*/ 210 w 2391"/>
                  <a:gd name="T11" fmla="*/ 1172 h 1206"/>
                  <a:gd name="T12" fmla="*/ 8 w 2391"/>
                  <a:gd name="T13" fmla="*/ 821 h 1206"/>
                  <a:gd name="T14" fmla="*/ 0 w 2391"/>
                  <a:gd name="T15" fmla="*/ 787 h 1206"/>
                  <a:gd name="T16" fmla="*/ 8 w 2391"/>
                  <a:gd name="T17" fmla="*/ 753 h 1206"/>
                  <a:gd name="T18" fmla="*/ 8 w 2391"/>
                  <a:gd name="T19" fmla="*/ 753 h 1206"/>
                  <a:gd name="T20" fmla="*/ 20 w 2391"/>
                  <a:gd name="T21" fmla="*/ 739 h 1206"/>
                  <a:gd name="T22" fmla="*/ 34 w 2391"/>
                  <a:gd name="T23" fmla="*/ 729 h 1206"/>
                  <a:gd name="T24" fmla="*/ 68 w 2391"/>
                  <a:gd name="T25" fmla="*/ 719 h 1206"/>
                  <a:gd name="T26" fmla="*/ 100 w 2391"/>
                  <a:gd name="T27" fmla="*/ 729 h 1206"/>
                  <a:gd name="T28" fmla="*/ 114 w 2391"/>
                  <a:gd name="T29" fmla="*/ 739 h 1206"/>
                  <a:gd name="T30" fmla="*/ 126 w 2391"/>
                  <a:gd name="T31" fmla="*/ 753 h 1206"/>
                  <a:gd name="T32" fmla="*/ 288 w 2391"/>
                  <a:gd name="T33" fmla="*/ 1038 h 1206"/>
                  <a:gd name="T34" fmla="*/ 314 w 2391"/>
                  <a:gd name="T35" fmla="*/ 1062 h 1206"/>
                  <a:gd name="T36" fmla="*/ 346 w 2391"/>
                  <a:gd name="T37" fmla="*/ 1070 h 1206"/>
                  <a:gd name="T38" fmla="*/ 810 w 2391"/>
                  <a:gd name="T39" fmla="*/ 1070 h 1206"/>
                  <a:gd name="T40" fmla="*/ 842 w 2391"/>
                  <a:gd name="T41" fmla="*/ 1062 h 1206"/>
                  <a:gd name="T42" fmla="*/ 868 w 2391"/>
                  <a:gd name="T43" fmla="*/ 1038 h 1206"/>
                  <a:gd name="T44" fmla="*/ 1446 w 2391"/>
                  <a:gd name="T45" fmla="*/ 32 h 1206"/>
                  <a:gd name="T46" fmla="*/ 1456 w 2391"/>
                  <a:gd name="T47" fmla="*/ 18 h 1206"/>
                  <a:gd name="T48" fmla="*/ 1486 w 2391"/>
                  <a:gd name="T49" fmla="*/ 2 h 1206"/>
                  <a:gd name="T50" fmla="*/ 2122 w 2391"/>
                  <a:gd name="T51" fmla="*/ 0 h 1206"/>
                  <a:gd name="T52" fmla="*/ 2138 w 2391"/>
                  <a:gd name="T53" fmla="*/ 2 h 1206"/>
                  <a:gd name="T54" fmla="*/ 2168 w 2391"/>
                  <a:gd name="T55" fmla="*/ 18 h 1206"/>
                  <a:gd name="T56" fmla="*/ 2383 w 2391"/>
                  <a:gd name="T57" fmla="*/ 387 h 1206"/>
                  <a:gd name="T58" fmla="*/ 2387 w 2391"/>
                  <a:gd name="T59" fmla="*/ 399 h 1206"/>
                  <a:gd name="T60" fmla="*/ 2391 w 2391"/>
                  <a:gd name="T61" fmla="*/ 425 h 1206"/>
                  <a:gd name="T62" fmla="*/ 2383 w 2391"/>
                  <a:gd name="T63" fmla="*/ 451 h 1206"/>
                  <a:gd name="T64" fmla="*/ 2367 w 2391"/>
                  <a:gd name="T65" fmla="*/ 471 h 1206"/>
                  <a:gd name="T66" fmla="*/ 2357 w 2391"/>
                  <a:gd name="T67" fmla="*/ 479 h 1206"/>
                  <a:gd name="T68" fmla="*/ 2345 w 2391"/>
                  <a:gd name="T69" fmla="*/ 485 h 1206"/>
                  <a:gd name="T70" fmla="*/ 2319 w 2391"/>
                  <a:gd name="T71" fmla="*/ 487 h 1206"/>
                  <a:gd name="T72" fmla="*/ 2293 w 2391"/>
                  <a:gd name="T73" fmla="*/ 481 h 1206"/>
                  <a:gd name="T74" fmla="*/ 2273 w 2391"/>
                  <a:gd name="T75" fmla="*/ 465 h 1206"/>
                  <a:gd name="T76" fmla="*/ 2102 w 2391"/>
                  <a:gd name="T77" fmla="*/ 168 h 1206"/>
                  <a:gd name="T78" fmla="*/ 2092 w 2391"/>
                  <a:gd name="T79" fmla="*/ 154 h 1206"/>
                  <a:gd name="T80" fmla="*/ 2062 w 2391"/>
                  <a:gd name="T81" fmla="*/ 136 h 1206"/>
                  <a:gd name="T82" fmla="*/ 1582 w 2391"/>
                  <a:gd name="T83" fmla="*/ 134 h 1206"/>
                  <a:gd name="T84" fmla="*/ 1564 w 2391"/>
                  <a:gd name="T85" fmla="*/ 136 h 1206"/>
                  <a:gd name="T86" fmla="*/ 1534 w 2391"/>
                  <a:gd name="T87" fmla="*/ 154 h 1206"/>
                  <a:gd name="T88" fmla="*/ 1524 w 2391"/>
                  <a:gd name="T89" fmla="*/ 168 h 1206"/>
                  <a:gd name="T90" fmla="*/ 944 w 2391"/>
                  <a:gd name="T91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91" h="1206">
                    <a:moveTo>
                      <a:pt x="944" y="1172"/>
                    </a:moveTo>
                    <a:lnTo>
                      <a:pt x="944" y="1172"/>
                    </a:lnTo>
                    <a:lnTo>
                      <a:pt x="934" y="1186"/>
                    </a:lnTo>
                    <a:lnTo>
                      <a:pt x="920" y="1196"/>
                    </a:lnTo>
                    <a:lnTo>
                      <a:pt x="904" y="1202"/>
                    </a:lnTo>
                    <a:lnTo>
                      <a:pt x="886" y="1206"/>
                    </a:lnTo>
                    <a:lnTo>
                      <a:pt x="270" y="1206"/>
                    </a:lnTo>
                    <a:lnTo>
                      <a:pt x="270" y="1206"/>
                    </a:lnTo>
                    <a:lnTo>
                      <a:pt x="252" y="1202"/>
                    </a:lnTo>
                    <a:lnTo>
                      <a:pt x="236" y="1196"/>
                    </a:lnTo>
                    <a:lnTo>
                      <a:pt x="222" y="1186"/>
                    </a:lnTo>
                    <a:lnTo>
                      <a:pt x="210" y="1172"/>
                    </a:lnTo>
                    <a:lnTo>
                      <a:pt x="8" y="821"/>
                    </a:lnTo>
                    <a:lnTo>
                      <a:pt x="8" y="821"/>
                    </a:lnTo>
                    <a:lnTo>
                      <a:pt x="2" y="805"/>
                    </a:lnTo>
                    <a:lnTo>
                      <a:pt x="0" y="787"/>
                    </a:lnTo>
                    <a:lnTo>
                      <a:pt x="2" y="769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14" y="745"/>
                    </a:lnTo>
                    <a:lnTo>
                      <a:pt x="20" y="739"/>
                    </a:lnTo>
                    <a:lnTo>
                      <a:pt x="28" y="733"/>
                    </a:lnTo>
                    <a:lnTo>
                      <a:pt x="34" y="729"/>
                    </a:lnTo>
                    <a:lnTo>
                      <a:pt x="50" y="721"/>
                    </a:lnTo>
                    <a:lnTo>
                      <a:pt x="68" y="719"/>
                    </a:lnTo>
                    <a:lnTo>
                      <a:pt x="84" y="721"/>
                    </a:lnTo>
                    <a:lnTo>
                      <a:pt x="100" y="729"/>
                    </a:lnTo>
                    <a:lnTo>
                      <a:pt x="108" y="733"/>
                    </a:lnTo>
                    <a:lnTo>
                      <a:pt x="114" y="739"/>
                    </a:lnTo>
                    <a:lnTo>
                      <a:pt x="120" y="745"/>
                    </a:lnTo>
                    <a:lnTo>
                      <a:pt x="126" y="753"/>
                    </a:lnTo>
                    <a:lnTo>
                      <a:pt x="288" y="1038"/>
                    </a:lnTo>
                    <a:lnTo>
                      <a:pt x="288" y="1038"/>
                    </a:lnTo>
                    <a:lnTo>
                      <a:pt x="300" y="1052"/>
                    </a:lnTo>
                    <a:lnTo>
                      <a:pt x="314" y="1062"/>
                    </a:lnTo>
                    <a:lnTo>
                      <a:pt x="330" y="1068"/>
                    </a:lnTo>
                    <a:lnTo>
                      <a:pt x="346" y="1070"/>
                    </a:lnTo>
                    <a:lnTo>
                      <a:pt x="810" y="1070"/>
                    </a:lnTo>
                    <a:lnTo>
                      <a:pt x="810" y="1070"/>
                    </a:lnTo>
                    <a:lnTo>
                      <a:pt x="826" y="1068"/>
                    </a:lnTo>
                    <a:lnTo>
                      <a:pt x="842" y="1062"/>
                    </a:lnTo>
                    <a:lnTo>
                      <a:pt x="856" y="1052"/>
                    </a:lnTo>
                    <a:lnTo>
                      <a:pt x="868" y="1038"/>
                    </a:lnTo>
                    <a:lnTo>
                      <a:pt x="868" y="1038"/>
                    </a:lnTo>
                    <a:lnTo>
                      <a:pt x="1446" y="32"/>
                    </a:lnTo>
                    <a:lnTo>
                      <a:pt x="1446" y="32"/>
                    </a:lnTo>
                    <a:lnTo>
                      <a:pt x="1456" y="18"/>
                    </a:lnTo>
                    <a:lnTo>
                      <a:pt x="1470" y="8"/>
                    </a:lnTo>
                    <a:lnTo>
                      <a:pt x="1486" y="2"/>
                    </a:lnTo>
                    <a:lnTo>
                      <a:pt x="1504" y="0"/>
                    </a:lnTo>
                    <a:lnTo>
                      <a:pt x="2122" y="0"/>
                    </a:lnTo>
                    <a:lnTo>
                      <a:pt x="2122" y="0"/>
                    </a:lnTo>
                    <a:lnTo>
                      <a:pt x="2138" y="2"/>
                    </a:lnTo>
                    <a:lnTo>
                      <a:pt x="2154" y="8"/>
                    </a:lnTo>
                    <a:lnTo>
                      <a:pt x="2168" y="18"/>
                    </a:lnTo>
                    <a:lnTo>
                      <a:pt x="2179" y="32"/>
                    </a:lnTo>
                    <a:lnTo>
                      <a:pt x="2383" y="387"/>
                    </a:lnTo>
                    <a:lnTo>
                      <a:pt x="2383" y="387"/>
                    </a:lnTo>
                    <a:lnTo>
                      <a:pt x="2387" y="399"/>
                    </a:lnTo>
                    <a:lnTo>
                      <a:pt x="2391" y="413"/>
                    </a:lnTo>
                    <a:lnTo>
                      <a:pt x="2391" y="425"/>
                    </a:lnTo>
                    <a:lnTo>
                      <a:pt x="2389" y="439"/>
                    </a:lnTo>
                    <a:lnTo>
                      <a:pt x="2383" y="451"/>
                    </a:lnTo>
                    <a:lnTo>
                      <a:pt x="2377" y="461"/>
                    </a:lnTo>
                    <a:lnTo>
                      <a:pt x="2367" y="471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45" y="485"/>
                    </a:lnTo>
                    <a:lnTo>
                      <a:pt x="2331" y="487"/>
                    </a:lnTo>
                    <a:lnTo>
                      <a:pt x="2319" y="487"/>
                    </a:lnTo>
                    <a:lnTo>
                      <a:pt x="2305" y="485"/>
                    </a:lnTo>
                    <a:lnTo>
                      <a:pt x="2293" y="481"/>
                    </a:lnTo>
                    <a:lnTo>
                      <a:pt x="2283" y="473"/>
                    </a:lnTo>
                    <a:lnTo>
                      <a:pt x="2273" y="465"/>
                    </a:lnTo>
                    <a:lnTo>
                      <a:pt x="2265" y="453"/>
                    </a:lnTo>
                    <a:lnTo>
                      <a:pt x="2102" y="168"/>
                    </a:lnTo>
                    <a:lnTo>
                      <a:pt x="2102" y="168"/>
                    </a:lnTo>
                    <a:lnTo>
                      <a:pt x="2092" y="154"/>
                    </a:lnTo>
                    <a:lnTo>
                      <a:pt x="2078" y="142"/>
                    </a:lnTo>
                    <a:lnTo>
                      <a:pt x="2062" y="136"/>
                    </a:lnTo>
                    <a:lnTo>
                      <a:pt x="2044" y="134"/>
                    </a:lnTo>
                    <a:lnTo>
                      <a:pt x="1582" y="134"/>
                    </a:lnTo>
                    <a:lnTo>
                      <a:pt x="1582" y="134"/>
                    </a:lnTo>
                    <a:lnTo>
                      <a:pt x="1564" y="136"/>
                    </a:lnTo>
                    <a:lnTo>
                      <a:pt x="1548" y="142"/>
                    </a:lnTo>
                    <a:lnTo>
                      <a:pt x="1534" y="154"/>
                    </a:lnTo>
                    <a:lnTo>
                      <a:pt x="1524" y="168"/>
                    </a:lnTo>
                    <a:lnTo>
                      <a:pt x="1524" y="168"/>
                    </a:lnTo>
                    <a:lnTo>
                      <a:pt x="944" y="1172"/>
                    </a:lnTo>
                    <a:lnTo>
                      <a:pt x="944" y="117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894C7DAE-F011-BFAE-B60A-B69074B4A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0" y="2471738"/>
                <a:ext cx="3795713" cy="1914525"/>
              </a:xfrm>
              <a:custGeom>
                <a:avLst/>
                <a:gdLst>
                  <a:gd name="T0" fmla="*/ 943 w 2391"/>
                  <a:gd name="T1" fmla="*/ 1172 h 1206"/>
                  <a:gd name="T2" fmla="*/ 919 w 2391"/>
                  <a:gd name="T3" fmla="*/ 1196 h 1206"/>
                  <a:gd name="T4" fmla="*/ 885 w 2391"/>
                  <a:gd name="T5" fmla="*/ 1206 h 1206"/>
                  <a:gd name="T6" fmla="*/ 267 w 2391"/>
                  <a:gd name="T7" fmla="*/ 1206 h 1206"/>
                  <a:gd name="T8" fmla="*/ 236 w 2391"/>
                  <a:gd name="T9" fmla="*/ 1196 h 1206"/>
                  <a:gd name="T10" fmla="*/ 210 w 2391"/>
                  <a:gd name="T11" fmla="*/ 1172 h 1206"/>
                  <a:gd name="T12" fmla="*/ 8 w 2391"/>
                  <a:gd name="T13" fmla="*/ 821 h 1206"/>
                  <a:gd name="T14" fmla="*/ 0 w 2391"/>
                  <a:gd name="T15" fmla="*/ 787 h 1206"/>
                  <a:gd name="T16" fmla="*/ 8 w 2391"/>
                  <a:gd name="T17" fmla="*/ 753 h 1206"/>
                  <a:gd name="T18" fmla="*/ 8 w 2391"/>
                  <a:gd name="T19" fmla="*/ 753 h 1206"/>
                  <a:gd name="T20" fmla="*/ 20 w 2391"/>
                  <a:gd name="T21" fmla="*/ 739 h 1206"/>
                  <a:gd name="T22" fmla="*/ 34 w 2391"/>
                  <a:gd name="T23" fmla="*/ 729 h 1206"/>
                  <a:gd name="T24" fmla="*/ 66 w 2391"/>
                  <a:gd name="T25" fmla="*/ 719 h 1206"/>
                  <a:gd name="T26" fmla="*/ 100 w 2391"/>
                  <a:gd name="T27" fmla="*/ 729 h 1206"/>
                  <a:gd name="T28" fmla="*/ 114 w 2391"/>
                  <a:gd name="T29" fmla="*/ 739 h 1206"/>
                  <a:gd name="T30" fmla="*/ 126 w 2391"/>
                  <a:gd name="T31" fmla="*/ 753 h 1206"/>
                  <a:gd name="T32" fmla="*/ 287 w 2391"/>
                  <a:gd name="T33" fmla="*/ 1038 h 1206"/>
                  <a:gd name="T34" fmla="*/ 313 w 2391"/>
                  <a:gd name="T35" fmla="*/ 1062 h 1206"/>
                  <a:gd name="T36" fmla="*/ 345 w 2391"/>
                  <a:gd name="T37" fmla="*/ 1070 h 1206"/>
                  <a:gd name="T38" fmla="*/ 807 w 2391"/>
                  <a:gd name="T39" fmla="*/ 1070 h 1206"/>
                  <a:gd name="T40" fmla="*/ 841 w 2391"/>
                  <a:gd name="T41" fmla="*/ 1062 h 1206"/>
                  <a:gd name="T42" fmla="*/ 867 w 2391"/>
                  <a:gd name="T43" fmla="*/ 1038 h 1206"/>
                  <a:gd name="T44" fmla="*/ 1445 w 2391"/>
                  <a:gd name="T45" fmla="*/ 32 h 1206"/>
                  <a:gd name="T46" fmla="*/ 1455 w 2391"/>
                  <a:gd name="T47" fmla="*/ 18 h 1206"/>
                  <a:gd name="T48" fmla="*/ 1485 w 2391"/>
                  <a:gd name="T49" fmla="*/ 2 h 1206"/>
                  <a:gd name="T50" fmla="*/ 2121 w 2391"/>
                  <a:gd name="T51" fmla="*/ 0 h 1206"/>
                  <a:gd name="T52" fmla="*/ 2137 w 2391"/>
                  <a:gd name="T53" fmla="*/ 2 h 1206"/>
                  <a:gd name="T54" fmla="*/ 2167 w 2391"/>
                  <a:gd name="T55" fmla="*/ 18 h 1206"/>
                  <a:gd name="T56" fmla="*/ 2381 w 2391"/>
                  <a:gd name="T57" fmla="*/ 387 h 1206"/>
                  <a:gd name="T58" fmla="*/ 2387 w 2391"/>
                  <a:gd name="T59" fmla="*/ 399 h 1206"/>
                  <a:gd name="T60" fmla="*/ 2391 w 2391"/>
                  <a:gd name="T61" fmla="*/ 425 h 1206"/>
                  <a:gd name="T62" fmla="*/ 2383 w 2391"/>
                  <a:gd name="T63" fmla="*/ 451 h 1206"/>
                  <a:gd name="T64" fmla="*/ 2367 w 2391"/>
                  <a:gd name="T65" fmla="*/ 471 h 1206"/>
                  <a:gd name="T66" fmla="*/ 2357 w 2391"/>
                  <a:gd name="T67" fmla="*/ 479 h 1206"/>
                  <a:gd name="T68" fmla="*/ 2343 w 2391"/>
                  <a:gd name="T69" fmla="*/ 485 h 1206"/>
                  <a:gd name="T70" fmla="*/ 2319 w 2391"/>
                  <a:gd name="T71" fmla="*/ 487 h 1206"/>
                  <a:gd name="T72" fmla="*/ 2293 w 2391"/>
                  <a:gd name="T73" fmla="*/ 481 h 1206"/>
                  <a:gd name="T74" fmla="*/ 2273 w 2391"/>
                  <a:gd name="T75" fmla="*/ 465 h 1206"/>
                  <a:gd name="T76" fmla="*/ 2101 w 2391"/>
                  <a:gd name="T77" fmla="*/ 168 h 1206"/>
                  <a:gd name="T78" fmla="*/ 2089 w 2391"/>
                  <a:gd name="T79" fmla="*/ 154 h 1206"/>
                  <a:gd name="T80" fmla="*/ 2061 w 2391"/>
                  <a:gd name="T81" fmla="*/ 136 h 1206"/>
                  <a:gd name="T82" fmla="*/ 1581 w 2391"/>
                  <a:gd name="T83" fmla="*/ 134 h 1206"/>
                  <a:gd name="T84" fmla="*/ 1563 w 2391"/>
                  <a:gd name="T85" fmla="*/ 136 h 1206"/>
                  <a:gd name="T86" fmla="*/ 1533 w 2391"/>
                  <a:gd name="T87" fmla="*/ 154 h 1206"/>
                  <a:gd name="T88" fmla="*/ 1523 w 2391"/>
                  <a:gd name="T89" fmla="*/ 168 h 1206"/>
                  <a:gd name="T90" fmla="*/ 943 w 2391"/>
                  <a:gd name="T91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91" h="1206">
                    <a:moveTo>
                      <a:pt x="943" y="1172"/>
                    </a:moveTo>
                    <a:lnTo>
                      <a:pt x="943" y="1172"/>
                    </a:lnTo>
                    <a:lnTo>
                      <a:pt x="933" y="1186"/>
                    </a:lnTo>
                    <a:lnTo>
                      <a:pt x="919" y="1196"/>
                    </a:lnTo>
                    <a:lnTo>
                      <a:pt x="903" y="1202"/>
                    </a:lnTo>
                    <a:lnTo>
                      <a:pt x="885" y="1206"/>
                    </a:lnTo>
                    <a:lnTo>
                      <a:pt x="267" y="1206"/>
                    </a:lnTo>
                    <a:lnTo>
                      <a:pt x="267" y="1206"/>
                    </a:lnTo>
                    <a:lnTo>
                      <a:pt x="251" y="1202"/>
                    </a:lnTo>
                    <a:lnTo>
                      <a:pt x="236" y="1196"/>
                    </a:lnTo>
                    <a:lnTo>
                      <a:pt x="222" y="1186"/>
                    </a:lnTo>
                    <a:lnTo>
                      <a:pt x="210" y="1172"/>
                    </a:lnTo>
                    <a:lnTo>
                      <a:pt x="8" y="821"/>
                    </a:lnTo>
                    <a:lnTo>
                      <a:pt x="8" y="821"/>
                    </a:lnTo>
                    <a:lnTo>
                      <a:pt x="2" y="805"/>
                    </a:lnTo>
                    <a:lnTo>
                      <a:pt x="0" y="787"/>
                    </a:lnTo>
                    <a:lnTo>
                      <a:pt x="2" y="769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14" y="745"/>
                    </a:lnTo>
                    <a:lnTo>
                      <a:pt x="20" y="739"/>
                    </a:lnTo>
                    <a:lnTo>
                      <a:pt x="26" y="733"/>
                    </a:lnTo>
                    <a:lnTo>
                      <a:pt x="34" y="729"/>
                    </a:lnTo>
                    <a:lnTo>
                      <a:pt x="50" y="721"/>
                    </a:lnTo>
                    <a:lnTo>
                      <a:pt x="66" y="719"/>
                    </a:lnTo>
                    <a:lnTo>
                      <a:pt x="84" y="721"/>
                    </a:lnTo>
                    <a:lnTo>
                      <a:pt x="100" y="729"/>
                    </a:lnTo>
                    <a:lnTo>
                      <a:pt x="108" y="733"/>
                    </a:lnTo>
                    <a:lnTo>
                      <a:pt x="114" y="739"/>
                    </a:lnTo>
                    <a:lnTo>
                      <a:pt x="120" y="745"/>
                    </a:lnTo>
                    <a:lnTo>
                      <a:pt x="126" y="753"/>
                    </a:lnTo>
                    <a:lnTo>
                      <a:pt x="287" y="1038"/>
                    </a:lnTo>
                    <a:lnTo>
                      <a:pt x="287" y="1038"/>
                    </a:lnTo>
                    <a:lnTo>
                      <a:pt x="299" y="1052"/>
                    </a:lnTo>
                    <a:lnTo>
                      <a:pt x="313" y="1062"/>
                    </a:lnTo>
                    <a:lnTo>
                      <a:pt x="329" y="1068"/>
                    </a:lnTo>
                    <a:lnTo>
                      <a:pt x="345" y="1070"/>
                    </a:lnTo>
                    <a:lnTo>
                      <a:pt x="807" y="1070"/>
                    </a:lnTo>
                    <a:lnTo>
                      <a:pt x="807" y="1070"/>
                    </a:lnTo>
                    <a:lnTo>
                      <a:pt x="825" y="1068"/>
                    </a:lnTo>
                    <a:lnTo>
                      <a:pt x="841" y="1062"/>
                    </a:lnTo>
                    <a:lnTo>
                      <a:pt x="855" y="1052"/>
                    </a:lnTo>
                    <a:lnTo>
                      <a:pt x="867" y="1038"/>
                    </a:lnTo>
                    <a:lnTo>
                      <a:pt x="867" y="1038"/>
                    </a:lnTo>
                    <a:lnTo>
                      <a:pt x="1445" y="32"/>
                    </a:lnTo>
                    <a:lnTo>
                      <a:pt x="1445" y="32"/>
                    </a:lnTo>
                    <a:lnTo>
                      <a:pt x="1455" y="18"/>
                    </a:lnTo>
                    <a:lnTo>
                      <a:pt x="1469" y="8"/>
                    </a:lnTo>
                    <a:lnTo>
                      <a:pt x="1485" y="2"/>
                    </a:lnTo>
                    <a:lnTo>
                      <a:pt x="1503" y="0"/>
                    </a:lnTo>
                    <a:lnTo>
                      <a:pt x="2121" y="0"/>
                    </a:lnTo>
                    <a:lnTo>
                      <a:pt x="2121" y="0"/>
                    </a:lnTo>
                    <a:lnTo>
                      <a:pt x="2137" y="2"/>
                    </a:lnTo>
                    <a:lnTo>
                      <a:pt x="2153" y="8"/>
                    </a:lnTo>
                    <a:lnTo>
                      <a:pt x="2167" y="18"/>
                    </a:lnTo>
                    <a:lnTo>
                      <a:pt x="2179" y="32"/>
                    </a:lnTo>
                    <a:lnTo>
                      <a:pt x="2381" y="387"/>
                    </a:lnTo>
                    <a:lnTo>
                      <a:pt x="2381" y="387"/>
                    </a:lnTo>
                    <a:lnTo>
                      <a:pt x="2387" y="399"/>
                    </a:lnTo>
                    <a:lnTo>
                      <a:pt x="2391" y="413"/>
                    </a:lnTo>
                    <a:lnTo>
                      <a:pt x="2391" y="425"/>
                    </a:lnTo>
                    <a:lnTo>
                      <a:pt x="2389" y="439"/>
                    </a:lnTo>
                    <a:lnTo>
                      <a:pt x="2383" y="451"/>
                    </a:lnTo>
                    <a:lnTo>
                      <a:pt x="2377" y="461"/>
                    </a:lnTo>
                    <a:lnTo>
                      <a:pt x="2367" y="471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43" y="485"/>
                    </a:lnTo>
                    <a:lnTo>
                      <a:pt x="2331" y="487"/>
                    </a:lnTo>
                    <a:lnTo>
                      <a:pt x="2319" y="487"/>
                    </a:lnTo>
                    <a:lnTo>
                      <a:pt x="2305" y="485"/>
                    </a:lnTo>
                    <a:lnTo>
                      <a:pt x="2293" y="481"/>
                    </a:lnTo>
                    <a:lnTo>
                      <a:pt x="2283" y="473"/>
                    </a:lnTo>
                    <a:lnTo>
                      <a:pt x="2273" y="465"/>
                    </a:lnTo>
                    <a:lnTo>
                      <a:pt x="2265" y="453"/>
                    </a:lnTo>
                    <a:lnTo>
                      <a:pt x="2101" y="168"/>
                    </a:lnTo>
                    <a:lnTo>
                      <a:pt x="2101" y="168"/>
                    </a:lnTo>
                    <a:lnTo>
                      <a:pt x="2089" y="154"/>
                    </a:lnTo>
                    <a:lnTo>
                      <a:pt x="2077" y="142"/>
                    </a:lnTo>
                    <a:lnTo>
                      <a:pt x="2061" y="136"/>
                    </a:lnTo>
                    <a:lnTo>
                      <a:pt x="2043" y="134"/>
                    </a:lnTo>
                    <a:lnTo>
                      <a:pt x="1581" y="134"/>
                    </a:lnTo>
                    <a:lnTo>
                      <a:pt x="1581" y="134"/>
                    </a:lnTo>
                    <a:lnTo>
                      <a:pt x="1563" y="136"/>
                    </a:lnTo>
                    <a:lnTo>
                      <a:pt x="1547" y="142"/>
                    </a:lnTo>
                    <a:lnTo>
                      <a:pt x="1533" y="154"/>
                    </a:lnTo>
                    <a:lnTo>
                      <a:pt x="1523" y="168"/>
                    </a:lnTo>
                    <a:lnTo>
                      <a:pt x="1523" y="168"/>
                    </a:lnTo>
                    <a:lnTo>
                      <a:pt x="943" y="1172"/>
                    </a:lnTo>
                    <a:lnTo>
                      <a:pt x="943" y="117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094D508F-8E5A-12C9-7BE8-CFCE6AC40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625" y="2471738"/>
                <a:ext cx="3963988" cy="1914525"/>
              </a:xfrm>
              <a:custGeom>
                <a:avLst/>
                <a:gdLst>
                  <a:gd name="T0" fmla="*/ 1641 w 2497"/>
                  <a:gd name="T1" fmla="*/ 154 h 1206"/>
                  <a:gd name="T2" fmla="*/ 1687 w 2497"/>
                  <a:gd name="T3" fmla="*/ 134 h 1206"/>
                  <a:gd name="T4" fmla="*/ 2167 w 2497"/>
                  <a:gd name="T5" fmla="*/ 136 h 1206"/>
                  <a:gd name="T6" fmla="*/ 2209 w 2497"/>
                  <a:gd name="T7" fmla="*/ 168 h 1206"/>
                  <a:gd name="T8" fmla="*/ 2377 w 2497"/>
                  <a:gd name="T9" fmla="*/ 459 h 1206"/>
                  <a:gd name="T10" fmla="*/ 2397 w 2497"/>
                  <a:gd name="T11" fmla="*/ 477 h 1206"/>
                  <a:gd name="T12" fmla="*/ 2447 w 2497"/>
                  <a:gd name="T13" fmla="*/ 483 h 1206"/>
                  <a:gd name="T14" fmla="*/ 2477 w 2497"/>
                  <a:gd name="T15" fmla="*/ 465 h 1206"/>
                  <a:gd name="T16" fmla="*/ 2487 w 2497"/>
                  <a:gd name="T17" fmla="*/ 451 h 1206"/>
                  <a:gd name="T18" fmla="*/ 2497 w 2497"/>
                  <a:gd name="T19" fmla="*/ 417 h 1206"/>
                  <a:gd name="T20" fmla="*/ 2285 w 2497"/>
                  <a:gd name="T21" fmla="*/ 32 h 1206"/>
                  <a:gd name="T22" fmla="*/ 2261 w 2497"/>
                  <a:gd name="T23" fmla="*/ 8 h 1206"/>
                  <a:gd name="T24" fmla="*/ 1611 w 2497"/>
                  <a:gd name="T25" fmla="*/ 0 h 1206"/>
                  <a:gd name="T26" fmla="*/ 1578 w 2497"/>
                  <a:gd name="T27" fmla="*/ 8 h 1206"/>
                  <a:gd name="T28" fmla="*/ 1552 w 2497"/>
                  <a:gd name="T29" fmla="*/ 32 h 1206"/>
                  <a:gd name="T30" fmla="*/ 964 w 2497"/>
                  <a:gd name="T31" fmla="*/ 1052 h 1206"/>
                  <a:gd name="T32" fmla="*/ 916 w 2497"/>
                  <a:gd name="T33" fmla="*/ 1070 h 1206"/>
                  <a:gd name="T34" fmla="*/ 436 w 2497"/>
                  <a:gd name="T35" fmla="*/ 1068 h 1206"/>
                  <a:gd name="T36" fmla="*/ 396 w 2497"/>
                  <a:gd name="T37" fmla="*/ 1038 h 1206"/>
                  <a:gd name="T38" fmla="*/ 158 w 2497"/>
                  <a:gd name="T39" fmla="*/ 619 h 1206"/>
                  <a:gd name="T40" fmla="*/ 164 w 2497"/>
                  <a:gd name="T41" fmla="*/ 569 h 1206"/>
                  <a:gd name="T42" fmla="*/ 406 w 2497"/>
                  <a:gd name="T43" fmla="*/ 154 h 1206"/>
                  <a:gd name="T44" fmla="*/ 454 w 2497"/>
                  <a:gd name="T45" fmla="*/ 134 h 1206"/>
                  <a:gd name="T46" fmla="*/ 934 w 2497"/>
                  <a:gd name="T47" fmla="*/ 136 h 1206"/>
                  <a:gd name="T48" fmla="*/ 974 w 2497"/>
                  <a:gd name="T49" fmla="*/ 168 h 1206"/>
                  <a:gd name="T50" fmla="*/ 1142 w 2497"/>
                  <a:gd name="T51" fmla="*/ 459 h 1206"/>
                  <a:gd name="T52" fmla="*/ 1162 w 2497"/>
                  <a:gd name="T53" fmla="*/ 475 h 1206"/>
                  <a:gd name="T54" fmla="*/ 1212 w 2497"/>
                  <a:gd name="T55" fmla="*/ 481 h 1206"/>
                  <a:gd name="T56" fmla="*/ 1242 w 2497"/>
                  <a:gd name="T57" fmla="*/ 465 h 1206"/>
                  <a:gd name="T58" fmla="*/ 1254 w 2497"/>
                  <a:gd name="T59" fmla="*/ 451 h 1206"/>
                  <a:gd name="T60" fmla="*/ 1262 w 2497"/>
                  <a:gd name="T61" fmla="*/ 417 h 1206"/>
                  <a:gd name="T62" fmla="*/ 1052 w 2497"/>
                  <a:gd name="T63" fmla="*/ 32 h 1206"/>
                  <a:gd name="T64" fmla="*/ 1028 w 2497"/>
                  <a:gd name="T65" fmla="*/ 8 h 1206"/>
                  <a:gd name="T66" fmla="*/ 376 w 2497"/>
                  <a:gd name="T67" fmla="*/ 0 h 1206"/>
                  <a:gd name="T68" fmla="*/ 342 w 2497"/>
                  <a:gd name="T69" fmla="*/ 8 h 1206"/>
                  <a:gd name="T70" fmla="*/ 10 w 2497"/>
                  <a:gd name="T71" fmla="*/ 569 h 1206"/>
                  <a:gd name="T72" fmla="*/ 0 w 2497"/>
                  <a:gd name="T73" fmla="*/ 603 h 1206"/>
                  <a:gd name="T74" fmla="*/ 318 w 2497"/>
                  <a:gd name="T75" fmla="*/ 1172 h 1206"/>
                  <a:gd name="T76" fmla="*/ 342 w 2497"/>
                  <a:gd name="T77" fmla="*/ 1196 h 1206"/>
                  <a:gd name="T78" fmla="*/ 994 w 2497"/>
                  <a:gd name="T79" fmla="*/ 1206 h 1206"/>
                  <a:gd name="T80" fmla="*/ 1028 w 2497"/>
                  <a:gd name="T81" fmla="*/ 1196 h 1206"/>
                  <a:gd name="T82" fmla="*/ 1052 w 2497"/>
                  <a:gd name="T83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7" h="1206">
                    <a:moveTo>
                      <a:pt x="1629" y="168"/>
                    </a:moveTo>
                    <a:lnTo>
                      <a:pt x="1629" y="168"/>
                    </a:lnTo>
                    <a:lnTo>
                      <a:pt x="1641" y="154"/>
                    </a:lnTo>
                    <a:lnTo>
                      <a:pt x="1655" y="142"/>
                    </a:lnTo>
                    <a:lnTo>
                      <a:pt x="1671" y="136"/>
                    </a:lnTo>
                    <a:lnTo>
                      <a:pt x="1687" y="134"/>
                    </a:lnTo>
                    <a:lnTo>
                      <a:pt x="2149" y="134"/>
                    </a:lnTo>
                    <a:lnTo>
                      <a:pt x="2149" y="134"/>
                    </a:lnTo>
                    <a:lnTo>
                      <a:pt x="2167" y="136"/>
                    </a:lnTo>
                    <a:lnTo>
                      <a:pt x="2183" y="142"/>
                    </a:lnTo>
                    <a:lnTo>
                      <a:pt x="2197" y="154"/>
                    </a:lnTo>
                    <a:lnTo>
                      <a:pt x="2209" y="168"/>
                    </a:lnTo>
                    <a:lnTo>
                      <a:pt x="2371" y="451"/>
                    </a:lnTo>
                    <a:lnTo>
                      <a:pt x="2371" y="451"/>
                    </a:lnTo>
                    <a:lnTo>
                      <a:pt x="2377" y="459"/>
                    </a:lnTo>
                    <a:lnTo>
                      <a:pt x="2383" y="465"/>
                    </a:lnTo>
                    <a:lnTo>
                      <a:pt x="2389" y="471"/>
                    </a:lnTo>
                    <a:lnTo>
                      <a:pt x="2397" y="477"/>
                    </a:lnTo>
                    <a:lnTo>
                      <a:pt x="2413" y="483"/>
                    </a:lnTo>
                    <a:lnTo>
                      <a:pt x="2429" y="485"/>
                    </a:lnTo>
                    <a:lnTo>
                      <a:pt x="2447" y="483"/>
                    </a:lnTo>
                    <a:lnTo>
                      <a:pt x="2463" y="477"/>
                    </a:lnTo>
                    <a:lnTo>
                      <a:pt x="2469" y="471"/>
                    </a:lnTo>
                    <a:lnTo>
                      <a:pt x="2477" y="465"/>
                    </a:lnTo>
                    <a:lnTo>
                      <a:pt x="2483" y="459"/>
                    </a:lnTo>
                    <a:lnTo>
                      <a:pt x="2487" y="451"/>
                    </a:lnTo>
                    <a:lnTo>
                      <a:pt x="2487" y="451"/>
                    </a:lnTo>
                    <a:lnTo>
                      <a:pt x="2487" y="451"/>
                    </a:lnTo>
                    <a:lnTo>
                      <a:pt x="2495" y="435"/>
                    </a:lnTo>
                    <a:lnTo>
                      <a:pt x="2497" y="417"/>
                    </a:lnTo>
                    <a:lnTo>
                      <a:pt x="2495" y="401"/>
                    </a:lnTo>
                    <a:lnTo>
                      <a:pt x="2487" y="383"/>
                    </a:lnTo>
                    <a:lnTo>
                      <a:pt x="2285" y="32"/>
                    </a:lnTo>
                    <a:lnTo>
                      <a:pt x="2285" y="32"/>
                    </a:lnTo>
                    <a:lnTo>
                      <a:pt x="2275" y="18"/>
                    </a:lnTo>
                    <a:lnTo>
                      <a:pt x="2261" y="8"/>
                    </a:lnTo>
                    <a:lnTo>
                      <a:pt x="2245" y="2"/>
                    </a:lnTo>
                    <a:lnTo>
                      <a:pt x="2227" y="0"/>
                    </a:lnTo>
                    <a:lnTo>
                      <a:pt x="1611" y="0"/>
                    </a:lnTo>
                    <a:lnTo>
                      <a:pt x="1611" y="0"/>
                    </a:lnTo>
                    <a:lnTo>
                      <a:pt x="1593" y="2"/>
                    </a:lnTo>
                    <a:lnTo>
                      <a:pt x="1578" y="8"/>
                    </a:lnTo>
                    <a:lnTo>
                      <a:pt x="1564" y="18"/>
                    </a:lnTo>
                    <a:lnTo>
                      <a:pt x="1552" y="32"/>
                    </a:lnTo>
                    <a:lnTo>
                      <a:pt x="1552" y="32"/>
                    </a:lnTo>
                    <a:lnTo>
                      <a:pt x="974" y="1038"/>
                    </a:lnTo>
                    <a:lnTo>
                      <a:pt x="974" y="1038"/>
                    </a:lnTo>
                    <a:lnTo>
                      <a:pt x="964" y="1052"/>
                    </a:lnTo>
                    <a:lnTo>
                      <a:pt x="950" y="1062"/>
                    </a:lnTo>
                    <a:lnTo>
                      <a:pt x="934" y="1068"/>
                    </a:lnTo>
                    <a:lnTo>
                      <a:pt x="916" y="1070"/>
                    </a:lnTo>
                    <a:lnTo>
                      <a:pt x="454" y="1070"/>
                    </a:lnTo>
                    <a:lnTo>
                      <a:pt x="454" y="1070"/>
                    </a:lnTo>
                    <a:lnTo>
                      <a:pt x="436" y="1068"/>
                    </a:lnTo>
                    <a:lnTo>
                      <a:pt x="420" y="1062"/>
                    </a:lnTo>
                    <a:lnTo>
                      <a:pt x="406" y="1052"/>
                    </a:lnTo>
                    <a:lnTo>
                      <a:pt x="396" y="1038"/>
                    </a:lnTo>
                    <a:lnTo>
                      <a:pt x="164" y="635"/>
                    </a:lnTo>
                    <a:lnTo>
                      <a:pt x="164" y="635"/>
                    </a:lnTo>
                    <a:lnTo>
                      <a:pt x="158" y="619"/>
                    </a:lnTo>
                    <a:lnTo>
                      <a:pt x="156" y="603"/>
                    </a:lnTo>
                    <a:lnTo>
                      <a:pt x="158" y="585"/>
                    </a:lnTo>
                    <a:lnTo>
                      <a:pt x="164" y="569"/>
                    </a:lnTo>
                    <a:lnTo>
                      <a:pt x="396" y="168"/>
                    </a:lnTo>
                    <a:lnTo>
                      <a:pt x="396" y="168"/>
                    </a:lnTo>
                    <a:lnTo>
                      <a:pt x="406" y="154"/>
                    </a:lnTo>
                    <a:lnTo>
                      <a:pt x="420" y="142"/>
                    </a:lnTo>
                    <a:lnTo>
                      <a:pt x="436" y="136"/>
                    </a:lnTo>
                    <a:lnTo>
                      <a:pt x="454" y="134"/>
                    </a:lnTo>
                    <a:lnTo>
                      <a:pt x="916" y="134"/>
                    </a:lnTo>
                    <a:lnTo>
                      <a:pt x="916" y="134"/>
                    </a:lnTo>
                    <a:lnTo>
                      <a:pt x="934" y="136"/>
                    </a:lnTo>
                    <a:lnTo>
                      <a:pt x="950" y="142"/>
                    </a:lnTo>
                    <a:lnTo>
                      <a:pt x="964" y="154"/>
                    </a:lnTo>
                    <a:lnTo>
                      <a:pt x="974" y="168"/>
                    </a:lnTo>
                    <a:lnTo>
                      <a:pt x="1138" y="451"/>
                    </a:lnTo>
                    <a:lnTo>
                      <a:pt x="1138" y="451"/>
                    </a:lnTo>
                    <a:lnTo>
                      <a:pt x="1142" y="459"/>
                    </a:lnTo>
                    <a:lnTo>
                      <a:pt x="1148" y="465"/>
                    </a:lnTo>
                    <a:lnTo>
                      <a:pt x="1156" y="471"/>
                    </a:lnTo>
                    <a:lnTo>
                      <a:pt x="1162" y="475"/>
                    </a:lnTo>
                    <a:lnTo>
                      <a:pt x="1178" y="481"/>
                    </a:lnTo>
                    <a:lnTo>
                      <a:pt x="1196" y="483"/>
                    </a:lnTo>
                    <a:lnTo>
                      <a:pt x="1212" y="481"/>
                    </a:lnTo>
                    <a:lnTo>
                      <a:pt x="1228" y="475"/>
                    </a:lnTo>
                    <a:lnTo>
                      <a:pt x="1236" y="471"/>
                    </a:lnTo>
                    <a:lnTo>
                      <a:pt x="1242" y="465"/>
                    </a:lnTo>
                    <a:lnTo>
                      <a:pt x="1248" y="459"/>
                    </a:lnTo>
                    <a:lnTo>
                      <a:pt x="1254" y="451"/>
                    </a:lnTo>
                    <a:lnTo>
                      <a:pt x="1254" y="451"/>
                    </a:lnTo>
                    <a:lnTo>
                      <a:pt x="1254" y="451"/>
                    </a:lnTo>
                    <a:lnTo>
                      <a:pt x="1260" y="433"/>
                    </a:lnTo>
                    <a:lnTo>
                      <a:pt x="1262" y="417"/>
                    </a:lnTo>
                    <a:lnTo>
                      <a:pt x="1260" y="399"/>
                    </a:lnTo>
                    <a:lnTo>
                      <a:pt x="1254" y="383"/>
                    </a:lnTo>
                    <a:lnTo>
                      <a:pt x="1052" y="32"/>
                    </a:lnTo>
                    <a:lnTo>
                      <a:pt x="1052" y="32"/>
                    </a:lnTo>
                    <a:lnTo>
                      <a:pt x="1042" y="18"/>
                    </a:lnTo>
                    <a:lnTo>
                      <a:pt x="1028" y="8"/>
                    </a:lnTo>
                    <a:lnTo>
                      <a:pt x="1012" y="2"/>
                    </a:lnTo>
                    <a:lnTo>
                      <a:pt x="994" y="0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58" y="2"/>
                    </a:lnTo>
                    <a:lnTo>
                      <a:pt x="342" y="8"/>
                    </a:lnTo>
                    <a:lnTo>
                      <a:pt x="328" y="18"/>
                    </a:lnTo>
                    <a:lnTo>
                      <a:pt x="318" y="32"/>
                    </a:lnTo>
                    <a:lnTo>
                      <a:pt x="10" y="569"/>
                    </a:lnTo>
                    <a:lnTo>
                      <a:pt x="10" y="569"/>
                    </a:lnTo>
                    <a:lnTo>
                      <a:pt x="2" y="585"/>
                    </a:lnTo>
                    <a:lnTo>
                      <a:pt x="0" y="603"/>
                    </a:lnTo>
                    <a:lnTo>
                      <a:pt x="2" y="619"/>
                    </a:lnTo>
                    <a:lnTo>
                      <a:pt x="10" y="635"/>
                    </a:lnTo>
                    <a:lnTo>
                      <a:pt x="318" y="1172"/>
                    </a:lnTo>
                    <a:lnTo>
                      <a:pt x="318" y="1172"/>
                    </a:lnTo>
                    <a:lnTo>
                      <a:pt x="328" y="1186"/>
                    </a:lnTo>
                    <a:lnTo>
                      <a:pt x="342" y="1196"/>
                    </a:lnTo>
                    <a:lnTo>
                      <a:pt x="358" y="1202"/>
                    </a:lnTo>
                    <a:lnTo>
                      <a:pt x="376" y="1206"/>
                    </a:lnTo>
                    <a:lnTo>
                      <a:pt x="994" y="1206"/>
                    </a:lnTo>
                    <a:lnTo>
                      <a:pt x="994" y="1206"/>
                    </a:lnTo>
                    <a:lnTo>
                      <a:pt x="1012" y="1202"/>
                    </a:lnTo>
                    <a:lnTo>
                      <a:pt x="1028" y="1196"/>
                    </a:lnTo>
                    <a:lnTo>
                      <a:pt x="1042" y="1186"/>
                    </a:lnTo>
                    <a:lnTo>
                      <a:pt x="1052" y="1172"/>
                    </a:lnTo>
                    <a:lnTo>
                      <a:pt x="1052" y="1172"/>
                    </a:lnTo>
                    <a:lnTo>
                      <a:pt x="1629" y="168"/>
                    </a:lnTo>
                    <a:lnTo>
                      <a:pt x="1629" y="16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A42C5E-169C-9334-B954-A0B681EE1514}"/>
                </a:ext>
              </a:extLst>
            </p:cNvPr>
            <p:cNvSpPr txBox="1"/>
            <p:nvPr/>
          </p:nvSpPr>
          <p:spPr>
            <a:xfrm>
              <a:off x="5016933" y="3519046"/>
              <a:ext cx="6273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model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27C908-D1FB-1AE9-8DE1-4F045614B0E9}"/>
                </a:ext>
              </a:extLst>
            </p:cNvPr>
            <p:cNvSpPr txBox="1"/>
            <p:nvPr/>
          </p:nvSpPr>
          <p:spPr>
            <a:xfrm>
              <a:off x="6256449" y="3519046"/>
              <a:ext cx="75763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Shadow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7366AD9-15E6-D369-EF0F-2396691B36BF}"/>
                </a:ext>
              </a:extLst>
            </p:cNvPr>
            <p:cNvSpPr txBox="1"/>
            <p:nvPr/>
          </p:nvSpPr>
          <p:spPr>
            <a:xfrm>
              <a:off x="7504809" y="3519046"/>
              <a:ext cx="75763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Twin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095CFB-222F-899D-D59A-1D208908520C}"/>
                </a:ext>
              </a:extLst>
            </p:cNvPr>
            <p:cNvSpPr txBox="1"/>
            <p:nvPr/>
          </p:nvSpPr>
          <p:spPr>
            <a:xfrm>
              <a:off x="8645142" y="3519046"/>
              <a:ext cx="106320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Autonomous Digital Twin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D720D96-7C80-6308-25A1-B529F562A689}"/>
                </a:ext>
              </a:extLst>
            </p:cNvPr>
            <p:cNvSpPr txBox="1"/>
            <p:nvPr/>
          </p:nvSpPr>
          <p:spPr>
            <a:xfrm>
              <a:off x="9956249" y="3519046"/>
              <a:ext cx="106320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Federated Digital Twin</a:t>
              </a: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FF88FAEB-524D-6F1C-D609-50325E15E6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500" y="4903442"/>
            <a:ext cx="1026975" cy="95258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9623D55-7824-6D61-E115-512E6B06F1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661"/>
          <a:stretch/>
        </p:blipFill>
        <p:spPr>
          <a:xfrm>
            <a:off x="8106808" y="4903443"/>
            <a:ext cx="1278650" cy="95697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82C22DB-57DC-6883-9192-915BE8ED76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928" r="6928"/>
          <a:stretch>
            <a:fillRect/>
          </a:stretch>
        </p:blipFill>
        <p:spPr>
          <a:xfrm>
            <a:off x="9777174" y="4913591"/>
            <a:ext cx="1302212" cy="94243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964907B-CDFC-AC4A-47B8-0401C7D1A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4867" y="4903442"/>
            <a:ext cx="1133949" cy="95258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2CCC0B5-35D0-A996-28B7-A5F5C0F9B760}"/>
              </a:ext>
            </a:extLst>
          </p:cNvPr>
          <p:cNvSpPr txBox="1"/>
          <p:nvPr/>
        </p:nvSpPr>
        <p:spPr>
          <a:xfrm>
            <a:off x="4814867" y="4529720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Building models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A11716-149A-7B14-F678-F95DA515169C}"/>
              </a:ext>
            </a:extLst>
          </p:cNvPr>
          <p:cNvSpPr txBox="1"/>
          <p:nvPr/>
        </p:nvSpPr>
        <p:spPr>
          <a:xfrm>
            <a:off x="6497013" y="4529720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IoT sensors/CPS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59C575-2F66-8736-5074-0E0B9310FF8C}"/>
              </a:ext>
            </a:extLst>
          </p:cNvPr>
          <p:cNvSpPr txBox="1"/>
          <p:nvPr/>
        </p:nvSpPr>
        <p:spPr>
          <a:xfrm>
            <a:off x="8179158" y="4529720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Twin analytics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3567E2-A3D3-EEC6-12F6-5F0C81D4C183}"/>
              </a:ext>
            </a:extLst>
          </p:cNvPr>
          <p:cNvSpPr txBox="1"/>
          <p:nvPr/>
        </p:nvSpPr>
        <p:spPr>
          <a:xfrm>
            <a:off x="9861305" y="4529720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Future work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CD6804F-DD24-B695-0F29-39F631AB87A3}"/>
              </a:ext>
            </a:extLst>
          </p:cNvPr>
          <p:cNvGrpSpPr/>
          <p:nvPr/>
        </p:nvGrpSpPr>
        <p:grpSpPr>
          <a:xfrm>
            <a:off x="706588" y="1375915"/>
            <a:ext cx="10778824" cy="650570"/>
            <a:chOff x="706588" y="1375915"/>
            <a:chExt cx="10778824" cy="65057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7686D04-FE0A-3BF2-3C0E-913E7564E2DC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1E8272-A683-0608-5997-EA1C5C7A822F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Digital Twinning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106441-7680-EE1B-8093-09FCA6C0F0AE}"/>
                </a:ext>
              </a:extLst>
            </p:cNvPr>
            <p:cNvSpPr txBox="1"/>
            <p:nvPr/>
          </p:nvSpPr>
          <p:spPr>
            <a:xfrm>
              <a:off x="1153893" y="1547312"/>
              <a:ext cx="23929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What is a Digital Twin?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C2A3B-4AAE-752E-FF31-2430F2845EC4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AI &amp; Digital Twin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34F9A6D-FB59-24D9-5D1E-C11672049531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775EFCA-6793-81F7-9CF7-DCA605B8E5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FA32D011-589B-0EC2-FA22-5BAC97562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C233AA1A-94A3-234B-B199-24355CA921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3367" y="5055433"/>
            <a:ext cx="254298" cy="2542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650C739-3E7A-123A-7581-33EF2BF55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77912" y="5055433"/>
            <a:ext cx="254298" cy="25429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79AC760-DB58-DF97-D16F-BB2A8F3185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60058" y="5055433"/>
            <a:ext cx="254298" cy="2542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9E6AE0-EEEA-70A3-3EE8-089F79BE4DB7}"/>
              </a:ext>
            </a:extLst>
          </p:cNvPr>
          <p:cNvSpPr/>
          <p:nvPr/>
        </p:nvSpPr>
        <p:spPr>
          <a:xfrm>
            <a:off x="-12600875" y="222996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4820E9-AA2D-2B7C-2EA6-1DF731A22E61}"/>
              </a:ext>
            </a:extLst>
          </p:cNvPr>
          <p:cNvSpPr txBox="1"/>
          <p:nvPr/>
        </p:nvSpPr>
        <p:spPr>
          <a:xfrm>
            <a:off x="550862" y="-1557038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S.M.A.R.T. Digital Twin Platform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92AAA9-F100-8DD8-DADF-7BE6DF7A2ECE}"/>
              </a:ext>
            </a:extLst>
          </p:cNvPr>
          <p:cNvSpPr/>
          <p:nvPr/>
        </p:nvSpPr>
        <p:spPr>
          <a:xfrm>
            <a:off x="706588" y="8153378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6548B0-1B1A-DDB1-F286-68639EB0AA3F}"/>
              </a:ext>
            </a:extLst>
          </p:cNvPr>
          <p:cNvSpPr/>
          <p:nvPr/>
        </p:nvSpPr>
        <p:spPr>
          <a:xfrm>
            <a:off x="4371240" y="9858897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8BDF62-D1BE-0C2B-8A70-9B719CF69E41}"/>
              </a:ext>
            </a:extLst>
          </p:cNvPr>
          <p:cNvSpPr txBox="1"/>
          <p:nvPr/>
        </p:nvSpPr>
        <p:spPr>
          <a:xfrm>
            <a:off x="4499128" y="9956618"/>
            <a:ext cx="3160773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dirty="0"/>
              <a:t>Sensor types: Env. Sensor; Light Sensor; Noise Sensor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Data collection: PM 1, 2.5, 4, 10, temperature, humidity, air pressure, light intensity, sound, VOC, NOx, CO2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F0E273-EBA1-1FB5-B70F-E01CAE2A397C}"/>
              </a:ext>
            </a:extLst>
          </p:cNvPr>
          <p:cNvGrpSpPr/>
          <p:nvPr/>
        </p:nvGrpSpPr>
        <p:grpSpPr>
          <a:xfrm>
            <a:off x="706588" y="7314960"/>
            <a:ext cx="10778824" cy="650570"/>
            <a:chOff x="706588" y="1375915"/>
            <a:chExt cx="10778824" cy="65057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1C312F-BAA4-0B4D-05E4-9350999B4B19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B14B66-50F0-DA9F-0EF0-2084EB5F6577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C95565-1A05-F5E9-D63B-D5CA79B387E5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38BB97-AE95-AFA5-A23F-674170021C45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2902C82-3A3B-E28E-57DC-31F379738F67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7DEB34E-94B7-B181-4244-57CF64E92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54B1B2D-FEA1-8454-7A9B-86A623BC3D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09FF6D-27A3-E531-2EB4-29C9611CFEC8}"/>
              </a:ext>
            </a:extLst>
          </p:cNvPr>
          <p:cNvSpPr txBox="1"/>
          <p:nvPr/>
        </p:nvSpPr>
        <p:spPr>
          <a:xfrm>
            <a:off x="4447478" y="12623171"/>
            <a:ext cx="10855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Sensor product prototype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A66079F-D8AB-7912-50FF-C6FC6368F20B}"/>
              </a:ext>
            </a:extLst>
          </p:cNvPr>
          <p:cNvGrpSpPr/>
          <p:nvPr/>
        </p:nvGrpSpPr>
        <p:grpSpPr>
          <a:xfrm>
            <a:off x="5666699" y="11817321"/>
            <a:ext cx="751324" cy="685447"/>
            <a:chOff x="2055686" y="3823373"/>
            <a:chExt cx="751324" cy="6854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A3C210E-47F3-39B8-A5B9-F3A71F8FE59A}"/>
                </a:ext>
              </a:extLst>
            </p:cNvPr>
            <p:cNvSpPr/>
            <p:nvPr/>
          </p:nvSpPr>
          <p:spPr>
            <a:xfrm>
              <a:off x="2055686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6B11696-45DA-9944-49AE-D1ECD9EDB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2033" t="16740" r="16775" b="15131"/>
            <a:stretch>
              <a:fillRect/>
            </a:stretch>
          </p:blipFill>
          <p:spPr>
            <a:xfrm>
              <a:off x="2145151" y="3882042"/>
              <a:ext cx="572394" cy="56810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0C357E5-6441-56EE-BDB1-6FB41ADBDB2E}"/>
              </a:ext>
            </a:extLst>
          </p:cNvPr>
          <p:cNvGrpSpPr/>
          <p:nvPr/>
        </p:nvGrpSpPr>
        <p:grpSpPr>
          <a:xfrm>
            <a:off x="6718799" y="11817321"/>
            <a:ext cx="751324" cy="685447"/>
            <a:chOff x="3078907" y="3823373"/>
            <a:chExt cx="751324" cy="68544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5AB6FB4-C8DB-9DA2-D79E-BCA67B72FB3B}"/>
                </a:ext>
              </a:extLst>
            </p:cNvPr>
            <p:cNvSpPr/>
            <p:nvPr/>
          </p:nvSpPr>
          <p:spPr>
            <a:xfrm>
              <a:off x="3078907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566A6C00-5837-0269-C8FA-4B634DA6E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1843" y="4005928"/>
              <a:ext cx="685452" cy="320337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BDFFA9-03C1-B41F-971E-165A46788FFB}"/>
              </a:ext>
            </a:extLst>
          </p:cNvPr>
          <p:cNvGrpSpPr/>
          <p:nvPr/>
        </p:nvGrpSpPr>
        <p:grpSpPr>
          <a:xfrm>
            <a:off x="4614599" y="11817321"/>
            <a:ext cx="751324" cy="685447"/>
            <a:chOff x="1032466" y="3823373"/>
            <a:chExt cx="751324" cy="685447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7DDEF22-3B25-239C-17C9-8F17BF816103}"/>
                </a:ext>
              </a:extLst>
            </p:cNvPr>
            <p:cNvSpPr/>
            <p:nvPr/>
          </p:nvSpPr>
          <p:spPr>
            <a:xfrm>
              <a:off x="1032466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6B5E694-E8FD-9BF4-9673-3D7FF48CB4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35" r="6009"/>
            <a:stretch/>
          </p:blipFill>
          <p:spPr>
            <a:xfrm>
              <a:off x="1082403" y="3865155"/>
              <a:ext cx="651450" cy="601882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6B81B656-1421-13A4-2718-0F444D9C32A7}"/>
              </a:ext>
            </a:extLst>
          </p:cNvPr>
          <p:cNvSpPr txBox="1"/>
          <p:nvPr/>
        </p:nvSpPr>
        <p:spPr>
          <a:xfrm>
            <a:off x="5499578" y="12623171"/>
            <a:ext cx="1085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NYU IoT Network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D8AFEB-E6F4-64F0-D44B-9C20874B9990}"/>
              </a:ext>
            </a:extLst>
          </p:cNvPr>
          <p:cNvSpPr txBox="1"/>
          <p:nvPr/>
        </p:nvSpPr>
        <p:spPr>
          <a:xfrm>
            <a:off x="6551678" y="12623171"/>
            <a:ext cx="10855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Database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02905EC2-63FC-F437-336F-DF8282B31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12156"/>
              </p:ext>
            </p:extLst>
          </p:nvPr>
        </p:nvGraphicFramePr>
        <p:xfrm>
          <a:off x="7960677" y="9985493"/>
          <a:ext cx="3343209" cy="3648032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114403">
                  <a:extLst>
                    <a:ext uri="{9D8B030D-6E8A-4147-A177-3AD203B41FA5}">
                      <a16:colId xmlns:a16="http://schemas.microsoft.com/office/drawing/2014/main" val="3601753519"/>
                    </a:ext>
                  </a:extLst>
                </a:gridCol>
                <a:gridCol w="1114403">
                  <a:extLst>
                    <a:ext uri="{9D8B030D-6E8A-4147-A177-3AD203B41FA5}">
                      <a16:colId xmlns:a16="http://schemas.microsoft.com/office/drawing/2014/main" val="2468631146"/>
                    </a:ext>
                  </a:extLst>
                </a:gridCol>
                <a:gridCol w="1114403">
                  <a:extLst>
                    <a:ext uri="{9D8B030D-6E8A-4147-A177-3AD203B41FA5}">
                      <a16:colId xmlns:a16="http://schemas.microsoft.com/office/drawing/2014/main" val="1788591611"/>
                    </a:ext>
                  </a:extLst>
                </a:gridCol>
              </a:tblGrid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effectLst/>
                        </a:rPr>
                        <a:t>Parameter</a:t>
                      </a:r>
                      <a:endParaRPr lang="en-US" sz="1100" dirty="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effectLst/>
                        </a:rPr>
                        <a:t>Sampling Time</a:t>
                      </a:r>
                      <a:endParaRPr lang="en-US" sz="1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effectLst/>
                        </a:rPr>
                        <a:t>Range </a:t>
                      </a:r>
                      <a:endParaRPr lang="en-US" sz="1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extLst>
                  <a:ext uri="{0D108BD9-81ED-4DB2-BD59-A6C34878D82A}">
                    <a16:rowId xmlns:a16="http://schemas.microsoft.com/office/drawing/2014/main" val="3875017803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Temperature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-10 ~ 50 (°C)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283703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Humidity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0 ~ 90 (RH)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8120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Particulate Material (PM </a:t>
                      </a:r>
                      <a:b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1, 2.5, 4, 10)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0 ~ 1000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μg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/m³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78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VOC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0 ~ 500 VOC Index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4851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Temperature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-40 ~ 85 (°C)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4247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Humidity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0 ~ 100 (RH)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96921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Decibel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30 ~ 130 (dBA)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212608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Light Intensity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0 ~ 65535 (lux)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2396"/>
                  </a:ext>
                </a:extLst>
              </a:tr>
            </a:tbl>
          </a:graphicData>
        </a:graphic>
      </p:graphicFrame>
      <p:grpSp>
        <p:nvGrpSpPr>
          <p:cNvPr id="77" name="Group 76">
            <a:extLst>
              <a:ext uri="{FF2B5EF4-FFF2-40B4-BE49-F238E27FC236}">
                <a16:creationId xmlns:a16="http://schemas.microsoft.com/office/drawing/2014/main" id="{575AFF63-0A63-1029-AB6E-7574D874EFEB}"/>
              </a:ext>
            </a:extLst>
          </p:cNvPr>
          <p:cNvGrpSpPr/>
          <p:nvPr/>
        </p:nvGrpSpPr>
        <p:grpSpPr>
          <a:xfrm>
            <a:off x="991495" y="11438277"/>
            <a:ext cx="2879706" cy="442492"/>
            <a:chOff x="343772" y="165561"/>
            <a:chExt cx="5915883" cy="909028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33CEEE0C-DB2A-9197-49AB-45556F6A0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79" name="Picture 78" descr="A close-up of a logo&#10;&#10;AI-generated content may be incorrect.">
              <a:extLst>
                <a:ext uri="{FF2B5EF4-FFF2-40B4-BE49-F238E27FC236}">
                  <a16:creationId xmlns:a16="http://schemas.microsoft.com/office/drawing/2014/main" id="{4BDF396F-2687-8D14-11D1-2B96FAF13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BE17FCD-D672-11F8-5B0F-8ADF72681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005FA060-6203-D8D3-8083-1FD865795CE3}"/>
              </a:ext>
            </a:extLst>
          </p:cNvPr>
          <p:cNvSpPr txBox="1"/>
          <p:nvPr/>
        </p:nvSpPr>
        <p:spPr>
          <a:xfrm>
            <a:off x="913516" y="8415441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Scan Me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BA90DDC4-13DA-1E24-1728-1285EE435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838" y="8967928"/>
            <a:ext cx="2155366" cy="2155366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F887E950-2EB9-D7BB-9901-F0F6C3CFCF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40008" y="12083741"/>
            <a:ext cx="152606" cy="152606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DE073D82-F610-5A9C-1C2D-252B0CC5FD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89780" y="12083741"/>
            <a:ext cx="152606" cy="15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37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FC94-ACBB-7F49-8297-BEE51288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1A51F2-3B20-AE5A-1032-2454775C093A}"/>
              </a:ext>
            </a:extLst>
          </p:cNvPr>
          <p:cNvSpPr txBox="1"/>
          <p:nvPr/>
        </p:nvSpPr>
        <p:spPr>
          <a:xfrm>
            <a:off x="550862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S.M.A.R.T. Digital Twin Platform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8FDD48-62AD-DB67-9737-0DA5B6D88395}"/>
              </a:ext>
            </a:extLst>
          </p:cNvPr>
          <p:cNvSpPr/>
          <p:nvPr/>
        </p:nvSpPr>
        <p:spPr>
          <a:xfrm>
            <a:off x="706588" y="2214333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516F7B-13CF-50BE-7090-F1BA206E3B54}"/>
              </a:ext>
            </a:extLst>
          </p:cNvPr>
          <p:cNvSpPr/>
          <p:nvPr/>
        </p:nvSpPr>
        <p:spPr>
          <a:xfrm>
            <a:off x="4371240" y="2214333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51A88C-79A0-D8DD-AEDA-44C23B74E331}"/>
              </a:ext>
            </a:extLst>
          </p:cNvPr>
          <p:cNvSpPr txBox="1"/>
          <p:nvPr/>
        </p:nvSpPr>
        <p:spPr>
          <a:xfrm>
            <a:off x="4499128" y="2312054"/>
            <a:ext cx="3160773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dirty="0">
                <a:latin typeface="Montserrat Medium" pitchFamily="2" charset="77"/>
              </a:rPr>
              <a:t>Sensor types: Env. Sensor; Light Sensor; Noise Sensor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latin typeface="Montserrat Medium" pitchFamily="2" charset="77"/>
              </a:rPr>
              <a:t>Data collection: PM 1, 2.5, 4, 10, temperature, humidity, air pressure, light intensity, sound, VOC, NOx, CO2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C9BC22-8ED8-8099-F17C-81CCEC933E72}"/>
              </a:ext>
            </a:extLst>
          </p:cNvPr>
          <p:cNvGrpSpPr/>
          <p:nvPr/>
        </p:nvGrpSpPr>
        <p:grpSpPr>
          <a:xfrm>
            <a:off x="706588" y="1375915"/>
            <a:ext cx="10778824" cy="650570"/>
            <a:chOff x="706588" y="1375915"/>
            <a:chExt cx="10778824" cy="65057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13AFDC-66F5-A3D4-9A3D-425E649E50FE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A83CB1-F53E-2079-0631-DD3EB257DDC5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Light" pitchFamily="2" charset="77"/>
                </a:rPr>
                <a:t>Digital Twinning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77E265-9D8F-E840-E467-7D266D03A651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Light" pitchFamily="2" charset="77"/>
                </a:rPr>
                <a:t>What is a Digital Twin?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06DB67-8E55-4E2B-FD42-D62D7296F19F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Light" pitchFamily="2" charset="77"/>
                </a:rPr>
                <a:t>AI &amp; Digital Twin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212300B-9DB3-EEDC-67C2-D288A012EFBE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14FBCD4-EA40-27E8-61F3-0C3F84B970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35CDF1DE-8D9E-2BEA-CFCF-A37792A66A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47232CD-4BE5-DEBB-CB7D-E83D87FDB692}"/>
              </a:ext>
            </a:extLst>
          </p:cNvPr>
          <p:cNvSpPr txBox="1"/>
          <p:nvPr/>
        </p:nvSpPr>
        <p:spPr>
          <a:xfrm>
            <a:off x="4447478" y="4978607"/>
            <a:ext cx="10855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Sensor product prototype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E6C2F62-90D7-4626-6BE7-BB525A774920}"/>
              </a:ext>
            </a:extLst>
          </p:cNvPr>
          <p:cNvGrpSpPr/>
          <p:nvPr/>
        </p:nvGrpSpPr>
        <p:grpSpPr>
          <a:xfrm>
            <a:off x="5666699" y="4172757"/>
            <a:ext cx="751324" cy="685447"/>
            <a:chOff x="2055686" y="3823373"/>
            <a:chExt cx="751324" cy="68544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F02D547-E618-DB04-4642-A082D91FFFE3}"/>
                </a:ext>
              </a:extLst>
            </p:cNvPr>
            <p:cNvSpPr/>
            <p:nvPr/>
          </p:nvSpPr>
          <p:spPr>
            <a:xfrm>
              <a:off x="2055686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62A23E0-A29C-2368-9D0A-87915CB79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2033" t="16740" r="16775" b="15131"/>
            <a:stretch>
              <a:fillRect/>
            </a:stretch>
          </p:blipFill>
          <p:spPr>
            <a:xfrm>
              <a:off x="2145151" y="3882042"/>
              <a:ext cx="572394" cy="568108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B8DA846-6B04-52D9-09A6-AE88528F568E}"/>
              </a:ext>
            </a:extLst>
          </p:cNvPr>
          <p:cNvGrpSpPr/>
          <p:nvPr/>
        </p:nvGrpSpPr>
        <p:grpSpPr>
          <a:xfrm>
            <a:off x="6718799" y="4172757"/>
            <a:ext cx="751324" cy="685447"/>
            <a:chOff x="3078907" y="3823373"/>
            <a:chExt cx="751324" cy="68544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18667F-6A14-54CD-6D23-013BA24E5F08}"/>
                </a:ext>
              </a:extLst>
            </p:cNvPr>
            <p:cNvSpPr/>
            <p:nvPr/>
          </p:nvSpPr>
          <p:spPr>
            <a:xfrm>
              <a:off x="3078907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1E0ECEF-4438-DFCC-B109-0630DF95B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1843" y="4005928"/>
              <a:ext cx="685452" cy="320337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51C7FF-9192-3F0D-3A30-2CC249901950}"/>
              </a:ext>
            </a:extLst>
          </p:cNvPr>
          <p:cNvGrpSpPr/>
          <p:nvPr/>
        </p:nvGrpSpPr>
        <p:grpSpPr>
          <a:xfrm>
            <a:off x="4614599" y="4172757"/>
            <a:ext cx="751324" cy="685447"/>
            <a:chOff x="1032466" y="3823373"/>
            <a:chExt cx="751324" cy="68544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FA7A2B-47CE-7C59-EE56-0EF946C894A6}"/>
                </a:ext>
              </a:extLst>
            </p:cNvPr>
            <p:cNvSpPr/>
            <p:nvPr/>
          </p:nvSpPr>
          <p:spPr>
            <a:xfrm>
              <a:off x="1032466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2DEE66E-3EC2-444B-8229-F31F70A460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35" r="6009"/>
            <a:stretch/>
          </p:blipFill>
          <p:spPr>
            <a:xfrm>
              <a:off x="1082403" y="3865155"/>
              <a:ext cx="651450" cy="601882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8ABE3CF-3EC5-81A2-6B3B-D2256A808F35}"/>
              </a:ext>
            </a:extLst>
          </p:cNvPr>
          <p:cNvSpPr txBox="1"/>
          <p:nvPr/>
        </p:nvSpPr>
        <p:spPr>
          <a:xfrm>
            <a:off x="5499578" y="4978607"/>
            <a:ext cx="1085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NYU IoT Network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AA7CDB-65DB-4BEC-A071-ADFC31D07F9A}"/>
              </a:ext>
            </a:extLst>
          </p:cNvPr>
          <p:cNvSpPr txBox="1"/>
          <p:nvPr/>
        </p:nvSpPr>
        <p:spPr>
          <a:xfrm>
            <a:off x="6551678" y="4978607"/>
            <a:ext cx="10855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Database</a:t>
            </a: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C0F34C2A-C4B9-8167-EEDE-F5DCF85F9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112872"/>
              </p:ext>
            </p:extLst>
          </p:nvPr>
        </p:nvGraphicFramePr>
        <p:xfrm>
          <a:off x="7960677" y="2340929"/>
          <a:ext cx="3343209" cy="3648032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114403">
                  <a:extLst>
                    <a:ext uri="{9D8B030D-6E8A-4147-A177-3AD203B41FA5}">
                      <a16:colId xmlns:a16="http://schemas.microsoft.com/office/drawing/2014/main" val="3601753519"/>
                    </a:ext>
                  </a:extLst>
                </a:gridCol>
                <a:gridCol w="1114403">
                  <a:extLst>
                    <a:ext uri="{9D8B030D-6E8A-4147-A177-3AD203B41FA5}">
                      <a16:colId xmlns:a16="http://schemas.microsoft.com/office/drawing/2014/main" val="2468631146"/>
                    </a:ext>
                  </a:extLst>
                </a:gridCol>
                <a:gridCol w="1114403">
                  <a:extLst>
                    <a:ext uri="{9D8B030D-6E8A-4147-A177-3AD203B41FA5}">
                      <a16:colId xmlns:a16="http://schemas.microsoft.com/office/drawing/2014/main" val="1788591611"/>
                    </a:ext>
                  </a:extLst>
                </a:gridCol>
              </a:tblGrid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effectLst/>
                          <a:latin typeface="Montserrat Light" pitchFamily="2" charset="77"/>
                        </a:rPr>
                        <a:t>Parameter</a:t>
                      </a:r>
                      <a:endParaRPr lang="en-US" sz="1100" b="0" i="0" dirty="0"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>
                          <a:effectLst/>
                          <a:latin typeface="Montserrat Light" pitchFamily="2" charset="77"/>
                        </a:rPr>
                        <a:t>Sampling Time</a:t>
                      </a:r>
                      <a:endParaRPr lang="en-US" sz="1100" b="0" i="0"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effectLst/>
                          <a:latin typeface="Montserrat Light" pitchFamily="2" charset="77"/>
                        </a:rPr>
                        <a:t>Range </a:t>
                      </a:r>
                      <a:endParaRPr lang="en-US" sz="1100" b="0" i="0" dirty="0"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extLst>
                  <a:ext uri="{0D108BD9-81ED-4DB2-BD59-A6C34878D82A}">
                    <a16:rowId xmlns:a16="http://schemas.microsoft.com/office/drawing/2014/main" val="3875017803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Temperature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60 s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-10 ~ 50 (°C)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283703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Humidity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0 ~ 90 (RH)</a:t>
                      </a:r>
                      <a:endParaRPr lang="en-US" sz="1100" b="0" i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8120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Particulate Material (PM </a:t>
                      </a:r>
                      <a:b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</a:b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1, 2.5, 4, 10)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0 ~ 1000 </a:t>
                      </a:r>
                      <a:r>
                        <a:rPr lang="en-US" sz="1100" b="0" i="0" dirty="0" err="1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μg</a:t>
                      </a: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/m³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78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VOC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0 ~ 500 VOC Index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4851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Temperature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60 s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-40 ~ 85 (°C)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4247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Humidity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0 ~ 100 (RH)</a:t>
                      </a:r>
                      <a:endParaRPr lang="en-US" sz="1100" b="0" i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96921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Decibel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60 s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30 ~ 130 (dBA)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212608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Light Intensity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60 s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b="0" i="0" dirty="0">
                          <a:solidFill>
                            <a:schemeClr val="tx1"/>
                          </a:solidFill>
                          <a:effectLst/>
                          <a:latin typeface="Montserrat Light" pitchFamily="2" charset="77"/>
                        </a:rPr>
                        <a:t>0 ~ 65535 (lux)</a:t>
                      </a:r>
                      <a:endParaRPr lang="en-US" sz="1100" b="0" i="0" dirty="0">
                        <a:solidFill>
                          <a:schemeClr val="tx1"/>
                        </a:solidFill>
                        <a:effectLst/>
                        <a:latin typeface="Montserrat Light" pitchFamily="2" charset="77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2396"/>
                  </a:ext>
                </a:extLst>
              </a:tr>
            </a:tbl>
          </a:graphicData>
        </a:graphic>
      </p:graphicFrame>
      <p:grpSp>
        <p:nvGrpSpPr>
          <p:cNvPr id="74" name="Group 73">
            <a:extLst>
              <a:ext uri="{FF2B5EF4-FFF2-40B4-BE49-F238E27FC236}">
                <a16:creationId xmlns:a16="http://schemas.microsoft.com/office/drawing/2014/main" id="{295C2A6E-E3F9-2799-4DDC-A691637567E6}"/>
              </a:ext>
            </a:extLst>
          </p:cNvPr>
          <p:cNvGrpSpPr/>
          <p:nvPr/>
        </p:nvGrpSpPr>
        <p:grpSpPr>
          <a:xfrm>
            <a:off x="991495" y="5499232"/>
            <a:ext cx="2879706" cy="442492"/>
            <a:chOff x="343772" y="165561"/>
            <a:chExt cx="5915883" cy="909028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C947D5A-704E-47B1-F200-D9F9DB86D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76" name="Picture 7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21B576C8-9057-BF2C-D664-E872B88CF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72BD529-39E5-5A3C-B7E9-4FB45AC14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EFD35089-6D8E-A0E8-BF26-6CF7B81C0852}"/>
              </a:ext>
            </a:extLst>
          </p:cNvPr>
          <p:cNvSpPr txBox="1"/>
          <p:nvPr/>
        </p:nvSpPr>
        <p:spPr>
          <a:xfrm>
            <a:off x="913516" y="2476396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Scan Me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4A60D595-E376-C623-5CB7-A87AE3699E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5838" y="3028883"/>
            <a:ext cx="2155366" cy="215536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88A1B58-AFEC-1B22-A6F6-FE303CB4C1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40008" y="4439177"/>
            <a:ext cx="152606" cy="15260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4A19CBA-41FE-7F93-675C-2BAEBD82A0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9780" y="4439177"/>
            <a:ext cx="152606" cy="152606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4A7D6D0-2AD1-A5C2-0A6B-91CA0230F8CF}"/>
              </a:ext>
            </a:extLst>
          </p:cNvPr>
          <p:cNvSpPr txBox="1"/>
          <p:nvPr/>
        </p:nvSpPr>
        <p:spPr>
          <a:xfrm>
            <a:off x="550863" y="-1838730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Our Digital Twin Maturity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060DD3-F3C8-EE90-49C1-7EB50A7503A7}"/>
              </a:ext>
            </a:extLst>
          </p:cNvPr>
          <p:cNvSpPr txBox="1"/>
          <p:nvPr/>
        </p:nvSpPr>
        <p:spPr>
          <a:xfrm>
            <a:off x="550863" y="12620138"/>
            <a:ext cx="104085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[1] Mousavi, Y.; </a:t>
            </a:r>
            <a:r>
              <a:rPr lang="en-US" sz="800" dirty="0" err="1"/>
              <a:t>Gharineiat</a:t>
            </a:r>
            <a:r>
              <a:rPr lang="en-US" sz="800" dirty="0"/>
              <a:t>, Z.; Karimi, A.A.; McDougall, K.; Rossi, A.; </a:t>
            </a:r>
            <a:r>
              <a:rPr lang="en-US" sz="800" dirty="0" err="1"/>
              <a:t>Gonizzi</a:t>
            </a:r>
            <a:r>
              <a:rPr lang="en-US" sz="800" dirty="0"/>
              <a:t> Barsanti, S. Digital Twin Technology in Built Environment: A Review of Applications, Capabilities and Challenges. Smart Cities 2024, 7, 2594-2615. https://doi.org/10.3390/smartcities7050101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16F831-E293-D6D9-0176-23A85F89D2B2}"/>
              </a:ext>
            </a:extLst>
          </p:cNvPr>
          <p:cNvSpPr/>
          <p:nvPr/>
        </p:nvSpPr>
        <p:spPr>
          <a:xfrm>
            <a:off x="706588" y="8586915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14ED161-F365-BC85-B9E4-C7F56E2D0CBE}"/>
              </a:ext>
            </a:extLst>
          </p:cNvPr>
          <p:cNvSpPr/>
          <p:nvPr/>
        </p:nvSpPr>
        <p:spPr>
          <a:xfrm>
            <a:off x="4371240" y="10537527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13FD6F-2722-05FE-25BA-777F26D6AE2D}"/>
              </a:ext>
            </a:extLst>
          </p:cNvPr>
          <p:cNvSpPr txBox="1"/>
          <p:nvPr/>
        </p:nvSpPr>
        <p:spPr>
          <a:xfrm>
            <a:off x="4609617" y="10675791"/>
            <a:ext cx="5400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Digital Twin Maturity Level [1]: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1BC9C78-07E0-1A3B-B111-6B0A2F65E307}"/>
              </a:ext>
            </a:extLst>
          </p:cNvPr>
          <p:cNvGrpSpPr/>
          <p:nvPr/>
        </p:nvGrpSpPr>
        <p:grpSpPr>
          <a:xfrm>
            <a:off x="991495" y="11871814"/>
            <a:ext cx="2879706" cy="442492"/>
            <a:chOff x="343772" y="165561"/>
            <a:chExt cx="5915883" cy="909028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DAD48D8-B64F-1EC9-6F5A-F8FBB13C5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86" name="Picture 8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E0CBC1A1-5821-BBE1-39FE-39D1BF242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E41DE54-623D-A219-EEFA-430A077C1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0D166049-507F-6273-8005-420085E1AD03}"/>
              </a:ext>
            </a:extLst>
          </p:cNvPr>
          <p:cNvSpPr txBox="1"/>
          <p:nvPr/>
        </p:nvSpPr>
        <p:spPr>
          <a:xfrm>
            <a:off x="913516" y="8810878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Scan Me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89CC8CB-A049-13B7-6D7F-F89774AFD1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5838" y="9401465"/>
            <a:ext cx="2155366" cy="2155366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8D419CA0-CE57-2CEB-28A1-08EAD321F567}"/>
              </a:ext>
            </a:extLst>
          </p:cNvPr>
          <p:cNvSpPr/>
          <p:nvPr/>
        </p:nvSpPr>
        <p:spPr>
          <a:xfrm>
            <a:off x="4609617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42F0231-9D31-5643-B03F-79C7E0C942C1}"/>
              </a:ext>
            </a:extLst>
          </p:cNvPr>
          <p:cNvSpPr/>
          <p:nvPr/>
        </p:nvSpPr>
        <p:spPr>
          <a:xfrm>
            <a:off x="6291763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6FA7C33-724B-7992-B7D7-08A1D66555CC}"/>
              </a:ext>
            </a:extLst>
          </p:cNvPr>
          <p:cNvSpPr/>
          <p:nvPr/>
        </p:nvSpPr>
        <p:spPr>
          <a:xfrm>
            <a:off x="7973909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362909B-3B66-0682-9860-5E228CE33801}"/>
              </a:ext>
            </a:extLst>
          </p:cNvPr>
          <p:cNvSpPr/>
          <p:nvPr/>
        </p:nvSpPr>
        <p:spPr>
          <a:xfrm>
            <a:off x="9656056" y="12733108"/>
            <a:ext cx="1544449" cy="15453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74F12F8-7FCB-AE83-EE02-3AA01932DB92}"/>
              </a:ext>
            </a:extLst>
          </p:cNvPr>
          <p:cNvGrpSpPr/>
          <p:nvPr/>
        </p:nvGrpSpPr>
        <p:grpSpPr>
          <a:xfrm>
            <a:off x="4609617" y="11274112"/>
            <a:ext cx="6590888" cy="1253723"/>
            <a:chOff x="4609617" y="3099934"/>
            <a:chExt cx="6590888" cy="125372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2DC65B72-B7CA-9D02-C79A-76DD29D5FF20}"/>
                </a:ext>
              </a:extLst>
            </p:cNvPr>
            <p:cNvGrpSpPr/>
            <p:nvPr/>
          </p:nvGrpSpPr>
          <p:grpSpPr>
            <a:xfrm>
              <a:off x="4609617" y="3099934"/>
              <a:ext cx="6590888" cy="1253723"/>
              <a:chOff x="1063625" y="2471738"/>
              <a:chExt cx="10064751" cy="191452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01" name="Freeform 5">
                <a:extLst>
                  <a:ext uri="{FF2B5EF4-FFF2-40B4-BE49-F238E27FC236}">
                    <a16:creationId xmlns:a16="http://schemas.microsoft.com/office/drawing/2014/main" id="{C2092C94-DA25-A388-A63D-35654B15B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4388" y="2471738"/>
                <a:ext cx="3963988" cy="1914525"/>
              </a:xfrm>
              <a:custGeom>
                <a:avLst/>
                <a:gdLst>
                  <a:gd name="T0" fmla="*/ 858 w 2497"/>
                  <a:gd name="T1" fmla="*/ 1052 h 1206"/>
                  <a:gd name="T2" fmla="*/ 810 w 2497"/>
                  <a:gd name="T3" fmla="*/ 1070 h 1206"/>
                  <a:gd name="T4" fmla="*/ 330 w 2497"/>
                  <a:gd name="T5" fmla="*/ 1068 h 1206"/>
                  <a:gd name="T6" fmla="*/ 290 w 2497"/>
                  <a:gd name="T7" fmla="*/ 1038 h 1206"/>
                  <a:gd name="T8" fmla="*/ 120 w 2497"/>
                  <a:gd name="T9" fmla="*/ 745 h 1206"/>
                  <a:gd name="T10" fmla="*/ 100 w 2497"/>
                  <a:gd name="T11" fmla="*/ 727 h 1206"/>
                  <a:gd name="T12" fmla="*/ 50 w 2497"/>
                  <a:gd name="T13" fmla="*/ 721 h 1206"/>
                  <a:gd name="T14" fmla="*/ 20 w 2497"/>
                  <a:gd name="T15" fmla="*/ 739 h 1206"/>
                  <a:gd name="T16" fmla="*/ 10 w 2497"/>
                  <a:gd name="T17" fmla="*/ 753 h 1206"/>
                  <a:gd name="T18" fmla="*/ 0 w 2497"/>
                  <a:gd name="T19" fmla="*/ 787 h 1206"/>
                  <a:gd name="T20" fmla="*/ 212 w 2497"/>
                  <a:gd name="T21" fmla="*/ 1172 h 1206"/>
                  <a:gd name="T22" fmla="*/ 236 w 2497"/>
                  <a:gd name="T23" fmla="*/ 1196 h 1206"/>
                  <a:gd name="T24" fmla="*/ 888 w 2497"/>
                  <a:gd name="T25" fmla="*/ 1206 h 1206"/>
                  <a:gd name="T26" fmla="*/ 919 w 2497"/>
                  <a:gd name="T27" fmla="*/ 1196 h 1206"/>
                  <a:gd name="T28" fmla="*/ 945 w 2497"/>
                  <a:gd name="T29" fmla="*/ 1172 h 1206"/>
                  <a:gd name="T30" fmla="*/ 1533 w 2497"/>
                  <a:gd name="T31" fmla="*/ 154 h 1206"/>
                  <a:gd name="T32" fmla="*/ 1581 w 2497"/>
                  <a:gd name="T33" fmla="*/ 134 h 1206"/>
                  <a:gd name="T34" fmla="*/ 2061 w 2497"/>
                  <a:gd name="T35" fmla="*/ 136 h 1206"/>
                  <a:gd name="T36" fmla="*/ 2101 w 2497"/>
                  <a:gd name="T37" fmla="*/ 168 h 1206"/>
                  <a:gd name="T38" fmla="*/ 2339 w 2497"/>
                  <a:gd name="T39" fmla="*/ 585 h 1206"/>
                  <a:gd name="T40" fmla="*/ 2333 w 2497"/>
                  <a:gd name="T41" fmla="*/ 635 h 1206"/>
                  <a:gd name="T42" fmla="*/ 2091 w 2497"/>
                  <a:gd name="T43" fmla="*/ 1052 h 1206"/>
                  <a:gd name="T44" fmla="*/ 2043 w 2497"/>
                  <a:gd name="T45" fmla="*/ 1070 h 1206"/>
                  <a:gd name="T46" fmla="*/ 1563 w 2497"/>
                  <a:gd name="T47" fmla="*/ 1068 h 1206"/>
                  <a:gd name="T48" fmla="*/ 1523 w 2497"/>
                  <a:gd name="T49" fmla="*/ 1038 h 1206"/>
                  <a:gd name="T50" fmla="*/ 1355 w 2497"/>
                  <a:gd name="T51" fmla="*/ 747 h 1206"/>
                  <a:gd name="T52" fmla="*/ 1335 w 2497"/>
                  <a:gd name="T53" fmla="*/ 729 h 1206"/>
                  <a:gd name="T54" fmla="*/ 1285 w 2497"/>
                  <a:gd name="T55" fmla="*/ 723 h 1206"/>
                  <a:gd name="T56" fmla="*/ 1255 w 2497"/>
                  <a:gd name="T57" fmla="*/ 739 h 1206"/>
                  <a:gd name="T58" fmla="*/ 1243 w 2497"/>
                  <a:gd name="T59" fmla="*/ 755 h 1206"/>
                  <a:gd name="T60" fmla="*/ 1235 w 2497"/>
                  <a:gd name="T61" fmla="*/ 787 h 1206"/>
                  <a:gd name="T62" fmla="*/ 1445 w 2497"/>
                  <a:gd name="T63" fmla="*/ 1172 h 1206"/>
                  <a:gd name="T64" fmla="*/ 1471 w 2497"/>
                  <a:gd name="T65" fmla="*/ 1196 h 1206"/>
                  <a:gd name="T66" fmla="*/ 2121 w 2497"/>
                  <a:gd name="T67" fmla="*/ 1206 h 1206"/>
                  <a:gd name="T68" fmla="*/ 2155 w 2497"/>
                  <a:gd name="T69" fmla="*/ 1196 h 1206"/>
                  <a:gd name="T70" fmla="*/ 2489 w 2497"/>
                  <a:gd name="T71" fmla="*/ 635 h 1206"/>
                  <a:gd name="T72" fmla="*/ 2497 w 2497"/>
                  <a:gd name="T73" fmla="*/ 603 h 1206"/>
                  <a:gd name="T74" fmla="*/ 2179 w 2497"/>
                  <a:gd name="T75" fmla="*/ 32 h 1206"/>
                  <a:gd name="T76" fmla="*/ 2155 w 2497"/>
                  <a:gd name="T77" fmla="*/ 8 h 1206"/>
                  <a:gd name="T78" fmla="*/ 1503 w 2497"/>
                  <a:gd name="T79" fmla="*/ 0 h 1206"/>
                  <a:gd name="T80" fmla="*/ 1471 w 2497"/>
                  <a:gd name="T81" fmla="*/ 8 h 1206"/>
                  <a:gd name="T82" fmla="*/ 1445 w 2497"/>
                  <a:gd name="T83" fmla="*/ 3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7" h="1206">
                    <a:moveTo>
                      <a:pt x="868" y="1038"/>
                    </a:moveTo>
                    <a:lnTo>
                      <a:pt x="868" y="1038"/>
                    </a:lnTo>
                    <a:lnTo>
                      <a:pt x="858" y="1052"/>
                    </a:lnTo>
                    <a:lnTo>
                      <a:pt x="844" y="1062"/>
                    </a:lnTo>
                    <a:lnTo>
                      <a:pt x="828" y="1068"/>
                    </a:lnTo>
                    <a:lnTo>
                      <a:pt x="810" y="1070"/>
                    </a:lnTo>
                    <a:lnTo>
                      <a:pt x="348" y="1070"/>
                    </a:lnTo>
                    <a:lnTo>
                      <a:pt x="348" y="1070"/>
                    </a:lnTo>
                    <a:lnTo>
                      <a:pt x="330" y="1068"/>
                    </a:lnTo>
                    <a:lnTo>
                      <a:pt x="314" y="1062"/>
                    </a:lnTo>
                    <a:lnTo>
                      <a:pt x="300" y="1052"/>
                    </a:lnTo>
                    <a:lnTo>
                      <a:pt x="290" y="1038"/>
                    </a:lnTo>
                    <a:lnTo>
                      <a:pt x="126" y="753"/>
                    </a:lnTo>
                    <a:lnTo>
                      <a:pt x="126" y="753"/>
                    </a:lnTo>
                    <a:lnTo>
                      <a:pt x="120" y="745"/>
                    </a:lnTo>
                    <a:lnTo>
                      <a:pt x="114" y="739"/>
                    </a:lnTo>
                    <a:lnTo>
                      <a:pt x="108" y="733"/>
                    </a:lnTo>
                    <a:lnTo>
                      <a:pt x="100" y="727"/>
                    </a:lnTo>
                    <a:lnTo>
                      <a:pt x="84" y="721"/>
                    </a:lnTo>
                    <a:lnTo>
                      <a:pt x="68" y="719"/>
                    </a:lnTo>
                    <a:lnTo>
                      <a:pt x="50" y="721"/>
                    </a:lnTo>
                    <a:lnTo>
                      <a:pt x="34" y="729"/>
                    </a:lnTo>
                    <a:lnTo>
                      <a:pt x="28" y="733"/>
                    </a:lnTo>
                    <a:lnTo>
                      <a:pt x="20" y="739"/>
                    </a:lnTo>
                    <a:lnTo>
                      <a:pt x="14" y="745"/>
                    </a:lnTo>
                    <a:lnTo>
                      <a:pt x="10" y="753"/>
                    </a:lnTo>
                    <a:lnTo>
                      <a:pt x="10" y="753"/>
                    </a:lnTo>
                    <a:lnTo>
                      <a:pt x="10" y="753"/>
                    </a:lnTo>
                    <a:lnTo>
                      <a:pt x="2" y="769"/>
                    </a:lnTo>
                    <a:lnTo>
                      <a:pt x="0" y="787"/>
                    </a:lnTo>
                    <a:lnTo>
                      <a:pt x="2" y="805"/>
                    </a:lnTo>
                    <a:lnTo>
                      <a:pt x="10" y="821"/>
                    </a:lnTo>
                    <a:lnTo>
                      <a:pt x="212" y="1172"/>
                    </a:lnTo>
                    <a:lnTo>
                      <a:pt x="212" y="1172"/>
                    </a:lnTo>
                    <a:lnTo>
                      <a:pt x="222" y="1186"/>
                    </a:lnTo>
                    <a:lnTo>
                      <a:pt x="236" y="1196"/>
                    </a:lnTo>
                    <a:lnTo>
                      <a:pt x="252" y="1202"/>
                    </a:lnTo>
                    <a:lnTo>
                      <a:pt x="270" y="1206"/>
                    </a:lnTo>
                    <a:lnTo>
                      <a:pt x="888" y="1206"/>
                    </a:lnTo>
                    <a:lnTo>
                      <a:pt x="888" y="1206"/>
                    </a:lnTo>
                    <a:lnTo>
                      <a:pt x="904" y="1202"/>
                    </a:lnTo>
                    <a:lnTo>
                      <a:pt x="919" y="1196"/>
                    </a:lnTo>
                    <a:lnTo>
                      <a:pt x="933" y="1186"/>
                    </a:lnTo>
                    <a:lnTo>
                      <a:pt x="945" y="1172"/>
                    </a:lnTo>
                    <a:lnTo>
                      <a:pt x="945" y="1172"/>
                    </a:lnTo>
                    <a:lnTo>
                      <a:pt x="1523" y="168"/>
                    </a:lnTo>
                    <a:lnTo>
                      <a:pt x="1523" y="168"/>
                    </a:lnTo>
                    <a:lnTo>
                      <a:pt x="1533" y="154"/>
                    </a:lnTo>
                    <a:lnTo>
                      <a:pt x="1547" y="142"/>
                    </a:lnTo>
                    <a:lnTo>
                      <a:pt x="1563" y="136"/>
                    </a:lnTo>
                    <a:lnTo>
                      <a:pt x="1581" y="134"/>
                    </a:lnTo>
                    <a:lnTo>
                      <a:pt x="2043" y="134"/>
                    </a:lnTo>
                    <a:lnTo>
                      <a:pt x="2043" y="134"/>
                    </a:lnTo>
                    <a:lnTo>
                      <a:pt x="2061" y="136"/>
                    </a:lnTo>
                    <a:lnTo>
                      <a:pt x="2077" y="142"/>
                    </a:lnTo>
                    <a:lnTo>
                      <a:pt x="2091" y="154"/>
                    </a:lnTo>
                    <a:lnTo>
                      <a:pt x="2101" y="168"/>
                    </a:lnTo>
                    <a:lnTo>
                      <a:pt x="2333" y="569"/>
                    </a:lnTo>
                    <a:lnTo>
                      <a:pt x="2333" y="569"/>
                    </a:lnTo>
                    <a:lnTo>
                      <a:pt x="2339" y="585"/>
                    </a:lnTo>
                    <a:lnTo>
                      <a:pt x="2341" y="603"/>
                    </a:lnTo>
                    <a:lnTo>
                      <a:pt x="2339" y="619"/>
                    </a:lnTo>
                    <a:lnTo>
                      <a:pt x="2333" y="635"/>
                    </a:lnTo>
                    <a:lnTo>
                      <a:pt x="2101" y="1038"/>
                    </a:lnTo>
                    <a:lnTo>
                      <a:pt x="2101" y="1038"/>
                    </a:lnTo>
                    <a:lnTo>
                      <a:pt x="2091" y="1052"/>
                    </a:lnTo>
                    <a:lnTo>
                      <a:pt x="2077" y="1062"/>
                    </a:lnTo>
                    <a:lnTo>
                      <a:pt x="2061" y="1068"/>
                    </a:lnTo>
                    <a:lnTo>
                      <a:pt x="2043" y="1070"/>
                    </a:lnTo>
                    <a:lnTo>
                      <a:pt x="1581" y="1070"/>
                    </a:lnTo>
                    <a:lnTo>
                      <a:pt x="1581" y="1070"/>
                    </a:lnTo>
                    <a:lnTo>
                      <a:pt x="1563" y="1068"/>
                    </a:lnTo>
                    <a:lnTo>
                      <a:pt x="1547" y="1062"/>
                    </a:lnTo>
                    <a:lnTo>
                      <a:pt x="1533" y="1052"/>
                    </a:lnTo>
                    <a:lnTo>
                      <a:pt x="1523" y="1038"/>
                    </a:lnTo>
                    <a:lnTo>
                      <a:pt x="1361" y="755"/>
                    </a:lnTo>
                    <a:lnTo>
                      <a:pt x="1361" y="755"/>
                    </a:lnTo>
                    <a:lnTo>
                      <a:pt x="1355" y="747"/>
                    </a:lnTo>
                    <a:lnTo>
                      <a:pt x="1349" y="739"/>
                    </a:lnTo>
                    <a:lnTo>
                      <a:pt x="1343" y="733"/>
                    </a:lnTo>
                    <a:lnTo>
                      <a:pt x="1335" y="729"/>
                    </a:lnTo>
                    <a:lnTo>
                      <a:pt x="1319" y="723"/>
                    </a:lnTo>
                    <a:lnTo>
                      <a:pt x="1301" y="721"/>
                    </a:lnTo>
                    <a:lnTo>
                      <a:pt x="1285" y="723"/>
                    </a:lnTo>
                    <a:lnTo>
                      <a:pt x="1269" y="729"/>
                    </a:lnTo>
                    <a:lnTo>
                      <a:pt x="1261" y="733"/>
                    </a:lnTo>
                    <a:lnTo>
                      <a:pt x="1255" y="739"/>
                    </a:lnTo>
                    <a:lnTo>
                      <a:pt x="1249" y="747"/>
                    </a:lnTo>
                    <a:lnTo>
                      <a:pt x="1243" y="755"/>
                    </a:lnTo>
                    <a:lnTo>
                      <a:pt x="1243" y="755"/>
                    </a:lnTo>
                    <a:lnTo>
                      <a:pt x="1243" y="755"/>
                    </a:lnTo>
                    <a:lnTo>
                      <a:pt x="1237" y="771"/>
                    </a:lnTo>
                    <a:lnTo>
                      <a:pt x="1235" y="787"/>
                    </a:lnTo>
                    <a:lnTo>
                      <a:pt x="1237" y="805"/>
                    </a:lnTo>
                    <a:lnTo>
                      <a:pt x="1243" y="821"/>
                    </a:lnTo>
                    <a:lnTo>
                      <a:pt x="1445" y="1172"/>
                    </a:lnTo>
                    <a:lnTo>
                      <a:pt x="1445" y="1172"/>
                    </a:lnTo>
                    <a:lnTo>
                      <a:pt x="1457" y="1186"/>
                    </a:lnTo>
                    <a:lnTo>
                      <a:pt x="1471" y="1196"/>
                    </a:lnTo>
                    <a:lnTo>
                      <a:pt x="1487" y="1202"/>
                    </a:lnTo>
                    <a:lnTo>
                      <a:pt x="1503" y="1206"/>
                    </a:lnTo>
                    <a:lnTo>
                      <a:pt x="2121" y="1206"/>
                    </a:lnTo>
                    <a:lnTo>
                      <a:pt x="2121" y="1206"/>
                    </a:lnTo>
                    <a:lnTo>
                      <a:pt x="2139" y="1202"/>
                    </a:lnTo>
                    <a:lnTo>
                      <a:pt x="2155" y="1196"/>
                    </a:lnTo>
                    <a:lnTo>
                      <a:pt x="2169" y="1186"/>
                    </a:lnTo>
                    <a:lnTo>
                      <a:pt x="2179" y="1172"/>
                    </a:lnTo>
                    <a:lnTo>
                      <a:pt x="2489" y="635"/>
                    </a:lnTo>
                    <a:lnTo>
                      <a:pt x="2489" y="635"/>
                    </a:lnTo>
                    <a:lnTo>
                      <a:pt x="2495" y="619"/>
                    </a:lnTo>
                    <a:lnTo>
                      <a:pt x="2497" y="603"/>
                    </a:lnTo>
                    <a:lnTo>
                      <a:pt x="2495" y="585"/>
                    </a:lnTo>
                    <a:lnTo>
                      <a:pt x="2489" y="569"/>
                    </a:lnTo>
                    <a:lnTo>
                      <a:pt x="2179" y="32"/>
                    </a:lnTo>
                    <a:lnTo>
                      <a:pt x="2179" y="32"/>
                    </a:lnTo>
                    <a:lnTo>
                      <a:pt x="2169" y="18"/>
                    </a:lnTo>
                    <a:lnTo>
                      <a:pt x="2155" y="8"/>
                    </a:lnTo>
                    <a:lnTo>
                      <a:pt x="2139" y="2"/>
                    </a:lnTo>
                    <a:lnTo>
                      <a:pt x="2121" y="0"/>
                    </a:lnTo>
                    <a:lnTo>
                      <a:pt x="1503" y="0"/>
                    </a:lnTo>
                    <a:lnTo>
                      <a:pt x="1503" y="0"/>
                    </a:lnTo>
                    <a:lnTo>
                      <a:pt x="1487" y="2"/>
                    </a:lnTo>
                    <a:lnTo>
                      <a:pt x="1471" y="8"/>
                    </a:lnTo>
                    <a:lnTo>
                      <a:pt x="1457" y="18"/>
                    </a:lnTo>
                    <a:lnTo>
                      <a:pt x="1445" y="32"/>
                    </a:lnTo>
                    <a:lnTo>
                      <a:pt x="1445" y="32"/>
                    </a:lnTo>
                    <a:lnTo>
                      <a:pt x="868" y="1038"/>
                    </a:lnTo>
                    <a:lnTo>
                      <a:pt x="868" y="103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Freeform 6">
                <a:extLst>
                  <a:ext uri="{FF2B5EF4-FFF2-40B4-BE49-F238E27FC236}">
                    <a16:creationId xmlns:a16="http://schemas.microsoft.com/office/drawing/2014/main" id="{832A6FA5-33AB-A4C6-22FF-2914AB54D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0488" y="2471738"/>
                <a:ext cx="3795713" cy="1914525"/>
              </a:xfrm>
              <a:custGeom>
                <a:avLst/>
                <a:gdLst>
                  <a:gd name="T0" fmla="*/ 944 w 2391"/>
                  <a:gd name="T1" fmla="*/ 1172 h 1206"/>
                  <a:gd name="T2" fmla="*/ 920 w 2391"/>
                  <a:gd name="T3" fmla="*/ 1196 h 1206"/>
                  <a:gd name="T4" fmla="*/ 886 w 2391"/>
                  <a:gd name="T5" fmla="*/ 1206 h 1206"/>
                  <a:gd name="T6" fmla="*/ 270 w 2391"/>
                  <a:gd name="T7" fmla="*/ 1206 h 1206"/>
                  <a:gd name="T8" fmla="*/ 236 w 2391"/>
                  <a:gd name="T9" fmla="*/ 1196 h 1206"/>
                  <a:gd name="T10" fmla="*/ 210 w 2391"/>
                  <a:gd name="T11" fmla="*/ 1172 h 1206"/>
                  <a:gd name="T12" fmla="*/ 8 w 2391"/>
                  <a:gd name="T13" fmla="*/ 821 h 1206"/>
                  <a:gd name="T14" fmla="*/ 0 w 2391"/>
                  <a:gd name="T15" fmla="*/ 787 h 1206"/>
                  <a:gd name="T16" fmla="*/ 8 w 2391"/>
                  <a:gd name="T17" fmla="*/ 753 h 1206"/>
                  <a:gd name="T18" fmla="*/ 8 w 2391"/>
                  <a:gd name="T19" fmla="*/ 753 h 1206"/>
                  <a:gd name="T20" fmla="*/ 20 w 2391"/>
                  <a:gd name="T21" fmla="*/ 739 h 1206"/>
                  <a:gd name="T22" fmla="*/ 34 w 2391"/>
                  <a:gd name="T23" fmla="*/ 729 h 1206"/>
                  <a:gd name="T24" fmla="*/ 68 w 2391"/>
                  <a:gd name="T25" fmla="*/ 719 h 1206"/>
                  <a:gd name="T26" fmla="*/ 100 w 2391"/>
                  <a:gd name="T27" fmla="*/ 729 h 1206"/>
                  <a:gd name="T28" fmla="*/ 114 w 2391"/>
                  <a:gd name="T29" fmla="*/ 739 h 1206"/>
                  <a:gd name="T30" fmla="*/ 126 w 2391"/>
                  <a:gd name="T31" fmla="*/ 753 h 1206"/>
                  <a:gd name="T32" fmla="*/ 288 w 2391"/>
                  <a:gd name="T33" fmla="*/ 1038 h 1206"/>
                  <a:gd name="T34" fmla="*/ 314 w 2391"/>
                  <a:gd name="T35" fmla="*/ 1062 h 1206"/>
                  <a:gd name="T36" fmla="*/ 346 w 2391"/>
                  <a:gd name="T37" fmla="*/ 1070 h 1206"/>
                  <a:gd name="T38" fmla="*/ 810 w 2391"/>
                  <a:gd name="T39" fmla="*/ 1070 h 1206"/>
                  <a:gd name="T40" fmla="*/ 842 w 2391"/>
                  <a:gd name="T41" fmla="*/ 1062 h 1206"/>
                  <a:gd name="T42" fmla="*/ 868 w 2391"/>
                  <a:gd name="T43" fmla="*/ 1038 h 1206"/>
                  <a:gd name="T44" fmla="*/ 1446 w 2391"/>
                  <a:gd name="T45" fmla="*/ 32 h 1206"/>
                  <a:gd name="T46" fmla="*/ 1456 w 2391"/>
                  <a:gd name="T47" fmla="*/ 18 h 1206"/>
                  <a:gd name="T48" fmla="*/ 1486 w 2391"/>
                  <a:gd name="T49" fmla="*/ 2 h 1206"/>
                  <a:gd name="T50" fmla="*/ 2122 w 2391"/>
                  <a:gd name="T51" fmla="*/ 0 h 1206"/>
                  <a:gd name="T52" fmla="*/ 2138 w 2391"/>
                  <a:gd name="T53" fmla="*/ 2 h 1206"/>
                  <a:gd name="T54" fmla="*/ 2168 w 2391"/>
                  <a:gd name="T55" fmla="*/ 18 h 1206"/>
                  <a:gd name="T56" fmla="*/ 2383 w 2391"/>
                  <a:gd name="T57" fmla="*/ 387 h 1206"/>
                  <a:gd name="T58" fmla="*/ 2387 w 2391"/>
                  <a:gd name="T59" fmla="*/ 399 h 1206"/>
                  <a:gd name="T60" fmla="*/ 2391 w 2391"/>
                  <a:gd name="T61" fmla="*/ 425 h 1206"/>
                  <a:gd name="T62" fmla="*/ 2383 w 2391"/>
                  <a:gd name="T63" fmla="*/ 451 h 1206"/>
                  <a:gd name="T64" fmla="*/ 2367 w 2391"/>
                  <a:gd name="T65" fmla="*/ 471 h 1206"/>
                  <a:gd name="T66" fmla="*/ 2357 w 2391"/>
                  <a:gd name="T67" fmla="*/ 479 h 1206"/>
                  <a:gd name="T68" fmla="*/ 2345 w 2391"/>
                  <a:gd name="T69" fmla="*/ 485 h 1206"/>
                  <a:gd name="T70" fmla="*/ 2319 w 2391"/>
                  <a:gd name="T71" fmla="*/ 487 h 1206"/>
                  <a:gd name="T72" fmla="*/ 2293 w 2391"/>
                  <a:gd name="T73" fmla="*/ 481 h 1206"/>
                  <a:gd name="T74" fmla="*/ 2273 w 2391"/>
                  <a:gd name="T75" fmla="*/ 465 h 1206"/>
                  <a:gd name="T76" fmla="*/ 2102 w 2391"/>
                  <a:gd name="T77" fmla="*/ 168 h 1206"/>
                  <a:gd name="T78" fmla="*/ 2092 w 2391"/>
                  <a:gd name="T79" fmla="*/ 154 h 1206"/>
                  <a:gd name="T80" fmla="*/ 2062 w 2391"/>
                  <a:gd name="T81" fmla="*/ 136 h 1206"/>
                  <a:gd name="T82" fmla="*/ 1582 w 2391"/>
                  <a:gd name="T83" fmla="*/ 134 h 1206"/>
                  <a:gd name="T84" fmla="*/ 1564 w 2391"/>
                  <a:gd name="T85" fmla="*/ 136 h 1206"/>
                  <a:gd name="T86" fmla="*/ 1534 w 2391"/>
                  <a:gd name="T87" fmla="*/ 154 h 1206"/>
                  <a:gd name="T88" fmla="*/ 1524 w 2391"/>
                  <a:gd name="T89" fmla="*/ 168 h 1206"/>
                  <a:gd name="T90" fmla="*/ 944 w 2391"/>
                  <a:gd name="T91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91" h="1206">
                    <a:moveTo>
                      <a:pt x="944" y="1172"/>
                    </a:moveTo>
                    <a:lnTo>
                      <a:pt x="944" y="1172"/>
                    </a:lnTo>
                    <a:lnTo>
                      <a:pt x="934" y="1186"/>
                    </a:lnTo>
                    <a:lnTo>
                      <a:pt x="920" y="1196"/>
                    </a:lnTo>
                    <a:lnTo>
                      <a:pt x="904" y="1202"/>
                    </a:lnTo>
                    <a:lnTo>
                      <a:pt x="886" y="1206"/>
                    </a:lnTo>
                    <a:lnTo>
                      <a:pt x="270" y="1206"/>
                    </a:lnTo>
                    <a:lnTo>
                      <a:pt x="270" y="1206"/>
                    </a:lnTo>
                    <a:lnTo>
                      <a:pt x="252" y="1202"/>
                    </a:lnTo>
                    <a:lnTo>
                      <a:pt x="236" y="1196"/>
                    </a:lnTo>
                    <a:lnTo>
                      <a:pt x="222" y="1186"/>
                    </a:lnTo>
                    <a:lnTo>
                      <a:pt x="210" y="1172"/>
                    </a:lnTo>
                    <a:lnTo>
                      <a:pt x="8" y="821"/>
                    </a:lnTo>
                    <a:lnTo>
                      <a:pt x="8" y="821"/>
                    </a:lnTo>
                    <a:lnTo>
                      <a:pt x="2" y="805"/>
                    </a:lnTo>
                    <a:lnTo>
                      <a:pt x="0" y="787"/>
                    </a:lnTo>
                    <a:lnTo>
                      <a:pt x="2" y="769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14" y="745"/>
                    </a:lnTo>
                    <a:lnTo>
                      <a:pt x="20" y="739"/>
                    </a:lnTo>
                    <a:lnTo>
                      <a:pt x="28" y="733"/>
                    </a:lnTo>
                    <a:lnTo>
                      <a:pt x="34" y="729"/>
                    </a:lnTo>
                    <a:lnTo>
                      <a:pt x="50" y="721"/>
                    </a:lnTo>
                    <a:lnTo>
                      <a:pt x="68" y="719"/>
                    </a:lnTo>
                    <a:lnTo>
                      <a:pt x="84" y="721"/>
                    </a:lnTo>
                    <a:lnTo>
                      <a:pt x="100" y="729"/>
                    </a:lnTo>
                    <a:lnTo>
                      <a:pt x="108" y="733"/>
                    </a:lnTo>
                    <a:lnTo>
                      <a:pt x="114" y="739"/>
                    </a:lnTo>
                    <a:lnTo>
                      <a:pt x="120" y="745"/>
                    </a:lnTo>
                    <a:lnTo>
                      <a:pt x="126" y="753"/>
                    </a:lnTo>
                    <a:lnTo>
                      <a:pt x="288" y="1038"/>
                    </a:lnTo>
                    <a:lnTo>
                      <a:pt x="288" y="1038"/>
                    </a:lnTo>
                    <a:lnTo>
                      <a:pt x="300" y="1052"/>
                    </a:lnTo>
                    <a:lnTo>
                      <a:pt x="314" y="1062"/>
                    </a:lnTo>
                    <a:lnTo>
                      <a:pt x="330" y="1068"/>
                    </a:lnTo>
                    <a:lnTo>
                      <a:pt x="346" y="1070"/>
                    </a:lnTo>
                    <a:lnTo>
                      <a:pt x="810" y="1070"/>
                    </a:lnTo>
                    <a:lnTo>
                      <a:pt x="810" y="1070"/>
                    </a:lnTo>
                    <a:lnTo>
                      <a:pt x="826" y="1068"/>
                    </a:lnTo>
                    <a:lnTo>
                      <a:pt x="842" y="1062"/>
                    </a:lnTo>
                    <a:lnTo>
                      <a:pt x="856" y="1052"/>
                    </a:lnTo>
                    <a:lnTo>
                      <a:pt x="868" y="1038"/>
                    </a:lnTo>
                    <a:lnTo>
                      <a:pt x="868" y="1038"/>
                    </a:lnTo>
                    <a:lnTo>
                      <a:pt x="1446" y="32"/>
                    </a:lnTo>
                    <a:lnTo>
                      <a:pt x="1446" y="32"/>
                    </a:lnTo>
                    <a:lnTo>
                      <a:pt x="1456" y="18"/>
                    </a:lnTo>
                    <a:lnTo>
                      <a:pt x="1470" y="8"/>
                    </a:lnTo>
                    <a:lnTo>
                      <a:pt x="1486" y="2"/>
                    </a:lnTo>
                    <a:lnTo>
                      <a:pt x="1504" y="0"/>
                    </a:lnTo>
                    <a:lnTo>
                      <a:pt x="2122" y="0"/>
                    </a:lnTo>
                    <a:lnTo>
                      <a:pt x="2122" y="0"/>
                    </a:lnTo>
                    <a:lnTo>
                      <a:pt x="2138" y="2"/>
                    </a:lnTo>
                    <a:lnTo>
                      <a:pt x="2154" y="8"/>
                    </a:lnTo>
                    <a:lnTo>
                      <a:pt x="2168" y="18"/>
                    </a:lnTo>
                    <a:lnTo>
                      <a:pt x="2179" y="32"/>
                    </a:lnTo>
                    <a:lnTo>
                      <a:pt x="2383" y="387"/>
                    </a:lnTo>
                    <a:lnTo>
                      <a:pt x="2383" y="387"/>
                    </a:lnTo>
                    <a:lnTo>
                      <a:pt x="2387" y="399"/>
                    </a:lnTo>
                    <a:lnTo>
                      <a:pt x="2391" y="413"/>
                    </a:lnTo>
                    <a:lnTo>
                      <a:pt x="2391" y="425"/>
                    </a:lnTo>
                    <a:lnTo>
                      <a:pt x="2389" y="439"/>
                    </a:lnTo>
                    <a:lnTo>
                      <a:pt x="2383" y="451"/>
                    </a:lnTo>
                    <a:lnTo>
                      <a:pt x="2377" y="461"/>
                    </a:lnTo>
                    <a:lnTo>
                      <a:pt x="2367" y="471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45" y="485"/>
                    </a:lnTo>
                    <a:lnTo>
                      <a:pt x="2331" y="487"/>
                    </a:lnTo>
                    <a:lnTo>
                      <a:pt x="2319" y="487"/>
                    </a:lnTo>
                    <a:lnTo>
                      <a:pt x="2305" y="485"/>
                    </a:lnTo>
                    <a:lnTo>
                      <a:pt x="2293" y="481"/>
                    </a:lnTo>
                    <a:lnTo>
                      <a:pt x="2283" y="473"/>
                    </a:lnTo>
                    <a:lnTo>
                      <a:pt x="2273" y="465"/>
                    </a:lnTo>
                    <a:lnTo>
                      <a:pt x="2265" y="453"/>
                    </a:lnTo>
                    <a:lnTo>
                      <a:pt x="2102" y="168"/>
                    </a:lnTo>
                    <a:lnTo>
                      <a:pt x="2102" y="168"/>
                    </a:lnTo>
                    <a:lnTo>
                      <a:pt x="2092" y="154"/>
                    </a:lnTo>
                    <a:lnTo>
                      <a:pt x="2078" y="142"/>
                    </a:lnTo>
                    <a:lnTo>
                      <a:pt x="2062" y="136"/>
                    </a:lnTo>
                    <a:lnTo>
                      <a:pt x="2044" y="134"/>
                    </a:lnTo>
                    <a:lnTo>
                      <a:pt x="1582" y="134"/>
                    </a:lnTo>
                    <a:lnTo>
                      <a:pt x="1582" y="134"/>
                    </a:lnTo>
                    <a:lnTo>
                      <a:pt x="1564" y="136"/>
                    </a:lnTo>
                    <a:lnTo>
                      <a:pt x="1548" y="142"/>
                    </a:lnTo>
                    <a:lnTo>
                      <a:pt x="1534" y="154"/>
                    </a:lnTo>
                    <a:lnTo>
                      <a:pt x="1524" y="168"/>
                    </a:lnTo>
                    <a:lnTo>
                      <a:pt x="1524" y="168"/>
                    </a:lnTo>
                    <a:lnTo>
                      <a:pt x="944" y="1172"/>
                    </a:lnTo>
                    <a:lnTo>
                      <a:pt x="944" y="117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7">
                <a:extLst>
                  <a:ext uri="{FF2B5EF4-FFF2-40B4-BE49-F238E27FC236}">
                    <a16:creationId xmlns:a16="http://schemas.microsoft.com/office/drawing/2014/main" id="{936B0121-11F6-EB86-7A08-1A2D89287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050" y="2471738"/>
                <a:ext cx="3795713" cy="1914525"/>
              </a:xfrm>
              <a:custGeom>
                <a:avLst/>
                <a:gdLst>
                  <a:gd name="T0" fmla="*/ 943 w 2391"/>
                  <a:gd name="T1" fmla="*/ 1172 h 1206"/>
                  <a:gd name="T2" fmla="*/ 919 w 2391"/>
                  <a:gd name="T3" fmla="*/ 1196 h 1206"/>
                  <a:gd name="T4" fmla="*/ 885 w 2391"/>
                  <a:gd name="T5" fmla="*/ 1206 h 1206"/>
                  <a:gd name="T6" fmla="*/ 267 w 2391"/>
                  <a:gd name="T7" fmla="*/ 1206 h 1206"/>
                  <a:gd name="T8" fmla="*/ 236 w 2391"/>
                  <a:gd name="T9" fmla="*/ 1196 h 1206"/>
                  <a:gd name="T10" fmla="*/ 210 w 2391"/>
                  <a:gd name="T11" fmla="*/ 1172 h 1206"/>
                  <a:gd name="T12" fmla="*/ 8 w 2391"/>
                  <a:gd name="T13" fmla="*/ 821 h 1206"/>
                  <a:gd name="T14" fmla="*/ 0 w 2391"/>
                  <a:gd name="T15" fmla="*/ 787 h 1206"/>
                  <a:gd name="T16" fmla="*/ 8 w 2391"/>
                  <a:gd name="T17" fmla="*/ 753 h 1206"/>
                  <a:gd name="T18" fmla="*/ 8 w 2391"/>
                  <a:gd name="T19" fmla="*/ 753 h 1206"/>
                  <a:gd name="T20" fmla="*/ 20 w 2391"/>
                  <a:gd name="T21" fmla="*/ 739 h 1206"/>
                  <a:gd name="T22" fmla="*/ 34 w 2391"/>
                  <a:gd name="T23" fmla="*/ 729 h 1206"/>
                  <a:gd name="T24" fmla="*/ 66 w 2391"/>
                  <a:gd name="T25" fmla="*/ 719 h 1206"/>
                  <a:gd name="T26" fmla="*/ 100 w 2391"/>
                  <a:gd name="T27" fmla="*/ 729 h 1206"/>
                  <a:gd name="T28" fmla="*/ 114 w 2391"/>
                  <a:gd name="T29" fmla="*/ 739 h 1206"/>
                  <a:gd name="T30" fmla="*/ 126 w 2391"/>
                  <a:gd name="T31" fmla="*/ 753 h 1206"/>
                  <a:gd name="T32" fmla="*/ 287 w 2391"/>
                  <a:gd name="T33" fmla="*/ 1038 h 1206"/>
                  <a:gd name="T34" fmla="*/ 313 w 2391"/>
                  <a:gd name="T35" fmla="*/ 1062 h 1206"/>
                  <a:gd name="T36" fmla="*/ 345 w 2391"/>
                  <a:gd name="T37" fmla="*/ 1070 h 1206"/>
                  <a:gd name="T38" fmla="*/ 807 w 2391"/>
                  <a:gd name="T39" fmla="*/ 1070 h 1206"/>
                  <a:gd name="T40" fmla="*/ 841 w 2391"/>
                  <a:gd name="T41" fmla="*/ 1062 h 1206"/>
                  <a:gd name="T42" fmla="*/ 867 w 2391"/>
                  <a:gd name="T43" fmla="*/ 1038 h 1206"/>
                  <a:gd name="T44" fmla="*/ 1445 w 2391"/>
                  <a:gd name="T45" fmla="*/ 32 h 1206"/>
                  <a:gd name="T46" fmla="*/ 1455 w 2391"/>
                  <a:gd name="T47" fmla="*/ 18 h 1206"/>
                  <a:gd name="T48" fmla="*/ 1485 w 2391"/>
                  <a:gd name="T49" fmla="*/ 2 h 1206"/>
                  <a:gd name="T50" fmla="*/ 2121 w 2391"/>
                  <a:gd name="T51" fmla="*/ 0 h 1206"/>
                  <a:gd name="T52" fmla="*/ 2137 w 2391"/>
                  <a:gd name="T53" fmla="*/ 2 h 1206"/>
                  <a:gd name="T54" fmla="*/ 2167 w 2391"/>
                  <a:gd name="T55" fmla="*/ 18 h 1206"/>
                  <a:gd name="T56" fmla="*/ 2381 w 2391"/>
                  <a:gd name="T57" fmla="*/ 387 h 1206"/>
                  <a:gd name="T58" fmla="*/ 2387 w 2391"/>
                  <a:gd name="T59" fmla="*/ 399 h 1206"/>
                  <a:gd name="T60" fmla="*/ 2391 w 2391"/>
                  <a:gd name="T61" fmla="*/ 425 h 1206"/>
                  <a:gd name="T62" fmla="*/ 2383 w 2391"/>
                  <a:gd name="T63" fmla="*/ 451 h 1206"/>
                  <a:gd name="T64" fmla="*/ 2367 w 2391"/>
                  <a:gd name="T65" fmla="*/ 471 h 1206"/>
                  <a:gd name="T66" fmla="*/ 2357 w 2391"/>
                  <a:gd name="T67" fmla="*/ 479 h 1206"/>
                  <a:gd name="T68" fmla="*/ 2343 w 2391"/>
                  <a:gd name="T69" fmla="*/ 485 h 1206"/>
                  <a:gd name="T70" fmla="*/ 2319 w 2391"/>
                  <a:gd name="T71" fmla="*/ 487 h 1206"/>
                  <a:gd name="T72" fmla="*/ 2293 w 2391"/>
                  <a:gd name="T73" fmla="*/ 481 h 1206"/>
                  <a:gd name="T74" fmla="*/ 2273 w 2391"/>
                  <a:gd name="T75" fmla="*/ 465 h 1206"/>
                  <a:gd name="T76" fmla="*/ 2101 w 2391"/>
                  <a:gd name="T77" fmla="*/ 168 h 1206"/>
                  <a:gd name="T78" fmla="*/ 2089 w 2391"/>
                  <a:gd name="T79" fmla="*/ 154 h 1206"/>
                  <a:gd name="T80" fmla="*/ 2061 w 2391"/>
                  <a:gd name="T81" fmla="*/ 136 h 1206"/>
                  <a:gd name="T82" fmla="*/ 1581 w 2391"/>
                  <a:gd name="T83" fmla="*/ 134 h 1206"/>
                  <a:gd name="T84" fmla="*/ 1563 w 2391"/>
                  <a:gd name="T85" fmla="*/ 136 h 1206"/>
                  <a:gd name="T86" fmla="*/ 1533 w 2391"/>
                  <a:gd name="T87" fmla="*/ 154 h 1206"/>
                  <a:gd name="T88" fmla="*/ 1523 w 2391"/>
                  <a:gd name="T89" fmla="*/ 168 h 1206"/>
                  <a:gd name="T90" fmla="*/ 943 w 2391"/>
                  <a:gd name="T91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391" h="1206">
                    <a:moveTo>
                      <a:pt x="943" y="1172"/>
                    </a:moveTo>
                    <a:lnTo>
                      <a:pt x="943" y="1172"/>
                    </a:lnTo>
                    <a:lnTo>
                      <a:pt x="933" y="1186"/>
                    </a:lnTo>
                    <a:lnTo>
                      <a:pt x="919" y="1196"/>
                    </a:lnTo>
                    <a:lnTo>
                      <a:pt x="903" y="1202"/>
                    </a:lnTo>
                    <a:lnTo>
                      <a:pt x="885" y="1206"/>
                    </a:lnTo>
                    <a:lnTo>
                      <a:pt x="267" y="1206"/>
                    </a:lnTo>
                    <a:lnTo>
                      <a:pt x="267" y="1206"/>
                    </a:lnTo>
                    <a:lnTo>
                      <a:pt x="251" y="1202"/>
                    </a:lnTo>
                    <a:lnTo>
                      <a:pt x="236" y="1196"/>
                    </a:lnTo>
                    <a:lnTo>
                      <a:pt x="222" y="1186"/>
                    </a:lnTo>
                    <a:lnTo>
                      <a:pt x="210" y="1172"/>
                    </a:lnTo>
                    <a:lnTo>
                      <a:pt x="8" y="821"/>
                    </a:lnTo>
                    <a:lnTo>
                      <a:pt x="8" y="821"/>
                    </a:lnTo>
                    <a:lnTo>
                      <a:pt x="2" y="805"/>
                    </a:lnTo>
                    <a:lnTo>
                      <a:pt x="0" y="787"/>
                    </a:lnTo>
                    <a:lnTo>
                      <a:pt x="2" y="769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8" y="753"/>
                    </a:lnTo>
                    <a:lnTo>
                      <a:pt x="14" y="745"/>
                    </a:lnTo>
                    <a:lnTo>
                      <a:pt x="20" y="739"/>
                    </a:lnTo>
                    <a:lnTo>
                      <a:pt x="26" y="733"/>
                    </a:lnTo>
                    <a:lnTo>
                      <a:pt x="34" y="729"/>
                    </a:lnTo>
                    <a:lnTo>
                      <a:pt x="50" y="721"/>
                    </a:lnTo>
                    <a:lnTo>
                      <a:pt x="66" y="719"/>
                    </a:lnTo>
                    <a:lnTo>
                      <a:pt x="84" y="721"/>
                    </a:lnTo>
                    <a:lnTo>
                      <a:pt x="100" y="729"/>
                    </a:lnTo>
                    <a:lnTo>
                      <a:pt x="108" y="733"/>
                    </a:lnTo>
                    <a:lnTo>
                      <a:pt x="114" y="739"/>
                    </a:lnTo>
                    <a:lnTo>
                      <a:pt x="120" y="745"/>
                    </a:lnTo>
                    <a:lnTo>
                      <a:pt x="126" y="753"/>
                    </a:lnTo>
                    <a:lnTo>
                      <a:pt x="287" y="1038"/>
                    </a:lnTo>
                    <a:lnTo>
                      <a:pt x="287" y="1038"/>
                    </a:lnTo>
                    <a:lnTo>
                      <a:pt x="299" y="1052"/>
                    </a:lnTo>
                    <a:lnTo>
                      <a:pt x="313" y="1062"/>
                    </a:lnTo>
                    <a:lnTo>
                      <a:pt x="329" y="1068"/>
                    </a:lnTo>
                    <a:lnTo>
                      <a:pt x="345" y="1070"/>
                    </a:lnTo>
                    <a:lnTo>
                      <a:pt x="807" y="1070"/>
                    </a:lnTo>
                    <a:lnTo>
                      <a:pt x="807" y="1070"/>
                    </a:lnTo>
                    <a:lnTo>
                      <a:pt x="825" y="1068"/>
                    </a:lnTo>
                    <a:lnTo>
                      <a:pt x="841" y="1062"/>
                    </a:lnTo>
                    <a:lnTo>
                      <a:pt x="855" y="1052"/>
                    </a:lnTo>
                    <a:lnTo>
                      <a:pt x="867" y="1038"/>
                    </a:lnTo>
                    <a:lnTo>
                      <a:pt x="867" y="1038"/>
                    </a:lnTo>
                    <a:lnTo>
                      <a:pt x="1445" y="32"/>
                    </a:lnTo>
                    <a:lnTo>
                      <a:pt x="1445" y="32"/>
                    </a:lnTo>
                    <a:lnTo>
                      <a:pt x="1455" y="18"/>
                    </a:lnTo>
                    <a:lnTo>
                      <a:pt x="1469" y="8"/>
                    </a:lnTo>
                    <a:lnTo>
                      <a:pt x="1485" y="2"/>
                    </a:lnTo>
                    <a:lnTo>
                      <a:pt x="1503" y="0"/>
                    </a:lnTo>
                    <a:lnTo>
                      <a:pt x="2121" y="0"/>
                    </a:lnTo>
                    <a:lnTo>
                      <a:pt x="2121" y="0"/>
                    </a:lnTo>
                    <a:lnTo>
                      <a:pt x="2137" y="2"/>
                    </a:lnTo>
                    <a:lnTo>
                      <a:pt x="2153" y="8"/>
                    </a:lnTo>
                    <a:lnTo>
                      <a:pt x="2167" y="18"/>
                    </a:lnTo>
                    <a:lnTo>
                      <a:pt x="2179" y="32"/>
                    </a:lnTo>
                    <a:lnTo>
                      <a:pt x="2381" y="387"/>
                    </a:lnTo>
                    <a:lnTo>
                      <a:pt x="2381" y="387"/>
                    </a:lnTo>
                    <a:lnTo>
                      <a:pt x="2387" y="399"/>
                    </a:lnTo>
                    <a:lnTo>
                      <a:pt x="2391" y="413"/>
                    </a:lnTo>
                    <a:lnTo>
                      <a:pt x="2391" y="425"/>
                    </a:lnTo>
                    <a:lnTo>
                      <a:pt x="2389" y="439"/>
                    </a:lnTo>
                    <a:lnTo>
                      <a:pt x="2383" y="451"/>
                    </a:lnTo>
                    <a:lnTo>
                      <a:pt x="2377" y="461"/>
                    </a:lnTo>
                    <a:lnTo>
                      <a:pt x="2367" y="471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57" y="479"/>
                    </a:lnTo>
                    <a:lnTo>
                      <a:pt x="2343" y="485"/>
                    </a:lnTo>
                    <a:lnTo>
                      <a:pt x="2331" y="487"/>
                    </a:lnTo>
                    <a:lnTo>
                      <a:pt x="2319" y="487"/>
                    </a:lnTo>
                    <a:lnTo>
                      <a:pt x="2305" y="485"/>
                    </a:lnTo>
                    <a:lnTo>
                      <a:pt x="2293" y="481"/>
                    </a:lnTo>
                    <a:lnTo>
                      <a:pt x="2283" y="473"/>
                    </a:lnTo>
                    <a:lnTo>
                      <a:pt x="2273" y="465"/>
                    </a:lnTo>
                    <a:lnTo>
                      <a:pt x="2265" y="453"/>
                    </a:lnTo>
                    <a:lnTo>
                      <a:pt x="2101" y="168"/>
                    </a:lnTo>
                    <a:lnTo>
                      <a:pt x="2101" y="168"/>
                    </a:lnTo>
                    <a:lnTo>
                      <a:pt x="2089" y="154"/>
                    </a:lnTo>
                    <a:lnTo>
                      <a:pt x="2077" y="142"/>
                    </a:lnTo>
                    <a:lnTo>
                      <a:pt x="2061" y="136"/>
                    </a:lnTo>
                    <a:lnTo>
                      <a:pt x="2043" y="134"/>
                    </a:lnTo>
                    <a:lnTo>
                      <a:pt x="1581" y="134"/>
                    </a:lnTo>
                    <a:lnTo>
                      <a:pt x="1581" y="134"/>
                    </a:lnTo>
                    <a:lnTo>
                      <a:pt x="1563" y="136"/>
                    </a:lnTo>
                    <a:lnTo>
                      <a:pt x="1547" y="142"/>
                    </a:lnTo>
                    <a:lnTo>
                      <a:pt x="1533" y="154"/>
                    </a:lnTo>
                    <a:lnTo>
                      <a:pt x="1523" y="168"/>
                    </a:lnTo>
                    <a:lnTo>
                      <a:pt x="1523" y="168"/>
                    </a:lnTo>
                    <a:lnTo>
                      <a:pt x="943" y="1172"/>
                    </a:lnTo>
                    <a:lnTo>
                      <a:pt x="943" y="117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8">
                <a:extLst>
                  <a:ext uri="{FF2B5EF4-FFF2-40B4-BE49-F238E27FC236}">
                    <a16:creationId xmlns:a16="http://schemas.microsoft.com/office/drawing/2014/main" id="{9196BCA7-CF3B-BEDA-4A41-24928E2B0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625" y="2471738"/>
                <a:ext cx="3963988" cy="1914525"/>
              </a:xfrm>
              <a:custGeom>
                <a:avLst/>
                <a:gdLst>
                  <a:gd name="T0" fmla="*/ 1641 w 2497"/>
                  <a:gd name="T1" fmla="*/ 154 h 1206"/>
                  <a:gd name="T2" fmla="*/ 1687 w 2497"/>
                  <a:gd name="T3" fmla="*/ 134 h 1206"/>
                  <a:gd name="T4" fmla="*/ 2167 w 2497"/>
                  <a:gd name="T5" fmla="*/ 136 h 1206"/>
                  <a:gd name="T6" fmla="*/ 2209 w 2497"/>
                  <a:gd name="T7" fmla="*/ 168 h 1206"/>
                  <a:gd name="T8" fmla="*/ 2377 w 2497"/>
                  <a:gd name="T9" fmla="*/ 459 h 1206"/>
                  <a:gd name="T10" fmla="*/ 2397 w 2497"/>
                  <a:gd name="T11" fmla="*/ 477 h 1206"/>
                  <a:gd name="T12" fmla="*/ 2447 w 2497"/>
                  <a:gd name="T13" fmla="*/ 483 h 1206"/>
                  <a:gd name="T14" fmla="*/ 2477 w 2497"/>
                  <a:gd name="T15" fmla="*/ 465 h 1206"/>
                  <a:gd name="T16" fmla="*/ 2487 w 2497"/>
                  <a:gd name="T17" fmla="*/ 451 h 1206"/>
                  <a:gd name="T18" fmla="*/ 2497 w 2497"/>
                  <a:gd name="T19" fmla="*/ 417 h 1206"/>
                  <a:gd name="T20" fmla="*/ 2285 w 2497"/>
                  <a:gd name="T21" fmla="*/ 32 h 1206"/>
                  <a:gd name="T22" fmla="*/ 2261 w 2497"/>
                  <a:gd name="T23" fmla="*/ 8 h 1206"/>
                  <a:gd name="T24" fmla="*/ 1611 w 2497"/>
                  <a:gd name="T25" fmla="*/ 0 h 1206"/>
                  <a:gd name="T26" fmla="*/ 1578 w 2497"/>
                  <a:gd name="T27" fmla="*/ 8 h 1206"/>
                  <a:gd name="T28" fmla="*/ 1552 w 2497"/>
                  <a:gd name="T29" fmla="*/ 32 h 1206"/>
                  <a:gd name="T30" fmla="*/ 964 w 2497"/>
                  <a:gd name="T31" fmla="*/ 1052 h 1206"/>
                  <a:gd name="T32" fmla="*/ 916 w 2497"/>
                  <a:gd name="T33" fmla="*/ 1070 h 1206"/>
                  <a:gd name="T34" fmla="*/ 436 w 2497"/>
                  <a:gd name="T35" fmla="*/ 1068 h 1206"/>
                  <a:gd name="T36" fmla="*/ 396 w 2497"/>
                  <a:gd name="T37" fmla="*/ 1038 h 1206"/>
                  <a:gd name="T38" fmla="*/ 158 w 2497"/>
                  <a:gd name="T39" fmla="*/ 619 h 1206"/>
                  <a:gd name="T40" fmla="*/ 164 w 2497"/>
                  <a:gd name="T41" fmla="*/ 569 h 1206"/>
                  <a:gd name="T42" fmla="*/ 406 w 2497"/>
                  <a:gd name="T43" fmla="*/ 154 h 1206"/>
                  <a:gd name="T44" fmla="*/ 454 w 2497"/>
                  <a:gd name="T45" fmla="*/ 134 h 1206"/>
                  <a:gd name="T46" fmla="*/ 934 w 2497"/>
                  <a:gd name="T47" fmla="*/ 136 h 1206"/>
                  <a:gd name="T48" fmla="*/ 974 w 2497"/>
                  <a:gd name="T49" fmla="*/ 168 h 1206"/>
                  <a:gd name="T50" fmla="*/ 1142 w 2497"/>
                  <a:gd name="T51" fmla="*/ 459 h 1206"/>
                  <a:gd name="T52" fmla="*/ 1162 w 2497"/>
                  <a:gd name="T53" fmla="*/ 475 h 1206"/>
                  <a:gd name="T54" fmla="*/ 1212 w 2497"/>
                  <a:gd name="T55" fmla="*/ 481 h 1206"/>
                  <a:gd name="T56" fmla="*/ 1242 w 2497"/>
                  <a:gd name="T57" fmla="*/ 465 h 1206"/>
                  <a:gd name="T58" fmla="*/ 1254 w 2497"/>
                  <a:gd name="T59" fmla="*/ 451 h 1206"/>
                  <a:gd name="T60" fmla="*/ 1262 w 2497"/>
                  <a:gd name="T61" fmla="*/ 417 h 1206"/>
                  <a:gd name="T62" fmla="*/ 1052 w 2497"/>
                  <a:gd name="T63" fmla="*/ 32 h 1206"/>
                  <a:gd name="T64" fmla="*/ 1028 w 2497"/>
                  <a:gd name="T65" fmla="*/ 8 h 1206"/>
                  <a:gd name="T66" fmla="*/ 376 w 2497"/>
                  <a:gd name="T67" fmla="*/ 0 h 1206"/>
                  <a:gd name="T68" fmla="*/ 342 w 2497"/>
                  <a:gd name="T69" fmla="*/ 8 h 1206"/>
                  <a:gd name="T70" fmla="*/ 10 w 2497"/>
                  <a:gd name="T71" fmla="*/ 569 h 1206"/>
                  <a:gd name="T72" fmla="*/ 0 w 2497"/>
                  <a:gd name="T73" fmla="*/ 603 h 1206"/>
                  <a:gd name="T74" fmla="*/ 318 w 2497"/>
                  <a:gd name="T75" fmla="*/ 1172 h 1206"/>
                  <a:gd name="T76" fmla="*/ 342 w 2497"/>
                  <a:gd name="T77" fmla="*/ 1196 h 1206"/>
                  <a:gd name="T78" fmla="*/ 994 w 2497"/>
                  <a:gd name="T79" fmla="*/ 1206 h 1206"/>
                  <a:gd name="T80" fmla="*/ 1028 w 2497"/>
                  <a:gd name="T81" fmla="*/ 1196 h 1206"/>
                  <a:gd name="T82" fmla="*/ 1052 w 2497"/>
                  <a:gd name="T83" fmla="*/ 1172 h 1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7" h="1206">
                    <a:moveTo>
                      <a:pt x="1629" y="168"/>
                    </a:moveTo>
                    <a:lnTo>
                      <a:pt x="1629" y="168"/>
                    </a:lnTo>
                    <a:lnTo>
                      <a:pt x="1641" y="154"/>
                    </a:lnTo>
                    <a:lnTo>
                      <a:pt x="1655" y="142"/>
                    </a:lnTo>
                    <a:lnTo>
                      <a:pt x="1671" y="136"/>
                    </a:lnTo>
                    <a:lnTo>
                      <a:pt x="1687" y="134"/>
                    </a:lnTo>
                    <a:lnTo>
                      <a:pt x="2149" y="134"/>
                    </a:lnTo>
                    <a:lnTo>
                      <a:pt x="2149" y="134"/>
                    </a:lnTo>
                    <a:lnTo>
                      <a:pt x="2167" y="136"/>
                    </a:lnTo>
                    <a:lnTo>
                      <a:pt x="2183" y="142"/>
                    </a:lnTo>
                    <a:lnTo>
                      <a:pt x="2197" y="154"/>
                    </a:lnTo>
                    <a:lnTo>
                      <a:pt x="2209" y="168"/>
                    </a:lnTo>
                    <a:lnTo>
                      <a:pt x="2371" y="451"/>
                    </a:lnTo>
                    <a:lnTo>
                      <a:pt x="2371" y="451"/>
                    </a:lnTo>
                    <a:lnTo>
                      <a:pt x="2377" y="459"/>
                    </a:lnTo>
                    <a:lnTo>
                      <a:pt x="2383" y="465"/>
                    </a:lnTo>
                    <a:lnTo>
                      <a:pt x="2389" y="471"/>
                    </a:lnTo>
                    <a:lnTo>
                      <a:pt x="2397" y="477"/>
                    </a:lnTo>
                    <a:lnTo>
                      <a:pt x="2413" y="483"/>
                    </a:lnTo>
                    <a:lnTo>
                      <a:pt x="2429" y="485"/>
                    </a:lnTo>
                    <a:lnTo>
                      <a:pt x="2447" y="483"/>
                    </a:lnTo>
                    <a:lnTo>
                      <a:pt x="2463" y="477"/>
                    </a:lnTo>
                    <a:lnTo>
                      <a:pt x="2469" y="471"/>
                    </a:lnTo>
                    <a:lnTo>
                      <a:pt x="2477" y="465"/>
                    </a:lnTo>
                    <a:lnTo>
                      <a:pt x="2483" y="459"/>
                    </a:lnTo>
                    <a:lnTo>
                      <a:pt x="2487" y="451"/>
                    </a:lnTo>
                    <a:lnTo>
                      <a:pt x="2487" y="451"/>
                    </a:lnTo>
                    <a:lnTo>
                      <a:pt x="2487" y="451"/>
                    </a:lnTo>
                    <a:lnTo>
                      <a:pt x="2495" y="435"/>
                    </a:lnTo>
                    <a:lnTo>
                      <a:pt x="2497" y="417"/>
                    </a:lnTo>
                    <a:lnTo>
                      <a:pt x="2495" y="401"/>
                    </a:lnTo>
                    <a:lnTo>
                      <a:pt x="2487" y="383"/>
                    </a:lnTo>
                    <a:lnTo>
                      <a:pt x="2285" y="32"/>
                    </a:lnTo>
                    <a:lnTo>
                      <a:pt x="2285" y="32"/>
                    </a:lnTo>
                    <a:lnTo>
                      <a:pt x="2275" y="18"/>
                    </a:lnTo>
                    <a:lnTo>
                      <a:pt x="2261" y="8"/>
                    </a:lnTo>
                    <a:lnTo>
                      <a:pt x="2245" y="2"/>
                    </a:lnTo>
                    <a:lnTo>
                      <a:pt x="2227" y="0"/>
                    </a:lnTo>
                    <a:lnTo>
                      <a:pt x="1611" y="0"/>
                    </a:lnTo>
                    <a:lnTo>
                      <a:pt x="1611" y="0"/>
                    </a:lnTo>
                    <a:lnTo>
                      <a:pt x="1593" y="2"/>
                    </a:lnTo>
                    <a:lnTo>
                      <a:pt x="1578" y="8"/>
                    </a:lnTo>
                    <a:lnTo>
                      <a:pt x="1564" y="18"/>
                    </a:lnTo>
                    <a:lnTo>
                      <a:pt x="1552" y="32"/>
                    </a:lnTo>
                    <a:lnTo>
                      <a:pt x="1552" y="32"/>
                    </a:lnTo>
                    <a:lnTo>
                      <a:pt x="974" y="1038"/>
                    </a:lnTo>
                    <a:lnTo>
                      <a:pt x="974" y="1038"/>
                    </a:lnTo>
                    <a:lnTo>
                      <a:pt x="964" y="1052"/>
                    </a:lnTo>
                    <a:lnTo>
                      <a:pt x="950" y="1062"/>
                    </a:lnTo>
                    <a:lnTo>
                      <a:pt x="934" y="1068"/>
                    </a:lnTo>
                    <a:lnTo>
                      <a:pt x="916" y="1070"/>
                    </a:lnTo>
                    <a:lnTo>
                      <a:pt x="454" y="1070"/>
                    </a:lnTo>
                    <a:lnTo>
                      <a:pt x="454" y="1070"/>
                    </a:lnTo>
                    <a:lnTo>
                      <a:pt x="436" y="1068"/>
                    </a:lnTo>
                    <a:lnTo>
                      <a:pt x="420" y="1062"/>
                    </a:lnTo>
                    <a:lnTo>
                      <a:pt x="406" y="1052"/>
                    </a:lnTo>
                    <a:lnTo>
                      <a:pt x="396" y="1038"/>
                    </a:lnTo>
                    <a:lnTo>
                      <a:pt x="164" y="635"/>
                    </a:lnTo>
                    <a:lnTo>
                      <a:pt x="164" y="635"/>
                    </a:lnTo>
                    <a:lnTo>
                      <a:pt x="158" y="619"/>
                    </a:lnTo>
                    <a:lnTo>
                      <a:pt x="156" y="603"/>
                    </a:lnTo>
                    <a:lnTo>
                      <a:pt x="158" y="585"/>
                    </a:lnTo>
                    <a:lnTo>
                      <a:pt x="164" y="569"/>
                    </a:lnTo>
                    <a:lnTo>
                      <a:pt x="396" y="168"/>
                    </a:lnTo>
                    <a:lnTo>
                      <a:pt x="396" y="168"/>
                    </a:lnTo>
                    <a:lnTo>
                      <a:pt x="406" y="154"/>
                    </a:lnTo>
                    <a:lnTo>
                      <a:pt x="420" y="142"/>
                    </a:lnTo>
                    <a:lnTo>
                      <a:pt x="436" y="136"/>
                    </a:lnTo>
                    <a:lnTo>
                      <a:pt x="454" y="134"/>
                    </a:lnTo>
                    <a:lnTo>
                      <a:pt x="916" y="134"/>
                    </a:lnTo>
                    <a:lnTo>
                      <a:pt x="916" y="134"/>
                    </a:lnTo>
                    <a:lnTo>
                      <a:pt x="934" y="136"/>
                    </a:lnTo>
                    <a:lnTo>
                      <a:pt x="950" y="142"/>
                    </a:lnTo>
                    <a:lnTo>
                      <a:pt x="964" y="154"/>
                    </a:lnTo>
                    <a:lnTo>
                      <a:pt x="974" y="168"/>
                    </a:lnTo>
                    <a:lnTo>
                      <a:pt x="1138" y="451"/>
                    </a:lnTo>
                    <a:lnTo>
                      <a:pt x="1138" y="451"/>
                    </a:lnTo>
                    <a:lnTo>
                      <a:pt x="1142" y="459"/>
                    </a:lnTo>
                    <a:lnTo>
                      <a:pt x="1148" y="465"/>
                    </a:lnTo>
                    <a:lnTo>
                      <a:pt x="1156" y="471"/>
                    </a:lnTo>
                    <a:lnTo>
                      <a:pt x="1162" y="475"/>
                    </a:lnTo>
                    <a:lnTo>
                      <a:pt x="1178" y="481"/>
                    </a:lnTo>
                    <a:lnTo>
                      <a:pt x="1196" y="483"/>
                    </a:lnTo>
                    <a:lnTo>
                      <a:pt x="1212" y="481"/>
                    </a:lnTo>
                    <a:lnTo>
                      <a:pt x="1228" y="475"/>
                    </a:lnTo>
                    <a:lnTo>
                      <a:pt x="1236" y="471"/>
                    </a:lnTo>
                    <a:lnTo>
                      <a:pt x="1242" y="465"/>
                    </a:lnTo>
                    <a:lnTo>
                      <a:pt x="1248" y="459"/>
                    </a:lnTo>
                    <a:lnTo>
                      <a:pt x="1254" y="451"/>
                    </a:lnTo>
                    <a:lnTo>
                      <a:pt x="1254" y="451"/>
                    </a:lnTo>
                    <a:lnTo>
                      <a:pt x="1254" y="451"/>
                    </a:lnTo>
                    <a:lnTo>
                      <a:pt x="1260" y="433"/>
                    </a:lnTo>
                    <a:lnTo>
                      <a:pt x="1262" y="417"/>
                    </a:lnTo>
                    <a:lnTo>
                      <a:pt x="1260" y="399"/>
                    </a:lnTo>
                    <a:lnTo>
                      <a:pt x="1254" y="383"/>
                    </a:lnTo>
                    <a:lnTo>
                      <a:pt x="1052" y="32"/>
                    </a:lnTo>
                    <a:lnTo>
                      <a:pt x="1052" y="32"/>
                    </a:lnTo>
                    <a:lnTo>
                      <a:pt x="1042" y="18"/>
                    </a:lnTo>
                    <a:lnTo>
                      <a:pt x="1028" y="8"/>
                    </a:lnTo>
                    <a:lnTo>
                      <a:pt x="1012" y="2"/>
                    </a:lnTo>
                    <a:lnTo>
                      <a:pt x="994" y="0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58" y="2"/>
                    </a:lnTo>
                    <a:lnTo>
                      <a:pt x="342" y="8"/>
                    </a:lnTo>
                    <a:lnTo>
                      <a:pt x="328" y="18"/>
                    </a:lnTo>
                    <a:lnTo>
                      <a:pt x="318" y="32"/>
                    </a:lnTo>
                    <a:lnTo>
                      <a:pt x="10" y="569"/>
                    </a:lnTo>
                    <a:lnTo>
                      <a:pt x="10" y="569"/>
                    </a:lnTo>
                    <a:lnTo>
                      <a:pt x="2" y="585"/>
                    </a:lnTo>
                    <a:lnTo>
                      <a:pt x="0" y="603"/>
                    </a:lnTo>
                    <a:lnTo>
                      <a:pt x="2" y="619"/>
                    </a:lnTo>
                    <a:lnTo>
                      <a:pt x="10" y="635"/>
                    </a:lnTo>
                    <a:lnTo>
                      <a:pt x="318" y="1172"/>
                    </a:lnTo>
                    <a:lnTo>
                      <a:pt x="318" y="1172"/>
                    </a:lnTo>
                    <a:lnTo>
                      <a:pt x="328" y="1186"/>
                    </a:lnTo>
                    <a:lnTo>
                      <a:pt x="342" y="1196"/>
                    </a:lnTo>
                    <a:lnTo>
                      <a:pt x="358" y="1202"/>
                    </a:lnTo>
                    <a:lnTo>
                      <a:pt x="376" y="1206"/>
                    </a:lnTo>
                    <a:lnTo>
                      <a:pt x="994" y="1206"/>
                    </a:lnTo>
                    <a:lnTo>
                      <a:pt x="994" y="1206"/>
                    </a:lnTo>
                    <a:lnTo>
                      <a:pt x="1012" y="1202"/>
                    </a:lnTo>
                    <a:lnTo>
                      <a:pt x="1028" y="1196"/>
                    </a:lnTo>
                    <a:lnTo>
                      <a:pt x="1042" y="1186"/>
                    </a:lnTo>
                    <a:lnTo>
                      <a:pt x="1052" y="1172"/>
                    </a:lnTo>
                    <a:lnTo>
                      <a:pt x="1052" y="1172"/>
                    </a:lnTo>
                    <a:lnTo>
                      <a:pt x="1629" y="168"/>
                    </a:lnTo>
                    <a:lnTo>
                      <a:pt x="1629" y="16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9E7DE9E-D3D0-1E5B-F83D-48D0759483C3}"/>
                </a:ext>
              </a:extLst>
            </p:cNvPr>
            <p:cNvSpPr txBox="1"/>
            <p:nvPr/>
          </p:nvSpPr>
          <p:spPr>
            <a:xfrm>
              <a:off x="5016933" y="3519046"/>
              <a:ext cx="6273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model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6DDBD7C-9ECC-8403-F9C1-1A56D35CB7B2}"/>
                </a:ext>
              </a:extLst>
            </p:cNvPr>
            <p:cNvSpPr txBox="1"/>
            <p:nvPr/>
          </p:nvSpPr>
          <p:spPr>
            <a:xfrm>
              <a:off x="6256449" y="3519046"/>
              <a:ext cx="75763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Shadow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6A7573A-06C0-ADA6-429A-F9EF72B1226C}"/>
                </a:ext>
              </a:extLst>
            </p:cNvPr>
            <p:cNvSpPr txBox="1"/>
            <p:nvPr/>
          </p:nvSpPr>
          <p:spPr>
            <a:xfrm>
              <a:off x="7504809" y="3519046"/>
              <a:ext cx="75763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Digital Twin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BC980F6-8C89-4F72-EBF4-765FFE6CE55F}"/>
                </a:ext>
              </a:extLst>
            </p:cNvPr>
            <p:cNvSpPr txBox="1"/>
            <p:nvPr/>
          </p:nvSpPr>
          <p:spPr>
            <a:xfrm>
              <a:off x="8645142" y="3519046"/>
              <a:ext cx="106320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Autonomous Digital Twin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5E0374-0200-4CE7-34B5-C59CC2D17195}"/>
                </a:ext>
              </a:extLst>
            </p:cNvPr>
            <p:cNvSpPr txBox="1"/>
            <p:nvPr/>
          </p:nvSpPr>
          <p:spPr>
            <a:xfrm>
              <a:off x="9956249" y="3519046"/>
              <a:ext cx="106320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Federated Digital Twin</a:t>
              </a:r>
            </a:p>
          </p:txBody>
        </p:sp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82B6769F-575D-8B54-39FC-AA8CB890AA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0500" y="13226636"/>
            <a:ext cx="1026975" cy="952583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B312B41-8654-CDC5-F188-BB8DCFB58AF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3661"/>
          <a:stretch/>
        </p:blipFill>
        <p:spPr>
          <a:xfrm>
            <a:off x="8106808" y="13226637"/>
            <a:ext cx="1278650" cy="95697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9EF4086B-A562-229E-D310-D12C74A761E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6928" r="6928"/>
          <a:stretch>
            <a:fillRect/>
          </a:stretch>
        </p:blipFill>
        <p:spPr>
          <a:xfrm>
            <a:off x="9777174" y="13236785"/>
            <a:ext cx="1302212" cy="94243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C868D49B-6635-08CF-F794-A57A694255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14867" y="13226636"/>
            <a:ext cx="1133949" cy="952583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AEE126FB-C129-1DF5-291B-AAC6B6E95F6B}"/>
              </a:ext>
            </a:extLst>
          </p:cNvPr>
          <p:cNvSpPr txBox="1"/>
          <p:nvPr/>
        </p:nvSpPr>
        <p:spPr>
          <a:xfrm>
            <a:off x="4814867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Building models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90C1327-8A54-C103-D95C-C302257A214C}"/>
              </a:ext>
            </a:extLst>
          </p:cNvPr>
          <p:cNvSpPr txBox="1"/>
          <p:nvPr/>
        </p:nvSpPr>
        <p:spPr>
          <a:xfrm>
            <a:off x="6497013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IoT sensors/CPS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463729D-D1B9-206A-D9DA-34A8FFB62902}"/>
              </a:ext>
            </a:extLst>
          </p:cNvPr>
          <p:cNvSpPr txBox="1"/>
          <p:nvPr/>
        </p:nvSpPr>
        <p:spPr>
          <a:xfrm>
            <a:off x="8179158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Twin analytics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4DA5B74-C233-FE38-BD7B-EDD455D2E0C6}"/>
              </a:ext>
            </a:extLst>
          </p:cNvPr>
          <p:cNvSpPr txBox="1"/>
          <p:nvPr/>
        </p:nvSpPr>
        <p:spPr>
          <a:xfrm>
            <a:off x="9861305" y="12852914"/>
            <a:ext cx="11339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Future work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79511F8-FEB9-A251-C010-8EE59E813CD9}"/>
              </a:ext>
            </a:extLst>
          </p:cNvPr>
          <p:cNvGrpSpPr/>
          <p:nvPr/>
        </p:nvGrpSpPr>
        <p:grpSpPr>
          <a:xfrm>
            <a:off x="706588" y="7748497"/>
            <a:ext cx="10778824" cy="650570"/>
            <a:chOff x="706588" y="1375915"/>
            <a:chExt cx="10778824" cy="65057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887562B-41B1-3321-6C7C-24E7983E29A0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F2169A1-F625-BEC1-9CC2-E8BEEF073D58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A237CFC-47F2-5E3C-BE65-C3E72496380F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15027BC-28BA-D66A-96AE-0D5E59A33B69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CD578CAB-1B50-F8E6-90D8-E00F3AF5A933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49BCFB69-C492-793E-546B-047525876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C41730C2-4AF7-2D7E-0FA3-D454A439DD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21" name="Graphic 120">
            <a:extLst>
              <a:ext uri="{FF2B5EF4-FFF2-40B4-BE49-F238E27FC236}">
                <a16:creationId xmlns:a16="http://schemas.microsoft.com/office/drawing/2014/main" id="{CD32F726-9E1F-0535-0148-A7CDEEF1C3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3367" y="13378627"/>
            <a:ext cx="254298" cy="254298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D621F684-D2F8-52C7-E6B6-46F2358A4B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7912" y="13378627"/>
            <a:ext cx="254298" cy="254298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2B43C6ED-B722-5500-B5B2-750E2149C8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0058" y="13378627"/>
            <a:ext cx="254298" cy="25429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F1AA9DD9-7829-6C29-F584-469B7FF79105}"/>
              </a:ext>
            </a:extLst>
          </p:cNvPr>
          <p:cNvSpPr txBox="1"/>
          <p:nvPr/>
        </p:nvSpPr>
        <p:spPr>
          <a:xfrm>
            <a:off x="13000771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S.M.A.R.T. Digital Twin Platform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665CB5A-19B3-930B-C462-7744C602826C}"/>
              </a:ext>
            </a:extLst>
          </p:cNvPr>
          <p:cNvSpPr/>
          <p:nvPr/>
        </p:nvSpPr>
        <p:spPr>
          <a:xfrm>
            <a:off x="-14340905" y="2214333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CF1710D-EC05-D2BB-102B-A73866FD1CE2}"/>
              </a:ext>
            </a:extLst>
          </p:cNvPr>
          <p:cNvSpPr/>
          <p:nvPr/>
        </p:nvSpPr>
        <p:spPr>
          <a:xfrm>
            <a:off x="-10213854" y="2214333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9B8BCA7-9198-4ED8-8D0B-1022006663D2}"/>
              </a:ext>
            </a:extLst>
          </p:cNvPr>
          <p:cNvGrpSpPr/>
          <p:nvPr/>
        </p:nvGrpSpPr>
        <p:grpSpPr>
          <a:xfrm>
            <a:off x="-11279209" y="1375915"/>
            <a:ext cx="10778824" cy="650570"/>
            <a:chOff x="706588" y="1375915"/>
            <a:chExt cx="10778824" cy="65057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8B7D1FD-D18D-ED5A-ADC1-3C0F2914ED9A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24086A9-00A8-6872-2261-89C85A088F2C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5AA027E-51E5-3DE8-A625-7E5D27B2D1C9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13EA6CE-A382-0028-DDF3-86C53C767220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3E72F653-1C23-F61F-D2DE-EA420A54742B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104F67B-82F9-8925-55DC-7FE582FB0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88C0EC6-F4C1-F814-E3DA-7DFE16328E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150C83-834A-57EA-7BA5-8195A886B25D}"/>
              </a:ext>
            </a:extLst>
          </p:cNvPr>
          <p:cNvGrpSpPr/>
          <p:nvPr/>
        </p:nvGrpSpPr>
        <p:grpSpPr>
          <a:xfrm>
            <a:off x="-14055998" y="5499232"/>
            <a:ext cx="2879706" cy="442492"/>
            <a:chOff x="343772" y="165561"/>
            <a:chExt cx="5915883" cy="909028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86D760B1-8A78-A193-7065-39F9E7A26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138" name="Picture 137" descr="A close-up of a logo&#10;&#10;AI-generated content may be incorrect.">
              <a:extLst>
                <a:ext uri="{FF2B5EF4-FFF2-40B4-BE49-F238E27FC236}">
                  <a16:creationId xmlns:a16="http://schemas.microsoft.com/office/drawing/2014/main" id="{3FAAE5E3-5E44-1241-C73C-1CA0D0ADE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EDBF83D6-CF4E-1D82-04DD-C92C64755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pic>
        <p:nvPicPr>
          <p:cNvPr id="140" name="Picture 139">
            <a:extLst>
              <a:ext uri="{FF2B5EF4-FFF2-40B4-BE49-F238E27FC236}">
                <a16:creationId xmlns:a16="http://schemas.microsoft.com/office/drawing/2014/main" id="{900C7973-F9B7-11F8-E908-381C7A506E7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4159378" y="2378547"/>
            <a:ext cx="1099552" cy="921805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5C2D96B9-2C69-61CC-6DDC-08C12C0D7E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159378" y="3393170"/>
            <a:ext cx="1099552" cy="905270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603974B5-0EDA-E47A-957D-966DED570C9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159378" y="4391258"/>
            <a:ext cx="1099551" cy="905270"/>
          </a:xfrm>
          <a:prstGeom prst="rect">
            <a:avLst/>
          </a:prstGeom>
        </p:spPr>
      </p:pic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38769CC-769F-2890-C1D2-4EA137B5E6D7}"/>
              </a:ext>
            </a:extLst>
          </p:cNvPr>
          <p:cNvGrpSpPr/>
          <p:nvPr/>
        </p:nvGrpSpPr>
        <p:grpSpPr>
          <a:xfrm>
            <a:off x="-12855643" y="2442691"/>
            <a:ext cx="1679351" cy="793517"/>
            <a:chOff x="2191850" y="2430769"/>
            <a:chExt cx="1679351" cy="793517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8F378EC-60F0-807E-2AA6-DED953090635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BIM Model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A04B5C0-008C-3FFD-2393-8C8B01FE45A2}"/>
                </a:ext>
              </a:extLst>
            </p:cNvPr>
            <p:cNvSpPr txBox="1"/>
            <p:nvPr/>
          </p:nvSpPr>
          <p:spPr>
            <a:xfrm>
              <a:off x="2191850" y="2647205"/>
              <a:ext cx="1679351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As-designed building information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Virtual models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7B9C040-F3C8-310E-0A38-85F0F5CCD5BE}"/>
              </a:ext>
            </a:extLst>
          </p:cNvPr>
          <p:cNvGrpSpPr/>
          <p:nvPr/>
        </p:nvGrpSpPr>
        <p:grpSpPr>
          <a:xfrm>
            <a:off x="-12855643" y="3529838"/>
            <a:ext cx="1808086" cy="631934"/>
            <a:chOff x="2191850" y="2430769"/>
            <a:chExt cx="1808086" cy="631934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2404C05-AC54-0B7F-9E3F-1C01FEEDC3F7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Point Cloud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CD933D0-004C-B868-430C-58595EA224AC}"/>
                </a:ext>
              </a:extLst>
            </p:cNvPr>
            <p:cNvSpPr txBox="1"/>
            <p:nvPr/>
          </p:nvSpPr>
          <p:spPr>
            <a:xfrm>
              <a:off x="2191850" y="2647205"/>
              <a:ext cx="18080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Updated room layout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High resolution visuals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1B65F1A-F758-9175-4F40-FE69F86A75F7}"/>
              </a:ext>
            </a:extLst>
          </p:cNvPr>
          <p:cNvGrpSpPr/>
          <p:nvPr/>
        </p:nvGrpSpPr>
        <p:grpSpPr>
          <a:xfrm>
            <a:off x="-12855643" y="4527926"/>
            <a:ext cx="1679351" cy="631934"/>
            <a:chOff x="2191850" y="2430769"/>
            <a:chExt cx="1679351" cy="631934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EA56816-AFD4-7021-5897-7C9542A7195F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Panorama Mode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37904ED-2192-690D-1F9C-EC6B7AC03739}"/>
                </a:ext>
              </a:extLst>
            </p:cNvPr>
            <p:cNvSpPr txBox="1"/>
            <p:nvPr/>
          </p:nvSpPr>
          <p:spPr>
            <a:xfrm>
              <a:off x="2191850" y="2647205"/>
              <a:ext cx="1679351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/>
                <a:t>Actual physical environment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750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91AD-C5F1-2263-29ED-E6C1B7E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31AAC8-4D79-1AEF-8EC8-FBD433602192}"/>
              </a:ext>
            </a:extLst>
          </p:cNvPr>
          <p:cNvSpPr txBox="1"/>
          <p:nvPr/>
        </p:nvSpPr>
        <p:spPr>
          <a:xfrm>
            <a:off x="550862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S.M.A.R.T. Digital Twin Platform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CC9316-64E5-FE0F-D1D7-02430B7CA1EE}"/>
              </a:ext>
            </a:extLst>
          </p:cNvPr>
          <p:cNvSpPr/>
          <p:nvPr/>
        </p:nvSpPr>
        <p:spPr>
          <a:xfrm>
            <a:off x="706588" y="2214333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A606D6-ADA6-230A-7DE7-B76791BCF853}"/>
              </a:ext>
            </a:extLst>
          </p:cNvPr>
          <p:cNvSpPr/>
          <p:nvPr/>
        </p:nvSpPr>
        <p:spPr>
          <a:xfrm>
            <a:off x="4371240" y="2214333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Video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DD653FF-8E72-5A1C-769A-7AC9D0FAA148}"/>
              </a:ext>
            </a:extLst>
          </p:cNvPr>
          <p:cNvGrpSpPr/>
          <p:nvPr/>
        </p:nvGrpSpPr>
        <p:grpSpPr>
          <a:xfrm>
            <a:off x="706588" y="1375915"/>
            <a:ext cx="10778824" cy="694617"/>
            <a:chOff x="706588" y="1375915"/>
            <a:chExt cx="10778824" cy="69461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23AFD8-A2AF-FCD8-CC76-1F46AEB6FB30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 Medium" pitchFamily="2" charset="7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F2E201-09EF-51B5-5425-AB4BCBEE19F3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Digital Twinning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DCCA65-1AD6-E8FE-5822-AC86171368F4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What is a Digital Twin?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A7BF3B-FE25-5929-753B-2905ACE29825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AI &amp; Digital Twin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C7E0BFE-9531-AF10-6B28-4F555D4EB462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AF9FA04-F5BC-0F6F-8F36-72E093C273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511D86F-CEA1-1288-BDEA-827400332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701E2D4-71C5-8EBC-D7C5-907AEF3B9E21}"/>
              </a:ext>
            </a:extLst>
          </p:cNvPr>
          <p:cNvGrpSpPr/>
          <p:nvPr/>
        </p:nvGrpSpPr>
        <p:grpSpPr>
          <a:xfrm>
            <a:off x="991495" y="5499232"/>
            <a:ext cx="2879706" cy="442492"/>
            <a:chOff x="343772" y="165561"/>
            <a:chExt cx="5915883" cy="909028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6A8922C-EFBF-A196-5FF2-B13D6333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76" name="Picture 7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9D8A6583-1610-49AC-3672-CC2B77160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8D67CC6-0EF7-A63D-07FA-03BB230C9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008486A-6734-DD15-5710-BD4EE4FF9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115" y="2378547"/>
            <a:ext cx="1099552" cy="921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C959F-226C-B4DA-AC6D-8D779F2B3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8115" y="3393170"/>
            <a:ext cx="1099552" cy="9052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C3DE5B-45C3-6E88-FDA8-1C31CCAEBF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8115" y="4391258"/>
            <a:ext cx="1099551" cy="90527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4C6D343-329B-DCE4-B4A9-00D3AF25906F}"/>
              </a:ext>
            </a:extLst>
          </p:cNvPr>
          <p:cNvGrpSpPr/>
          <p:nvPr/>
        </p:nvGrpSpPr>
        <p:grpSpPr>
          <a:xfrm>
            <a:off x="2191850" y="2442691"/>
            <a:ext cx="1679351" cy="955100"/>
            <a:chOff x="2191850" y="2430769"/>
            <a:chExt cx="1679351" cy="9551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E65A2F-4A08-E24B-B76C-00F6D6D9A391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Medium" pitchFamily="2" charset="77"/>
                </a:rPr>
                <a:t>BIM Model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22637E-D746-B279-0F20-C5B4C3511A88}"/>
                </a:ext>
              </a:extLst>
            </p:cNvPr>
            <p:cNvSpPr txBox="1"/>
            <p:nvPr/>
          </p:nvSpPr>
          <p:spPr>
            <a:xfrm>
              <a:off x="2191850" y="2647205"/>
              <a:ext cx="167935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latin typeface="Montserrat Medium" pitchFamily="2" charset="77"/>
                </a:rPr>
                <a:t>As-designed building information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latin typeface="Montserrat Medium" pitchFamily="2" charset="77"/>
                </a:rPr>
                <a:t>Virtual models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FAA80D-2F03-17AC-0456-36FC3922193D}"/>
              </a:ext>
            </a:extLst>
          </p:cNvPr>
          <p:cNvGrpSpPr/>
          <p:nvPr/>
        </p:nvGrpSpPr>
        <p:grpSpPr>
          <a:xfrm>
            <a:off x="2191850" y="3529838"/>
            <a:ext cx="1808086" cy="793517"/>
            <a:chOff x="2191850" y="2430769"/>
            <a:chExt cx="1808086" cy="7935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FF4533-099B-31ED-DDE0-1E866EC26A8D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Medium" pitchFamily="2" charset="77"/>
                </a:rPr>
                <a:t>Point Cloud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6B7404-70DA-0094-76D6-F68F99D73939}"/>
                </a:ext>
              </a:extLst>
            </p:cNvPr>
            <p:cNvSpPr txBox="1"/>
            <p:nvPr/>
          </p:nvSpPr>
          <p:spPr>
            <a:xfrm>
              <a:off x="2191850" y="2647205"/>
              <a:ext cx="1808086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latin typeface="Montserrat Medium" pitchFamily="2" charset="77"/>
                </a:rPr>
                <a:t>Updated room layout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>
                  <a:latin typeface="Montserrat Medium" pitchFamily="2" charset="77"/>
                </a:rPr>
                <a:t>High resolution visuals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79FEF2-7A1F-EDE3-1198-A526E23CA903}"/>
              </a:ext>
            </a:extLst>
          </p:cNvPr>
          <p:cNvGrpSpPr/>
          <p:nvPr/>
        </p:nvGrpSpPr>
        <p:grpSpPr>
          <a:xfrm>
            <a:off x="2191850" y="4527926"/>
            <a:ext cx="1808086" cy="631934"/>
            <a:chOff x="2191850" y="2430769"/>
            <a:chExt cx="1808086" cy="63193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E12532-5E7F-14C7-2C5D-F0AAB5AB1AB0}"/>
                </a:ext>
              </a:extLst>
            </p:cNvPr>
            <p:cNvSpPr txBox="1"/>
            <p:nvPr/>
          </p:nvSpPr>
          <p:spPr>
            <a:xfrm>
              <a:off x="2191850" y="2430769"/>
              <a:ext cx="180808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Medium" pitchFamily="2" charset="77"/>
                </a:rPr>
                <a:t>Panorama Mode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C83841-46A2-4686-16B6-285ACEBDDA23}"/>
                </a:ext>
              </a:extLst>
            </p:cNvPr>
            <p:cNvSpPr txBox="1"/>
            <p:nvPr/>
          </p:nvSpPr>
          <p:spPr>
            <a:xfrm>
              <a:off x="2191850" y="2647205"/>
              <a:ext cx="1679351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Montserrat Medium" pitchFamily="2" charset="77"/>
                </a:rPr>
                <a:t>Actual physical environment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9F3C358-26E9-4D06-088F-5B108B6A61B3}"/>
              </a:ext>
            </a:extLst>
          </p:cNvPr>
          <p:cNvSpPr txBox="1"/>
          <p:nvPr/>
        </p:nvSpPr>
        <p:spPr>
          <a:xfrm>
            <a:off x="550862" y="-1557038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S.M.A.R.T. Digital Twin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2E18C-556D-D5B5-000E-F2A4BF1454F6}"/>
              </a:ext>
            </a:extLst>
          </p:cNvPr>
          <p:cNvSpPr/>
          <p:nvPr/>
        </p:nvSpPr>
        <p:spPr>
          <a:xfrm>
            <a:off x="706588" y="8153378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AD6A5-44AC-58E3-52A5-10737F39C08A}"/>
              </a:ext>
            </a:extLst>
          </p:cNvPr>
          <p:cNvSpPr/>
          <p:nvPr/>
        </p:nvSpPr>
        <p:spPr>
          <a:xfrm>
            <a:off x="4371240" y="9858897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74E00-2EF9-9E72-14F3-880B4EB4E148}"/>
              </a:ext>
            </a:extLst>
          </p:cNvPr>
          <p:cNvSpPr txBox="1"/>
          <p:nvPr/>
        </p:nvSpPr>
        <p:spPr>
          <a:xfrm>
            <a:off x="4499128" y="9956618"/>
            <a:ext cx="3160773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dirty="0"/>
              <a:t>Sensor types: Env. Sensor; Light Sensor; Noise Sensor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Data collection: PM 1, 2.5, 4, 10, temperature, humidity, air pressure, light intensity, sound, VOC, NOx, CO2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45C42C-B19D-ED06-C20B-82FF6CDBCB7A}"/>
              </a:ext>
            </a:extLst>
          </p:cNvPr>
          <p:cNvGrpSpPr/>
          <p:nvPr/>
        </p:nvGrpSpPr>
        <p:grpSpPr>
          <a:xfrm>
            <a:off x="706588" y="7314960"/>
            <a:ext cx="10778824" cy="650570"/>
            <a:chOff x="706588" y="1375915"/>
            <a:chExt cx="10778824" cy="65057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DFECD2-F7A9-1809-27DA-511A505464AD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4F176F-7B25-C355-59D1-8D9A75185321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958B4E-9464-0A8E-12CE-9AAB42F7F4A1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029CB5-A872-BB7D-5BDA-4D2766AE32D7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E0AE12-5ECF-1F28-6911-A70BEC9BEC22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FC3D0DA-F5D7-D1C1-A440-49DDD61FC8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BBABFAF-6BF7-18CB-B026-6E9301303D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EAFCC4-21CB-D539-3399-DF488A2328D4}"/>
              </a:ext>
            </a:extLst>
          </p:cNvPr>
          <p:cNvSpPr txBox="1"/>
          <p:nvPr/>
        </p:nvSpPr>
        <p:spPr>
          <a:xfrm>
            <a:off x="4447478" y="12623171"/>
            <a:ext cx="10855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Sensor product prototype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336ABD-E9D6-EA9E-185B-C02C8AE62571}"/>
              </a:ext>
            </a:extLst>
          </p:cNvPr>
          <p:cNvGrpSpPr/>
          <p:nvPr/>
        </p:nvGrpSpPr>
        <p:grpSpPr>
          <a:xfrm>
            <a:off x="5666699" y="11817321"/>
            <a:ext cx="751324" cy="685447"/>
            <a:chOff x="2055686" y="3823373"/>
            <a:chExt cx="751324" cy="68544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2C975A8-CDB8-62C9-73D5-CDB74ABD94E0}"/>
                </a:ext>
              </a:extLst>
            </p:cNvPr>
            <p:cNvSpPr/>
            <p:nvPr/>
          </p:nvSpPr>
          <p:spPr>
            <a:xfrm>
              <a:off x="2055686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1B021A0-7A8A-4BFA-A167-E6EC446A6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2033" t="16740" r="16775" b="15131"/>
            <a:stretch>
              <a:fillRect/>
            </a:stretch>
          </p:blipFill>
          <p:spPr>
            <a:xfrm>
              <a:off x="2145151" y="3882042"/>
              <a:ext cx="572394" cy="568108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0E93BC-99F4-FE7F-7F27-DC6009D072B5}"/>
              </a:ext>
            </a:extLst>
          </p:cNvPr>
          <p:cNvGrpSpPr/>
          <p:nvPr/>
        </p:nvGrpSpPr>
        <p:grpSpPr>
          <a:xfrm>
            <a:off x="6718799" y="11817321"/>
            <a:ext cx="751324" cy="685447"/>
            <a:chOff x="3078907" y="3823373"/>
            <a:chExt cx="751324" cy="68544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4B5B241-6A92-AB45-1309-20EE063A6244}"/>
                </a:ext>
              </a:extLst>
            </p:cNvPr>
            <p:cNvSpPr/>
            <p:nvPr/>
          </p:nvSpPr>
          <p:spPr>
            <a:xfrm>
              <a:off x="3078907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A9544F7-9E5C-8495-12E3-353516A7E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1843" y="4005928"/>
              <a:ext cx="685452" cy="320337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5B59171-BF4A-08F2-59D1-3C1260C55D43}"/>
              </a:ext>
            </a:extLst>
          </p:cNvPr>
          <p:cNvGrpSpPr/>
          <p:nvPr/>
        </p:nvGrpSpPr>
        <p:grpSpPr>
          <a:xfrm>
            <a:off x="4614599" y="11817321"/>
            <a:ext cx="751324" cy="685447"/>
            <a:chOff x="1032466" y="3823373"/>
            <a:chExt cx="751324" cy="68544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56FE79C-FD85-A35A-F429-782D84CF2123}"/>
                </a:ext>
              </a:extLst>
            </p:cNvPr>
            <p:cNvSpPr/>
            <p:nvPr/>
          </p:nvSpPr>
          <p:spPr>
            <a:xfrm>
              <a:off x="1032466" y="3823373"/>
              <a:ext cx="751324" cy="685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0B34E54-9F0D-C954-5AD3-3AD6DE74DF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35" r="6009"/>
            <a:stretch/>
          </p:blipFill>
          <p:spPr>
            <a:xfrm>
              <a:off x="1082403" y="3865155"/>
              <a:ext cx="651450" cy="601882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E2EBA54-41EA-8312-4FE1-8DB11F02E9D6}"/>
              </a:ext>
            </a:extLst>
          </p:cNvPr>
          <p:cNvSpPr txBox="1"/>
          <p:nvPr/>
        </p:nvSpPr>
        <p:spPr>
          <a:xfrm>
            <a:off x="5499578" y="12623171"/>
            <a:ext cx="1085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NYU IoT Network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9A9038-8D47-B082-F87D-7A3E71AF4A6A}"/>
              </a:ext>
            </a:extLst>
          </p:cNvPr>
          <p:cNvSpPr txBox="1"/>
          <p:nvPr/>
        </p:nvSpPr>
        <p:spPr>
          <a:xfrm>
            <a:off x="6551678" y="12623171"/>
            <a:ext cx="10855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Database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E13EF588-DE65-06C8-7631-8F1438B09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250456"/>
              </p:ext>
            </p:extLst>
          </p:nvPr>
        </p:nvGraphicFramePr>
        <p:xfrm>
          <a:off x="7960677" y="9985493"/>
          <a:ext cx="3343209" cy="3648032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114403">
                  <a:extLst>
                    <a:ext uri="{9D8B030D-6E8A-4147-A177-3AD203B41FA5}">
                      <a16:colId xmlns:a16="http://schemas.microsoft.com/office/drawing/2014/main" val="3601753519"/>
                    </a:ext>
                  </a:extLst>
                </a:gridCol>
                <a:gridCol w="1114403">
                  <a:extLst>
                    <a:ext uri="{9D8B030D-6E8A-4147-A177-3AD203B41FA5}">
                      <a16:colId xmlns:a16="http://schemas.microsoft.com/office/drawing/2014/main" val="2468631146"/>
                    </a:ext>
                  </a:extLst>
                </a:gridCol>
                <a:gridCol w="1114403">
                  <a:extLst>
                    <a:ext uri="{9D8B030D-6E8A-4147-A177-3AD203B41FA5}">
                      <a16:colId xmlns:a16="http://schemas.microsoft.com/office/drawing/2014/main" val="1788591611"/>
                    </a:ext>
                  </a:extLst>
                </a:gridCol>
              </a:tblGrid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effectLst/>
                        </a:rPr>
                        <a:t>Parameter</a:t>
                      </a:r>
                      <a:endParaRPr lang="en-US" sz="1100" dirty="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effectLst/>
                        </a:rPr>
                        <a:t>Sampling Time</a:t>
                      </a:r>
                      <a:endParaRPr lang="en-US" sz="1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effectLst/>
                        </a:rPr>
                        <a:t>Range </a:t>
                      </a:r>
                      <a:endParaRPr lang="en-US" sz="110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/>
                </a:tc>
                <a:extLst>
                  <a:ext uri="{0D108BD9-81ED-4DB2-BD59-A6C34878D82A}">
                    <a16:rowId xmlns:a16="http://schemas.microsoft.com/office/drawing/2014/main" val="3875017803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Temperature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-10 ~ 50 (°C)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283703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Humidity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0 ~ 90 (RH)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8120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Particulate Material (PM </a:t>
                      </a:r>
                      <a:b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1, 2.5, 4, 10)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0 ~ 1000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μg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/m³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78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VOC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0 ~ 500 VOC Index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4851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Temperature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-40 ~ 85 (°C)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42479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Humidity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0 ~ 100 (RH)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96921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Decibel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30 ~ 130 (dBA)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212608"/>
                  </a:ext>
                </a:extLst>
              </a:tr>
              <a:tr h="393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Light Intensity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60 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20090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0 ~ 65535 (lux)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755" marR="6875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2396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9ADB91A3-DC69-BD8A-3697-42EFFECD37E0}"/>
              </a:ext>
            </a:extLst>
          </p:cNvPr>
          <p:cNvGrpSpPr/>
          <p:nvPr/>
        </p:nvGrpSpPr>
        <p:grpSpPr>
          <a:xfrm>
            <a:off x="991495" y="11438277"/>
            <a:ext cx="2879706" cy="442492"/>
            <a:chOff x="343772" y="165561"/>
            <a:chExt cx="5915883" cy="90902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CE6D64C-A73E-17E8-A20A-B4169D1B2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49" name="Picture 48" descr="A close-up of a logo&#10;&#10;AI-generated content may be incorrect.">
              <a:extLst>
                <a:ext uri="{FF2B5EF4-FFF2-40B4-BE49-F238E27FC236}">
                  <a16:creationId xmlns:a16="http://schemas.microsoft.com/office/drawing/2014/main" id="{2E86D9ED-6ED6-2964-DB12-556D81B81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4EA77745-1E12-FEC1-A3E4-D7D536280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79295EF-FAE0-72A8-6BAF-8C41B3E93981}"/>
              </a:ext>
            </a:extLst>
          </p:cNvPr>
          <p:cNvSpPr txBox="1"/>
          <p:nvPr/>
        </p:nvSpPr>
        <p:spPr>
          <a:xfrm>
            <a:off x="913516" y="8415441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Scan Me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C5B10E-FF13-1136-E727-4405F2BAC3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5838" y="8967928"/>
            <a:ext cx="2155366" cy="2155366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4E0CC702-C943-4972-4980-A301E78E35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40008" y="12083741"/>
            <a:ext cx="152606" cy="152606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92EFEF20-D7EC-D0D1-D83C-C0EBFF3B27A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89780" y="12083741"/>
            <a:ext cx="152606" cy="152606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1CD7A8C-E060-F687-B42F-6D787D388544}"/>
              </a:ext>
            </a:extLst>
          </p:cNvPr>
          <p:cNvSpPr txBox="1"/>
          <p:nvPr/>
        </p:nvSpPr>
        <p:spPr>
          <a:xfrm>
            <a:off x="-8431091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AI Applications in our Digital Twin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BFA539-E8B0-67E1-D538-2E4D0387520E}"/>
              </a:ext>
            </a:extLst>
          </p:cNvPr>
          <p:cNvSpPr/>
          <p:nvPr/>
        </p:nvSpPr>
        <p:spPr>
          <a:xfrm>
            <a:off x="16194242" y="2214333"/>
            <a:ext cx="5228077" cy="35730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6951269-345E-F98D-2590-A1A73121DE06}"/>
              </a:ext>
            </a:extLst>
          </p:cNvPr>
          <p:cNvSpPr/>
          <p:nvPr/>
        </p:nvSpPr>
        <p:spPr>
          <a:xfrm>
            <a:off x="23049225" y="2214333"/>
            <a:ext cx="5224694" cy="35730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A319B4-5BA9-3C42-AF34-1159369959B7}"/>
              </a:ext>
            </a:extLst>
          </p:cNvPr>
          <p:cNvGrpSpPr/>
          <p:nvPr/>
        </p:nvGrpSpPr>
        <p:grpSpPr>
          <a:xfrm>
            <a:off x="13226835" y="1375915"/>
            <a:ext cx="10778824" cy="650570"/>
            <a:chOff x="706588" y="1375915"/>
            <a:chExt cx="10778824" cy="65057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E94BC65-4E78-4BBA-6D21-1442042FDEC8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3C723DD-F0FE-15A7-1B6D-7E7334CA7AA8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93F329-12BD-8E9B-F5CF-6BF6A24ADC79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E9F43C-D000-42F9-64FD-175B08D79AA6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1CF0513-C285-2255-6CB6-7E8C37CEEDF9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BBA3B1C-4550-7C56-4E36-E84DE56F1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7259D16-384D-0391-B368-540B6EAC42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2B2E3EF-3B1F-27BF-6EAB-84EB9E3F6B49}"/>
              </a:ext>
            </a:extLst>
          </p:cNvPr>
          <p:cNvGrpSpPr/>
          <p:nvPr/>
        </p:nvGrpSpPr>
        <p:grpSpPr>
          <a:xfrm>
            <a:off x="16479149" y="5974183"/>
            <a:ext cx="2879706" cy="442492"/>
            <a:chOff x="343772" y="165561"/>
            <a:chExt cx="5915883" cy="909028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0E0B392B-5ED6-475E-BB84-20098BC48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72" name="Picture 7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8ED2313A-9498-CA50-A9EA-27D336803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5B0065E-5628-1583-543A-F47CE8B3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7B0AD011-1475-C826-7DC2-A8FA5E6D0CF9}"/>
              </a:ext>
            </a:extLst>
          </p:cNvPr>
          <p:cNvSpPr txBox="1"/>
          <p:nvPr/>
        </p:nvSpPr>
        <p:spPr>
          <a:xfrm>
            <a:off x="23290424" y="2352596"/>
            <a:ext cx="4229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Application 2: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8512DF-AC10-9B39-E4BA-C37BFD368B3D}"/>
              </a:ext>
            </a:extLst>
          </p:cNvPr>
          <p:cNvSpPr txBox="1"/>
          <p:nvPr/>
        </p:nvSpPr>
        <p:spPr>
          <a:xfrm>
            <a:off x="16401170" y="2438296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Application 1: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1AE6C1-6880-7F03-8A6E-FCA8190755CF}"/>
              </a:ext>
            </a:extLst>
          </p:cNvPr>
          <p:cNvSpPr txBox="1"/>
          <p:nvPr/>
        </p:nvSpPr>
        <p:spPr>
          <a:xfrm>
            <a:off x="23290424" y="2684997"/>
            <a:ext cx="422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LLM-Assistant for Digital Twin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173599-645D-4419-7B67-F0EA1D2A43A9}"/>
              </a:ext>
            </a:extLst>
          </p:cNvPr>
          <p:cNvSpPr txBox="1"/>
          <p:nvPr/>
        </p:nvSpPr>
        <p:spPr>
          <a:xfrm>
            <a:off x="16401170" y="2770697"/>
            <a:ext cx="2595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Indoor Air Quality Prediction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E9623FE-12E4-4030-0DD7-6245E94A2C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479149" y="3150820"/>
            <a:ext cx="2402032" cy="243251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FB826C5F-2B4D-469C-BCB5-78837FA2D9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96409" y="3150820"/>
            <a:ext cx="4017612" cy="23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6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0DE7-42F9-C68A-A0E4-1454A1C1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9951C6-A83A-9AFE-4A69-BBD010408A4E}"/>
              </a:ext>
            </a:extLst>
          </p:cNvPr>
          <p:cNvSpPr txBox="1"/>
          <p:nvPr/>
        </p:nvSpPr>
        <p:spPr>
          <a:xfrm>
            <a:off x="550862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AI Applications in our Digital Twin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116254-E908-2B4D-DBB1-E1302DA38B59}"/>
              </a:ext>
            </a:extLst>
          </p:cNvPr>
          <p:cNvSpPr/>
          <p:nvPr/>
        </p:nvSpPr>
        <p:spPr>
          <a:xfrm>
            <a:off x="706588" y="2214333"/>
            <a:ext cx="5228077" cy="35730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2A4B4A-0032-36A4-8D48-239C48D27EFF}"/>
              </a:ext>
            </a:extLst>
          </p:cNvPr>
          <p:cNvSpPr/>
          <p:nvPr/>
        </p:nvSpPr>
        <p:spPr>
          <a:xfrm>
            <a:off x="6260718" y="2214333"/>
            <a:ext cx="5224694" cy="35730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64D3014-E8FC-E21C-0B08-13366518ADCC}"/>
              </a:ext>
            </a:extLst>
          </p:cNvPr>
          <p:cNvGrpSpPr/>
          <p:nvPr/>
        </p:nvGrpSpPr>
        <p:grpSpPr>
          <a:xfrm>
            <a:off x="706588" y="1375915"/>
            <a:ext cx="10778824" cy="650570"/>
            <a:chOff x="706588" y="1375915"/>
            <a:chExt cx="10778824" cy="65057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617D83-F086-2756-2CAC-CAE367EF04D2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22EAF9-D202-A28F-C328-47A81CEB86FC}"/>
                </a:ext>
              </a:extLst>
            </p:cNvPr>
            <p:cNvSpPr txBox="1"/>
            <p:nvPr/>
          </p:nvSpPr>
          <p:spPr>
            <a:xfrm>
              <a:off x="4980489" y="1547312"/>
              <a:ext cx="24397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Digital Twinning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52E325-F469-8A31-F3D7-C0AA6B5F4EB4}"/>
                </a:ext>
              </a:extLst>
            </p:cNvPr>
            <p:cNvSpPr txBox="1"/>
            <p:nvPr/>
          </p:nvSpPr>
          <p:spPr>
            <a:xfrm>
              <a:off x="1315837" y="1547312"/>
              <a:ext cx="24397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What is a Digital Twin?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82EB96-8A1B-8070-375D-343D3714A115}"/>
                </a:ext>
              </a:extLst>
            </p:cNvPr>
            <p:cNvSpPr txBox="1"/>
            <p:nvPr/>
          </p:nvSpPr>
          <p:spPr>
            <a:xfrm>
              <a:off x="8645141" y="1547312"/>
              <a:ext cx="243973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Montserrat Medium" pitchFamily="2" charset="77"/>
                </a:rPr>
                <a:t>AI &amp; Digital Twin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931D046-F2C0-FCE6-A354-ADB95DF93BD8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61A00D8-A879-B599-8429-948E5B15FB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DE60F0D-51E5-996A-7C97-CCA438AA9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DDDC517-9F00-D7B2-1BD3-764391D26C6E}"/>
              </a:ext>
            </a:extLst>
          </p:cNvPr>
          <p:cNvGrpSpPr/>
          <p:nvPr/>
        </p:nvGrpSpPr>
        <p:grpSpPr>
          <a:xfrm>
            <a:off x="991495" y="5974183"/>
            <a:ext cx="2879706" cy="442492"/>
            <a:chOff x="343772" y="165561"/>
            <a:chExt cx="5915883" cy="909028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A0E04BC-A6E0-E5B7-7796-D8212DF2A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76" name="Picture 7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F6FED775-1DA2-C82E-C11D-3B9EBA5CF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6066CC0-52FC-8E14-B8BB-D5B6FC2B0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1058A0-B869-B145-9B92-95FAF7C108C5}"/>
              </a:ext>
            </a:extLst>
          </p:cNvPr>
          <p:cNvSpPr txBox="1"/>
          <p:nvPr/>
        </p:nvSpPr>
        <p:spPr>
          <a:xfrm>
            <a:off x="6501917" y="2352596"/>
            <a:ext cx="4229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Application 2: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4D34E-1767-A766-7C72-36023A0D620D}"/>
              </a:ext>
            </a:extLst>
          </p:cNvPr>
          <p:cNvSpPr txBox="1"/>
          <p:nvPr/>
        </p:nvSpPr>
        <p:spPr>
          <a:xfrm>
            <a:off x="913516" y="2438296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Application 1: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F4667-F145-190B-8593-1987D8757552}"/>
              </a:ext>
            </a:extLst>
          </p:cNvPr>
          <p:cNvSpPr txBox="1"/>
          <p:nvPr/>
        </p:nvSpPr>
        <p:spPr>
          <a:xfrm>
            <a:off x="6501917" y="2684997"/>
            <a:ext cx="422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LLM-Assistant for Digital Twin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4183F-463F-CC7A-9CF4-9C8F889FAD96}"/>
              </a:ext>
            </a:extLst>
          </p:cNvPr>
          <p:cNvSpPr txBox="1"/>
          <p:nvPr/>
        </p:nvSpPr>
        <p:spPr>
          <a:xfrm>
            <a:off x="913516" y="2770697"/>
            <a:ext cx="3904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Indoor Air Quality Prediction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AAC6D7C-450C-D9C3-280A-0D2A454E3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495" y="3150820"/>
            <a:ext cx="2402032" cy="24325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AD37B58-447C-AD46-699A-5D1A69C35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902" y="3150820"/>
            <a:ext cx="4017612" cy="23654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CC38CB-72B6-3143-E299-4385DE842F81}"/>
              </a:ext>
            </a:extLst>
          </p:cNvPr>
          <p:cNvSpPr txBox="1"/>
          <p:nvPr/>
        </p:nvSpPr>
        <p:spPr>
          <a:xfrm>
            <a:off x="13000771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S.M.A.R.T. Digital Twin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6525D8-974A-4F7F-9F19-5779B4169E48}"/>
              </a:ext>
            </a:extLst>
          </p:cNvPr>
          <p:cNvSpPr/>
          <p:nvPr/>
        </p:nvSpPr>
        <p:spPr>
          <a:xfrm>
            <a:off x="-14340905" y="2214333"/>
            <a:ext cx="3449520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2D94F-3C17-4E43-8BE2-6B85B2C43959}"/>
              </a:ext>
            </a:extLst>
          </p:cNvPr>
          <p:cNvSpPr/>
          <p:nvPr/>
        </p:nvSpPr>
        <p:spPr>
          <a:xfrm>
            <a:off x="-10213854" y="2214333"/>
            <a:ext cx="7114172" cy="3901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AA5FE6-A087-C94E-5BE7-DE489E98CE5A}"/>
              </a:ext>
            </a:extLst>
          </p:cNvPr>
          <p:cNvGrpSpPr/>
          <p:nvPr/>
        </p:nvGrpSpPr>
        <p:grpSpPr>
          <a:xfrm>
            <a:off x="-11279209" y="1375915"/>
            <a:ext cx="10778824" cy="650570"/>
            <a:chOff x="706588" y="1375915"/>
            <a:chExt cx="10778824" cy="65057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61C8EF-10EA-D334-FAEB-9E1B3E938A03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A0BF0F-DAA3-2836-A717-B12434FE43B6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F79F58-8030-4A86-DDEB-D4DBA341F55F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30A0A2-6AD8-6DD3-E4E1-4B9F3BAAB711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2FBA29-DFE1-4FB6-733C-AB56367B0BF3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67D8CC7-C943-5603-3BCF-B1ABE9FB6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1D02EE6-DA1C-3405-759F-F062591EA2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0B34BC-501C-24C9-8133-B2907BBB2F29}"/>
              </a:ext>
            </a:extLst>
          </p:cNvPr>
          <p:cNvGrpSpPr/>
          <p:nvPr/>
        </p:nvGrpSpPr>
        <p:grpSpPr>
          <a:xfrm>
            <a:off x="-14055998" y="5499232"/>
            <a:ext cx="2879706" cy="442492"/>
            <a:chOff x="343772" y="165561"/>
            <a:chExt cx="5915883" cy="90902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578A2E9-8745-2F0C-86A1-4B8D29D95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21" name="Picture 20" descr="A close-up of a logo&#10;&#10;AI-generated content may be incorrect.">
              <a:extLst>
                <a:ext uri="{FF2B5EF4-FFF2-40B4-BE49-F238E27FC236}">
                  <a16:creationId xmlns:a16="http://schemas.microsoft.com/office/drawing/2014/main" id="{F572E283-FE83-3A54-A23F-96F4853EA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9AAC2C6-E88C-61B9-80FF-46C6192E1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1C6BC6E-7F74-A7A7-BA07-24E5A04970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159378" y="2378547"/>
            <a:ext cx="1099552" cy="92180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BF5401-6D8D-1A23-8CAE-A422654ED9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159378" y="3393170"/>
            <a:ext cx="1099552" cy="9052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5F783DF-4B15-15CD-7ACA-A6380D39C3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159378" y="4391258"/>
            <a:ext cx="1099551" cy="90527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A60A237-CAB1-F042-C246-6BA760A9D7BE}"/>
              </a:ext>
            </a:extLst>
          </p:cNvPr>
          <p:cNvGrpSpPr/>
          <p:nvPr/>
        </p:nvGrpSpPr>
        <p:grpSpPr>
          <a:xfrm>
            <a:off x="-12855643" y="2442691"/>
            <a:ext cx="1679351" cy="793517"/>
            <a:chOff x="2191850" y="2430769"/>
            <a:chExt cx="1679351" cy="7935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CCADFE9-BDAB-1AE9-DA10-F9ACB9BD2305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BIM Model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5E3B5DA-6667-8B48-D376-869578F1F2AA}"/>
                </a:ext>
              </a:extLst>
            </p:cNvPr>
            <p:cNvSpPr txBox="1"/>
            <p:nvPr/>
          </p:nvSpPr>
          <p:spPr>
            <a:xfrm>
              <a:off x="2191850" y="2647205"/>
              <a:ext cx="1679351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As-designed building information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Virtual models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C78827-EE41-419D-86D1-96C82A774F41}"/>
              </a:ext>
            </a:extLst>
          </p:cNvPr>
          <p:cNvGrpSpPr/>
          <p:nvPr/>
        </p:nvGrpSpPr>
        <p:grpSpPr>
          <a:xfrm>
            <a:off x="-12855643" y="3529838"/>
            <a:ext cx="1808086" cy="631934"/>
            <a:chOff x="2191850" y="2430769"/>
            <a:chExt cx="1808086" cy="63193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FBA983-2778-147E-5967-AA123F6EF255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Point Cloud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5B3B548-9A43-7364-8C8F-4D49F9A3FFBC}"/>
                </a:ext>
              </a:extLst>
            </p:cNvPr>
            <p:cNvSpPr txBox="1"/>
            <p:nvPr/>
          </p:nvSpPr>
          <p:spPr>
            <a:xfrm>
              <a:off x="2191850" y="2647205"/>
              <a:ext cx="1808086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Updated room layout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dirty="0"/>
                <a:t>High resolution visuals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537777-D958-E4CB-D4E0-733948532D00}"/>
              </a:ext>
            </a:extLst>
          </p:cNvPr>
          <p:cNvGrpSpPr/>
          <p:nvPr/>
        </p:nvGrpSpPr>
        <p:grpSpPr>
          <a:xfrm>
            <a:off x="-12855643" y="4527926"/>
            <a:ext cx="1679351" cy="631934"/>
            <a:chOff x="2191850" y="2430769"/>
            <a:chExt cx="1679351" cy="63193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FD93E9-596D-19C3-BB0B-35C962AE22CA}"/>
                </a:ext>
              </a:extLst>
            </p:cNvPr>
            <p:cNvSpPr txBox="1"/>
            <p:nvPr/>
          </p:nvSpPr>
          <p:spPr>
            <a:xfrm>
              <a:off x="2191850" y="2430769"/>
              <a:ext cx="16793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Panorama Mode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868664-AF4C-BBB4-1D74-B930C060C5B6}"/>
                </a:ext>
              </a:extLst>
            </p:cNvPr>
            <p:cNvSpPr txBox="1"/>
            <p:nvPr/>
          </p:nvSpPr>
          <p:spPr>
            <a:xfrm>
              <a:off x="2191850" y="2647205"/>
              <a:ext cx="1679351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/>
                <a:t>Actual physical environment</a:t>
              </a:r>
            </a:p>
          </p:txBody>
        </p:sp>
      </p:grpSp>
      <p:pic>
        <p:nvPicPr>
          <p:cNvPr id="42" name="Picture Placeholder 11">
            <a:extLst>
              <a:ext uri="{FF2B5EF4-FFF2-40B4-BE49-F238E27FC236}">
                <a16:creationId xmlns:a16="http://schemas.microsoft.com/office/drawing/2014/main" id="{6319C078-01EC-69A1-93DF-E7ABB13971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11883"/>
          <a:stretch>
            <a:fillRect/>
          </a:stretch>
        </p:blipFill>
        <p:spPr>
          <a:xfrm>
            <a:off x="0" y="85578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50D49E7-13A3-1212-B45A-3B336AF89D34}"/>
              </a:ext>
            </a:extLst>
          </p:cNvPr>
          <p:cNvSpPr/>
          <p:nvPr/>
        </p:nvSpPr>
        <p:spPr>
          <a:xfrm rot="10800000">
            <a:off x="0" y="85845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4189F51-BC14-6CEF-31D2-3659A85ED325}"/>
              </a:ext>
            </a:extLst>
          </p:cNvPr>
          <p:cNvSpPr/>
          <p:nvPr/>
        </p:nvSpPr>
        <p:spPr>
          <a:xfrm>
            <a:off x="10391005" y="122942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Picture Placeholder 34">
            <a:extLst>
              <a:ext uri="{FF2B5EF4-FFF2-40B4-BE49-F238E27FC236}">
                <a16:creationId xmlns:a16="http://schemas.microsoft.com/office/drawing/2014/main" id="{5645F46D-BFA8-91EE-A87C-50FB91C5BE22}"/>
              </a:ext>
            </a:extLst>
          </p:cNvPr>
          <p:cNvSpPr txBox="1">
            <a:spLocks/>
          </p:cNvSpPr>
          <p:nvPr/>
        </p:nvSpPr>
        <p:spPr>
          <a:xfrm>
            <a:off x="7673138" y="-4998540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8EBC705-9A93-3278-07B5-CD8DD311FA16}"/>
              </a:ext>
            </a:extLst>
          </p:cNvPr>
          <p:cNvSpPr/>
          <p:nvPr/>
        </p:nvSpPr>
        <p:spPr>
          <a:xfrm>
            <a:off x="7595062" y="-5083648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5D6976C-4129-B2E4-027B-B81B0B2DA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-4446848"/>
            <a:ext cx="1292123" cy="119652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5427556-68AB-E9EF-FE1C-63C68CEB2D15}"/>
              </a:ext>
            </a:extLst>
          </p:cNvPr>
          <p:cNvSpPr txBox="1"/>
          <p:nvPr/>
        </p:nvSpPr>
        <p:spPr>
          <a:xfrm>
            <a:off x="723900" y="11801822"/>
            <a:ext cx="109172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Robotics, Data Integration &amp; Ai : </a:t>
            </a:r>
            <a:br>
              <a:rPr lang="en-US" sz="4000" b="1" dirty="0">
                <a:solidFill>
                  <a:schemeClr val="bg1"/>
                </a:solidFill>
                <a:latin typeface="+mj-lt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</a:rPr>
              <a:t>Smart Construction Data Integration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994A775-A17D-C226-E876-3E2D2F4057E9}"/>
              </a:ext>
            </a:extLst>
          </p:cNvPr>
          <p:cNvGrpSpPr/>
          <p:nvPr/>
        </p:nvGrpSpPr>
        <p:grpSpPr>
          <a:xfrm>
            <a:off x="999355" y="-5684176"/>
            <a:ext cx="3324995" cy="3324994"/>
            <a:chOff x="999355" y="518747"/>
            <a:chExt cx="3324995" cy="3324994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C343F1A-5895-CA81-0326-6012E9C3C88A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0126872-6848-5DBF-FA5C-50784811FFC9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87C32E9-5488-F57C-EE0C-210D2B0094A6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468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76" b="29276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7061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Robotics, Data Integration &amp; Ai : </a:t>
            </a:r>
            <a:br>
              <a:rPr lang="en-US" sz="4000" b="1" dirty="0">
                <a:solidFill>
                  <a:schemeClr val="bg1"/>
                </a:solidFill>
                <a:latin typeface="+mj-lt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</a:rPr>
              <a:t>Smart Construction Data Integration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93670-5F88-B840-EF91-B3C8176D0ADF}"/>
              </a:ext>
            </a:extLst>
          </p:cNvPr>
          <p:cNvSpPr txBox="1"/>
          <p:nvPr/>
        </p:nvSpPr>
        <p:spPr>
          <a:xfrm>
            <a:off x="-8431091" y="441325"/>
            <a:ext cx="8431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AI Applications in our Digital Twin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D349A7-BD63-5AAC-4A29-F03DCE98369D}"/>
              </a:ext>
            </a:extLst>
          </p:cNvPr>
          <p:cNvSpPr/>
          <p:nvPr/>
        </p:nvSpPr>
        <p:spPr>
          <a:xfrm>
            <a:off x="16194242" y="2214333"/>
            <a:ext cx="5228077" cy="35730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13793-19D9-066F-BA1A-0FA01BB85C40}"/>
              </a:ext>
            </a:extLst>
          </p:cNvPr>
          <p:cNvSpPr/>
          <p:nvPr/>
        </p:nvSpPr>
        <p:spPr>
          <a:xfrm>
            <a:off x="23049225" y="2214333"/>
            <a:ext cx="5224694" cy="35730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3180C4-B9A1-E1D7-18E2-5B558DB25E11}"/>
              </a:ext>
            </a:extLst>
          </p:cNvPr>
          <p:cNvGrpSpPr/>
          <p:nvPr/>
        </p:nvGrpSpPr>
        <p:grpSpPr>
          <a:xfrm>
            <a:off x="13226835" y="1375915"/>
            <a:ext cx="10778824" cy="650570"/>
            <a:chOff x="706588" y="1375915"/>
            <a:chExt cx="10778824" cy="65057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74392A-E849-5D23-83FF-405F26C0AE0F}"/>
                </a:ext>
              </a:extLst>
            </p:cNvPr>
            <p:cNvSpPr/>
            <p:nvPr/>
          </p:nvSpPr>
          <p:spPr>
            <a:xfrm>
              <a:off x="706588" y="1375915"/>
              <a:ext cx="10778824" cy="6505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B057E0-82FA-A42B-5DB1-0BEA9EB0AC85}"/>
                </a:ext>
              </a:extLst>
            </p:cNvPr>
            <p:cNvSpPr txBox="1"/>
            <p:nvPr/>
          </p:nvSpPr>
          <p:spPr>
            <a:xfrm>
              <a:off x="4980490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Digital Twinning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9C285B-A682-2693-B9B5-40E69FCA0DC2}"/>
                </a:ext>
              </a:extLst>
            </p:cNvPr>
            <p:cNvSpPr txBox="1"/>
            <p:nvPr/>
          </p:nvSpPr>
          <p:spPr>
            <a:xfrm>
              <a:off x="1315838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What is a Digital Twin?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6EC561-B831-C41B-4CD6-67FC5D3D5299}"/>
                </a:ext>
              </a:extLst>
            </p:cNvPr>
            <p:cNvSpPr txBox="1"/>
            <p:nvPr/>
          </p:nvSpPr>
          <p:spPr>
            <a:xfrm>
              <a:off x="8645142" y="1547312"/>
              <a:ext cx="22310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AI &amp; Digital Twin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9E4872C-ECF0-5DA1-A2D9-0586B110727E}"/>
                </a:ext>
              </a:extLst>
            </p:cNvPr>
            <p:cNvGrpSpPr/>
            <p:nvPr/>
          </p:nvGrpSpPr>
          <p:grpSpPr>
            <a:xfrm>
              <a:off x="4263674" y="1497385"/>
              <a:ext cx="3679755" cy="407631"/>
              <a:chOff x="4263674" y="1497385"/>
              <a:chExt cx="3679755" cy="407631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EF77045-0B44-9F8B-E555-EF7E9BE3A9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429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917EDCE-83F1-94E9-91C2-FCA4B9669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3674" y="1497385"/>
                <a:ext cx="0" cy="40763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29F5CB-0EC0-7937-AAE7-189D49014A17}"/>
              </a:ext>
            </a:extLst>
          </p:cNvPr>
          <p:cNvGrpSpPr/>
          <p:nvPr/>
        </p:nvGrpSpPr>
        <p:grpSpPr>
          <a:xfrm>
            <a:off x="16479149" y="5974183"/>
            <a:ext cx="2879706" cy="442492"/>
            <a:chOff x="343772" y="165561"/>
            <a:chExt cx="5915883" cy="90902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783EE89-A517-A154-0B8A-189B1B3C8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815" y="165561"/>
              <a:ext cx="2458622" cy="909028"/>
            </a:xfrm>
            <a:prstGeom prst="rect">
              <a:avLst/>
            </a:prstGeom>
          </p:spPr>
        </p:pic>
        <p:pic>
          <p:nvPicPr>
            <p:cNvPr id="23" name="Picture 22" descr="A close-up of a logo&#10;&#10;AI-generated content may be incorrect.">
              <a:extLst>
                <a:ext uri="{FF2B5EF4-FFF2-40B4-BE49-F238E27FC236}">
                  <a16:creationId xmlns:a16="http://schemas.microsoft.com/office/drawing/2014/main" id="{45EBE9A9-612A-68AE-B49A-AEF506662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72" y="286363"/>
              <a:ext cx="2258846" cy="66742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F96F3CC-83C7-0566-FD86-7E2426343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5637" y="239386"/>
              <a:ext cx="744018" cy="761379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692FBBE-0C3E-1B74-B0FB-B994E5CC393D}"/>
              </a:ext>
            </a:extLst>
          </p:cNvPr>
          <p:cNvSpPr txBox="1"/>
          <p:nvPr/>
        </p:nvSpPr>
        <p:spPr>
          <a:xfrm>
            <a:off x="23290424" y="2352596"/>
            <a:ext cx="4229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Application 2: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5E0D79-6AC7-4775-7AE1-E16F34A79F7A}"/>
              </a:ext>
            </a:extLst>
          </p:cNvPr>
          <p:cNvSpPr txBox="1"/>
          <p:nvPr/>
        </p:nvSpPr>
        <p:spPr>
          <a:xfrm>
            <a:off x="16401170" y="2438296"/>
            <a:ext cx="259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Application 1: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4B3AA-573C-A011-E6FC-B4600A53D101}"/>
              </a:ext>
            </a:extLst>
          </p:cNvPr>
          <p:cNvSpPr txBox="1"/>
          <p:nvPr/>
        </p:nvSpPr>
        <p:spPr>
          <a:xfrm>
            <a:off x="23290424" y="2684997"/>
            <a:ext cx="422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LLM-Assistant for Digital Twin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6E8B14-B867-DFE8-401F-BA54CB0D72D7}"/>
              </a:ext>
            </a:extLst>
          </p:cNvPr>
          <p:cNvSpPr txBox="1"/>
          <p:nvPr/>
        </p:nvSpPr>
        <p:spPr>
          <a:xfrm>
            <a:off x="16401170" y="2770697"/>
            <a:ext cx="2595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Indoor Air Quality Prediction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DB49AB-DC9F-FB9B-D8AD-7B275B251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79149" y="3150820"/>
            <a:ext cx="2402032" cy="24325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F545581-93C9-FDF8-CFD2-7E378583C5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6409" y="3150820"/>
            <a:ext cx="4017612" cy="236545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1051B0D-7044-5274-9E24-03C4F88607FD}"/>
              </a:ext>
            </a:extLst>
          </p:cNvPr>
          <p:cNvGrpSpPr/>
          <p:nvPr/>
        </p:nvGrpSpPr>
        <p:grpSpPr>
          <a:xfrm>
            <a:off x="-7701082" y="1340441"/>
            <a:ext cx="6094070" cy="4253319"/>
            <a:chOff x="550863" y="1096259"/>
            <a:chExt cx="6094070" cy="425331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0FA5C5-24A2-254D-DD12-91E30091C4EE}"/>
                </a:ext>
              </a:extLst>
            </p:cNvPr>
            <p:cNvSpPr txBox="1"/>
            <p:nvPr/>
          </p:nvSpPr>
          <p:spPr>
            <a:xfrm>
              <a:off x="550863" y="1096259"/>
              <a:ext cx="554513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PK"/>
              </a:defPPr>
              <a:lvl1pPr>
                <a:defRPr sz="3600" b="1" spc="-150">
                  <a:solidFill>
                    <a:schemeClr val="accent1"/>
                  </a:solidFill>
                </a:defRPr>
              </a:lvl1pPr>
            </a:lstStyle>
            <a:p>
              <a:r>
                <a:rPr lang="en-US" dirty="0">
                  <a:latin typeface="+mj-lt"/>
                </a:rPr>
                <a:t>Existing Technologies Overview  | Limitations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428045-523C-5392-65AC-DA3559313A0B}"/>
                </a:ext>
              </a:extLst>
            </p:cNvPr>
            <p:cNvSpPr txBox="1"/>
            <p:nvPr/>
          </p:nvSpPr>
          <p:spPr>
            <a:xfrm>
              <a:off x="550863" y="2348756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General limitations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F98CFC-A475-BE7A-1A33-8F3E8D5C4868}"/>
                </a:ext>
              </a:extLst>
            </p:cNvPr>
            <p:cNvSpPr txBox="1"/>
            <p:nvPr/>
          </p:nvSpPr>
          <p:spPr>
            <a:xfrm>
              <a:off x="550863" y="2718088"/>
              <a:ext cx="5545137" cy="2631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Ingestion breadth - docs, drawings, schedules, video, sensors.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Spatial grounding - room/zone, alignment to BIM, SLAM support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Progress accuracy - by trade/room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Explainability - evidence links per claim.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Prescription quality - concrete next steps, conflicts resolved.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Orchestration - automated routing to the right people/channels.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Latency - capture to decision forming decision time.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APIs/Export - data ownership, schema clarity.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Security/Deployment - on-premises, data residency.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Total cost of ownership - licenses + ops + change management.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00C47F3A-521F-ED6A-84EF-BE529D01AD0A}"/>
              </a:ext>
            </a:extLst>
          </p:cNvPr>
          <p:cNvSpPr/>
          <p:nvPr/>
        </p:nvSpPr>
        <p:spPr>
          <a:xfrm>
            <a:off x="9353550" y="7801595"/>
            <a:ext cx="28384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36" name="Picture Placeholder 3">
            <a:extLst>
              <a:ext uri="{FF2B5EF4-FFF2-40B4-BE49-F238E27FC236}">
                <a16:creationId xmlns:a16="http://schemas.microsoft.com/office/drawing/2014/main" id="{967B8CC3-9CBA-6669-8778-975A96D658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4" r="32654"/>
          <a:stretch>
            <a:fillRect/>
          </a:stretch>
        </p:blipFill>
        <p:spPr>
          <a:xfrm>
            <a:off x="6275282" y="7801595"/>
            <a:ext cx="3569110" cy="685800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9C9FC94-826C-DEF5-347B-597B6E8F92DC}"/>
              </a:ext>
            </a:extLst>
          </p:cNvPr>
          <p:cNvSpPr/>
          <p:nvPr/>
        </p:nvSpPr>
        <p:spPr>
          <a:xfrm>
            <a:off x="20188102" y="793320"/>
            <a:ext cx="3162802" cy="35992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1B0399-35D6-5DCD-B4D5-C5F26A7AFA10}"/>
              </a:ext>
            </a:extLst>
          </p:cNvPr>
          <p:cNvGrpSpPr/>
          <p:nvPr/>
        </p:nvGrpSpPr>
        <p:grpSpPr>
          <a:xfrm>
            <a:off x="20583887" y="979519"/>
            <a:ext cx="2371232" cy="3226837"/>
            <a:chOff x="425836" y="1912816"/>
            <a:chExt cx="3206504" cy="436349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5776A86-D4C2-33AB-9DFD-D79C71D2785C}"/>
                </a:ext>
              </a:extLst>
            </p:cNvPr>
            <p:cNvGrpSpPr/>
            <p:nvPr/>
          </p:nvGrpSpPr>
          <p:grpSpPr>
            <a:xfrm>
              <a:off x="425836" y="1912816"/>
              <a:ext cx="3074998" cy="660541"/>
              <a:chOff x="596126" y="1903847"/>
              <a:chExt cx="3074998" cy="660541"/>
            </a:xfrm>
          </p:grpSpPr>
          <p:pic>
            <p:nvPicPr>
              <p:cNvPr id="51" name="Picture 4" descr="Oracle Aconex software services implementation at best price in Thane">
                <a:extLst>
                  <a:ext uri="{FF2B5EF4-FFF2-40B4-BE49-F238E27FC236}">
                    <a16:creationId xmlns:a16="http://schemas.microsoft.com/office/drawing/2014/main" id="{6FDC94FE-1D09-45A9-F7DA-260D7149DF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9323" y="1903847"/>
                <a:ext cx="1171801" cy="6605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6" descr="Zepth - Construction Management Platform - Crunchbase Company Profile &amp;  Funding">
                <a:extLst>
                  <a:ext uri="{FF2B5EF4-FFF2-40B4-BE49-F238E27FC236}">
                    <a16:creationId xmlns:a16="http://schemas.microsoft.com/office/drawing/2014/main" id="{C0E495A9-B559-681F-95BC-C237D2E88E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218" b="31017"/>
              <a:stretch/>
            </p:blipFill>
            <p:spPr bwMode="auto">
              <a:xfrm>
                <a:off x="596126" y="1915462"/>
                <a:ext cx="1443467" cy="5740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" name="Picture 8" descr="Buildots - Performance-Driven Construction Management">
              <a:extLst>
                <a:ext uri="{FF2B5EF4-FFF2-40B4-BE49-F238E27FC236}">
                  <a16:creationId xmlns:a16="http://schemas.microsoft.com/office/drawing/2014/main" id="{AE662891-4183-1DA7-BD67-EC85D1720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10" y="5642095"/>
              <a:ext cx="1527793" cy="634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AFD0573-5CD9-8DED-574A-3617EDF7E65A}"/>
                </a:ext>
              </a:extLst>
            </p:cNvPr>
            <p:cNvGrpSpPr/>
            <p:nvPr/>
          </p:nvGrpSpPr>
          <p:grpSpPr>
            <a:xfrm>
              <a:off x="496142" y="3031459"/>
              <a:ext cx="3119456" cy="677561"/>
              <a:chOff x="697598" y="3031459"/>
              <a:chExt cx="3012644" cy="654361"/>
            </a:xfrm>
          </p:grpSpPr>
          <p:pic>
            <p:nvPicPr>
              <p:cNvPr id="49" name="Picture 10" descr="Disperse - Northzone multi-stage venture capital fund">
                <a:extLst>
                  <a:ext uri="{FF2B5EF4-FFF2-40B4-BE49-F238E27FC236}">
                    <a16:creationId xmlns:a16="http://schemas.microsoft.com/office/drawing/2014/main" id="{8479213A-75A6-45D8-48B6-EC7DEE30AF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520" y="3199818"/>
                <a:ext cx="1308722" cy="3041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12" descr="OpenSpace | Autodesk AECO Technology Partner Ecosystem">
                <a:extLst>
                  <a:ext uri="{FF2B5EF4-FFF2-40B4-BE49-F238E27FC236}">
                    <a16:creationId xmlns:a16="http://schemas.microsoft.com/office/drawing/2014/main" id="{A306A687-CCBA-7F3F-691D-19CE154213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598" y="3031459"/>
                <a:ext cx="1308722" cy="654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2" name="Picture 14" descr="ALICE Technologies Extends Funding Series B Round to Access $47M in Capital">
              <a:extLst>
                <a:ext uri="{FF2B5EF4-FFF2-40B4-BE49-F238E27FC236}">
                  <a16:creationId xmlns:a16="http://schemas.microsoft.com/office/drawing/2014/main" id="{FA597C9A-28A7-44BD-58A9-390A848D67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40" b="22875"/>
            <a:stretch/>
          </p:blipFill>
          <p:spPr bwMode="auto">
            <a:xfrm>
              <a:off x="2329033" y="5802282"/>
              <a:ext cx="1303307" cy="372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0187590-7C73-060E-8BFC-737475840646}"/>
                </a:ext>
              </a:extLst>
            </p:cNvPr>
            <p:cNvGrpSpPr/>
            <p:nvPr/>
          </p:nvGrpSpPr>
          <p:grpSpPr>
            <a:xfrm>
              <a:off x="496142" y="4009458"/>
              <a:ext cx="2922394" cy="795959"/>
              <a:chOff x="697739" y="4009035"/>
              <a:chExt cx="2815442" cy="766829"/>
            </a:xfrm>
          </p:grpSpPr>
          <p:pic>
            <p:nvPicPr>
              <p:cNvPr id="47" name="Picture 18" descr="Touchplan - Pricing, Features, and Details in 2025">
                <a:extLst>
                  <a:ext uri="{FF2B5EF4-FFF2-40B4-BE49-F238E27FC236}">
                    <a16:creationId xmlns:a16="http://schemas.microsoft.com/office/drawing/2014/main" id="{3062191F-CED1-E7B9-316E-8547F40A66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352" y="4009035"/>
                <a:ext cx="766829" cy="76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20" descr="Visual Project Management Technology - Products">
                <a:extLst>
                  <a:ext uri="{FF2B5EF4-FFF2-40B4-BE49-F238E27FC236}">
                    <a16:creationId xmlns:a16="http://schemas.microsoft.com/office/drawing/2014/main" id="{BC18B597-B92B-8F6E-6D8E-E97707E5DD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739" y="4151740"/>
                <a:ext cx="1430364" cy="4591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CC5AD57-A73B-047A-0A9C-53CA73A31588}"/>
                </a:ext>
              </a:extLst>
            </p:cNvPr>
            <p:cNvGrpSpPr/>
            <p:nvPr/>
          </p:nvGrpSpPr>
          <p:grpSpPr>
            <a:xfrm>
              <a:off x="496142" y="5037927"/>
              <a:ext cx="3022834" cy="452432"/>
              <a:chOff x="496141" y="5020284"/>
              <a:chExt cx="3695625" cy="553130"/>
            </a:xfrm>
          </p:grpSpPr>
          <p:pic>
            <p:nvPicPr>
              <p:cNvPr id="45" name="Picture 2" descr="Microsoft Power BI: Data Aanalysis y Visualization for your Business -  TechsBCN">
                <a:extLst>
                  <a:ext uri="{FF2B5EF4-FFF2-40B4-BE49-F238E27FC236}">
                    <a16:creationId xmlns:a16="http://schemas.microsoft.com/office/drawing/2014/main" id="{DC1F9DAA-2E61-7E95-3C00-E5AD9972BA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84" t="33343" r="22305" b="34142"/>
              <a:stretch/>
            </p:blipFill>
            <p:spPr bwMode="auto">
              <a:xfrm>
                <a:off x="2598382" y="5020284"/>
                <a:ext cx="1593384" cy="5531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22" descr="Planifi Web – Planifi">
                <a:extLst>
                  <a:ext uri="{FF2B5EF4-FFF2-40B4-BE49-F238E27FC236}">
                    <a16:creationId xmlns:a16="http://schemas.microsoft.com/office/drawing/2014/main" id="{D7276B00-B4DB-426D-8EBB-7DF0614B01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6141" y="5036591"/>
                <a:ext cx="1592833" cy="4639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35E3E2D-2A21-2A90-B79D-BEA4E53B89D3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FD2ABB8-F7EF-5F1D-AE75-7C2B4D1A3A35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C82663-A6CB-1E21-AB7E-AFE92F4F9A92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D94AE59-BA28-95E7-9130-7FCA8E397B66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549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ED76D5-DCC5-4CC8-BA15-CAE26938BFDA}"/>
              </a:ext>
            </a:extLst>
          </p:cNvPr>
          <p:cNvSpPr/>
          <p:nvPr/>
        </p:nvSpPr>
        <p:spPr>
          <a:xfrm>
            <a:off x="9353550" y="0"/>
            <a:ext cx="28384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FCC46E2F-3DA7-483F-B03C-85FBA87D42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4" r="32654"/>
          <a:stretch>
            <a:fillRect/>
          </a:stretch>
        </p:blipFill>
        <p:spPr/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07E3C91-FCAE-C969-6BD1-BF5CB841D35F}"/>
              </a:ext>
            </a:extLst>
          </p:cNvPr>
          <p:cNvGrpSpPr/>
          <p:nvPr/>
        </p:nvGrpSpPr>
        <p:grpSpPr>
          <a:xfrm>
            <a:off x="550863" y="1340441"/>
            <a:ext cx="6094070" cy="4253319"/>
            <a:chOff x="550863" y="1096259"/>
            <a:chExt cx="6094070" cy="42533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E3F025-F85D-8BEC-0A41-171DFCDA0AEE}"/>
                </a:ext>
              </a:extLst>
            </p:cNvPr>
            <p:cNvSpPr txBox="1"/>
            <p:nvPr/>
          </p:nvSpPr>
          <p:spPr>
            <a:xfrm>
              <a:off x="550863" y="1096259"/>
              <a:ext cx="554513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PK"/>
              </a:defPPr>
              <a:lvl1pPr>
                <a:defRPr sz="3600" b="1" spc="-150">
                  <a:solidFill>
                    <a:schemeClr val="accent1"/>
                  </a:solidFill>
                </a:defRPr>
              </a:lvl1pPr>
            </a:lstStyle>
            <a:p>
              <a:r>
                <a:rPr lang="en-US" dirty="0">
                  <a:latin typeface="+mj-lt"/>
                </a:rPr>
                <a:t>Existing Technologies Overview  | Limitations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430AA9-F53F-20BF-6BB9-78BB2BE62FB6}"/>
                </a:ext>
              </a:extLst>
            </p:cNvPr>
            <p:cNvSpPr txBox="1"/>
            <p:nvPr/>
          </p:nvSpPr>
          <p:spPr>
            <a:xfrm>
              <a:off x="550863" y="2348756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+mj-lt"/>
                </a:rPr>
                <a:t>General limitations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D40633-E5FC-6285-DB17-D02CEA24F02D}"/>
                </a:ext>
              </a:extLst>
            </p:cNvPr>
            <p:cNvSpPr txBox="1"/>
            <p:nvPr/>
          </p:nvSpPr>
          <p:spPr>
            <a:xfrm>
              <a:off x="550863" y="2718088"/>
              <a:ext cx="5545137" cy="2631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Ingestion breadth - docs, drawings, schedules, video, sensors.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Spatial grounding - room/zone, alignment to BIM, SLAM support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Progress accuracy - by trade/room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Explainability - evidence links per claim.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Prescription quality - concrete next steps, conflicts resolved.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Orchestration - automated routing to the right people/channels.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Latency - capture to decision forming decision time.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APIs/Export - data ownership, schema clarity.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Security/Deployment - on-premises, data residency.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Montserrat Light" pitchFamily="2" charset="77"/>
                </a:rPr>
                <a:t>Total cost of ownership - licenses + ops + change management.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91A86D2-F4E1-2B79-63F4-4645A671BA22}"/>
              </a:ext>
            </a:extLst>
          </p:cNvPr>
          <p:cNvSpPr/>
          <p:nvPr/>
        </p:nvSpPr>
        <p:spPr>
          <a:xfrm>
            <a:off x="8478336" y="1629382"/>
            <a:ext cx="3162802" cy="35992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0B1134-56D7-54BD-0325-A1C302B38456}"/>
              </a:ext>
            </a:extLst>
          </p:cNvPr>
          <p:cNvGrpSpPr/>
          <p:nvPr/>
        </p:nvGrpSpPr>
        <p:grpSpPr>
          <a:xfrm>
            <a:off x="8874121" y="1815581"/>
            <a:ext cx="2371232" cy="3226837"/>
            <a:chOff x="425836" y="1912816"/>
            <a:chExt cx="3206504" cy="436349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DD31B23-20C8-D767-7BF5-E9CC76450E1C}"/>
                </a:ext>
              </a:extLst>
            </p:cNvPr>
            <p:cNvGrpSpPr/>
            <p:nvPr/>
          </p:nvGrpSpPr>
          <p:grpSpPr>
            <a:xfrm>
              <a:off x="425836" y="1912816"/>
              <a:ext cx="3074998" cy="660541"/>
              <a:chOff x="596126" y="1903847"/>
              <a:chExt cx="3074998" cy="660541"/>
            </a:xfrm>
          </p:grpSpPr>
          <p:pic>
            <p:nvPicPr>
              <p:cNvPr id="29" name="Picture 4" descr="Oracle Aconex software services implementation at best price in Thane">
                <a:extLst>
                  <a:ext uri="{FF2B5EF4-FFF2-40B4-BE49-F238E27FC236}">
                    <a16:creationId xmlns:a16="http://schemas.microsoft.com/office/drawing/2014/main" id="{D77D2C15-DF9D-C053-E418-C352BEB597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9323" y="1903847"/>
                <a:ext cx="1171801" cy="6605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6" descr="Zepth - Construction Management Platform - Crunchbase Company Profile &amp;  Funding">
                <a:extLst>
                  <a:ext uri="{FF2B5EF4-FFF2-40B4-BE49-F238E27FC236}">
                    <a16:creationId xmlns:a16="http://schemas.microsoft.com/office/drawing/2014/main" id="{23ECEE27-EB99-7D07-4B5D-D92870F138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218" b="31017"/>
              <a:stretch/>
            </p:blipFill>
            <p:spPr bwMode="auto">
              <a:xfrm>
                <a:off x="596126" y="1915462"/>
                <a:ext cx="1443467" cy="5740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8" name="Picture 8" descr="Buildots - Performance-Driven Construction Management">
              <a:extLst>
                <a:ext uri="{FF2B5EF4-FFF2-40B4-BE49-F238E27FC236}">
                  <a16:creationId xmlns:a16="http://schemas.microsoft.com/office/drawing/2014/main" id="{A3BC995A-033D-D767-124A-4715CF25D5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10" y="5642095"/>
              <a:ext cx="1527793" cy="634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D9F0387-69EE-7077-1954-AC077380B879}"/>
                </a:ext>
              </a:extLst>
            </p:cNvPr>
            <p:cNvGrpSpPr/>
            <p:nvPr/>
          </p:nvGrpSpPr>
          <p:grpSpPr>
            <a:xfrm>
              <a:off x="496142" y="3031459"/>
              <a:ext cx="3119456" cy="677561"/>
              <a:chOff x="697598" y="3031459"/>
              <a:chExt cx="3012644" cy="654361"/>
            </a:xfrm>
          </p:grpSpPr>
          <p:pic>
            <p:nvPicPr>
              <p:cNvPr id="27" name="Picture 10" descr="Disperse - Northzone multi-stage venture capital fund">
                <a:extLst>
                  <a:ext uri="{FF2B5EF4-FFF2-40B4-BE49-F238E27FC236}">
                    <a16:creationId xmlns:a16="http://schemas.microsoft.com/office/drawing/2014/main" id="{894A9389-00DC-FC4C-3996-99C46E474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520" y="3199818"/>
                <a:ext cx="1308722" cy="3041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12" descr="OpenSpace | Autodesk AECO Technology Partner Ecosystem">
                <a:extLst>
                  <a:ext uri="{FF2B5EF4-FFF2-40B4-BE49-F238E27FC236}">
                    <a16:creationId xmlns:a16="http://schemas.microsoft.com/office/drawing/2014/main" id="{FB213FC4-EEC8-6DD7-7A21-AD841F0CBD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598" y="3031459"/>
                <a:ext cx="1308722" cy="654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0" name="Picture 14" descr="ALICE Technologies Extends Funding Series B Round to Access $47M in Capital">
              <a:extLst>
                <a:ext uri="{FF2B5EF4-FFF2-40B4-BE49-F238E27FC236}">
                  <a16:creationId xmlns:a16="http://schemas.microsoft.com/office/drawing/2014/main" id="{ECB101A0-FBB4-F194-AEB5-848466BBA4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40" b="22875"/>
            <a:stretch/>
          </p:blipFill>
          <p:spPr bwMode="auto">
            <a:xfrm>
              <a:off x="2329033" y="5802282"/>
              <a:ext cx="1303307" cy="372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8A18FB3-17B2-532D-8100-E2B228F1BAF0}"/>
                </a:ext>
              </a:extLst>
            </p:cNvPr>
            <p:cNvGrpSpPr/>
            <p:nvPr/>
          </p:nvGrpSpPr>
          <p:grpSpPr>
            <a:xfrm>
              <a:off x="496142" y="4009458"/>
              <a:ext cx="2922394" cy="795959"/>
              <a:chOff x="697739" y="4009035"/>
              <a:chExt cx="2815442" cy="766829"/>
            </a:xfrm>
          </p:grpSpPr>
          <p:pic>
            <p:nvPicPr>
              <p:cNvPr id="25" name="Picture 18" descr="Touchplan - Pricing, Features, and Details in 2025">
                <a:extLst>
                  <a:ext uri="{FF2B5EF4-FFF2-40B4-BE49-F238E27FC236}">
                    <a16:creationId xmlns:a16="http://schemas.microsoft.com/office/drawing/2014/main" id="{8120EC54-5FE6-41E8-8C54-2364562619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352" y="4009035"/>
                <a:ext cx="766829" cy="76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0" descr="Visual Project Management Technology - Products">
                <a:extLst>
                  <a:ext uri="{FF2B5EF4-FFF2-40B4-BE49-F238E27FC236}">
                    <a16:creationId xmlns:a16="http://schemas.microsoft.com/office/drawing/2014/main" id="{4F3EC464-3BF5-783B-5EC3-B80A090637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739" y="4151740"/>
                <a:ext cx="1430364" cy="4591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B1AD86C-494F-388E-AEA3-3849A62D479D}"/>
                </a:ext>
              </a:extLst>
            </p:cNvPr>
            <p:cNvGrpSpPr/>
            <p:nvPr/>
          </p:nvGrpSpPr>
          <p:grpSpPr>
            <a:xfrm>
              <a:off x="496142" y="5037927"/>
              <a:ext cx="3022834" cy="452432"/>
              <a:chOff x="496141" y="5020284"/>
              <a:chExt cx="3695625" cy="553130"/>
            </a:xfrm>
          </p:grpSpPr>
          <p:pic>
            <p:nvPicPr>
              <p:cNvPr id="23" name="Picture 2" descr="Microsoft Power BI: Data Aanalysis y Visualization for your Business -  TechsBCN">
                <a:extLst>
                  <a:ext uri="{FF2B5EF4-FFF2-40B4-BE49-F238E27FC236}">
                    <a16:creationId xmlns:a16="http://schemas.microsoft.com/office/drawing/2014/main" id="{F42122DC-7C00-D73D-B9C3-6B95230822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84" t="33343" r="22305" b="34142"/>
              <a:stretch/>
            </p:blipFill>
            <p:spPr bwMode="auto">
              <a:xfrm>
                <a:off x="2598382" y="5020284"/>
                <a:ext cx="1593384" cy="5531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22" descr="Planifi Web – Planifi">
                <a:extLst>
                  <a:ext uri="{FF2B5EF4-FFF2-40B4-BE49-F238E27FC236}">
                    <a16:creationId xmlns:a16="http://schemas.microsoft.com/office/drawing/2014/main" id="{B8A98CF5-7B56-C729-CA8E-31A3F7D6AE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6141" y="5036591"/>
                <a:ext cx="1592833" cy="4639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" name="Picture Placeholder 11">
            <a:extLst>
              <a:ext uri="{FF2B5EF4-FFF2-40B4-BE49-F238E27FC236}">
                <a16:creationId xmlns:a16="http://schemas.microsoft.com/office/drawing/2014/main" id="{E5852C03-2C18-30DA-4A7D-A60338F4B4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11883"/>
          <a:stretch>
            <a:fillRect/>
          </a:stretch>
        </p:blipFill>
        <p:spPr>
          <a:xfrm>
            <a:off x="-13129846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2D46084-1D24-D060-19E8-18E4373DBC22}"/>
              </a:ext>
            </a:extLst>
          </p:cNvPr>
          <p:cNvSpPr/>
          <p:nvPr/>
        </p:nvSpPr>
        <p:spPr>
          <a:xfrm rot="10800000">
            <a:off x="-13129846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47F8B1-91AA-5188-AB52-CEEA8F2B1761}"/>
              </a:ext>
            </a:extLst>
          </p:cNvPr>
          <p:cNvSpPr/>
          <p:nvPr/>
        </p:nvSpPr>
        <p:spPr>
          <a:xfrm>
            <a:off x="14938670" y="457340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9F00FEEB-D389-7238-905A-1BC00400B6BE}"/>
              </a:ext>
            </a:extLst>
          </p:cNvPr>
          <p:cNvSpPr txBox="1">
            <a:spLocks/>
          </p:cNvSpPr>
          <p:nvPr/>
        </p:nvSpPr>
        <p:spPr>
          <a:xfrm>
            <a:off x="15546231" y="42421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866CCA6-F291-1E92-9166-3A106E117E87}"/>
              </a:ext>
            </a:extLst>
          </p:cNvPr>
          <p:cNvSpPr/>
          <p:nvPr/>
        </p:nvSpPr>
        <p:spPr>
          <a:xfrm>
            <a:off x="15468155" y="33910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D0E7A3-4C28-F8AD-92B8-EC17ADAC6C7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15955107" y="975907"/>
            <a:ext cx="1292123" cy="1196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148E58-BCE6-9555-4D9E-7F856709E419}"/>
              </a:ext>
            </a:extLst>
          </p:cNvPr>
          <p:cNvSpPr txBox="1"/>
          <p:nvPr/>
        </p:nvSpPr>
        <p:spPr>
          <a:xfrm>
            <a:off x="-12405946" y="4791422"/>
            <a:ext cx="10399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Robotics, Data Integration &amp; Ai : </a:t>
            </a:r>
            <a:br>
              <a:rPr lang="en-US" sz="4000" b="1" dirty="0">
                <a:solidFill>
                  <a:schemeClr val="bg1"/>
                </a:solidFill>
                <a:latin typeface="+mj-lt"/>
              </a:rPr>
            </a:br>
            <a:r>
              <a:rPr lang="en-US" sz="4000" b="1" dirty="0">
                <a:solidFill>
                  <a:schemeClr val="bg1"/>
                </a:solidFill>
                <a:latin typeface="+mj-lt"/>
              </a:rPr>
              <a:t>Smart Construction Data Integration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304C97-3204-839F-AC45-31BEC84DB346}"/>
              </a:ext>
            </a:extLst>
          </p:cNvPr>
          <p:cNvSpPr txBox="1"/>
          <p:nvPr/>
        </p:nvSpPr>
        <p:spPr>
          <a:xfrm>
            <a:off x="550862" y="-1503214"/>
            <a:ext cx="11437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chemeClr val="accent1"/>
                </a:solidFill>
                <a:latin typeface="+mj-lt"/>
              </a:rPr>
              <a:t>Research Directions| Towards Multi Source Data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C6DBD6-68BB-5BCB-C775-FD9D0E3CDE9F}"/>
              </a:ext>
            </a:extLst>
          </p:cNvPr>
          <p:cNvSpPr/>
          <p:nvPr/>
        </p:nvSpPr>
        <p:spPr>
          <a:xfrm>
            <a:off x="708894" y="7571886"/>
            <a:ext cx="3884509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3D1431-1D3E-1B75-24DD-3DA8964A1E1D}"/>
              </a:ext>
            </a:extLst>
          </p:cNvPr>
          <p:cNvSpPr/>
          <p:nvPr/>
        </p:nvSpPr>
        <p:spPr>
          <a:xfrm>
            <a:off x="4756214" y="9737615"/>
            <a:ext cx="2679571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AFDE70-993C-9C95-20C8-75D13BD7A8D3}"/>
              </a:ext>
            </a:extLst>
          </p:cNvPr>
          <p:cNvSpPr/>
          <p:nvPr/>
        </p:nvSpPr>
        <p:spPr>
          <a:xfrm>
            <a:off x="7598597" y="12056333"/>
            <a:ext cx="3884509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EB8E68-AA7C-CAF5-CDEF-5399F640D885}"/>
              </a:ext>
            </a:extLst>
          </p:cNvPr>
          <p:cNvSpPr txBox="1"/>
          <p:nvPr/>
        </p:nvSpPr>
        <p:spPr>
          <a:xfrm>
            <a:off x="798765" y="7780919"/>
            <a:ext cx="3136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Multi-Source/ </a:t>
            </a:r>
            <a:br>
              <a:rPr lang="en-US" sz="1600" b="1" dirty="0">
                <a:solidFill>
                  <a:schemeClr val="accent1"/>
                </a:solidFill>
              </a:rPr>
            </a:br>
            <a:r>
              <a:rPr lang="en-US" sz="1600" b="1" dirty="0">
                <a:solidFill>
                  <a:schemeClr val="accent1"/>
                </a:solidFill>
              </a:rPr>
              <a:t>stakeholder data generation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453169-46C7-551C-BACB-1B44ABC4C831}"/>
              </a:ext>
            </a:extLst>
          </p:cNvPr>
          <p:cNvSpPr txBox="1"/>
          <p:nvPr/>
        </p:nvSpPr>
        <p:spPr>
          <a:xfrm>
            <a:off x="4887808" y="9946648"/>
            <a:ext cx="2410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Multi-modal ingestion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9BFCA4-A5A8-C8D8-FB83-7129C58202BD}"/>
              </a:ext>
            </a:extLst>
          </p:cNvPr>
          <p:cNvSpPr txBox="1"/>
          <p:nvPr/>
        </p:nvSpPr>
        <p:spPr>
          <a:xfrm>
            <a:off x="7774941" y="12265366"/>
            <a:ext cx="3413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Context understanding Automation LLM explanations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Dynamic dashboards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B662F6-7950-33F0-1E0B-DC2AB122ED05}"/>
              </a:ext>
            </a:extLst>
          </p:cNvPr>
          <p:cNvGrpSpPr/>
          <p:nvPr/>
        </p:nvGrpSpPr>
        <p:grpSpPr>
          <a:xfrm>
            <a:off x="898510" y="8565102"/>
            <a:ext cx="3563299" cy="3607992"/>
            <a:chOff x="997166" y="2377517"/>
            <a:chExt cx="3563299" cy="360799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E49E9F7-F02A-E26F-A350-E30A08B050CA}"/>
                </a:ext>
              </a:extLst>
            </p:cNvPr>
            <p:cNvGrpSpPr/>
            <p:nvPr/>
          </p:nvGrpSpPr>
          <p:grpSpPr>
            <a:xfrm>
              <a:off x="1009617" y="2377517"/>
              <a:ext cx="3550848" cy="381010"/>
              <a:chOff x="1009617" y="2377517"/>
              <a:chExt cx="3550848" cy="381010"/>
            </a:xfrm>
          </p:grpSpPr>
          <p:pic>
            <p:nvPicPr>
              <p:cNvPr id="59" name="Graphic 58" descr="Customer review outline">
                <a:extLst>
                  <a:ext uri="{FF2B5EF4-FFF2-40B4-BE49-F238E27FC236}">
                    <a16:creationId xmlns:a16="http://schemas.microsoft.com/office/drawing/2014/main" id="{1103D938-1C25-7EB7-C449-4D46C21A1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009617" y="2377517"/>
                <a:ext cx="381010" cy="381010"/>
              </a:xfrm>
              <a:prstGeom prst="rect">
                <a:avLst/>
              </a:prstGeom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CCBF208-1E00-28A2-CC29-5973FD4430BC}"/>
                  </a:ext>
                </a:extLst>
              </p:cNvPr>
              <p:cNvSpPr txBox="1"/>
              <p:nvPr/>
            </p:nvSpPr>
            <p:spPr>
              <a:xfrm>
                <a:off x="1423564" y="2429523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Client - interests, revisions, approvals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8D50EC8-29EB-280E-E359-0E4AB522A0CC}"/>
                </a:ext>
              </a:extLst>
            </p:cNvPr>
            <p:cNvGrpSpPr/>
            <p:nvPr/>
          </p:nvGrpSpPr>
          <p:grpSpPr>
            <a:xfrm>
              <a:off x="1035157" y="5523844"/>
              <a:ext cx="3176164" cy="461665"/>
              <a:chOff x="1035157" y="5710508"/>
              <a:chExt cx="3176164" cy="461665"/>
            </a:xfrm>
          </p:grpSpPr>
          <p:pic>
            <p:nvPicPr>
              <p:cNvPr id="57" name="Graphic 56" descr="Construction worker male outline">
                <a:extLst>
                  <a:ext uri="{FF2B5EF4-FFF2-40B4-BE49-F238E27FC236}">
                    <a16:creationId xmlns:a16="http://schemas.microsoft.com/office/drawing/2014/main" id="{BEC1206F-6143-0F27-4BBA-7BDE3CD7D2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035157" y="5776375"/>
                <a:ext cx="329931" cy="329930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76C3C72-0412-6A61-C26A-7D448BDE7B7C}"/>
                  </a:ext>
                </a:extLst>
              </p:cNvPr>
              <p:cNvSpPr txBox="1"/>
              <p:nvPr/>
            </p:nvSpPr>
            <p:spPr>
              <a:xfrm>
                <a:off x="1423565" y="5710508"/>
                <a:ext cx="27877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Site personnel – foreman's, workers and engineers 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31A46A4-4C65-7F2C-0D7A-CFB10BB8CCE9}"/>
                </a:ext>
              </a:extLst>
            </p:cNvPr>
            <p:cNvGrpSpPr/>
            <p:nvPr/>
          </p:nvGrpSpPr>
          <p:grpSpPr>
            <a:xfrm>
              <a:off x="1020129" y="5038913"/>
              <a:ext cx="3540336" cy="359987"/>
              <a:chOff x="1020129" y="5163857"/>
              <a:chExt cx="3540336" cy="359987"/>
            </a:xfrm>
          </p:grpSpPr>
          <p:pic>
            <p:nvPicPr>
              <p:cNvPr id="55" name="Graphic 54" descr="Construction worker female outline">
                <a:extLst>
                  <a:ext uri="{FF2B5EF4-FFF2-40B4-BE49-F238E27FC236}">
                    <a16:creationId xmlns:a16="http://schemas.microsoft.com/office/drawing/2014/main" id="{2C8F3AF9-D86C-D1B9-2E30-3B2622B4D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020129" y="5163857"/>
                <a:ext cx="359987" cy="359987"/>
              </a:xfrm>
              <a:prstGeom prst="rect">
                <a:avLst/>
              </a:prstGeom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C7DC10A-1D88-8DD9-AA46-C61BF06AF35A}"/>
                  </a:ext>
                </a:extLst>
              </p:cNvPr>
              <p:cNvSpPr txBox="1"/>
              <p:nvPr/>
            </p:nvSpPr>
            <p:spPr>
              <a:xfrm>
                <a:off x="1423564" y="5205351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Consultant – orders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21FDF6F-35B9-446E-813C-A2B701379FA1}"/>
                </a:ext>
              </a:extLst>
            </p:cNvPr>
            <p:cNvGrpSpPr/>
            <p:nvPr/>
          </p:nvGrpSpPr>
          <p:grpSpPr>
            <a:xfrm>
              <a:off x="1000165" y="4452307"/>
              <a:ext cx="3368636" cy="461665"/>
              <a:chOff x="1000165" y="4608090"/>
              <a:chExt cx="3368636" cy="461665"/>
            </a:xfrm>
          </p:grpSpPr>
          <p:pic>
            <p:nvPicPr>
              <p:cNvPr id="53" name="Graphic 52" descr="Male profile outline">
                <a:extLst>
                  <a:ext uri="{FF2B5EF4-FFF2-40B4-BE49-F238E27FC236}">
                    <a16:creationId xmlns:a16="http://schemas.microsoft.com/office/drawing/2014/main" id="{B99EFA5D-9B32-567A-79E4-5EFE45D09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000165" y="4638966"/>
                <a:ext cx="399913" cy="399913"/>
              </a:xfrm>
              <a:prstGeom prst="rect">
                <a:avLst/>
              </a:prstGeom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41C496B-7D6A-9A33-AE40-8C3C1990CCE9}"/>
                  </a:ext>
                </a:extLst>
              </p:cNvPr>
              <p:cNvSpPr txBox="1"/>
              <p:nvPr/>
            </p:nvSpPr>
            <p:spPr>
              <a:xfrm>
                <a:off x="1423565" y="4608090"/>
                <a:ext cx="29452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Subcontractors – performance, delivery, constraints 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F65E97A-ADD7-07CF-CB1B-8BC1E2683483}"/>
                </a:ext>
              </a:extLst>
            </p:cNvPr>
            <p:cNvGrpSpPr/>
            <p:nvPr/>
          </p:nvGrpSpPr>
          <p:grpSpPr>
            <a:xfrm>
              <a:off x="1034262" y="3995646"/>
              <a:ext cx="3526203" cy="331720"/>
              <a:chOff x="1034262" y="4080996"/>
              <a:chExt cx="3526203" cy="331720"/>
            </a:xfrm>
          </p:grpSpPr>
          <p:pic>
            <p:nvPicPr>
              <p:cNvPr id="51" name="Graphic 50" descr="Court outline">
                <a:extLst>
                  <a:ext uri="{FF2B5EF4-FFF2-40B4-BE49-F238E27FC236}">
                    <a16:creationId xmlns:a16="http://schemas.microsoft.com/office/drawing/2014/main" id="{2441C01A-7F14-8960-9DFD-539490960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034262" y="4080996"/>
                <a:ext cx="331720" cy="331720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1A38FAD-2B4A-E97A-FA2E-5901C51D8D05}"/>
                  </a:ext>
                </a:extLst>
              </p:cNvPr>
              <p:cNvSpPr txBox="1"/>
              <p:nvPr/>
            </p:nvSpPr>
            <p:spPr>
              <a:xfrm>
                <a:off x="1423564" y="4108357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Government Services – approvals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70A389B-7FC8-F72A-4B2D-6124E2410415}"/>
                </a:ext>
              </a:extLst>
            </p:cNvPr>
            <p:cNvGrpSpPr/>
            <p:nvPr/>
          </p:nvGrpSpPr>
          <p:grpSpPr>
            <a:xfrm>
              <a:off x="999806" y="3470074"/>
              <a:ext cx="3560659" cy="400631"/>
              <a:chOff x="999806" y="3511300"/>
              <a:chExt cx="3560659" cy="400631"/>
            </a:xfrm>
          </p:grpSpPr>
          <p:pic>
            <p:nvPicPr>
              <p:cNvPr id="49" name="Graphic 48" descr="Partial sun outline">
                <a:extLst>
                  <a:ext uri="{FF2B5EF4-FFF2-40B4-BE49-F238E27FC236}">
                    <a16:creationId xmlns:a16="http://schemas.microsoft.com/office/drawing/2014/main" id="{49153237-A749-5163-4B67-82EF55CB68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999806" y="3511300"/>
                <a:ext cx="400631" cy="400631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BB78DBC-D5E4-6BF1-C343-F4A3D061F9FC}"/>
                  </a:ext>
                </a:extLst>
              </p:cNvPr>
              <p:cNvSpPr txBox="1"/>
              <p:nvPr/>
            </p:nvSpPr>
            <p:spPr>
              <a:xfrm>
                <a:off x="1423564" y="3573761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Weather – rain, heat …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E411229-A86F-1F96-E414-B60D7A3B2792}"/>
                </a:ext>
              </a:extLst>
            </p:cNvPr>
            <p:cNvGrpSpPr/>
            <p:nvPr/>
          </p:nvGrpSpPr>
          <p:grpSpPr>
            <a:xfrm>
              <a:off x="997166" y="2883468"/>
              <a:ext cx="3214155" cy="461665"/>
              <a:chOff x="997166" y="2886226"/>
              <a:chExt cx="3214155" cy="461665"/>
            </a:xfrm>
          </p:grpSpPr>
          <p:pic>
            <p:nvPicPr>
              <p:cNvPr id="47" name="Graphic 46" descr="Building Brick Wall outline">
                <a:extLst>
                  <a:ext uri="{FF2B5EF4-FFF2-40B4-BE49-F238E27FC236}">
                    <a16:creationId xmlns:a16="http://schemas.microsoft.com/office/drawing/2014/main" id="{C780F36A-F73E-CD76-A47D-1D34144CD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997166" y="2914103"/>
                <a:ext cx="405911" cy="405911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F0D513-C3BE-81E2-923D-5D6FF309AE12}"/>
                  </a:ext>
                </a:extLst>
              </p:cNvPr>
              <p:cNvSpPr txBox="1"/>
              <p:nvPr/>
            </p:nvSpPr>
            <p:spPr>
              <a:xfrm>
                <a:off x="1423564" y="2886226"/>
                <a:ext cx="27877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Material supplier - specs delivery notes, delays, supply chain </a:t>
                </a: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E69C181-E5EA-1E18-DAD5-95E2529DE45F}"/>
              </a:ext>
            </a:extLst>
          </p:cNvPr>
          <p:cNvGrpSpPr/>
          <p:nvPr/>
        </p:nvGrpSpPr>
        <p:grpSpPr>
          <a:xfrm>
            <a:off x="5682611" y="10494235"/>
            <a:ext cx="826778" cy="3929695"/>
            <a:chOff x="5833382" y="2228533"/>
            <a:chExt cx="826778" cy="3929695"/>
          </a:xfrm>
        </p:grpSpPr>
        <p:pic>
          <p:nvPicPr>
            <p:cNvPr id="62" name="Picture 20" descr="Photo-Gallery Icons - Free SVG &amp; PNG Photo-Gallery Images - Noun Project">
              <a:extLst>
                <a:ext uri="{FF2B5EF4-FFF2-40B4-BE49-F238E27FC236}">
                  <a16:creationId xmlns:a16="http://schemas.microsoft.com/office/drawing/2014/main" id="{1D0BB374-B45B-DB65-36FE-21EC54A60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1049" y="2228533"/>
              <a:ext cx="791445" cy="791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24" descr="Free Text Message SVG, PNG Icon, Symbol. Download Image.">
              <a:extLst>
                <a:ext uri="{FF2B5EF4-FFF2-40B4-BE49-F238E27FC236}">
                  <a16:creationId xmlns:a16="http://schemas.microsoft.com/office/drawing/2014/main" id="{441E3859-4CEF-F505-4AFC-DB7EEF3329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865"/>
            <a:stretch>
              <a:fillRect/>
            </a:stretch>
          </p:blipFill>
          <p:spPr bwMode="auto">
            <a:xfrm>
              <a:off x="5898833" y="3019978"/>
              <a:ext cx="695877" cy="606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26" descr="Free Video SVG, PNG Icon, Symbol. Download Image.">
              <a:extLst>
                <a:ext uri="{FF2B5EF4-FFF2-40B4-BE49-F238E27FC236}">
                  <a16:creationId xmlns:a16="http://schemas.microsoft.com/office/drawing/2014/main" id="{F684364D-61F0-6D1D-9788-E4C6FB59AD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8250" y="5461186"/>
              <a:ext cx="697042" cy="6970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28" descr="Documents symbol - Free interface icons">
              <a:extLst>
                <a:ext uri="{FF2B5EF4-FFF2-40B4-BE49-F238E27FC236}">
                  <a16:creationId xmlns:a16="http://schemas.microsoft.com/office/drawing/2014/main" id="{9FF6F1AF-1091-67D5-30C7-877BE910AC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0635" y="3760264"/>
              <a:ext cx="712272" cy="712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30" descr="buildingSMART International Brand Identity">
              <a:extLst>
                <a:ext uri="{FF2B5EF4-FFF2-40B4-BE49-F238E27FC236}">
                  <a16:creationId xmlns:a16="http://schemas.microsoft.com/office/drawing/2014/main" id="{2944A6A7-60C7-47BD-9E3D-0F9DED1175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36" t="16753" r="18555" b="18564"/>
            <a:stretch>
              <a:fillRect/>
            </a:stretch>
          </p:blipFill>
          <p:spPr bwMode="auto">
            <a:xfrm>
              <a:off x="5833382" y="4614981"/>
              <a:ext cx="826778" cy="838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7" name="Picture 4" descr="Whatsapp Logo PNG Vectors Free Download">
            <a:extLst>
              <a:ext uri="{FF2B5EF4-FFF2-40B4-BE49-F238E27FC236}">
                <a16:creationId xmlns:a16="http://schemas.microsoft.com/office/drawing/2014/main" id="{8592D4A4-F883-E5A7-A329-E7ADA1447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13992062"/>
            <a:ext cx="836141" cy="83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Can 51">
            <a:extLst>
              <a:ext uri="{FF2B5EF4-FFF2-40B4-BE49-F238E27FC236}">
                <a16:creationId xmlns:a16="http://schemas.microsoft.com/office/drawing/2014/main" id="{458CED53-6C5C-1ECA-E3FC-D814BED10ED1}"/>
              </a:ext>
            </a:extLst>
          </p:cNvPr>
          <p:cNvSpPr/>
          <p:nvPr/>
        </p:nvSpPr>
        <p:spPr>
          <a:xfrm>
            <a:off x="9134574" y="14033158"/>
            <a:ext cx="609600" cy="753948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AE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494A064-ED8F-5FC3-0335-D0C09DA26D85}"/>
              </a:ext>
            </a:extLst>
          </p:cNvPr>
          <p:cNvSpPr/>
          <p:nvPr/>
        </p:nvSpPr>
        <p:spPr>
          <a:xfrm>
            <a:off x="10258142" y="14033158"/>
            <a:ext cx="1016002" cy="7539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04F600-83A3-3049-CEC2-E46222F760FA}"/>
              </a:ext>
            </a:extLst>
          </p:cNvPr>
          <p:cNvSpPr txBox="1"/>
          <p:nvPr/>
        </p:nvSpPr>
        <p:spPr>
          <a:xfrm>
            <a:off x="10342252" y="14056189"/>
            <a:ext cx="931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Initial static/semi static documents 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E05B535-96FA-B238-0D2B-BF5D3E0A7DE6}"/>
              </a:ext>
            </a:extLst>
          </p:cNvPr>
          <p:cNvGrpSpPr/>
          <p:nvPr/>
        </p:nvGrpSpPr>
        <p:grpSpPr>
          <a:xfrm>
            <a:off x="7904981" y="15324699"/>
            <a:ext cx="3365546" cy="1332476"/>
            <a:chOff x="7904981" y="4665367"/>
            <a:chExt cx="3365546" cy="1332476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8BA5A22-FA26-C38D-9D91-3AC40EA57A8B}"/>
                </a:ext>
              </a:extLst>
            </p:cNvPr>
            <p:cNvSpPr/>
            <p:nvPr/>
          </p:nvSpPr>
          <p:spPr>
            <a:xfrm>
              <a:off x="7904981" y="4665367"/>
              <a:ext cx="3365546" cy="13324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5B0B78B-01F1-9BAB-60E4-50BE1BA04FEB}"/>
                </a:ext>
              </a:extLst>
            </p:cNvPr>
            <p:cNvSpPr txBox="1"/>
            <p:nvPr/>
          </p:nvSpPr>
          <p:spPr>
            <a:xfrm>
              <a:off x="9185717" y="5054606"/>
              <a:ext cx="168137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Recognition, Evaluation, Validation, Insight and Lookahead generation</a:t>
              </a:r>
            </a:p>
          </p:txBody>
        </p:sp>
        <p:pic>
          <p:nvPicPr>
            <p:cNvPr id="74" name="Picture 34" descr="Intelligence Intelligence Brain Creative Vector, Intelligence, Brain,  Creative PNG and Vector with Transparent Background for Free Download">
              <a:extLst>
                <a:ext uri="{FF2B5EF4-FFF2-40B4-BE49-F238E27FC236}">
                  <a16:creationId xmlns:a16="http://schemas.microsoft.com/office/drawing/2014/main" id="{61072D87-5BDE-1DAA-49BA-934A1B0ECB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1247" y="4873729"/>
              <a:ext cx="915754" cy="915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3E52FE76-8313-FDDF-345E-B9BC30B6F70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470010" y="9802567"/>
            <a:ext cx="409596" cy="409596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1831543D-A8BD-C1D2-6219-DDD77518F1D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312393" y="14287014"/>
            <a:ext cx="409596" cy="409596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2C2EA11-2CEA-6E11-9C7D-3491D8558DB6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8683153" y="14410132"/>
            <a:ext cx="451421" cy="1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F8388E7-2137-168E-03A0-56F8B45CCC05}"/>
              </a:ext>
            </a:extLst>
          </p:cNvPr>
          <p:cNvCxnSpPr>
            <a:cxnSpLocks/>
            <a:stCxn id="68" idx="4"/>
          </p:cNvCxnSpPr>
          <p:nvPr/>
        </p:nvCxnSpPr>
        <p:spPr>
          <a:xfrm>
            <a:off x="9744174" y="14410132"/>
            <a:ext cx="513968" cy="1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D3F1836-3162-52E6-B998-A6BA42691BDC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9439374" y="14787106"/>
            <a:ext cx="0" cy="536207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5AC72EB-F264-4A5E-4888-BF7EC9B882CC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10766143" y="14787106"/>
            <a:ext cx="0" cy="536207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BBF5C19-5DA4-8D30-65BB-85AC10197BEF}"/>
              </a:ext>
            </a:extLst>
          </p:cNvPr>
          <p:cNvGrpSpPr/>
          <p:nvPr/>
        </p:nvGrpSpPr>
        <p:grpSpPr>
          <a:xfrm>
            <a:off x="-12469536" y="518747"/>
            <a:ext cx="3324995" cy="3324994"/>
            <a:chOff x="999355" y="518747"/>
            <a:chExt cx="3324995" cy="3324994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5416F64-54C6-77F9-E39A-12908CCE0781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1BE9433-3267-DC13-F3F6-321E33502198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D16A928-5144-2E02-B0CC-E5FAD7890390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50D8AB-A0D2-9803-BDA6-78768A37A08F}"/>
              </a:ext>
            </a:extLst>
          </p:cNvPr>
          <p:cNvSpPr txBox="1"/>
          <p:nvPr/>
        </p:nvSpPr>
        <p:spPr>
          <a:xfrm>
            <a:off x="550862" y="441325"/>
            <a:ext cx="11437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chemeClr val="accent1"/>
                </a:solidFill>
                <a:latin typeface="+mj-lt"/>
              </a:rPr>
              <a:t>Research Directions| Towards Multi Source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18C426-2B1B-F479-9D67-28A193DC1E19}"/>
              </a:ext>
            </a:extLst>
          </p:cNvPr>
          <p:cNvSpPr/>
          <p:nvPr/>
        </p:nvSpPr>
        <p:spPr>
          <a:xfrm>
            <a:off x="708894" y="1384301"/>
            <a:ext cx="3884509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2B466-1532-5EA5-CD63-4B7E008E6E35}"/>
              </a:ext>
            </a:extLst>
          </p:cNvPr>
          <p:cNvSpPr/>
          <p:nvPr/>
        </p:nvSpPr>
        <p:spPr>
          <a:xfrm>
            <a:off x="4756214" y="1384301"/>
            <a:ext cx="2679571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3EB61-E743-C88E-6B24-9818F0576958}"/>
              </a:ext>
            </a:extLst>
          </p:cNvPr>
          <p:cNvSpPr/>
          <p:nvPr/>
        </p:nvSpPr>
        <p:spPr>
          <a:xfrm>
            <a:off x="7598597" y="1384301"/>
            <a:ext cx="3884509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4E133-711E-1BC6-3F8B-F64CFFB2BA2C}"/>
              </a:ext>
            </a:extLst>
          </p:cNvPr>
          <p:cNvSpPr txBox="1"/>
          <p:nvPr/>
        </p:nvSpPr>
        <p:spPr>
          <a:xfrm>
            <a:off x="798765" y="1593334"/>
            <a:ext cx="3507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+mj-lt"/>
              </a:rPr>
              <a:t>Multi-Source/ </a:t>
            </a:r>
            <a:br>
              <a:rPr lang="en-US" sz="1600" b="1" dirty="0">
                <a:solidFill>
                  <a:schemeClr val="accent1"/>
                </a:solidFill>
                <a:latin typeface="+mj-lt"/>
              </a:rPr>
            </a:br>
            <a:r>
              <a:rPr lang="en-US" sz="1600" b="1" dirty="0">
                <a:solidFill>
                  <a:schemeClr val="accent1"/>
                </a:solidFill>
                <a:latin typeface="+mj-lt"/>
              </a:rPr>
              <a:t>stakeholder data generation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C93B0A-8A0F-E8E7-0AC1-B3DDF33BAEA4}"/>
              </a:ext>
            </a:extLst>
          </p:cNvPr>
          <p:cNvSpPr txBox="1"/>
          <p:nvPr/>
        </p:nvSpPr>
        <p:spPr>
          <a:xfrm>
            <a:off x="4887808" y="1593334"/>
            <a:ext cx="2695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+mj-lt"/>
              </a:rPr>
              <a:t>Multi-modal ingestion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F2A07B-AE59-95C5-14B0-F2A01C3A00FC}"/>
              </a:ext>
            </a:extLst>
          </p:cNvPr>
          <p:cNvSpPr txBox="1"/>
          <p:nvPr/>
        </p:nvSpPr>
        <p:spPr>
          <a:xfrm>
            <a:off x="7774941" y="1593334"/>
            <a:ext cx="3816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+mj-lt"/>
              </a:rPr>
              <a:t>Context understanding Automation LLM explanations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+mj-lt"/>
              </a:rPr>
              <a:t>Dynamic dashboards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D815E0-4612-05C8-E54C-85FF2CB81036}"/>
              </a:ext>
            </a:extLst>
          </p:cNvPr>
          <p:cNvGrpSpPr/>
          <p:nvPr/>
        </p:nvGrpSpPr>
        <p:grpSpPr>
          <a:xfrm>
            <a:off x="898510" y="2377517"/>
            <a:ext cx="3563299" cy="3607992"/>
            <a:chOff x="997166" y="2377517"/>
            <a:chExt cx="3563299" cy="360799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0295C6D-1FC7-3E1F-1A1B-7246F3C9ADC6}"/>
                </a:ext>
              </a:extLst>
            </p:cNvPr>
            <p:cNvGrpSpPr/>
            <p:nvPr/>
          </p:nvGrpSpPr>
          <p:grpSpPr>
            <a:xfrm>
              <a:off x="1009617" y="2377517"/>
              <a:ext cx="3550848" cy="381010"/>
              <a:chOff x="1009617" y="2377517"/>
              <a:chExt cx="3550848" cy="381010"/>
            </a:xfrm>
          </p:grpSpPr>
          <p:pic>
            <p:nvPicPr>
              <p:cNvPr id="16" name="Graphic 15" descr="Customer review outline">
                <a:extLst>
                  <a:ext uri="{FF2B5EF4-FFF2-40B4-BE49-F238E27FC236}">
                    <a16:creationId xmlns:a16="http://schemas.microsoft.com/office/drawing/2014/main" id="{89D906BA-34FD-8246-5DA7-EA2F4B1626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09617" y="2377517"/>
                <a:ext cx="381010" cy="38101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F78FB1-F377-2492-8B68-F8BA25798BF5}"/>
                  </a:ext>
                </a:extLst>
              </p:cNvPr>
              <p:cNvSpPr txBox="1"/>
              <p:nvPr/>
            </p:nvSpPr>
            <p:spPr>
              <a:xfrm>
                <a:off x="1423564" y="2429523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Client - interests, revisions, approvals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7010780-9DC1-0CFC-97D4-26AEB0F0749B}"/>
                </a:ext>
              </a:extLst>
            </p:cNvPr>
            <p:cNvGrpSpPr/>
            <p:nvPr/>
          </p:nvGrpSpPr>
          <p:grpSpPr>
            <a:xfrm>
              <a:off x="1035157" y="5523844"/>
              <a:ext cx="3176164" cy="461665"/>
              <a:chOff x="1035157" y="5710508"/>
              <a:chExt cx="3176164" cy="461665"/>
            </a:xfrm>
          </p:grpSpPr>
          <p:pic>
            <p:nvPicPr>
              <p:cNvPr id="22" name="Graphic 21" descr="Construction worker male outline">
                <a:extLst>
                  <a:ext uri="{FF2B5EF4-FFF2-40B4-BE49-F238E27FC236}">
                    <a16:creationId xmlns:a16="http://schemas.microsoft.com/office/drawing/2014/main" id="{959ED2E1-49B6-1977-6857-8F85D4DFE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35157" y="5776375"/>
                <a:ext cx="329931" cy="329930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1011AF-144E-0179-237E-1BF2475FF550}"/>
                  </a:ext>
                </a:extLst>
              </p:cNvPr>
              <p:cNvSpPr txBox="1"/>
              <p:nvPr/>
            </p:nvSpPr>
            <p:spPr>
              <a:xfrm>
                <a:off x="1423565" y="5710508"/>
                <a:ext cx="27877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Site personnel – foreman's, workers and engineers 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0D2FA4C-D135-AEA1-3E7D-0BD51E18E007}"/>
                </a:ext>
              </a:extLst>
            </p:cNvPr>
            <p:cNvGrpSpPr/>
            <p:nvPr/>
          </p:nvGrpSpPr>
          <p:grpSpPr>
            <a:xfrm>
              <a:off x="1020129" y="5038913"/>
              <a:ext cx="3540336" cy="359987"/>
              <a:chOff x="1020129" y="5163857"/>
              <a:chExt cx="3540336" cy="359987"/>
            </a:xfrm>
          </p:grpSpPr>
          <p:pic>
            <p:nvPicPr>
              <p:cNvPr id="21" name="Graphic 20" descr="Construction worker female outline">
                <a:extLst>
                  <a:ext uri="{FF2B5EF4-FFF2-40B4-BE49-F238E27FC236}">
                    <a16:creationId xmlns:a16="http://schemas.microsoft.com/office/drawing/2014/main" id="{87B73F6B-85BB-4E43-927F-8C29603C6B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20129" y="5163857"/>
                <a:ext cx="359987" cy="359987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4EBC72-A987-5586-A336-B3D8FB01240A}"/>
                  </a:ext>
                </a:extLst>
              </p:cNvPr>
              <p:cNvSpPr txBox="1"/>
              <p:nvPr/>
            </p:nvSpPr>
            <p:spPr>
              <a:xfrm>
                <a:off x="1423564" y="5205351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Consultant – orders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652183B-A5BC-168B-8E93-EF4DD6DF80A6}"/>
                </a:ext>
              </a:extLst>
            </p:cNvPr>
            <p:cNvGrpSpPr/>
            <p:nvPr/>
          </p:nvGrpSpPr>
          <p:grpSpPr>
            <a:xfrm>
              <a:off x="1000165" y="4452307"/>
              <a:ext cx="3368636" cy="461665"/>
              <a:chOff x="1000165" y="4608090"/>
              <a:chExt cx="3368636" cy="461665"/>
            </a:xfrm>
          </p:grpSpPr>
          <p:pic>
            <p:nvPicPr>
              <p:cNvPr id="20" name="Graphic 19" descr="Male profile outline">
                <a:extLst>
                  <a:ext uri="{FF2B5EF4-FFF2-40B4-BE49-F238E27FC236}">
                    <a16:creationId xmlns:a16="http://schemas.microsoft.com/office/drawing/2014/main" id="{C5CCD18D-C732-8600-C1ED-50E522286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00165" y="4638966"/>
                <a:ext cx="399913" cy="399913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B9ED78-152C-35B5-5D56-5546C5DC9207}"/>
                  </a:ext>
                </a:extLst>
              </p:cNvPr>
              <p:cNvSpPr txBox="1"/>
              <p:nvPr/>
            </p:nvSpPr>
            <p:spPr>
              <a:xfrm>
                <a:off x="1423565" y="4608090"/>
                <a:ext cx="29452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Subcontractors – performance, delivery, constraints 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246C775-0AFA-1203-7798-248890421AE6}"/>
                </a:ext>
              </a:extLst>
            </p:cNvPr>
            <p:cNvGrpSpPr/>
            <p:nvPr/>
          </p:nvGrpSpPr>
          <p:grpSpPr>
            <a:xfrm>
              <a:off x="1034262" y="3995646"/>
              <a:ext cx="3526203" cy="331720"/>
              <a:chOff x="1034262" y="4080996"/>
              <a:chExt cx="3526203" cy="331720"/>
            </a:xfrm>
          </p:grpSpPr>
          <p:pic>
            <p:nvPicPr>
              <p:cNvPr id="19" name="Graphic 18" descr="Court outline">
                <a:extLst>
                  <a:ext uri="{FF2B5EF4-FFF2-40B4-BE49-F238E27FC236}">
                    <a16:creationId xmlns:a16="http://schemas.microsoft.com/office/drawing/2014/main" id="{D9BE16B9-7609-A26C-97D7-0CED6B1BF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34262" y="4080996"/>
                <a:ext cx="331720" cy="331720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499F8A-2AF9-039C-1FC5-386D81ECC28E}"/>
                  </a:ext>
                </a:extLst>
              </p:cNvPr>
              <p:cNvSpPr txBox="1"/>
              <p:nvPr/>
            </p:nvSpPr>
            <p:spPr>
              <a:xfrm>
                <a:off x="1423564" y="4108357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Government Services – approvals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EACD280-E827-D976-9BC2-A1449A6A456C}"/>
                </a:ext>
              </a:extLst>
            </p:cNvPr>
            <p:cNvGrpSpPr/>
            <p:nvPr/>
          </p:nvGrpSpPr>
          <p:grpSpPr>
            <a:xfrm>
              <a:off x="999806" y="3470074"/>
              <a:ext cx="3560659" cy="400631"/>
              <a:chOff x="999806" y="3511300"/>
              <a:chExt cx="3560659" cy="400631"/>
            </a:xfrm>
          </p:grpSpPr>
          <p:pic>
            <p:nvPicPr>
              <p:cNvPr id="18" name="Graphic 17" descr="Partial sun outline">
                <a:extLst>
                  <a:ext uri="{FF2B5EF4-FFF2-40B4-BE49-F238E27FC236}">
                    <a16:creationId xmlns:a16="http://schemas.microsoft.com/office/drawing/2014/main" id="{4E4903EC-78D0-54A3-2878-86413ED8F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99806" y="3511300"/>
                <a:ext cx="400631" cy="400631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1F2A4-C62D-1228-6C3A-C0178E731B14}"/>
                  </a:ext>
                </a:extLst>
              </p:cNvPr>
              <p:cNvSpPr txBox="1"/>
              <p:nvPr/>
            </p:nvSpPr>
            <p:spPr>
              <a:xfrm>
                <a:off x="1423564" y="3573761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Weather – rain, heat …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629D2D9-B671-91F3-E2C0-A7D64038063B}"/>
                </a:ext>
              </a:extLst>
            </p:cNvPr>
            <p:cNvGrpSpPr/>
            <p:nvPr/>
          </p:nvGrpSpPr>
          <p:grpSpPr>
            <a:xfrm>
              <a:off x="997166" y="2883468"/>
              <a:ext cx="3214155" cy="461665"/>
              <a:chOff x="997166" y="2886226"/>
              <a:chExt cx="3214155" cy="461665"/>
            </a:xfrm>
          </p:grpSpPr>
          <p:pic>
            <p:nvPicPr>
              <p:cNvPr id="17" name="Graphic 16" descr="Building Brick Wall outline">
                <a:extLst>
                  <a:ext uri="{FF2B5EF4-FFF2-40B4-BE49-F238E27FC236}">
                    <a16:creationId xmlns:a16="http://schemas.microsoft.com/office/drawing/2014/main" id="{6A30C7FA-7657-0733-234F-4F8D100385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97166" y="2914103"/>
                <a:ext cx="405911" cy="405911"/>
              </a:xfrm>
              <a:prstGeom prst="rect">
                <a:avLst/>
              </a:prstGeom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3FC3E7-C758-AE03-CEC2-791EAB5FAB2E}"/>
                  </a:ext>
                </a:extLst>
              </p:cNvPr>
              <p:cNvSpPr txBox="1"/>
              <p:nvPr/>
            </p:nvSpPr>
            <p:spPr>
              <a:xfrm>
                <a:off x="1423564" y="2886226"/>
                <a:ext cx="27877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Montserrat Light" pitchFamily="2" charset="77"/>
                  </a:rPr>
                  <a:t>Material supplier - specs delivery notes, delays, supply chain </a:t>
                </a: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24D31CB-130E-C5B0-4F5E-0DE0158E52ED}"/>
              </a:ext>
            </a:extLst>
          </p:cNvPr>
          <p:cNvGrpSpPr/>
          <p:nvPr/>
        </p:nvGrpSpPr>
        <p:grpSpPr>
          <a:xfrm>
            <a:off x="5682611" y="2140921"/>
            <a:ext cx="826778" cy="3929695"/>
            <a:chOff x="5833382" y="2228533"/>
            <a:chExt cx="826778" cy="3929695"/>
          </a:xfrm>
        </p:grpSpPr>
        <p:pic>
          <p:nvPicPr>
            <p:cNvPr id="43" name="Picture 20" descr="Photo-Gallery Icons - Free SVG &amp; PNG Photo-Gallery Images - Noun Project">
              <a:extLst>
                <a:ext uri="{FF2B5EF4-FFF2-40B4-BE49-F238E27FC236}">
                  <a16:creationId xmlns:a16="http://schemas.microsoft.com/office/drawing/2014/main" id="{50D49584-DED6-230B-DB18-ECBA4BF19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1049" y="2228533"/>
              <a:ext cx="791445" cy="791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24" descr="Free Text Message SVG, PNG Icon, Symbol. Download Image.">
              <a:extLst>
                <a:ext uri="{FF2B5EF4-FFF2-40B4-BE49-F238E27FC236}">
                  <a16:creationId xmlns:a16="http://schemas.microsoft.com/office/drawing/2014/main" id="{AA1DB490-4AD1-4071-BB45-ADEE64C6E5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865"/>
            <a:stretch>
              <a:fillRect/>
            </a:stretch>
          </p:blipFill>
          <p:spPr bwMode="auto">
            <a:xfrm>
              <a:off x="5898833" y="3019978"/>
              <a:ext cx="695877" cy="606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6" descr="Free Video SVG, PNG Icon, Symbol. Download Image.">
              <a:extLst>
                <a:ext uri="{FF2B5EF4-FFF2-40B4-BE49-F238E27FC236}">
                  <a16:creationId xmlns:a16="http://schemas.microsoft.com/office/drawing/2014/main" id="{17887080-C239-8EA3-2BC2-A253A0164C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8250" y="5461186"/>
              <a:ext cx="697042" cy="6970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8" descr="Documents symbol - Free interface icons">
              <a:extLst>
                <a:ext uri="{FF2B5EF4-FFF2-40B4-BE49-F238E27FC236}">
                  <a16:creationId xmlns:a16="http://schemas.microsoft.com/office/drawing/2014/main" id="{6417520B-A467-C0B3-C79B-4D4EC36B0E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0635" y="3760264"/>
              <a:ext cx="712272" cy="712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30" descr="buildingSMART International Brand Identity">
              <a:extLst>
                <a:ext uri="{FF2B5EF4-FFF2-40B4-BE49-F238E27FC236}">
                  <a16:creationId xmlns:a16="http://schemas.microsoft.com/office/drawing/2014/main" id="{E5F07263-A150-29FC-64BC-119665681B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36" t="16753" r="18555" b="18564"/>
            <a:stretch>
              <a:fillRect/>
            </a:stretch>
          </p:blipFill>
          <p:spPr bwMode="auto">
            <a:xfrm>
              <a:off x="5833382" y="4614981"/>
              <a:ext cx="826778" cy="838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" name="Picture 4" descr="Whatsapp Logo PNG Vectors Free Download">
            <a:extLst>
              <a:ext uri="{FF2B5EF4-FFF2-40B4-BE49-F238E27FC236}">
                <a16:creationId xmlns:a16="http://schemas.microsoft.com/office/drawing/2014/main" id="{8D423790-C1D4-C578-66A4-9C3643FEC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3320030"/>
            <a:ext cx="836141" cy="83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an 51">
            <a:extLst>
              <a:ext uri="{FF2B5EF4-FFF2-40B4-BE49-F238E27FC236}">
                <a16:creationId xmlns:a16="http://schemas.microsoft.com/office/drawing/2014/main" id="{D3B949B3-F947-F36D-B975-C904AC7CA5FA}"/>
              </a:ext>
            </a:extLst>
          </p:cNvPr>
          <p:cNvSpPr/>
          <p:nvPr/>
        </p:nvSpPr>
        <p:spPr>
          <a:xfrm>
            <a:off x="9134574" y="3361126"/>
            <a:ext cx="609600" cy="753948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AE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422F41-EA24-1EF4-1D49-16C9D160BD45}"/>
              </a:ext>
            </a:extLst>
          </p:cNvPr>
          <p:cNvSpPr/>
          <p:nvPr/>
        </p:nvSpPr>
        <p:spPr>
          <a:xfrm>
            <a:off x="10258142" y="3361126"/>
            <a:ext cx="1016002" cy="7539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AFB32A-E0C8-A825-A2B3-115AED56BFF9}"/>
              </a:ext>
            </a:extLst>
          </p:cNvPr>
          <p:cNvSpPr txBox="1"/>
          <p:nvPr/>
        </p:nvSpPr>
        <p:spPr>
          <a:xfrm>
            <a:off x="10342252" y="3384157"/>
            <a:ext cx="931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Initial static/semi static documents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A998FFD-08DB-7071-543B-DEE6A7BE35DA}"/>
              </a:ext>
            </a:extLst>
          </p:cNvPr>
          <p:cNvGrpSpPr/>
          <p:nvPr/>
        </p:nvGrpSpPr>
        <p:grpSpPr>
          <a:xfrm>
            <a:off x="7904981" y="4652667"/>
            <a:ext cx="3365546" cy="1332476"/>
            <a:chOff x="7904981" y="4665367"/>
            <a:chExt cx="3365546" cy="133247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A01A2E-7672-B8BB-79F2-32F8911A7813}"/>
                </a:ext>
              </a:extLst>
            </p:cNvPr>
            <p:cNvSpPr/>
            <p:nvPr/>
          </p:nvSpPr>
          <p:spPr>
            <a:xfrm>
              <a:off x="7904981" y="4665367"/>
              <a:ext cx="3365546" cy="13324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3CC1690-F79E-049A-5DF5-597C474D5036}"/>
                </a:ext>
              </a:extLst>
            </p:cNvPr>
            <p:cNvSpPr txBox="1"/>
            <p:nvPr/>
          </p:nvSpPr>
          <p:spPr>
            <a:xfrm>
              <a:off x="9185717" y="5054606"/>
              <a:ext cx="168137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Recognition, Evaluation, Validation, Insight and Lookahead generation</a:t>
              </a:r>
            </a:p>
          </p:txBody>
        </p:sp>
        <p:pic>
          <p:nvPicPr>
            <p:cNvPr id="59" name="Picture 34" descr="Intelligence Intelligence Brain Creative Vector, Intelligence, Brain,  Creative PNG and Vector with Transparent Background for Free Download">
              <a:extLst>
                <a:ext uri="{FF2B5EF4-FFF2-40B4-BE49-F238E27FC236}">
                  <a16:creationId xmlns:a16="http://schemas.microsoft.com/office/drawing/2014/main" id="{FA402525-F87A-ACE7-7B88-F7F16FB47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1247" y="4873729"/>
              <a:ext cx="915754" cy="915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" name="Graphic 60">
            <a:extLst>
              <a:ext uri="{FF2B5EF4-FFF2-40B4-BE49-F238E27FC236}">
                <a16:creationId xmlns:a16="http://schemas.microsoft.com/office/drawing/2014/main" id="{9D1D9BDB-D802-DD8A-D427-506D8DA46F5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70010" y="3614982"/>
            <a:ext cx="409596" cy="409596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16112854-DFC1-C46B-8B99-F6FCEDD259F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2393" y="3614982"/>
            <a:ext cx="409596" cy="409596"/>
          </a:xfrm>
          <a:prstGeom prst="rect">
            <a:avLst/>
          </a:prstGeom>
        </p:spPr>
      </p:pic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3F77CE6-6495-5F9B-587A-633D28E52CF8}"/>
              </a:ext>
            </a:extLst>
          </p:cNvPr>
          <p:cNvCxnSpPr>
            <a:cxnSpLocks/>
            <a:endCxn id="50" idx="2"/>
          </p:cNvCxnSpPr>
          <p:nvPr/>
        </p:nvCxnSpPr>
        <p:spPr>
          <a:xfrm flipV="1">
            <a:off x="8683153" y="3738100"/>
            <a:ext cx="451421" cy="1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4390201-79D3-67A8-E354-57364784F621}"/>
              </a:ext>
            </a:extLst>
          </p:cNvPr>
          <p:cNvCxnSpPr>
            <a:cxnSpLocks/>
            <a:stCxn id="50" idx="4"/>
          </p:cNvCxnSpPr>
          <p:nvPr/>
        </p:nvCxnSpPr>
        <p:spPr>
          <a:xfrm>
            <a:off x="9744174" y="3738100"/>
            <a:ext cx="513968" cy="1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E3CDBF7-C837-ACD5-A571-496DF5086EBE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9439374" y="4115074"/>
            <a:ext cx="0" cy="536207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88C6305-017B-160A-F3FD-672DFDA98685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0766143" y="4115074"/>
            <a:ext cx="0" cy="536207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3B1A6C-5322-7276-98E7-BD81A76ADCCB}"/>
              </a:ext>
            </a:extLst>
          </p:cNvPr>
          <p:cNvGrpSpPr/>
          <p:nvPr/>
        </p:nvGrpSpPr>
        <p:grpSpPr>
          <a:xfrm>
            <a:off x="-7701082" y="1340441"/>
            <a:ext cx="6094070" cy="4253319"/>
            <a:chOff x="550863" y="1096259"/>
            <a:chExt cx="6094070" cy="42533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26DFAE-53DE-2CFC-9907-AB4B949C3A18}"/>
                </a:ext>
              </a:extLst>
            </p:cNvPr>
            <p:cNvSpPr txBox="1"/>
            <p:nvPr/>
          </p:nvSpPr>
          <p:spPr>
            <a:xfrm>
              <a:off x="550863" y="1096259"/>
              <a:ext cx="554513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PK"/>
              </a:defPPr>
              <a:lvl1pPr>
                <a:defRPr sz="3600" b="1" spc="-150">
                  <a:solidFill>
                    <a:schemeClr val="accent1"/>
                  </a:solidFill>
                </a:defRPr>
              </a:lvl1pPr>
            </a:lstStyle>
            <a:p>
              <a:r>
                <a:rPr lang="en-US" dirty="0">
                  <a:latin typeface="+mj-lt"/>
                </a:rPr>
                <a:t>Existing Technologies Overview  | Limitations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49F20D-DD47-BEEF-7FE0-23AC4604DD62}"/>
                </a:ext>
              </a:extLst>
            </p:cNvPr>
            <p:cNvSpPr txBox="1"/>
            <p:nvPr/>
          </p:nvSpPr>
          <p:spPr>
            <a:xfrm>
              <a:off x="550863" y="2348756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General limitations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3449BA-023B-040D-4BE8-0850B59E14CE}"/>
                </a:ext>
              </a:extLst>
            </p:cNvPr>
            <p:cNvSpPr txBox="1"/>
            <p:nvPr/>
          </p:nvSpPr>
          <p:spPr>
            <a:xfrm>
              <a:off x="550863" y="2718088"/>
              <a:ext cx="5545137" cy="26314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Ingestion breadth - docs, drawings, schedules, video, sensors.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Spatial grounding - room/zone, alignment to BIM, SLAM support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Progress accuracy - by trade/room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Explainability - evidence links per claim.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Prescription quality - concrete next steps, conflicts resolved.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Orchestration - automated routing to the right people/channels.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Latency - capture to decision forming decision time.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APIs/Export - data ownership, schema clarity.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Security/Deployment - on-premises, data residency.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200" dirty="0"/>
                <a:t>Total cost of ownership - licenses + ops + change management.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47C6361-B989-00A2-0CF6-FEBFEA9DD0AA}"/>
              </a:ext>
            </a:extLst>
          </p:cNvPr>
          <p:cNvSpPr/>
          <p:nvPr/>
        </p:nvSpPr>
        <p:spPr>
          <a:xfrm>
            <a:off x="17674892" y="0"/>
            <a:ext cx="283845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1" name="Picture Placeholder 3">
            <a:extLst>
              <a:ext uri="{FF2B5EF4-FFF2-40B4-BE49-F238E27FC236}">
                <a16:creationId xmlns:a16="http://schemas.microsoft.com/office/drawing/2014/main" id="{D687F193-FE92-83A4-9DFA-C677E10FBCA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54" r="32654"/>
          <a:stretch>
            <a:fillRect/>
          </a:stretch>
        </p:blipFill>
        <p:spPr>
          <a:xfrm>
            <a:off x="14596624" y="0"/>
            <a:ext cx="3569110" cy="685800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A34419-4651-0EE3-F68A-130EEC45C972}"/>
              </a:ext>
            </a:extLst>
          </p:cNvPr>
          <p:cNvSpPr/>
          <p:nvPr/>
        </p:nvSpPr>
        <p:spPr>
          <a:xfrm>
            <a:off x="20188102" y="793320"/>
            <a:ext cx="3162802" cy="35992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498ED68-E1F4-E180-9DFF-8BB7A3F51EC8}"/>
              </a:ext>
            </a:extLst>
          </p:cNvPr>
          <p:cNvGrpSpPr/>
          <p:nvPr/>
        </p:nvGrpSpPr>
        <p:grpSpPr>
          <a:xfrm>
            <a:off x="20583887" y="979519"/>
            <a:ext cx="2371232" cy="3226837"/>
            <a:chOff x="425836" y="1912816"/>
            <a:chExt cx="3206504" cy="436349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5C8EB35-BB6C-9B95-5A91-D80CD812D4E1}"/>
                </a:ext>
              </a:extLst>
            </p:cNvPr>
            <p:cNvGrpSpPr/>
            <p:nvPr/>
          </p:nvGrpSpPr>
          <p:grpSpPr>
            <a:xfrm>
              <a:off x="425836" y="1912816"/>
              <a:ext cx="3074998" cy="660541"/>
              <a:chOff x="596126" y="1903847"/>
              <a:chExt cx="3074998" cy="660541"/>
            </a:xfrm>
          </p:grpSpPr>
          <p:pic>
            <p:nvPicPr>
              <p:cNvPr id="69" name="Picture 4" descr="Oracle Aconex software services implementation at best price in Thane">
                <a:extLst>
                  <a:ext uri="{FF2B5EF4-FFF2-40B4-BE49-F238E27FC236}">
                    <a16:creationId xmlns:a16="http://schemas.microsoft.com/office/drawing/2014/main" id="{153F452B-F9BE-1CE9-A304-6E2C570491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9323" y="1903847"/>
                <a:ext cx="1171801" cy="6605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6" descr="Zepth - Construction Management Platform - Crunchbase Company Profile &amp;  Funding">
                <a:extLst>
                  <a:ext uri="{FF2B5EF4-FFF2-40B4-BE49-F238E27FC236}">
                    <a16:creationId xmlns:a16="http://schemas.microsoft.com/office/drawing/2014/main" id="{7556E30B-3AB8-8F97-EB21-2659DEE36B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218" b="31017"/>
              <a:stretch/>
            </p:blipFill>
            <p:spPr bwMode="auto">
              <a:xfrm>
                <a:off x="596126" y="1915462"/>
                <a:ext cx="1443467" cy="5740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8" descr="Buildots - Performance-Driven Construction Management">
              <a:extLst>
                <a:ext uri="{FF2B5EF4-FFF2-40B4-BE49-F238E27FC236}">
                  <a16:creationId xmlns:a16="http://schemas.microsoft.com/office/drawing/2014/main" id="{F0AD3C7E-43E6-63DF-3F39-6559ADBDF9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10" y="5642095"/>
              <a:ext cx="1527793" cy="634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76306E5-1822-253E-95BB-FBDB406A67C9}"/>
                </a:ext>
              </a:extLst>
            </p:cNvPr>
            <p:cNvGrpSpPr/>
            <p:nvPr/>
          </p:nvGrpSpPr>
          <p:grpSpPr>
            <a:xfrm>
              <a:off x="496142" y="3031459"/>
              <a:ext cx="3119456" cy="677561"/>
              <a:chOff x="697598" y="3031459"/>
              <a:chExt cx="3012644" cy="654361"/>
            </a:xfrm>
          </p:grpSpPr>
          <p:pic>
            <p:nvPicPr>
              <p:cNvPr id="66" name="Picture 10" descr="Disperse - Northzone multi-stage venture capital fund">
                <a:extLst>
                  <a:ext uri="{FF2B5EF4-FFF2-40B4-BE49-F238E27FC236}">
                    <a16:creationId xmlns:a16="http://schemas.microsoft.com/office/drawing/2014/main" id="{1377E098-B77F-5EB5-6727-80BA59A88F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520" y="3199818"/>
                <a:ext cx="1308722" cy="3041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12" descr="OpenSpace | Autodesk AECO Technology Partner Ecosystem">
                <a:extLst>
                  <a:ext uri="{FF2B5EF4-FFF2-40B4-BE49-F238E27FC236}">
                    <a16:creationId xmlns:a16="http://schemas.microsoft.com/office/drawing/2014/main" id="{5EB6D469-D16E-5035-91CA-D0E1F75632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598" y="3031459"/>
                <a:ext cx="1308722" cy="6543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2" name="Picture 14" descr="ALICE Technologies Extends Funding Series B Round to Access $47M in Capital">
              <a:extLst>
                <a:ext uri="{FF2B5EF4-FFF2-40B4-BE49-F238E27FC236}">
                  <a16:creationId xmlns:a16="http://schemas.microsoft.com/office/drawing/2014/main" id="{D8C268D4-DEC1-F4B3-8DAF-B6BBCDDE4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40" b="22875"/>
            <a:stretch/>
          </p:blipFill>
          <p:spPr bwMode="auto">
            <a:xfrm>
              <a:off x="2329033" y="5802282"/>
              <a:ext cx="1303307" cy="372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D4C94E1-EFF7-6E1A-1876-83887F034AFB}"/>
                </a:ext>
              </a:extLst>
            </p:cNvPr>
            <p:cNvGrpSpPr/>
            <p:nvPr/>
          </p:nvGrpSpPr>
          <p:grpSpPr>
            <a:xfrm>
              <a:off x="496142" y="4009458"/>
              <a:ext cx="2922394" cy="795959"/>
              <a:chOff x="697739" y="4009035"/>
              <a:chExt cx="2815442" cy="766829"/>
            </a:xfrm>
          </p:grpSpPr>
          <p:pic>
            <p:nvPicPr>
              <p:cNvPr id="60" name="Picture 18" descr="Touchplan - Pricing, Features, and Details in 2025">
                <a:extLst>
                  <a:ext uri="{FF2B5EF4-FFF2-40B4-BE49-F238E27FC236}">
                    <a16:creationId xmlns:a16="http://schemas.microsoft.com/office/drawing/2014/main" id="{E84FD4F0-6E66-C38C-C035-7424B1A6EF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352" y="4009035"/>
                <a:ext cx="766829" cy="766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20" descr="Visual Project Management Technology - Products">
                <a:extLst>
                  <a:ext uri="{FF2B5EF4-FFF2-40B4-BE49-F238E27FC236}">
                    <a16:creationId xmlns:a16="http://schemas.microsoft.com/office/drawing/2014/main" id="{4B01012F-064F-32BD-BA81-2451E7C256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739" y="4151740"/>
                <a:ext cx="1430364" cy="4591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216DF31-E145-9209-E181-6E532094F553}"/>
                </a:ext>
              </a:extLst>
            </p:cNvPr>
            <p:cNvGrpSpPr/>
            <p:nvPr/>
          </p:nvGrpSpPr>
          <p:grpSpPr>
            <a:xfrm>
              <a:off x="496142" y="5037927"/>
              <a:ext cx="3022834" cy="452432"/>
              <a:chOff x="496141" y="5020284"/>
              <a:chExt cx="3695625" cy="553130"/>
            </a:xfrm>
          </p:grpSpPr>
          <p:pic>
            <p:nvPicPr>
              <p:cNvPr id="54" name="Picture 2" descr="Microsoft Power BI: Data Aanalysis y Visualization for your Business -  TechsBCN">
                <a:extLst>
                  <a:ext uri="{FF2B5EF4-FFF2-40B4-BE49-F238E27FC236}">
                    <a16:creationId xmlns:a16="http://schemas.microsoft.com/office/drawing/2014/main" id="{BF33CFE5-E49D-1000-11B3-70C83910B6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84" t="33343" r="22305" b="34142"/>
              <a:stretch/>
            </p:blipFill>
            <p:spPr bwMode="auto">
              <a:xfrm>
                <a:off x="2598382" y="5020284"/>
                <a:ext cx="1593384" cy="5531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22" descr="Planifi Web – Planifi">
                <a:extLst>
                  <a:ext uri="{FF2B5EF4-FFF2-40B4-BE49-F238E27FC236}">
                    <a16:creationId xmlns:a16="http://schemas.microsoft.com/office/drawing/2014/main" id="{F5851C1C-6605-A214-EB3D-098A9C7669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6141" y="5036591"/>
                <a:ext cx="1592833" cy="4639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6973968D-C96B-0D05-F3F5-5B1CFEB23BC9}"/>
              </a:ext>
            </a:extLst>
          </p:cNvPr>
          <p:cNvSpPr txBox="1"/>
          <p:nvPr/>
        </p:nvSpPr>
        <p:spPr>
          <a:xfrm>
            <a:off x="377031" y="-2154156"/>
            <a:ext cx="11437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-150" dirty="0">
                <a:solidFill>
                  <a:schemeClr val="accent1"/>
                </a:solidFill>
                <a:latin typeface="+mj-lt"/>
              </a:rPr>
              <a:t>Demo| Interactive Floorplan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95CAEA1-86FF-84EF-9E87-EA02C45DC3BA}"/>
              </a:ext>
            </a:extLst>
          </p:cNvPr>
          <p:cNvSpPr/>
          <p:nvPr/>
        </p:nvSpPr>
        <p:spPr>
          <a:xfrm>
            <a:off x="0" y="929401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9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6DEB-19E0-BDFD-479B-D2B5A35A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754B17-CBD2-C9F8-31FF-52CE02DC903A}"/>
              </a:ext>
            </a:extLst>
          </p:cNvPr>
          <p:cNvSpPr/>
          <p:nvPr/>
        </p:nvSpPr>
        <p:spPr>
          <a:xfrm>
            <a:off x="0" y="2722220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DB929-9979-9803-A6F7-B21D3C0FB3A6}"/>
              </a:ext>
            </a:extLst>
          </p:cNvPr>
          <p:cNvSpPr txBox="1"/>
          <p:nvPr/>
        </p:nvSpPr>
        <p:spPr>
          <a:xfrm>
            <a:off x="377031" y="441325"/>
            <a:ext cx="11437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-150" dirty="0">
                <a:solidFill>
                  <a:schemeClr val="accent1"/>
                </a:solidFill>
                <a:latin typeface="+mj-lt"/>
              </a:rPr>
              <a:t>Demo| Interactive Floorplan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E545B1-5A4A-ABF6-51D3-F4C3FB1D4D8B}"/>
              </a:ext>
            </a:extLst>
          </p:cNvPr>
          <p:cNvSpPr txBox="1"/>
          <p:nvPr/>
        </p:nvSpPr>
        <p:spPr>
          <a:xfrm>
            <a:off x="550862" y="-1503214"/>
            <a:ext cx="11437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50" dirty="0">
                <a:solidFill>
                  <a:schemeClr val="accent1"/>
                </a:solidFill>
                <a:latin typeface="+mj-lt"/>
              </a:rPr>
              <a:t>Research Directions| Towards Multi Source Data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2F5118-2E54-40DF-91B6-AB06A1EEF6F4}"/>
              </a:ext>
            </a:extLst>
          </p:cNvPr>
          <p:cNvSpPr/>
          <p:nvPr/>
        </p:nvSpPr>
        <p:spPr>
          <a:xfrm>
            <a:off x="708894" y="7571886"/>
            <a:ext cx="3884509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B13EFE-5A83-8C0E-ECBD-CCB74BCBCE15}"/>
              </a:ext>
            </a:extLst>
          </p:cNvPr>
          <p:cNvSpPr/>
          <p:nvPr/>
        </p:nvSpPr>
        <p:spPr>
          <a:xfrm>
            <a:off x="4756214" y="9737615"/>
            <a:ext cx="2679571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979E4A-CFF5-8EF0-76FA-87014369AD86}"/>
              </a:ext>
            </a:extLst>
          </p:cNvPr>
          <p:cNvSpPr/>
          <p:nvPr/>
        </p:nvSpPr>
        <p:spPr>
          <a:xfrm>
            <a:off x="7598597" y="12056333"/>
            <a:ext cx="3884509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C9B895-EC52-6BE9-2728-0ABF2A9E0B6F}"/>
              </a:ext>
            </a:extLst>
          </p:cNvPr>
          <p:cNvSpPr txBox="1"/>
          <p:nvPr/>
        </p:nvSpPr>
        <p:spPr>
          <a:xfrm>
            <a:off x="798765" y="7780919"/>
            <a:ext cx="31369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Multi-Source/ </a:t>
            </a:r>
            <a:br>
              <a:rPr lang="en-US" sz="1600" b="1" dirty="0">
                <a:solidFill>
                  <a:schemeClr val="accent1"/>
                </a:solidFill>
              </a:rPr>
            </a:br>
            <a:r>
              <a:rPr lang="en-US" sz="1600" b="1" dirty="0">
                <a:solidFill>
                  <a:schemeClr val="accent1"/>
                </a:solidFill>
              </a:rPr>
              <a:t>stakeholder data generation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792C02-12FC-F894-B832-14614ADC41B3}"/>
              </a:ext>
            </a:extLst>
          </p:cNvPr>
          <p:cNvSpPr txBox="1"/>
          <p:nvPr/>
        </p:nvSpPr>
        <p:spPr>
          <a:xfrm>
            <a:off x="4887808" y="9946648"/>
            <a:ext cx="2410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Multi-modal ingestion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14F677-15FF-CCA8-7789-44A578E8CBBD}"/>
              </a:ext>
            </a:extLst>
          </p:cNvPr>
          <p:cNvSpPr txBox="1"/>
          <p:nvPr/>
        </p:nvSpPr>
        <p:spPr>
          <a:xfrm>
            <a:off x="7774941" y="12265366"/>
            <a:ext cx="3413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Context understanding Automation LLM explanations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Dynamic dashboards 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3E931CB-3FE5-5506-61CE-45C135DCBB90}"/>
              </a:ext>
            </a:extLst>
          </p:cNvPr>
          <p:cNvGrpSpPr/>
          <p:nvPr/>
        </p:nvGrpSpPr>
        <p:grpSpPr>
          <a:xfrm>
            <a:off x="898510" y="8565102"/>
            <a:ext cx="3563299" cy="3607992"/>
            <a:chOff x="997166" y="2377517"/>
            <a:chExt cx="3563299" cy="360799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BC3D543-9DB5-13A0-C962-F7FB0889CCD8}"/>
                </a:ext>
              </a:extLst>
            </p:cNvPr>
            <p:cNvGrpSpPr/>
            <p:nvPr/>
          </p:nvGrpSpPr>
          <p:grpSpPr>
            <a:xfrm>
              <a:off x="1009617" y="2377517"/>
              <a:ext cx="3550848" cy="381010"/>
              <a:chOff x="1009617" y="2377517"/>
              <a:chExt cx="3550848" cy="381010"/>
            </a:xfrm>
          </p:grpSpPr>
          <p:pic>
            <p:nvPicPr>
              <p:cNvPr id="83" name="Graphic 82" descr="Customer review outline">
                <a:extLst>
                  <a:ext uri="{FF2B5EF4-FFF2-40B4-BE49-F238E27FC236}">
                    <a16:creationId xmlns:a16="http://schemas.microsoft.com/office/drawing/2014/main" id="{805ADD57-8AF0-AE7D-4342-D90376BCB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09617" y="2377517"/>
                <a:ext cx="381010" cy="381010"/>
              </a:xfrm>
              <a:prstGeom prst="rect">
                <a:avLst/>
              </a:prstGeom>
            </p:spPr>
          </p:pic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B84276A-972A-A3B5-E439-19AED00D6D44}"/>
                  </a:ext>
                </a:extLst>
              </p:cNvPr>
              <p:cNvSpPr txBox="1"/>
              <p:nvPr/>
            </p:nvSpPr>
            <p:spPr>
              <a:xfrm>
                <a:off x="1423564" y="2429523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Client - interests, revisions, approvals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52CA5A9-94AA-3F14-1AF7-72DF0BED4000}"/>
                </a:ext>
              </a:extLst>
            </p:cNvPr>
            <p:cNvGrpSpPr/>
            <p:nvPr/>
          </p:nvGrpSpPr>
          <p:grpSpPr>
            <a:xfrm>
              <a:off x="1035157" y="5523844"/>
              <a:ext cx="3176164" cy="461665"/>
              <a:chOff x="1035157" y="5710508"/>
              <a:chExt cx="3176164" cy="461665"/>
            </a:xfrm>
          </p:grpSpPr>
          <p:pic>
            <p:nvPicPr>
              <p:cNvPr id="81" name="Graphic 80" descr="Construction worker male outline">
                <a:extLst>
                  <a:ext uri="{FF2B5EF4-FFF2-40B4-BE49-F238E27FC236}">
                    <a16:creationId xmlns:a16="http://schemas.microsoft.com/office/drawing/2014/main" id="{68D6E846-CF8F-8339-FE91-439720F8F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35157" y="5776375"/>
                <a:ext cx="329931" cy="329930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1AAE571-7FDE-4195-C2A1-2B852960C250}"/>
                  </a:ext>
                </a:extLst>
              </p:cNvPr>
              <p:cNvSpPr txBox="1"/>
              <p:nvPr/>
            </p:nvSpPr>
            <p:spPr>
              <a:xfrm>
                <a:off x="1423565" y="5710508"/>
                <a:ext cx="27877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Site personnel – foreman's, workers and engineers 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4179FA6-11C9-1A83-C08F-3DBF14C51438}"/>
                </a:ext>
              </a:extLst>
            </p:cNvPr>
            <p:cNvGrpSpPr/>
            <p:nvPr/>
          </p:nvGrpSpPr>
          <p:grpSpPr>
            <a:xfrm>
              <a:off x="1020129" y="5038913"/>
              <a:ext cx="3540336" cy="359987"/>
              <a:chOff x="1020129" y="5163857"/>
              <a:chExt cx="3540336" cy="359987"/>
            </a:xfrm>
          </p:grpSpPr>
          <p:pic>
            <p:nvPicPr>
              <p:cNvPr id="79" name="Graphic 78" descr="Construction worker female outline">
                <a:extLst>
                  <a:ext uri="{FF2B5EF4-FFF2-40B4-BE49-F238E27FC236}">
                    <a16:creationId xmlns:a16="http://schemas.microsoft.com/office/drawing/2014/main" id="{892198D7-21A1-FB36-87B2-AADE325AF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20129" y="5163857"/>
                <a:ext cx="359987" cy="359987"/>
              </a:xfrm>
              <a:prstGeom prst="rect">
                <a:avLst/>
              </a:prstGeom>
            </p:spPr>
          </p:pic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439294E-9B52-3EE9-16C1-FDB31CA26B51}"/>
                  </a:ext>
                </a:extLst>
              </p:cNvPr>
              <p:cNvSpPr txBox="1"/>
              <p:nvPr/>
            </p:nvSpPr>
            <p:spPr>
              <a:xfrm>
                <a:off x="1423564" y="5205351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Consultant – orders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B15FDE8-D6AA-4EEF-8542-313DFE1C720B}"/>
                </a:ext>
              </a:extLst>
            </p:cNvPr>
            <p:cNvGrpSpPr/>
            <p:nvPr/>
          </p:nvGrpSpPr>
          <p:grpSpPr>
            <a:xfrm>
              <a:off x="1000165" y="4452307"/>
              <a:ext cx="3368636" cy="461665"/>
              <a:chOff x="1000165" y="4608090"/>
              <a:chExt cx="3368636" cy="461665"/>
            </a:xfrm>
          </p:grpSpPr>
          <p:pic>
            <p:nvPicPr>
              <p:cNvPr id="77" name="Graphic 76" descr="Male profile outline">
                <a:extLst>
                  <a:ext uri="{FF2B5EF4-FFF2-40B4-BE49-F238E27FC236}">
                    <a16:creationId xmlns:a16="http://schemas.microsoft.com/office/drawing/2014/main" id="{1F0491E3-D38C-F9C5-6881-ED598FA9EA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00165" y="4638966"/>
                <a:ext cx="399913" cy="399913"/>
              </a:xfrm>
              <a:prstGeom prst="rect">
                <a:avLst/>
              </a:prstGeom>
            </p:spPr>
          </p:pic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EB5F76C-A430-8955-4C5B-B35D9D6DA1AC}"/>
                  </a:ext>
                </a:extLst>
              </p:cNvPr>
              <p:cNvSpPr txBox="1"/>
              <p:nvPr/>
            </p:nvSpPr>
            <p:spPr>
              <a:xfrm>
                <a:off x="1423565" y="4608090"/>
                <a:ext cx="29452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Subcontractors – performance, delivery, constraints 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1417BF5-B167-6DB8-5F34-5BC3ED6DF49B}"/>
                </a:ext>
              </a:extLst>
            </p:cNvPr>
            <p:cNvGrpSpPr/>
            <p:nvPr/>
          </p:nvGrpSpPr>
          <p:grpSpPr>
            <a:xfrm>
              <a:off x="1034262" y="3995646"/>
              <a:ext cx="3526203" cy="331720"/>
              <a:chOff x="1034262" y="4080996"/>
              <a:chExt cx="3526203" cy="331720"/>
            </a:xfrm>
          </p:grpSpPr>
          <p:pic>
            <p:nvPicPr>
              <p:cNvPr id="75" name="Graphic 74" descr="Court outline">
                <a:extLst>
                  <a:ext uri="{FF2B5EF4-FFF2-40B4-BE49-F238E27FC236}">
                    <a16:creationId xmlns:a16="http://schemas.microsoft.com/office/drawing/2014/main" id="{DB5C6758-D30A-CF5F-F486-B167DB9795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34262" y="4080996"/>
                <a:ext cx="331720" cy="331720"/>
              </a:xfrm>
              <a:prstGeom prst="rect">
                <a:avLst/>
              </a:prstGeom>
            </p:spPr>
          </p:pic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7BD2435-92D4-C77A-539E-9C3D04FC2228}"/>
                  </a:ext>
                </a:extLst>
              </p:cNvPr>
              <p:cNvSpPr txBox="1"/>
              <p:nvPr/>
            </p:nvSpPr>
            <p:spPr>
              <a:xfrm>
                <a:off x="1423564" y="4108357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Government Services – approvals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661DD4E-681B-2D33-FC58-650DACFBF17C}"/>
                </a:ext>
              </a:extLst>
            </p:cNvPr>
            <p:cNvGrpSpPr/>
            <p:nvPr/>
          </p:nvGrpSpPr>
          <p:grpSpPr>
            <a:xfrm>
              <a:off x="999806" y="3470074"/>
              <a:ext cx="3560659" cy="400631"/>
              <a:chOff x="999806" y="3511300"/>
              <a:chExt cx="3560659" cy="400631"/>
            </a:xfrm>
          </p:grpSpPr>
          <p:pic>
            <p:nvPicPr>
              <p:cNvPr id="73" name="Graphic 72" descr="Partial sun outline">
                <a:extLst>
                  <a:ext uri="{FF2B5EF4-FFF2-40B4-BE49-F238E27FC236}">
                    <a16:creationId xmlns:a16="http://schemas.microsoft.com/office/drawing/2014/main" id="{9EB27977-754B-D3C0-71CB-F50CEEBF6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99806" y="3511300"/>
                <a:ext cx="400631" cy="400631"/>
              </a:xfrm>
              <a:prstGeom prst="rect">
                <a:avLst/>
              </a:prstGeom>
            </p:spPr>
          </p:pic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F3BA64E-A071-7A1A-A975-3CD0641E0C2E}"/>
                  </a:ext>
                </a:extLst>
              </p:cNvPr>
              <p:cNvSpPr txBox="1"/>
              <p:nvPr/>
            </p:nvSpPr>
            <p:spPr>
              <a:xfrm>
                <a:off x="1423564" y="3573761"/>
                <a:ext cx="31369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Weather – rain, heat …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C2EDFB3-3016-C500-1145-60BF4F417D37}"/>
                </a:ext>
              </a:extLst>
            </p:cNvPr>
            <p:cNvGrpSpPr/>
            <p:nvPr/>
          </p:nvGrpSpPr>
          <p:grpSpPr>
            <a:xfrm>
              <a:off x="997166" y="2883468"/>
              <a:ext cx="3214155" cy="461665"/>
              <a:chOff x="997166" y="2886226"/>
              <a:chExt cx="3214155" cy="461665"/>
            </a:xfrm>
          </p:grpSpPr>
          <p:pic>
            <p:nvPicPr>
              <p:cNvPr id="71" name="Graphic 70" descr="Building Brick Wall outline">
                <a:extLst>
                  <a:ext uri="{FF2B5EF4-FFF2-40B4-BE49-F238E27FC236}">
                    <a16:creationId xmlns:a16="http://schemas.microsoft.com/office/drawing/2014/main" id="{665DA6A9-C951-B53F-DC57-1F2E452946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97166" y="2914103"/>
                <a:ext cx="405911" cy="405911"/>
              </a:xfrm>
              <a:prstGeom prst="rect">
                <a:avLst/>
              </a:prstGeom>
            </p:spPr>
          </p:pic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9BA6A9A-C835-A094-A372-642A1DFCCEE9}"/>
                  </a:ext>
                </a:extLst>
              </p:cNvPr>
              <p:cNvSpPr txBox="1"/>
              <p:nvPr/>
            </p:nvSpPr>
            <p:spPr>
              <a:xfrm>
                <a:off x="1423564" y="2886226"/>
                <a:ext cx="27877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Material supplier - specs delivery notes, delays, supply chain </a:t>
                </a: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C3FC28B-F3C0-30AD-06EC-C7AA6B281CA8}"/>
              </a:ext>
            </a:extLst>
          </p:cNvPr>
          <p:cNvGrpSpPr/>
          <p:nvPr/>
        </p:nvGrpSpPr>
        <p:grpSpPr>
          <a:xfrm>
            <a:off x="5682611" y="10494235"/>
            <a:ext cx="826778" cy="3929695"/>
            <a:chOff x="5833382" y="2228533"/>
            <a:chExt cx="826778" cy="3929695"/>
          </a:xfrm>
        </p:grpSpPr>
        <p:pic>
          <p:nvPicPr>
            <p:cNvPr id="86" name="Picture 20" descr="Photo-Gallery Icons - Free SVG &amp; PNG Photo-Gallery Images - Noun Project">
              <a:extLst>
                <a:ext uri="{FF2B5EF4-FFF2-40B4-BE49-F238E27FC236}">
                  <a16:creationId xmlns:a16="http://schemas.microsoft.com/office/drawing/2014/main" id="{4A1F0FD5-722B-41A9-B826-88AC32803C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1049" y="2228533"/>
              <a:ext cx="791445" cy="791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24" descr="Free Text Message SVG, PNG Icon, Symbol. Download Image.">
              <a:extLst>
                <a:ext uri="{FF2B5EF4-FFF2-40B4-BE49-F238E27FC236}">
                  <a16:creationId xmlns:a16="http://schemas.microsoft.com/office/drawing/2014/main" id="{2C9404E7-B2AD-FA5B-B09E-FDE79CF9C2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865"/>
            <a:stretch>
              <a:fillRect/>
            </a:stretch>
          </p:blipFill>
          <p:spPr bwMode="auto">
            <a:xfrm>
              <a:off x="5898833" y="3019978"/>
              <a:ext cx="695877" cy="606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26" descr="Free Video SVG, PNG Icon, Symbol. Download Image.">
              <a:extLst>
                <a:ext uri="{FF2B5EF4-FFF2-40B4-BE49-F238E27FC236}">
                  <a16:creationId xmlns:a16="http://schemas.microsoft.com/office/drawing/2014/main" id="{EDBF90BE-2DA7-4EB4-86F2-805974E6D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8250" y="5461186"/>
              <a:ext cx="697042" cy="6970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8" descr="Documents symbol - Free interface icons">
              <a:extLst>
                <a:ext uri="{FF2B5EF4-FFF2-40B4-BE49-F238E27FC236}">
                  <a16:creationId xmlns:a16="http://schemas.microsoft.com/office/drawing/2014/main" id="{E45DBC8A-FB5F-7842-19B6-B8A396595B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0635" y="3760264"/>
              <a:ext cx="712272" cy="712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30" descr="buildingSMART International Brand Identity">
              <a:extLst>
                <a:ext uri="{FF2B5EF4-FFF2-40B4-BE49-F238E27FC236}">
                  <a16:creationId xmlns:a16="http://schemas.microsoft.com/office/drawing/2014/main" id="{5D096F51-9910-40FF-4BEA-220DA01EA9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36" t="16753" r="18555" b="18564"/>
            <a:stretch>
              <a:fillRect/>
            </a:stretch>
          </p:blipFill>
          <p:spPr bwMode="auto">
            <a:xfrm>
              <a:off x="5833382" y="4614981"/>
              <a:ext cx="826778" cy="838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" name="Picture 4" descr="Whatsapp Logo PNG Vectors Free Download">
            <a:extLst>
              <a:ext uri="{FF2B5EF4-FFF2-40B4-BE49-F238E27FC236}">
                <a16:creationId xmlns:a16="http://schemas.microsoft.com/office/drawing/2014/main" id="{4AF06048-32C5-DA14-006C-685F97213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0" y="13992062"/>
            <a:ext cx="836141" cy="83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Can 51">
            <a:extLst>
              <a:ext uri="{FF2B5EF4-FFF2-40B4-BE49-F238E27FC236}">
                <a16:creationId xmlns:a16="http://schemas.microsoft.com/office/drawing/2014/main" id="{AA8A4771-1667-EF50-4E7E-D19B65F1ED70}"/>
              </a:ext>
            </a:extLst>
          </p:cNvPr>
          <p:cNvSpPr/>
          <p:nvPr/>
        </p:nvSpPr>
        <p:spPr>
          <a:xfrm>
            <a:off x="9134574" y="14033158"/>
            <a:ext cx="609600" cy="753948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AE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1910FF2-2E8F-A4AA-19F1-F0E6F32B2088}"/>
              </a:ext>
            </a:extLst>
          </p:cNvPr>
          <p:cNvSpPr/>
          <p:nvPr/>
        </p:nvSpPr>
        <p:spPr>
          <a:xfrm>
            <a:off x="10258142" y="14033158"/>
            <a:ext cx="1016002" cy="7539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13FD3F5-2550-A879-BB99-4ED809B1ACEC}"/>
              </a:ext>
            </a:extLst>
          </p:cNvPr>
          <p:cNvSpPr txBox="1"/>
          <p:nvPr/>
        </p:nvSpPr>
        <p:spPr>
          <a:xfrm>
            <a:off x="10342252" y="14056189"/>
            <a:ext cx="931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Initial static/semi static documents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BD2EF8A-923F-ADA2-A150-CEDCCC8AED2A}"/>
              </a:ext>
            </a:extLst>
          </p:cNvPr>
          <p:cNvGrpSpPr/>
          <p:nvPr/>
        </p:nvGrpSpPr>
        <p:grpSpPr>
          <a:xfrm>
            <a:off x="7904981" y="15324699"/>
            <a:ext cx="3365546" cy="1332476"/>
            <a:chOff x="7904981" y="4665367"/>
            <a:chExt cx="3365546" cy="1332476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6120328-D1A0-9578-3C36-01828A4A7AA5}"/>
                </a:ext>
              </a:extLst>
            </p:cNvPr>
            <p:cNvSpPr/>
            <p:nvPr/>
          </p:nvSpPr>
          <p:spPr>
            <a:xfrm>
              <a:off x="7904981" y="4665367"/>
              <a:ext cx="3365546" cy="13324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89013A8-443F-7427-4736-298E51AC4CEF}"/>
                </a:ext>
              </a:extLst>
            </p:cNvPr>
            <p:cNvSpPr txBox="1"/>
            <p:nvPr/>
          </p:nvSpPr>
          <p:spPr>
            <a:xfrm>
              <a:off x="9185717" y="5054606"/>
              <a:ext cx="168137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Recognition, Evaluation, Validation, Insight and Lookahead generation</a:t>
              </a:r>
            </a:p>
          </p:txBody>
        </p:sp>
        <p:pic>
          <p:nvPicPr>
            <p:cNvPr id="98" name="Picture 34" descr="Intelligence Intelligence Brain Creative Vector, Intelligence, Brain,  Creative PNG and Vector with Transparent Background for Free Download">
              <a:extLst>
                <a:ext uri="{FF2B5EF4-FFF2-40B4-BE49-F238E27FC236}">
                  <a16:creationId xmlns:a16="http://schemas.microsoft.com/office/drawing/2014/main" id="{6EB122BE-481C-7950-ADEF-2016C5BB4D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1247" y="4873729"/>
              <a:ext cx="915754" cy="915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9" name="Graphic 98">
            <a:extLst>
              <a:ext uri="{FF2B5EF4-FFF2-40B4-BE49-F238E27FC236}">
                <a16:creationId xmlns:a16="http://schemas.microsoft.com/office/drawing/2014/main" id="{CA5244D1-1025-D1A3-DF9A-FA72CE9FDAD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70010" y="9802567"/>
            <a:ext cx="409596" cy="409596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5EB62DD6-0345-361E-5B87-30666B127AF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2393" y="14287014"/>
            <a:ext cx="409596" cy="409596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8E02DEF-6D35-69F4-D2DB-935DCAB2F9A2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8683153" y="14410132"/>
            <a:ext cx="451421" cy="1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613B93E-657E-40C5-67C2-5B575D663243}"/>
              </a:ext>
            </a:extLst>
          </p:cNvPr>
          <p:cNvCxnSpPr>
            <a:cxnSpLocks/>
            <a:stCxn id="92" idx="4"/>
          </p:cNvCxnSpPr>
          <p:nvPr/>
        </p:nvCxnSpPr>
        <p:spPr>
          <a:xfrm>
            <a:off x="9744174" y="14410132"/>
            <a:ext cx="513968" cy="1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8CAC676-808C-30E7-18AF-A9D9409F7085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9439374" y="14787106"/>
            <a:ext cx="0" cy="536207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195525A-F622-84CB-E99B-0CEE16DF67A6}"/>
              </a:ext>
            </a:extLst>
          </p:cNvPr>
          <p:cNvCxnSpPr>
            <a:cxnSpLocks/>
            <a:stCxn id="93" idx="2"/>
          </p:cNvCxnSpPr>
          <p:nvPr/>
        </p:nvCxnSpPr>
        <p:spPr>
          <a:xfrm>
            <a:off x="10766143" y="14787106"/>
            <a:ext cx="0" cy="536207"/>
          </a:xfrm>
          <a:prstGeom prst="straightConnector1">
            <a:avLst/>
          </a:prstGeom>
          <a:ln w="158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19F0D3A-EE89-8453-2636-E4ED48F07419}"/>
              </a:ext>
            </a:extLst>
          </p:cNvPr>
          <p:cNvSpPr txBox="1"/>
          <p:nvPr/>
        </p:nvSpPr>
        <p:spPr>
          <a:xfrm>
            <a:off x="-8676698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>
                <a:latin typeface="+mj-lt"/>
              </a:rPr>
              <a:t>Demo| Site Data Capture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9B75BC8-DBA4-48DC-F3C8-AE829F24D575}"/>
              </a:ext>
            </a:extLst>
          </p:cNvPr>
          <p:cNvSpPr/>
          <p:nvPr/>
        </p:nvSpPr>
        <p:spPr>
          <a:xfrm>
            <a:off x="-8676698" y="1384301"/>
            <a:ext cx="5247406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FB4BC99-FA3D-4825-A020-5CFE3B29D76D}"/>
              </a:ext>
            </a:extLst>
          </p:cNvPr>
          <p:cNvSpPr/>
          <p:nvPr/>
        </p:nvSpPr>
        <p:spPr>
          <a:xfrm>
            <a:off x="15161554" y="1384301"/>
            <a:ext cx="5247406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D621A394-4A7C-E539-F844-E04D58F676C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" b="743"/>
          <a:stretch>
            <a:fillRect/>
          </a:stretch>
        </p:blipFill>
        <p:spPr bwMode="auto">
          <a:xfrm>
            <a:off x="-8071984" y="4071659"/>
            <a:ext cx="4037979" cy="20675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EA89759-DD44-2A76-7D5C-FA611B325C0C}"/>
              </a:ext>
            </a:extLst>
          </p:cNvPr>
          <p:cNvGrpSpPr/>
          <p:nvPr/>
        </p:nvGrpSpPr>
        <p:grpSpPr>
          <a:xfrm>
            <a:off x="16039883" y="1560338"/>
            <a:ext cx="3490748" cy="4518884"/>
            <a:chOff x="17425039" y="1024636"/>
            <a:chExt cx="3893906" cy="5040785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602363CA-B3B3-BD06-BA0C-A9C244CCD7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 cstate="print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ackgroundRemoval t="6291" b="89777" l="29412" r="73203">
                          <a14:foregroundMark x1="51634" y1="6291" x2="51634" y2="6291"/>
                          <a14:foregroundMark x1="69935" y1="15596" x2="69935" y2="15596"/>
                          <a14:foregroundMark x1="72767" y1="25819" x2="72767" y2="25819"/>
                          <a14:foregroundMark x1="70806" y1="50852" x2="70806" y2="50852"/>
                          <a14:foregroundMark x1="66231" y1="84010" x2="66231" y2="84010"/>
                          <a14:foregroundMark x1="47495" y1="79292" x2="47495" y2="79292"/>
                          <a14:foregroundMark x1="62963" y1="84666" x2="62963" y2="84666"/>
                          <a14:foregroundMark x1="71242" y1="89777" x2="71242" y2="89777"/>
                          <a14:foregroundMark x1="71024" y1="27392" x2="71024" y2="27392"/>
                          <a14:foregroundMark x1="70588" y1="32110" x2="70588" y2="32110"/>
                          <a14:foregroundMark x1="51198" y1="22412" x2="51198" y2="224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0" r="21109" b="4361"/>
            <a:stretch/>
          </p:blipFill>
          <p:spPr bwMode="auto">
            <a:xfrm rot="16200000">
              <a:off x="18636692" y="1805501"/>
              <a:ext cx="1470600" cy="3893906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DEC2E710-AF4D-5EA2-0396-7ED132195D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36" t="1480" r="19575" b="4277"/>
            <a:stretch/>
          </p:blipFill>
          <p:spPr bwMode="auto">
            <a:xfrm rot="16200000">
              <a:off x="18727331" y="3542095"/>
              <a:ext cx="1333182" cy="37134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D2C0D618-5637-9DA8-C5B2-AC0F06F28D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6" t="6363" r="41769" b="8998"/>
            <a:stretch/>
          </p:blipFill>
          <p:spPr bwMode="auto">
            <a:xfrm rot="16200000">
              <a:off x="18612305" y="-50483"/>
              <a:ext cx="1553052" cy="370328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69216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2AC2EE-5F1F-C66E-C503-EEF731B8A9B6}"/>
              </a:ext>
            </a:extLst>
          </p:cNvPr>
          <p:cNvSpPr txBox="1"/>
          <p:nvPr/>
        </p:nvSpPr>
        <p:spPr>
          <a:xfrm>
            <a:off x="3046379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>
                <a:latin typeface="+mj-lt"/>
              </a:rPr>
              <a:t>Demo| Site Data Capture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B81A81-7131-61A3-B8A7-28E9A75EF205}"/>
              </a:ext>
            </a:extLst>
          </p:cNvPr>
          <p:cNvSpPr/>
          <p:nvPr/>
        </p:nvSpPr>
        <p:spPr>
          <a:xfrm>
            <a:off x="708894" y="1384301"/>
            <a:ext cx="5247406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Video of a person walking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2B636-E290-6693-4327-00F0AA824A23}"/>
              </a:ext>
            </a:extLst>
          </p:cNvPr>
          <p:cNvSpPr/>
          <p:nvPr/>
        </p:nvSpPr>
        <p:spPr>
          <a:xfrm>
            <a:off x="6235700" y="1384301"/>
            <a:ext cx="5247406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3D676-EE61-5343-C9DF-8B428B78F5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" b="743"/>
          <a:stretch>
            <a:fillRect/>
          </a:stretch>
        </p:blipFill>
        <p:spPr bwMode="auto">
          <a:xfrm>
            <a:off x="1313608" y="4071659"/>
            <a:ext cx="4037979" cy="20675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99AA54-03DD-6CA6-AE85-1E540947387B}"/>
              </a:ext>
            </a:extLst>
          </p:cNvPr>
          <p:cNvGrpSpPr/>
          <p:nvPr/>
        </p:nvGrpSpPr>
        <p:grpSpPr>
          <a:xfrm>
            <a:off x="7114029" y="1560338"/>
            <a:ext cx="3490748" cy="4518884"/>
            <a:chOff x="17425039" y="1024636"/>
            <a:chExt cx="3893906" cy="504078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B7961AC-24F2-333F-5F2B-DDF209F6E2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291" b="89777" l="29412" r="73203">
                          <a14:foregroundMark x1="51634" y1="6291" x2="51634" y2="6291"/>
                          <a14:foregroundMark x1="69935" y1="15596" x2="69935" y2="15596"/>
                          <a14:foregroundMark x1="72767" y1="25819" x2="72767" y2="25819"/>
                          <a14:foregroundMark x1="70806" y1="50852" x2="70806" y2="50852"/>
                          <a14:foregroundMark x1="66231" y1="84010" x2="66231" y2="84010"/>
                          <a14:foregroundMark x1="47495" y1="79292" x2="47495" y2="79292"/>
                          <a14:foregroundMark x1="62963" y1="84666" x2="62963" y2="84666"/>
                          <a14:foregroundMark x1="71242" y1="89777" x2="71242" y2="89777"/>
                          <a14:foregroundMark x1="71024" y1="27392" x2="71024" y2="27392"/>
                          <a14:foregroundMark x1="70588" y1="32110" x2="70588" y2="32110"/>
                          <a14:foregroundMark x1="51198" y1="22412" x2="51198" y2="224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0" r="21109" b="4361"/>
            <a:stretch/>
          </p:blipFill>
          <p:spPr bwMode="auto">
            <a:xfrm rot="16200000">
              <a:off x="18636692" y="1805501"/>
              <a:ext cx="1470600" cy="3893906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AA1F51-9D7E-377E-C3A9-4EC9675B58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36" t="1480" r="19575" b="4277"/>
            <a:stretch/>
          </p:blipFill>
          <p:spPr bwMode="auto">
            <a:xfrm rot="16200000">
              <a:off x="18727331" y="3542095"/>
              <a:ext cx="1333182" cy="37134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A6104A-3E1F-5C1D-1255-F1DC42F1FC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6" t="6363" r="41769" b="8998"/>
            <a:stretch/>
          </p:blipFill>
          <p:spPr bwMode="auto">
            <a:xfrm rot="16200000">
              <a:off x="18612305" y="-50483"/>
              <a:ext cx="1553052" cy="370328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7F52EEB-4F66-E137-6F1C-A73A894E13B3}"/>
              </a:ext>
            </a:extLst>
          </p:cNvPr>
          <p:cNvSpPr txBox="1"/>
          <p:nvPr/>
        </p:nvSpPr>
        <p:spPr>
          <a:xfrm>
            <a:off x="377031" y="-2154156"/>
            <a:ext cx="11437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-150" dirty="0">
                <a:solidFill>
                  <a:schemeClr val="accent1"/>
                </a:solidFill>
                <a:latin typeface="+mj-lt"/>
              </a:rPr>
              <a:t>Demo| Interactive Floorplan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6D385B-27F9-9344-CE73-C4AEB0B460ED}"/>
              </a:ext>
            </a:extLst>
          </p:cNvPr>
          <p:cNvSpPr/>
          <p:nvPr/>
        </p:nvSpPr>
        <p:spPr>
          <a:xfrm>
            <a:off x="0" y="929401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3A1A04-B03D-C71A-D666-A3AE0298F680}"/>
              </a:ext>
            </a:extLst>
          </p:cNvPr>
          <p:cNvSpPr txBox="1"/>
          <p:nvPr/>
        </p:nvSpPr>
        <p:spPr>
          <a:xfrm>
            <a:off x="-7373937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Demo| Site Data Capture</a:t>
            </a:r>
          </a:p>
        </p:txBody>
      </p:sp>
    </p:spTree>
    <p:extLst>
      <p:ext uri="{BB962C8B-B14F-4D97-AF65-F5344CB8AC3E}">
        <p14:creationId xmlns:p14="http://schemas.microsoft.com/office/powerpoint/2010/main" val="236070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0933-2DA3-6E38-BF13-800B7A42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459E3-86C0-EB62-96B2-B20A732F99B8}"/>
              </a:ext>
            </a:extLst>
          </p:cNvPr>
          <p:cNvSpPr txBox="1"/>
          <p:nvPr/>
        </p:nvSpPr>
        <p:spPr>
          <a:xfrm>
            <a:off x="550863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Demo| Site Data Capture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04B21-6D8F-31BB-C20C-4CD11FA5EAAA}"/>
              </a:ext>
            </a:extLst>
          </p:cNvPr>
          <p:cNvSpPr txBox="1"/>
          <p:nvPr/>
        </p:nvSpPr>
        <p:spPr>
          <a:xfrm>
            <a:off x="-8676698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>
                <a:latin typeface="+mj-lt"/>
              </a:rPr>
              <a:t>Demo| Site Data Capture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C51C43-94E1-B038-9098-77AFB865B5A6}"/>
              </a:ext>
            </a:extLst>
          </p:cNvPr>
          <p:cNvSpPr/>
          <p:nvPr/>
        </p:nvSpPr>
        <p:spPr>
          <a:xfrm>
            <a:off x="-8676698" y="1384301"/>
            <a:ext cx="5247406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A74F53-6201-78EC-2B0C-20526A9606C9}"/>
              </a:ext>
            </a:extLst>
          </p:cNvPr>
          <p:cNvSpPr/>
          <p:nvPr/>
        </p:nvSpPr>
        <p:spPr>
          <a:xfrm>
            <a:off x="15161554" y="1384301"/>
            <a:ext cx="5247406" cy="48709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DFFCED-07AB-3A3F-5FC7-8CF309E80F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" b="743"/>
          <a:stretch>
            <a:fillRect/>
          </a:stretch>
        </p:blipFill>
        <p:spPr bwMode="auto">
          <a:xfrm>
            <a:off x="-8071984" y="4071659"/>
            <a:ext cx="4037979" cy="20675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CC68332-4C02-6DA7-6FC1-FE761685F368}"/>
              </a:ext>
            </a:extLst>
          </p:cNvPr>
          <p:cNvGrpSpPr/>
          <p:nvPr/>
        </p:nvGrpSpPr>
        <p:grpSpPr>
          <a:xfrm>
            <a:off x="16039883" y="1560338"/>
            <a:ext cx="3490748" cy="4518884"/>
            <a:chOff x="17425039" y="1024636"/>
            <a:chExt cx="3893906" cy="504078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07CC7FA-1DFC-9DA6-8277-9FD62049A7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291" b="89777" l="29412" r="73203">
                          <a14:foregroundMark x1="51634" y1="6291" x2="51634" y2="6291"/>
                          <a14:foregroundMark x1="69935" y1="15596" x2="69935" y2="15596"/>
                          <a14:foregroundMark x1="72767" y1="25819" x2="72767" y2="25819"/>
                          <a14:foregroundMark x1="70806" y1="50852" x2="70806" y2="50852"/>
                          <a14:foregroundMark x1="66231" y1="84010" x2="66231" y2="84010"/>
                          <a14:foregroundMark x1="47495" y1="79292" x2="47495" y2="79292"/>
                          <a14:foregroundMark x1="62963" y1="84666" x2="62963" y2="84666"/>
                          <a14:foregroundMark x1="71242" y1="89777" x2="71242" y2="89777"/>
                          <a14:foregroundMark x1="71024" y1="27392" x2="71024" y2="27392"/>
                          <a14:foregroundMark x1="70588" y1="32110" x2="70588" y2="32110"/>
                          <a14:foregroundMark x1="51198" y1="22412" x2="51198" y2="224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0" r="21109" b="4361"/>
            <a:stretch/>
          </p:blipFill>
          <p:spPr bwMode="auto">
            <a:xfrm rot="16200000">
              <a:off x="18636692" y="1805501"/>
              <a:ext cx="1470600" cy="3893906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FCD645D-7E0D-1930-68C2-A6CB5863CF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36" t="1480" r="19575" b="4277"/>
            <a:stretch/>
          </p:blipFill>
          <p:spPr bwMode="auto">
            <a:xfrm rot="16200000">
              <a:off x="18727331" y="3542095"/>
              <a:ext cx="1333182" cy="37134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08B739A-8A22-5831-8DBA-767574C100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106" t="6363" r="41769" b="8998"/>
            <a:stretch/>
          </p:blipFill>
          <p:spPr bwMode="auto">
            <a:xfrm rot="16200000">
              <a:off x="18612305" y="-50483"/>
              <a:ext cx="1553052" cy="370328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4" name="Picture Placeholder 11">
            <a:extLst>
              <a:ext uri="{FF2B5EF4-FFF2-40B4-BE49-F238E27FC236}">
                <a16:creationId xmlns:a16="http://schemas.microsoft.com/office/drawing/2014/main" id="{B7C9634C-BB9E-A6E8-D73B-6901CD611C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76" b="29276"/>
          <a:stretch/>
        </p:blipFill>
        <p:spPr>
          <a:xfrm>
            <a:off x="0" y="8721973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D0E7652-B8B8-10EF-5D64-07EDB22AB20A}"/>
              </a:ext>
            </a:extLst>
          </p:cNvPr>
          <p:cNvSpPr/>
          <p:nvPr/>
        </p:nvSpPr>
        <p:spPr>
          <a:xfrm rot="10800000">
            <a:off x="0" y="8748694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BA6FAEE-F86D-42DF-CD6D-5E52EAA32F39}"/>
              </a:ext>
            </a:extLst>
          </p:cNvPr>
          <p:cNvSpPr/>
          <p:nvPr/>
        </p:nvSpPr>
        <p:spPr>
          <a:xfrm>
            <a:off x="10391005" y="12458352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DDC2F212-1D01-EA56-B3E2-A5EB141A37F3}"/>
              </a:ext>
            </a:extLst>
          </p:cNvPr>
          <p:cNvSpPr txBox="1">
            <a:spLocks/>
          </p:cNvSpPr>
          <p:nvPr/>
        </p:nvSpPr>
        <p:spPr>
          <a:xfrm>
            <a:off x="7673138" y="-4659801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60E28B3-7B77-53E6-40AC-C1797581552C}"/>
              </a:ext>
            </a:extLst>
          </p:cNvPr>
          <p:cNvSpPr/>
          <p:nvPr/>
        </p:nvSpPr>
        <p:spPr>
          <a:xfrm>
            <a:off x="7595062" y="-4744909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128F35-9DAC-14B2-1000-EBC36D4E72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-4108109"/>
            <a:ext cx="1292123" cy="11965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00C0A3-5549-7E3B-7F28-2D9207DFBF08}"/>
              </a:ext>
            </a:extLst>
          </p:cNvPr>
          <p:cNvSpPr txBox="1"/>
          <p:nvPr/>
        </p:nvSpPr>
        <p:spPr>
          <a:xfrm>
            <a:off x="723900" y="11965945"/>
            <a:ext cx="96671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Robotics &amp; Ai: Human Computer Interaction In Construction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DCBA57-369D-B765-CC0A-1377AFE7AE49}"/>
              </a:ext>
            </a:extLst>
          </p:cNvPr>
          <p:cNvGrpSpPr/>
          <p:nvPr/>
        </p:nvGrpSpPr>
        <p:grpSpPr>
          <a:xfrm>
            <a:off x="999355" y="-5049111"/>
            <a:ext cx="3324995" cy="3324994"/>
            <a:chOff x="999355" y="518747"/>
            <a:chExt cx="3324995" cy="33249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F74D251-CC2E-05A1-D118-736A71145291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B3F0E2-9616-2DFF-AC87-DD48DC38D5EE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217B2E-074A-2A67-5C16-24ECDAFA913E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5934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76" b="29276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Robotics &amp; AI: Human Computer Interaction In Construction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76A7A-6432-49ED-3647-E91552680471}"/>
              </a:ext>
            </a:extLst>
          </p:cNvPr>
          <p:cNvSpPr txBox="1"/>
          <p:nvPr/>
        </p:nvSpPr>
        <p:spPr>
          <a:xfrm>
            <a:off x="-7373937" y="44132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PK"/>
            </a:defPPr>
            <a:lvl1pPr>
              <a:defRPr sz="3600" b="1" spc="-150">
                <a:solidFill>
                  <a:schemeClr val="accent1"/>
                </a:solidFill>
              </a:defRPr>
            </a:lvl1pPr>
          </a:lstStyle>
          <a:p>
            <a:r>
              <a:rPr lang="en-US" dirty="0">
                <a:latin typeface="+mj-lt"/>
              </a:rPr>
              <a:t>Demo| Site Data Capture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0BD425-1F7F-433C-FFEF-5ECCA1C2EBC2}"/>
              </a:ext>
            </a:extLst>
          </p:cNvPr>
          <p:cNvSpPr/>
          <p:nvPr/>
        </p:nvSpPr>
        <p:spPr>
          <a:xfrm>
            <a:off x="0" y="-5011567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3A86-9677-8257-8DAF-D3AC3496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85CE0-B47C-5188-FC7E-1F26E158E146}"/>
              </a:ext>
            </a:extLst>
          </p:cNvPr>
          <p:cNvSpPr/>
          <p:nvPr/>
        </p:nvSpPr>
        <p:spPr>
          <a:xfrm>
            <a:off x="0" y="222996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pic>
        <p:nvPicPr>
          <p:cNvPr id="3" name="Picture Placeholder 11">
            <a:extLst>
              <a:ext uri="{FF2B5EF4-FFF2-40B4-BE49-F238E27FC236}">
                <a16:creationId xmlns:a16="http://schemas.microsoft.com/office/drawing/2014/main" id="{B72ADCC4-D3E1-1115-4133-BD6AAB3D2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76" b="29276"/>
          <a:stretch/>
        </p:blipFill>
        <p:spPr>
          <a:xfrm>
            <a:off x="-13059507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710821E-B18C-1D59-5580-1040A6A8C80C}"/>
              </a:ext>
            </a:extLst>
          </p:cNvPr>
          <p:cNvSpPr/>
          <p:nvPr/>
        </p:nvSpPr>
        <p:spPr>
          <a:xfrm rot="10800000">
            <a:off x="-13059507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E0623A-290A-E37F-28FB-4AF0406DEDAE}"/>
              </a:ext>
            </a:extLst>
          </p:cNvPr>
          <p:cNvSpPr/>
          <p:nvPr/>
        </p:nvSpPr>
        <p:spPr>
          <a:xfrm>
            <a:off x="15596051" y="4490563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A6CB7232-36B0-3DCD-D928-2E153B943758}"/>
              </a:ext>
            </a:extLst>
          </p:cNvPr>
          <p:cNvSpPr txBox="1">
            <a:spLocks/>
          </p:cNvSpPr>
          <p:nvPr/>
        </p:nvSpPr>
        <p:spPr>
          <a:xfrm>
            <a:off x="16488892" y="-17581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5A9A327-1FEA-9FF4-3DC0-F28CE2E1A56D}"/>
              </a:ext>
            </a:extLst>
          </p:cNvPr>
          <p:cNvSpPr/>
          <p:nvPr/>
        </p:nvSpPr>
        <p:spPr>
          <a:xfrm>
            <a:off x="16410816" y="-102689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5215F5-0081-B68E-47A1-63764737F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16897768" y="534111"/>
            <a:ext cx="1292123" cy="11965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0C0C9C-F0B0-26E9-05BA-9901787F67C6}"/>
              </a:ext>
            </a:extLst>
          </p:cNvPr>
          <p:cNvSpPr txBox="1"/>
          <p:nvPr/>
        </p:nvSpPr>
        <p:spPr>
          <a:xfrm>
            <a:off x="-12335607" y="4791422"/>
            <a:ext cx="102782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Robotics &amp; Ai: Human Computer Interaction In Construction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C3B1CE-4538-0B30-401A-B8906562193D}"/>
              </a:ext>
            </a:extLst>
          </p:cNvPr>
          <p:cNvGrpSpPr/>
          <p:nvPr/>
        </p:nvGrpSpPr>
        <p:grpSpPr>
          <a:xfrm>
            <a:off x="-11802245" y="518747"/>
            <a:ext cx="3324995" cy="3324994"/>
            <a:chOff x="999355" y="518747"/>
            <a:chExt cx="3324995" cy="332499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382527C-C3E1-B5A8-B871-48D4B741E6D7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8D480A-A762-1B3E-35FC-12A82C5C6C6C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9C4B6F-C6F3-A571-2312-9D6294108E5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04D668-1D51-5467-0B21-E130E777DB7E}"/>
              </a:ext>
            </a:extLst>
          </p:cNvPr>
          <p:cNvGrpSpPr/>
          <p:nvPr/>
        </p:nvGrpSpPr>
        <p:grpSpPr>
          <a:xfrm>
            <a:off x="644790" y="-4180335"/>
            <a:ext cx="3324995" cy="3324994"/>
            <a:chOff x="999355" y="518747"/>
            <a:chExt cx="3324995" cy="3324994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E02B60F-5388-3644-829F-EBA9EFE13C32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EF04274-6E3A-31A8-8C0B-5A4AC262690A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E71F4A-287A-B5B9-9273-DAEEF6577D97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245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76" b="29276"/>
          <a:stretch/>
        </p:blipFill>
        <p:spPr>
          <a:xfrm>
            <a:off x="0" y="1547450"/>
            <a:ext cx="12192000" cy="5310550"/>
          </a:xfr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1" y="4791422"/>
            <a:ext cx="7829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Robotics: 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Access To Our Equipment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D6761-76D7-A0C2-6B88-877A8A912A49}"/>
              </a:ext>
            </a:extLst>
          </p:cNvPr>
          <p:cNvSpPr/>
          <p:nvPr/>
        </p:nvSpPr>
        <p:spPr>
          <a:xfrm>
            <a:off x="0" y="-5011567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37">
            <a:extLst>
              <a:ext uri="{FF2B5EF4-FFF2-40B4-BE49-F238E27FC236}">
                <a16:creationId xmlns:a16="http://schemas.microsoft.com/office/drawing/2014/main" id="{CCBB88A7-F9D3-3975-1C2A-396A113F8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5" r="22819"/>
          <a:stretch/>
        </p:blipFill>
        <p:spPr bwMode="auto">
          <a:xfrm>
            <a:off x="-6888704" y="0"/>
            <a:ext cx="6192176" cy="685800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592D15-F547-D091-95D0-5116CB6AF6FB}"/>
              </a:ext>
            </a:extLst>
          </p:cNvPr>
          <p:cNvSpPr/>
          <p:nvPr/>
        </p:nvSpPr>
        <p:spPr>
          <a:xfrm>
            <a:off x="12848456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6B9978-634A-F143-C5A1-120203D0A907}"/>
              </a:ext>
            </a:extLst>
          </p:cNvPr>
          <p:cNvSpPr txBox="1"/>
          <p:nvPr/>
        </p:nvSpPr>
        <p:spPr>
          <a:xfrm>
            <a:off x="19354487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Ground Robots  Autonomous Car Development Platform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D71D81-281A-AEE2-F0E1-ABAAC6C0F215}"/>
              </a:ext>
            </a:extLst>
          </p:cNvPr>
          <p:cNvGrpSpPr/>
          <p:nvPr/>
        </p:nvGrpSpPr>
        <p:grpSpPr>
          <a:xfrm>
            <a:off x="14372456" y="3594007"/>
            <a:ext cx="4957307" cy="468774"/>
            <a:chOff x="6506031" y="3594007"/>
            <a:chExt cx="4957307" cy="46877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87B20C5-559D-A49C-02D2-279B780D2670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Autonomous research Polaris RANGER buggy.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E8CE599A-5D88-D7A9-CE20-9E8A630CB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AC6523-D1C2-30F1-D794-C810255D0BCE}"/>
              </a:ext>
            </a:extLst>
          </p:cNvPr>
          <p:cNvGrpSpPr/>
          <p:nvPr/>
        </p:nvGrpSpPr>
        <p:grpSpPr>
          <a:xfrm>
            <a:off x="17466564" y="4346819"/>
            <a:ext cx="5812969" cy="468774"/>
            <a:chOff x="6506031" y="4391801"/>
            <a:chExt cx="5812969" cy="46877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E8C6B7-326E-F5E0-2C0A-DA6483AC8F65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Modular sensor-equipped LiDAR, IMU, cameras, &amp; GPS.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49FF4C9-CB70-1CAB-0DCD-821B86277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11B2F2-8EFB-D199-CB74-2B74B8B9A372}"/>
              </a:ext>
            </a:extLst>
          </p:cNvPr>
          <p:cNvGrpSpPr/>
          <p:nvPr/>
        </p:nvGrpSpPr>
        <p:grpSpPr>
          <a:xfrm>
            <a:off x="19733799" y="5099631"/>
            <a:ext cx="5355769" cy="468774"/>
            <a:chOff x="6506031" y="5162371"/>
            <a:chExt cx="5355769" cy="46877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E6FF027-0BE0-1B9F-7749-5A590D883D29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Autonomous navigation and multi-sensor experiments.</a:t>
              </a: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0A87F321-0914-43DF-698E-B949076CD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569DCE-E788-BB2D-91EC-886483B744B2}"/>
              </a:ext>
            </a:extLst>
          </p:cNvPr>
          <p:cNvGrpSpPr/>
          <p:nvPr/>
        </p:nvGrpSpPr>
        <p:grpSpPr>
          <a:xfrm>
            <a:off x="22457912" y="5852444"/>
            <a:ext cx="5690625" cy="468774"/>
            <a:chOff x="6506031" y="5852444"/>
            <a:chExt cx="5690625" cy="46877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0EC528-B502-5826-D2E2-186025B86BEF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Ideal for rough-terrain environments</a:t>
              </a: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C6CE1EE-876B-A774-C1BC-5375F22F8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C3577E3-E192-F012-CF51-0610C8F79338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7478DE-F2C0-FECE-90F6-46FC24D6ED9B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4DCEE5D-87EA-75E4-BFDF-975C3F0CF7B9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A1D0DD-E355-8C9E-0E5E-DB3DE1F3842C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5105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40A5CF-EBDE-4115-8886-35848797A02C}"/>
              </a:ext>
            </a:extLst>
          </p:cNvPr>
          <p:cNvSpPr/>
          <p:nvPr/>
        </p:nvSpPr>
        <p:spPr>
          <a:xfrm>
            <a:off x="0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89D6F-1615-6A30-CFD8-B6F74BF5437C}"/>
              </a:ext>
            </a:extLst>
          </p:cNvPr>
          <p:cNvSpPr txBox="1"/>
          <p:nvPr/>
        </p:nvSpPr>
        <p:spPr>
          <a:xfrm>
            <a:off x="6506031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Ground Robots  Autonomous Car Development Platform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BE1136AC-407E-783C-97E0-79A2A972C7B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5" r="22819"/>
          <a:stretch/>
        </p:blipFill>
        <p:spPr bwMode="auto">
          <a:xfrm>
            <a:off x="0" y="0"/>
            <a:ext cx="6192176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90E481E-55D6-0A59-4450-E94DBA19B678}"/>
              </a:ext>
            </a:extLst>
          </p:cNvPr>
          <p:cNvGrpSpPr/>
          <p:nvPr/>
        </p:nvGrpSpPr>
        <p:grpSpPr>
          <a:xfrm>
            <a:off x="6506031" y="3594007"/>
            <a:ext cx="4957307" cy="468774"/>
            <a:chOff x="6506031" y="3594007"/>
            <a:chExt cx="4957307" cy="468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AA4542-3CAF-EF09-38F9-FC8703760431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Autonomous research Polaris RANGER buggy.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DB397818-4718-5F1E-6976-27718615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60E7E-FC97-19FF-43B0-CD3254D2324D}"/>
              </a:ext>
            </a:extLst>
          </p:cNvPr>
          <p:cNvGrpSpPr/>
          <p:nvPr/>
        </p:nvGrpSpPr>
        <p:grpSpPr>
          <a:xfrm>
            <a:off x="6506031" y="4346819"/>
            <a:ext cx="5812969" cy="468774"/>
            <a:chOff x="6506031" y="4391801"/>
            <a:chExt cx="58129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65C05-67F0-694C-52F1-C9E5E57F8C14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Modular sensor-equipped LiDAR, IMU, cameras, &amp; GPS.</a:t>
              </a: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31DA89C4-CFF4-1D24-CA0B-BCBFD4C1C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B26E7C-0956-3F91-6662-ECEAFEB2F361}"/>
              </a:ext>
            </a:extLst>
          </p:cNvPr>
          <p:cNvGrpSpPr/>
          <p:nvPr/>
        </p:nvGrpSpPr>
        <p:grpSpPr>
          <a:xfrm>
            <a:off x="6506031" y="5099631"/>
            <a:ext cx="5355769" cy="468774"/>
            <a:chOff x="6506031" y="5162371"/>
            <a:chExt cx="5355769" cy="46877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87BFBB-0747-8EE9-CE12-D926DF632D94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Autonomous navigation and multi-sensor experiments.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AA505D0-92D3-57B6-7944-EA19D478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ADF8B4-40B7-A7D2-1207-0D858CA7E834}"/>
              </a:ext>
            </a:extLst>
          </p:cNvPr>
          <p:cNvGrpSpPr/>
          <p:nvPr/>
        </p:nvGrpSpPr>
        <p:grpSpPr>
          <a:xfrm>
            <a:off x="6506031" y="5852444"/>
            <a:ext cx="5690625" cy="468774"/>
            <a:chOff x="6506031" y="5852444"/>
            <a:chExt cx="5690625" cy="46877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1D7586-2074-6B05-41BF-80C317482745}"/>
                </a:ext>
              </a:extLst>
            </p:cNvPr>
            <p:cNvSpPr txBox="1"/>
            <p:nvPr/>
          </p:nvSpPr>
          <p:spPr>
            <a:xfrm>
              <a:off x="7053532" y="5932943"/>
              <a:ext cx="5143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Ideal for rough-terrain environments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C2DD900-9B2A-4847-868C-4264E45C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852444"/>
              <a:ext cx="468774" cy="46877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831010-502B-3C5D-B008-0EB490F43499}"/>
              </a:ext>
            </a:extLst>
          </p:cNvPr>
          <p:cNvSpPr txBox="1"/>
          <p:nvPr/>
        </p:nvSpPr>
        <p:spPr>
          <a:xfrm>
            <a:off x="-13267301" y="963288"/>
            <a:ext cx="4443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VideoRay</a:t>
            </a:r>
            <a:r>
              <a:rPr lang="en-US" sz="1600" b="1" dirty="0"/>
              <a:t> Defender: </a:t>
            </a:r>
            <a:r>
              <a:rPr lang="en-US" sz="1600" dirty="0"/>
              <a:t>6-DOF control, modular, stable and robust operation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79D84-CB77-ED8E-B138-261BF2423E41}"/>
              </a:ext>
            </a:extLst>
          </p:cNvPr>
          <p:cNvSpPr txBox="1"/>
          <p:nvPr/>
        </p:nvSpPr>
        <p:spPr>
          <a:xfrm>
            <a:off x="-10242747" y="2248023"/>
            <a:ext cx="4240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Hydromea</a:t>
            </a:r>
            <a:r>
              <a:rPr lang="en-US" sz="1600" b="1" dirty="0"/>
              <a:t> EXRAY: </a:t>
            </a:r>
            <a:r>
              <a:rPr lang="en-US" sz="1600" dirty="0"/>
              <a:t>Wireless optical modems for collaborative use.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8F3BD-4F2F-A874-0F81-C1DF1E695BA4}"/>
              </a:ext>
            </a:extLst>
          </p:cNvPr>
          <p:cNvSpPr txBox="1"/>
          <p:nvPr/>
        </p:nvSpPr>
        <p:spPr>
          <a:xfrm>
            <a:off x="-7671444" y="3778980"/>
            <a:ext cx="462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Precise </a:t>
            </a:r>
            <a:r>
              <a:rPr lang="en-US" sz="1600" b="1" dirty="0"/>
              <a:t>6-DOF control, high-definition imaging, </a:t>
            </a:r>
            <a:r>
              <a:rPr lang="en-US" sz="1600" dirty="0"/>
              <a:t>modular payload integration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8CAF1-CAC0-6D87-76D7-48A7F9DE2F6A}"/>
              </a:ext>
            </a:extLst>
          </p:cNvPr>
          <p:cNvSpPr txBox="1"/>
          <p:nvPr/>
        </p:nvSpPr>
        <p:spPr>
          <a:xfrm>
            <a:off x="-5357183" y="5063715"/>
            <a:ext cx="462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Underwater </a:t>
            </a:r>
            <a:r>
              <a:rPr lang="en-US" sz="1600" b="1" dirty="0"/>
              <a:t>asset</a:t>
            </a:r>
            <a:r>
              <a:rPr lang="en-US" sz="1600" dirty="0"/>
              <a:t> </a:t>
            </a:r>
            <a:r>
              <a:rPr lang="en-US" sz="1600" b="1" dirty="0"/>
              <a:t>inspection, maintenance</a:t>
            </a:r>
            <a:r>
              <a:rPr lang="en-US" sz="1600" dirty="0"/>
              <a:t>, and environmental monitoring.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F34A450-B8A9-D3BA-A7A5-EB11ADC10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718508" y="1079897"/>
            <a:ext cx="351557" cy="35155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B7D3A35-B289-3265-A8CD-8D1E0631F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693954" y="2337197"/>
            <a:ext cx="351557" cy="3515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D034F01-2AD5-9BF4-33AA-150921B76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122650" y="3895588"/>
            <a:ext cx="351557" cy="35155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7FDFEE1-93D5-8E9D-BCFB-B3A9FF7E4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808389" y="5127656"/>
            <a:ext cx="351557" cy="351557"/>
          </a:xfrm>
          <a:prstGeom prst="rect">
            <a:avLst/>
          </a:prstGeom>
        </p:spPr>
      </p:pic>
      <p:pic>
        <p:nvPicPr>
          <p:cNvPr id="18" name="Picture 2" descr="U.S. Navy Contracts VideoRay for Underwater Robotics Support ...">
            <a:extLst>
              <a:ext uri="{FF2B5EF4-FFF2-40B4-BE49-F238E27FC236}">
                <a16:creationId xmlns:a16="http://schemas.microsoft.com/office/drawing/2014/main" id="{BF5B094B-DCB7-AD9E-E48D-866E1D52C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t="21101" r="27813"/>
          <a:stretch>
            <a:fillRect/>
          </a:stretch>
        </p:blipFill>
        <p:spPr bwMode="auto">
          <a:xfrm>
            <a:off x="6096000" y="7303035"/>
            <a:ext cx="6096000" cy="582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1452C24-852A-B69B-C146-D306CC76FF6D}"/>
              </a:ext>
            </a:extLst>
          </p:cNvPr>
          <p:cNvGrpSpPr/>
          <p:nvPr/>
        </p:nvGrpSpPr>
        <p:grpSpPr>
          <a:xfrm>
            <a:off x="17443937" y="4334107"/>
            <a:ext cx="5994426" cy="2468596"/>
            <a:chOff x="1295400" y="4389404"/>
            <a:chExt cx="5994426" cy="24685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83A1FE-610B-3609-4B0E-2A373D807D0F}"/>
                </a:ext>
              </a:extLst>
            </p:cNvPr>
            <p:cNvSpPr/>
            <p:nvPr/>
          </p:nvSpPr>
          <p:spPr>
            <a:xfrm>
              <a:off x="1295400" y="4389404"/>
              <a:ext cx="5994426" cy="246859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+mj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AE696A-777E-239C-2210-0167F2DF0500}"/>
                </a:ext>
              </a:extLst>
            </p:cNvPr>
            <p:cNvSpPr txBox="1"/>
            <p:nvPr/>
          </p:nvSpPr>
          <p:spPr>
            <a:xfrm>
              <a:off x="1503972" y="4746539"/>
              <a:ext cx="5484101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+mj-lt"/>
                </a:rPr>
                <a:t>Remotely Operated Vehicles  Underwater Platforms</a:t>
              </a:r>
            </a:p>
          </p:txBody>
        </p:sp>
      </p:grpSp>
      <p:pic>
        <p:nvPicPr>
          <p:cNvPr id="22" name="Picture Placeholder 11">
            <a:extLst>
              <a:ext uri="{FF2B5EF4-FFF2-40B4-BE49-F238E27FC236}">
                <a16:creationId xmlns:a16="http://schemas.microsoft.com/office/drawing/2014/main" id="{73039E7A-9A5A-F923-0DE8-B99B4928D2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11883"/>
          <a:stretch>
            <a:fillRect/>
          </a:stretch>
        </p:blipFill>
        <p:spPr>
          <a:xfrm>
            <a:off x="-13059507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0CB8EB6-A04C-4215-B93C-0523306C47A3}"/>
              </a:ext>
            </a:extLst>
          </p:cNvPr>
          <p:cNvSpPr/>
          <p:nvPr/>
        </p:nvSpPr>
        <p:spPr>
          <a:xfrm rot="10800000">
            <a:off x="-13059507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53BCA19-8C5F-B645-A476-8D045A9D93B9}"/>
              </a:ext>
            </a:extLst>
          </p:cNvPr>
          <p:cNvSpPr/>
          <p:nvPr/>
        </p:nvSpPr>
        <p:spPr>
          <a:xfrm>
            <a:off x="15596051" y="4490563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Picture Placeholder 34">
            <a:extLst>
              <a:ext uri="{FF2B5EF4-FFF2-40B4-BE49-F238E27FC236}">
                <a16:creationId xmlns:a16="http://schemas.microsoft.com/office/drawing/2014/main" id="{E4C41557-C87F-842A-7767-DD0C52DAFD1D}"/>
              </a:ext>
            </a:extLst>
          </p:cNvPr>
          <p:cNvSpPr txBox="1">
            <a:spLocks/>
          </p:cNvSpPr>
          <p:nvPr/>
        </p:nvSpPr>
        <p:spPr>
          <a:xfrm>
            <a:off x="16488892" y="-17581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74F091F-0960-C6A0-97CE-F73B58D4B0B5}"/>
              </a:ext>
            </a:extLst>
          </p:cNvPr>
          <p:cNvSpPr/>
          <p:nvPr/>
        </p:nvSpPr>
        <p:spPr>
          <a:xfrm>
            <a:off x="16410816" y="-102689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6EF9F30-BA02-DA48-1025-A21AE846AE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16897768" y="534111"/>
            <a:ext cx="1292123" cy="119652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F684489-6FAD-E9A4-C641-EDFCD1679F86}"/>
              </a:ext>
            </a:extLst>
          </p:cNvPr>
          <p:cNvSpPr txBox="1"/>
          <p:nvPr/>
        </p:nvSpPr>
        <p:spPr>
          <a:xfrm>
            <a:off x="-11995094" y="4791422"/>
            <a:ext cx="7829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Robotics: 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Access To Our Equipment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6366E5-1563-45D2-6587-1FE0473A9D3C}"/>
              </a:ext>
            </a:extLst>
          </p:cNvPr>
          <p:cNvGrpSpPr/>
          <p:nvPr/>
        </p:nvGrpSpPr>
        <p:grpSpPr>
          <a:xfrm>
            <a:off x="-11719640" y="518747"/>
            <a:ext cx="3324995" cy="3324994"/>
            <a:chOff x="999355" y="518747"/>
            <a:chExt cx="3324995" cy="332499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8405D22-24B5-D370-7342-B539B740DAE5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B27F599-71B0-77B5-4125-6006F58869A8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A78DD0-3A98-0D9A-E75D-BB7053746BC0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918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 descr="U.S. Navy Contracts VideoRay for Underwater Robotics Support ...">
            <a:extLst>
              <a:ext uri="{FF2B5EF4-FFF2-40B4-BE49-F238E27FC236}">
                <a16:creationId xmlns:a16="http://schemas.microsoft.com/office/drawing/2014/main" id="{332B080A-BD7C-D59E-8924-A865801859D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t="21101" r="27813"/>
          <a:stretch>
            <a:fillRect/>
          </a:stretch>
        </p:blipFill>
        <p:spPr bwMode="auto">
          <a:xfrm>
            <a:off x="6096000" y="1030288"/>
            <a:ext cx="6096000" cy="582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81EA2F-DF42-113E-8A19-5A43725DD68D}"/>
              </a:ext>
            </a:extLst>
          </p:cNvPr>
          <p:cNvSpPr txBox="1"/>
          <p:nvPr/>
        </p:nvSpPr>
        <p:spPr>
          <a:xfrm>
            <a:off x="1068407" y="963288"/>
            <a:ext cx="4443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VideoRay</a:t>
            </a:r>
            <a:r>
              <a:rPr lang="en-US" sz="1600" b="1" dirty="0"/>
              <a:t> Defender: </a:t>
            </a:r>
            <a:r>
              <a:rPr lang="en-US" sz="1600" dirty="0"/>
              <a:t>6-DOF control, modular, stable and robust operation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B1300-EF6B-BB61-A9B8-7F97EC28A99D}"/>
              </a:ext>
            </a:extLst>
          </p:cNvPr>
          <p:cNvSpPr txBox="1"/>
          <p:nvPr/>
        </p:nvSpPr>
        <p:spPr>
          <a:xfrm>
            <a:off x="1068407" y="2248023"/>
            <a:ext cx="4240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Hydromea</a:t>
            </a:r>
            <a:r>
              <a:rPr lang="en-US" sz="1600" b="1" dirty="0"/>
              <a:t> EXRAY: </a:t>
            </a:r>
            <a:r>
              <a:rPr lang="en-US" sz="1600" dirty="0"/>
              <a:t>Wireless optical modems for collaborative use.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47FB2B-E1AD-B045-2499-FEF7788EAAC5}"/>
              </a:ext>
            </a:extLst>
          </p:cNvPr>
          <p:cNvSpPr txBox="1"/>
          <p:nvPr/>
        </p:nvSpPr>
        <p:spPr>
          <a:xfrm>
            <a:off x="1068406" y="3778980"/>
            <a:ext cx="462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Precise </a:t>
            </a:r>
            <a:r>
              <a:rPr lang="en-US" sz="1600" b="1" dirty="0"/>
              <a:t>6-DOF control, high-definition imaging, </a:t>
            </a:r>
            <a:r>
              <a:rPr lang="en-US" sz="1600" dirty="0"/>
              <a:t>modular payload integration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39916F-552D-450D-C47A-0BBC13B60179}"/>
              </a:ext>
            </a:extLst>
          </p:cNvPr>
          <p:cNvSpPr txBox="1"/>
          <p:nvPr/>
        </p:nvSpPr>
        <p:spPr>
          <a:xfrm>
            <a:off x="1068406" y="5063715"/>
            <a:ext cx="462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Underwater </a:t>
            </a:r>
            <a:r>
              <a:rPr lang="en-US" sz="1600" b="1" dirty="0"/>
              <a:t>asset</a:t>
            </a:r>
            <a:r>
              <a:rPr lang="en-US" sz="1600" dirty="0"/>
              <a:t> </a:t>
            </a:r>
            <a:r>
              <a:rPr lang="en-US" sz="1600" b="1" dirty="0"/>
              <a:t>inspection, maintenance</a:t>
            </a:r>
            <a:r>
              <a:rPr lang="en-US" sz="1600" dirty="0"/>
              <a:t>, and environmental monitoring.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4C482C50-6C15-311A-8157-54BC71A1C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00" y="1079897"/>
            <a:ext cx="351557" cy="35155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50236B5-0070-F998-3618-D345AEBCC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00" y="2337197"/>
            <a:ext cx="351557" cy="35155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69D99882-0AAF-AB76-7DC9-43B569EDA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00" y="3895588"/>
            <a:ext cx="351557" cy="351557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7C06AC26-756A-E914-1C71-FE04A5976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00" y="5127656"/>
            <a:ext cx="351557" cy="351557"/>
          </a:xfrm>
          <a:prstGeom prst="rect">
            <a:avLst/>
          </a:prstGeom>
        </p:spPr>
      </p:pic>
      <p:pic>
        <p:nvPicPr>
          <p:cNvPr id="2" name="Picture Placeholder 37">
            <a:extLst>
              <a:ext uri="{FF2B5EF4-FFF2-40B4-BE49-F238E27FC236}">
                <a16:creationId xmlns:a16="http://schemas.microsoft.com/office/drawing/2014/main" id="{9AB23315-8F3F-E151-D6D6-EA7528B4A5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5" r="22819"/>
          <a:stretch/>
        </p:blipFill>
        <p:spPr bwMode="auto">
          <a:xfrm>
            <a:off x="-6888704" y="0"/>
            <a:ext cx="6192176" cy="685800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D4F5B6-E05E-6D2F-CB57-C4BCEEDF1CD0}"/>
              </a:ext>
            </a:extLst>
          </p:cNvPr>
          <p:cNvSpPr/>
          <p:nvPr/>
        </p:nvSpPr>
        <p:spPr>
          <a:xfrm>
            <a:off x="12848456" y="3194613"/>
            <a:ext cx="12192000" cy="366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E21FA-AE50-5DF6-40EE-319B51830ACA}"/>
              </a:ext>
            </a:extLst>
          </p:cNvPr>
          <p:cNvSpPr txBox="1"/>
          <p:nvPr/>
        </p:nvSpPr>
        <p:spPr>
          <a:xfrm>
            <a:off x="19354487" y="828912"/>
            <a:ext cx="611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Ground Robots  Autonomous Car Development Platform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0F79FD-16C5-E08F-049C-4C7FC36F024C}"/>
              </a:ext>
            </a:extLst>
          </p:cNvPr>
          <p:cNvGrpSpPr/>
          <p:nvPr/>
        </p:nvGrpSpPr>
        <p:grpSpPr>
          <a:xfrm>
            <a:off x="14372456" y="3594007"/>
            <a:ext cx="4957307" cy="468774"/>
            <a:chOff x="6506031" y="3594007"/>
            <a:chExt cx="4957307" cy="4687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B19E27-5989-1AD6-7E95-FC2BDA515837}"/>
                </a:ext>
              </a:extLst>
            </p:cNvPr>
            <p:cNvSpPr txBox="1"/>
            <p:nvPr/>
          </p:nvSpPr>
          <p:spPr>
            <a:xfrm>
              <a:off x="7053532" y="3674506"/>
              <a:ext cx="44098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Autonomous research Polaris RANGER buggy.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C4B7735-B995-17F7-B55D-EECF4B912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3594007"/>
              <a:ext cx="468774" cy="4687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D6D9BF-F290-F444-E60E-9E9AE8590EF4}"/>
              </a:ext>
            </a:extLst>
          </p:cNvPr>
          <p:cNvGrpSpPr/>
          <p:nvPr/>
        </p:nvGrpSpPr>
        <p:grpSpPr>
          <a:xfrm>
            <a:off x="17466564" y="4346819"/>
            <a:ext cx="5812969" cy="468774"/>
            <a:chOff x="6506031" y="4391801"/>
            <a:chExt cx="5812969" cy="4687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E67383-E805-EFC3-651D-7BFBBDB894BE}"/>
                </a:ext>
              </a:extLst>
            </p:cNvPr>
            <p:cNvSpPr txBox="1"/>
            <p:nvPr/>
          </p:nvSpPr>
          <p:spPr>
            <a:xfrm>
              <a:off x="7053532" y="4472300"/>
              <a:ext cx="52654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Modular sensor-equipped LiDAR, IMU, cameras, &amp; GPS.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2B972F5-2978-3EDB-F920-7C62B93CD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4391801"/>
              <a:ext cx="468774" cy="468774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A2A6EA-19BB-CE8B-3072-C3FB031D09CC}"/>
              </a:ext>
            </a:extLst>
          </p:cNvPr>
          <p:cNvGrpSpPr/>
          <p:nvPr/>
        </p:nvGrpSpPr>
        <p:grpSpPr>
          <a:xfrm>
            <a:off x="19733799" y="5099631"/>
            <a:ext cx="5355769" cy="468774"/>
            <a:chOff x="6506031" y="5162371"/>
            <a:chExt cx="5355769" cy="4687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193BF2-532B-3B70-DEE2-37BF6E85CAC9}"/>
                </a:ext>
              </a:extLst>
            </p:cNvPr>
            <p:cNvSpPr txBox="1"/>
            <p:nvPr/>
          </p:nvSpPr>
          <p:spPr>
            <a:xfrm>
              <a:off x="7053532" y="5242870"/>
              <a:ext cx="4808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Autonomous navigation and multi-sensor experiments.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AA03E8A-F7AE-88BC-66E7-E835C8403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6031" y="5162371"/>
              <a:ext cx="468774" cy="468774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B9F105-40FA-2F5A-87FE-44D6EBDDC6E4}"/>
              </a:ext>
            </a:extLst>
          </p:cNvPr>
          <p:cNvGrpSpPr/>
          <p:nvPr/>
        </p:nvGrpSpPr>
        <p:grpSpPr>
          <a:xfrm>
            <a:off x="-12875089" y="797752"/>
            <a:ext cx="5592685" cy="5262496"/>
            <a:chOff x="550863" y="766592"/>
            <a:chExt cx="5592685" cy="526249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7416BD1-3742-04EC-227B-4C5ED091F352}"/>
                </a:ext>
              </a:extLst>
            </p:cNvPr>
            <p:cNvGrpSpPr/>
            <p:nvPr/>
          </p:nvGrpSpPr>
          <p:grpSpPr>
            <a:xfrm>
              <a:off x="550863" y="766592"/>
              <a:ext cx="5592685" cy="5262496"/>
              <a:chOff x="681115" y="766592"/>
              <a:chExt cx="5592685" cy="5262496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96CF9A-56B8-92FE-46F4-8CBFEE854224}"/>
                  </a:ext>
                </a:extLst>
              </p:cNvPr>
              <p:cNvSpPr txBox="1"/>
              <p:nvPr/>
            </p:nvSpPr>
            <p:spPr>
              <a:xfrm>
                <a:off x="681115" y="766592"/>
                <a:ext cx="559268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chemeClr val="accent1"/>
                    </a:solidFill>
                    <a:latin typeface="+mj-lt"/>
                  </a:rPr>
                  <a:t>Aerial Platforms  Unmanned Aerial Vehicles (</a:t>
                </a:r>
                <a:r>
                  <a:rPr lang="en-US" sz="3600" b="1" dirty="0" err="1">
                    <a:solidFill>
                      <a:schemeClr val="accent1"/>
                    </a:solidFill>
                    <a:latin typeface="+mj-lt"/>
                  </a:rPr>
                  <a:t>Uavs</a:t>
                </a:r>
                <a:r>
                  <a:rPr lang="en-US" sz="3600" b="1" dirty="0">
                    <a:solidFill>
                      <a:schemeClr val="accent1"/>
                    </a:solidFill>
                    <a:latin typeface="+mj-lt"/>
                  </a:rPr>
                  <a:t>)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F8F61B-F5DC-DB56-0844-2D5A39848090}"/>
                  </a:ext>
                </a:extLst>
              </p:cNvPr>
              <p:cNvSpPr txBox="1"/>
              <p:nvPr/>
            </p:nvSpPr>
            <p:spPr>
              <a:xfrm>
                <a:off x="1293057" y="2947821"/>
                <a:ext cx="46410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DJI Matrice 300 RTK: </a:t>
                </a:r>
                <a:r>
                  <a:rPr lang="en-US" sz="1600" dirty="0"/>
                  <a:t>industrial drone, RTK precision, 55 min flight time, modular payload (LiDAR, thermal, RGB, hyperspectral)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158222-942B-54BB-DB60-39551B709317}"/>
                  </a:ext>
                </a:extLst>
              </p:cNvPr>
              <p:cNvSpPr txBox="1"/>
              <p:nvPr/>
            </p:nvSpPr>
            <p:spPr>
              <a:xfrm>
                <a:off x="1293057" y="4077275"/>
                <a:ext cx="412984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Flyability Elios 3 </a:t>
                </a:r>
                <a:r>
                  <a:rPr lang="en-US" sz="1600" dirty="0"/>
                  <a:t>(being procured): collision-tolerant indoor drone, equipped with LiDAR and modular payloads.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73F9B56-0229-E8F2-E574-972654AD37CE}"/>
                  </a:ext>
                </a:extLst>
              </p:cNvPr>
              <p:cNvSpPr txBox="1"/>
              <p:nvPr/>
            </p:nvSpPr>
            <p:spPr>
              <a:xfrm>
                <a:off x="1293057" y="5198091"/>
                <a:ext cx="427034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Both indoor and outdoor operation, </a:t>
                </a:r>
                <a:r>
                  <a:rPr lang="en-US" sz="1600" dirty="0"/>
                  <a:t>used for asset monitoring, inspection, and</a:t>
                </a:r>
                <a:r>
                  <a:rPr lang="en-US" sz="1600" b="1" dirty="0"/>
                  <a:t> data collection in </a:t>
                </a:r>
                <a:r>
                  <a:rPr lang="en-US" sz="1600" dirty="0"/>
                  <a:t>hard to reach areas</a:t>
                </a:r>
              </a:p>
            </p:txBody>
          </p:sp>
        </p:grp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0844FAE-F668-E987-424D-21F34E0F0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1553" y="3187541"/>
              <a:ext cx="351557" cy="35155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2D7C2D5-EE0F-2B59-D900-0079E562A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1553" y="4205721"/>
              <a:ext cx="351557" cy="351557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3994C8A-8798-AD3D-4FFA-F88D98D25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1553" y="5262032"/>
              <a:ext cx="351557" cy="351557"/>
            </a:xfrm>
            <a:prstGeom prst="rect">
              <a:avLst/>
            </a:prstGeom>
          </p:spPr>
        </p:pic>
      </p:grpSp>
      <p:pic>
        <p:nvPicPr>
          <p:cNvPr id="28" name="Picture 8" descr="Flyability Launches Tether Power Unit for the Elios 3 for Unlimited Flight  Time and Stress-Free Inspections - MundoGEO">
            <a:extLst>
              <a:ext uri="{FF2B5EF4-FFF2-40B4-BE49-F238E27FC236}">
                <a16:creationId xmlns:a16="http://schemas.microsoft.com/office/drawing/2014/main" id="{F0600118-C19D-D587-D405-DBDC6FE1A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r="2399"/>
          <a:stretch>
            <a:fillRect/>
          </a:stretch>
        </p:blipFill>
        <p:spPr bwMode="auto">
          <a:xfrm>
            <a:off x="8836025" y="8337567"/>
            <a:ext cx="280511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DJI Matrice 350 RTK | Drone for inspeksjon, kartleggning m.m.">
            <a:extLst>
              <a:ext uri="{FF2B5EF4-FFF2-40B4-BE49-F238E27FC236}">
                <a16:creationId xmlns:a16="http://schemas.microsoft.com/office/drawing/2014/main" id="{AE4D3F1C-BD91-ADF3-660B-2AAC39A1C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3" r="21683"/>
          <a:stretch>
            <a:fillRect/>
          </a:stretch>
        </p:blipFill>
        <p:spPr bwMode="auto">
          <a:xfrm>
            <a:off x="5803900" y="-6767617"/>
            <a:ext cx="280511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75407D18-4560-191E-2DE0-9C58B310FC47}"/>
              </a:ext>
            </a:extLst>
          </p:cNvPr>
          <p:cNvGrpSpPr/>
          <p:nvPr/>
        </p:nvGrpSpPr>
        <p:grpSpPr>
          <a:xfrm>
            <a:off x="6096000" y="4334107"/>
            <a:ext cx="5994426" cy="2468596"/>
            <a:chOff x="1295400" y="4389404"/>
            <a:chExt cx="5994426" cy="246859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2F84866-546A-EDD5-8256-909D77A2A529}"/>
                </a:ext>
              </a:extLst>
            </p:cNvPr>
            <p:cNvSpPr/>
            <p:nvPr/>
          </p:nvSpPr>
          <p:spPr>
            <a:xfrm>
              <a:off x="1295400" y="4389404"/>
              <a:ext cx="5994426" cy="246859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+mj-lt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4F7B46-F9A6-E2BD-840D-AAE14E6F35A5}"/>
                </a:ext>
              </a:extLst>
            </p:cNvPr>
            <p:cNvSpPr txBox="1"/>
            <p:nvPr/>
          </p:nvSpPr>
          <p:spPr>
            <a:xfrm>
              <a:off x="1503972" y="4746539"/>
              <a:ext cx="5484101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+mj-lt"/>
                </a:rPr>
                <a:t>Remotely Operated Vehicles  Underwater Platforms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064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 descr="Flyability Launches Tether Power Unit for the Elios 3 for Unlimited Flight  Time and Stress-Free Inspections - MundoGEO">
            <a:extLst>
              <a:ext uri="{FF2B5EF4-FFF2-40B4-BE49-F238E27FC236}">
                <a16:creationId xmlns:a16="http://schemas.microsoft.com/office/drawing/2014/main" id="{B1B798D3-A2A1-0134-8403-9425849C887D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r="2399"/>
          <a:stretch>
            <a:fillRect/>
          </a:stretch>
        </p:blipFill>
        <p:spPr bwMode="auto">
          <a:xfrm>
            <a:off x="8836025" y="1905000"/>
            <a:ext cx="280511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DJI Matrice 350 RTK | Drone for inspeksjon, kartleggning m.m.">
            <a:extLst>
              <a:ext uri="{FF2B5EF4-FFF2-40B4-BE49-F238E27FC236}">
                <a16:creationId xmlns:a16="http://schemas.microsoft.com/office/drawing/2014/main" id="{ED92DC22-6565-8572-072A-781417CB6BD4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3" r="21683"/>
          <a:stretch>
            <a:fillRect/>
          </a:stretch>
        </p:blipFill>
        <p:spPr bwMode="auto">
          <a:xfrm>
            <a:off x="5803900" y="0"/>
            <a:ext cx="280511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FF73756-9D75-1C1E-1242-E200A3A684CA}"/>
              </a:ext>
            </a:extLst>
          </p:cNvPr>
          <p:cNvGrpSpPr/>
          <p:nvPr/>
        </p:nvGrpSpPr>
        <p:grpSpPr>
          <a:xfrm>
            <a:off x="550863" y="797752"/>
            <a:ext cx="5592685" cy="5262496"/>
            <a:chOff x="550863" y="766592"/>
            <a:chExt cx="5592685" cy="526249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D4AC19-4316-EAB5-F32A-9778B1D4F1A1}"/>
                </a:ext>
              </a:extLst>
            </p:cNvPr>
            <p:cNvGrpSpPr/>
            <p:nvPr/>
          </p:nvGrpSpPr>
          <p:grpSpPr>
            <a:xfrm>
              <a:off x="550863" y="766592"/>
              <a:ext cx="5592685" cy="5262496"/>
              <a:chOff x="681115" y="766592"/>
              <a:chExt cx="5592685" cy="526249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25AB73-BD96-0C16-CBDE-ABC9AE831F45}"/>
                  </a:ext>
                </a:extLst>
              </p:cNvPr>
              <p:cNvSpPr txBox="1"/>
              <p:nvPr/>
            </p:nvSpPr>
            <p:spPr>
              <a:xfrm>
                <a:off x="681115" y="766592"/>
                <a:ext cx="559268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chemeClr val="accent1"/>
                    </a:solidFill>
                    <a:latin typeface="+mj-lt"/>
                  </a:rPr>
                  <a:t>Aerial Platforms  Unmanned Aerial Vehicles (</a:t>
                </a:r>
                <a:r>
                  <a:rPr lang="en-US" sz="3600" b="1" dirty="0" err="1">
                    <a:solidFill>
                      <a:schemeClr val="accent1"/>
                    </a:solidFill>
                    <a:latin typeface="+mj-lt"/>
                  </a:rPr>
                  <a:t>Uavs</a:t>
                </a:r>
                <a:r>
                  <a:rPr lang="en-US" sz="3600" b="1" dirty="0">
                    <a:solidFill>
                      <a:schemeClr val="accent1"/>
                    </a:solidFill>
                    <a:latin typeface="+mj-lt"/>
                  </a:rPr>
                  <a:t>)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E9232C-F96C-088D-0F37-C474EA806E3A}"/>
                  </a:ext>
                </a:extLst>
              </p:cNvPr>
              <p:cNvSpPr txBox="1"/>
              <p:nvPr/>
            </p:nvSpPr>
            <p:spPr>
              <a:xfrm>
                <a:off x="1293057" y="2947821"/>
                <a:ext cx="46410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DJI Matrice 300 RTK: </a:t>
                </a:r>
                <a:r>
                  <a:rPr lang="en-US" sz="1600" dirty="0"/>
                  <a:t>industrial drone, RTK precision, 55 min flight time, modular payload (LiDAR, thermal, RGB, hyperspectral)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16F95C-DCC1-22A8-A122-B05603CDD91A}"/>
                  </a:ext>
                </a:extLst>
              </p:cNvPr>
              <p:cNvSpPr txBox="1"/>
              <p:nvPr/>
            </p:nvSpPr>
            <p:spPr>
              <a:xfrm>
                <a:off x="1293057" y="4077275"/>
                <a:ext cx="412984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Flyability Elios 3 </a:t>
                </a:r>
                <a:r>
                  <a:rPr lang="en-US" sz="1600" dirty="0"/>
                  <a:t>(being procured): collision-tolerant indoor drone, equipped with LiDAR and modular payloads.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0985A4-1BBE-9C25-46DE-B0BBAA0C2999}"/>
                  </a:ext>
                </a:extLst>
              </p:cNvPr>
              <p:cNvSpPr txBox="1"/>
              <p:nvPr/>
            </p:nvSpPr>
            <p:spPr>
              <a:xfrm>
                <a:off x="1293057" y="5198091"/>
                <a:ext cx="427034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Both indoor and outdoor operation, </a:t>
                </a:r>
                <a:r>
                  <a:rPr lang="en-US" sz="1600" dirty="0"/>
                  <a:t>used for asset monitoring, inspection, and</a:t>
                </a:r>
                <a:r>
                  <a:rPr lang="en-US" sz="1600" b="1" dirty="0"/>
                  <a:t> data collection in </a:t>
                </a:r>
                <a:r>
                  <a:rPr lang="en-US" sz="1600" dirty="0"/>
                  <a:t>hard to reach areas</a:t>
                </a:r>
              </a:p>
            </p:txBody>
          </p:sp>
        </p:grp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3F5FBD8-DD74-C04B-C137-C9786A2A2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1553" y="3187541"/>
              <a:ext cx="351557" cy="351557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1F954DD-642D-8064-1DF2-85241CA2B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1553" y="4205721"/>
              <a:ext cx="351557" cy="351557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5AC43ED-E5AF-2617-EA95-BE1C286D8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1553" y="5262032"/>
              <a:ext cx="351557" cy="35155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878558-5DAB-3AB7-205E-D00D14D85169}"/>
              </a:ext>
            </a:extLst>
          </p:cNvPr>
          <p:cNvSpPr txBox="1"/>
          <p:nvPr/>
        </p:nvSpPr>
        <p:spPr>
          <a:xfrm>
            <a:off x="-13267301" y="963288"/>
            <a:ext cx="4443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VideoRay</a:t>
            </a:r>
            <a:r>
              <a:rPr lang="en-US" sz="1600" b="1" dirty="0"/>
              <a:t> Defender: </a:t>
            </a:r>
            <a:r>
              <a:rPr lang="en-US" sz="1600" dirty="0"/>
              <a:t>6-DOF control, modular, stable and robust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348F7-8CA2-5F7A-EF68-0CCB617803E6}"/>
              </a:ext>
            </a:extLst>
          </p:cNvPr>
          <p:cNvSpPr txBox="1"/>
          <p:nvPr/>
        </p:nvSpPr>
        <p:spPr>
          <a:xfrm>
            <a:off x="-10242747" y="2248023"/>
            <a:ext cx="4240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Hydromea</a:t>
            </a:r>
            <a:r>
              <a:rPr lang="en-US" sz="1600" b="1" dirty="0"/>
              <a:t> EXRAY: </a:t>
            </a:r>
            <a:r>
              <a:rPr lang="en-US" sz="1600" dirty="0"/>
              <a:t>Wireless optical modems for collaborative use.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2B947-282B-D243-BA05-DCA2E84769C2}"/>
              </a:ext>
            </a:extLst>
          </p:cNvPr>
          <p:cNvSpPr txBox="1"/>
          <p:nvPr/>
        </p:nvSpPr>
        <p:spPr>
          <a:xfrm>
            <a:off x="-7671444" y="3778980"/>
            <a:ext cx="462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Precise </a:t>
            </a:r>
            <a:r>
              <a:rPr lang="en-US" sz="1600" b="1" dirty="0"/>
              <a:t>6-DOF control, high-definition imaging, </a:t>
            </a:r>
            <a:r>
              <a:rPr lang="en-US" sz="1600" dirty="0"/>
              <a:t>modular payload 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320AA-F3BB-2086-D897-25FCDC4AEF83}"/>
              </a:ext>
            </a:extLst>
          </p:cNvPr>
          <p:cNvSpPr txBox="1"/>
          <p:nvPr/>
        </p:nvSpPr>
        <p:spPr>
          <a:xfrm>
            <a:off x="-5357183" y="5063715"/>
            <a:ext cx="46285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Underwater </a:t>
            </a:r>
            <a:r>
              <a:rPr lang="en-US" sz="1600" b="1" dirty="0"/>
              <a:t>asset</a:t>
            </a:r>
            <a:r>
              <a:rPr lang="en-US" sz="1600" dirty="0"/>
              <a:t> </a:t>
            </a:r>
            <a:r>
              <a:rPr lang="en-US" sz="1600" b="1" dirty="0"/>
              <a:t>inspection, maintenance</a:t>
            </a:r>
            <a:r>
              <a:rPr lang="en-US" sz="1600" dirty="0"/>
              <a:t>, and environmental monitoring.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CF170E-3880-1567-CEB1-0B0ED98347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3718508" y="1079897"/>
            <a:ext cx="351557" cy="35155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5C644C4-EB2E-3A99-C1AA-23FB08783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693954" y="2337197"/>
            <a:ext cx="351557" cy="35155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132399C-A08E-93C1-5F70-EC5CBDA80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122650" y="3895588"/>
            <a:ext cx="351557" cy="35155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3CA4A18-2AD9-B1A6-10FC-4A10560D0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808389" y="5127656"/>
            <a:ext cx="351557" cy="351557"/>
          </a:xfrm>
          <a:prstGeom prst="rect">
            <a:avLst/>
          </a:prstGeom>
        </p:spPr>
      </p:pic>
      <p:pic>
        <p:nvPicPr>
          <p:cNvPr id="15" name="Picture 2" descr="U.S. Navy Contracts VideoRay for Underwater Robotics Support ...">
            <a:extLst>
              <a:ext uri="{FF2B5EF4-FFF2-40B4-BE49-F238E27FC236}">
                <a16:creationId xmlns:a16="http://schemas.microsoft.com/office/drawing/2014/main" id="{6A6D163C-E588-875D-0536-64AC36FEAB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3" t="21101" r="27813"/>
          <a:stretch>
            <a:fillRect/>
          </a:stretch>
        </p:blipFill>
        <p:spPr bwMode="auto">
          <a:xfrm>
            <a:off x="6096000" y="7303035"/>
            <a:ext cx="6096000" cy="582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4AD702E-9A79-62BB-489C-40D846FC6606}"/>
              </a:ext>
            </a:extLst>
          </p:cNvPr>
          <p:cNvSpPr/>
          <p:nvPr/>
        </p:nvSpPr>
        <p:spPr>
          <a:xfrm>
            <a:off x="10391005" y="12944414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Picture Placeholder 34">
            <a:extLst>
              <a:ext uri="{FF2B5EF4-FFF2-40B4-BE49-F238E27FC236}">
                <a16:creationId xmlns:a16="http://schemas.microsoft.com/office/drawing/2014/main" id="{E8B2ED67-D091-EF3E-225C-183B15A98C41}"/>
              </a:ext>
            </a:extLst>
          </p:cNvPr>
          <p:cNvSpPr txBox="1">
            <a:spLocks/>
          </p:cNvSpPr>
          <p:nvPr/>
        </p:nvSpPr>
        <p:spPr>
          <a:xfrm>
            <a:off x="7673138" y="-5886274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ADC8AAD-E62C-C1A5-E354-F50ABEFDAE54}"/>
              </a:ext>
            </a:extLst>
          </p:cNvPr>
          <p:cNvSpPr/>
          <p:nvPr/>
        </p:nvSpPr>
        <p:spPr>
          <a:xfrm>
            <a:off x="7595062" y="-5971382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10C1EC0-E9E5-4383-5A05-7B5F9164A8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-5334582"/>
            <a:ext cx="1292123" cy="119652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0C2BB52-4BF7-08F3-F275-BF6F25923B33}"/>
              </a:ext>
            </a:extLst>
          </p:cNvPr>
          <p:cNvSpPr txBox="1"/>
          <p:nvPr/>
        </p:nvSpPr>
        <p:spPr>
          <a:xfrm>
            <a:off x="723900" y="12452007"/>
            <a:ext cx="96671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Cybersecurity: Risk Management Of Cyber Incidents In Construction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D09C82-5107-8AC6-EBE6-4F9C99C130C1}"/>
              </a:ext>
            </a:extLst>
          </p:cNvPr>
          <p:cNvGrpSpPr/>
          <p:nvPr/>
        </p:nvGrpSpPr>
        <p:grpSpPr>
          <a:xfrm>
            <a:off x="17317584" y="4334107"/>
            <a:ext cx="5994426" cy="2468596"/>
            <a:chOff x="1295400" y="4389404"/>
            <a:chExt cx="5994426" cy="246859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33C16DF-A860-AB24-C785-4DC7F3C3D105}"/>
                </a:ext>
              </a:extLst>
            </p:cNvPr>
            <p:cNvSpPr/>
            <p:nvPr/>
          </p:nvSpPr>
          <p:spPr>
            <a:xfrm>
              <a:off x="1295400" y="4389404"/>
              <a:ext cx="5994426" cy="246859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373287-3497-FEB8-8134-67AB37CA6AF3}"/>
                </a:ext>
              </a:extLst>
            </p:cNvPr>
            <p:cNvSpPr txBox="1"/>
            <p:nvPr/>
          </p:nvSpPr>
          <p:spPr>
            <a:xfrm>
              <a:off x="1503972" y="4746539"/>
              <a:ext cx="5484101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+mj-lt"/>
                </a:rPr>
                <a:t>Remotely Operated Vehicles  Underwater Platforms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D237AB-408B-A6E2-D2EE-0395DF81F6DB}"/>
              </a:ext>
            </a:extLst>
          </p:cNvPr>
          <p:cNvGrpSpPr/>
          <p:nvPr/>
        </p:nvGrpSpPr>
        <p:grpSpPr>
          <a:xfrm>
            <a:off x="0" y="9046352"/>
            <a:ext cx="12192000" cy="5310550"/>
            <a:chOff x="0" y="1547450"/>
            <a:chExt cx="12192000" cy="5310550"/>
          </a:xfrm>
        </p:grpSpPr>
        <p:pic>
          <p:nvPicPr>
            <p:cNvPr id="40" name="Picture Placeholder 11">
              <a:extLst>
                <a:ext uri="{FF2B5EF4-FFF2-40B4-BE49-F238E27FC236}">
                  <a16:creationId xmlns:a16="http://schemas.microsoft.com/office/drawing/2014/main" id="{C5D46AB8-E396-725E-A5FC-EEDE7101E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912" b="39488"/>
            <a:stretch>
              <a:fillRect/>
            </a:stretch>
          </p:blipFill>
          <p:spPr>
            <a:xfrm>
              <a:off x="0" y="1547450"/>
              <a:ext cx="12192000" cy="5310550"/>
            </a:xfrm>
            <a:custGeom>
              <a:avLst/>
              <a:gdLst>
                <a:gd name="connsiteX0" fmla="*/ 8678413 w 12192000"/>
                <a:gd name="connsiteY0" fmla="*/ 231 h 5310550"/>
                <a:gd name="connsiteX1" fmla="*/ 9078496 w 12192000"/>
                <a:gd name="connsiteY1" fmla="*/ 38804 h 5310550"/>
                <a:gd name="connsiteX2" fmla="*/ 12192000 w 12192000"/>
                <a:gd name="connsiteY2" fmla="*/ 1926046 h 5310550"/>
                <a:gd name="connsiteX3" fmla="*/ 12192000 w 12192000"/>
                <a:gd name="connsiteY3" fmla="*/ 5310550 h 5310550"/>
                <a:gd name="connsiteX4" fmla="*/ 0 w 12192000"/>
                <a:gd name="connsiteY4" fmla="*/ 5310550 h 5310550"/>
                <a:gd name="connsiteX5" fmla="*/ 0 w 12192000"/>
                <a:gd name="connsiteY5" fmla="*/ 978620 h 5310550"/>
                <a:gd name="connsiteX6" fmla="*/ 7247690 w 12192000"/>
                <a:gd name="connsiteY6" fmla="*/ 139371 h 5310550"/>
                <a:gd name="connsiteX7" fmla="*/ 8678413 w 12192000"/>
                <a:gd name="connsiteY7" fmla="*/ 231 h 531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310550">
                  <a:moveTo>
                    <a:pt x="8678413" y="231"/>
                  </a:moveTo>
                  <a:cubicBezTo>
                    <a:pt x="8818227" y="1954"/>
                    <a:pt x="8951605" y="13460"/>
                    <a:pt x="9078496" y="38804"/>
                  </a:cubicBezTo>
                  <a:cubicBezTo>
                    <a:pt x="9918494" y="205875"/>
                    <a:pt x="10970113" y="1082587"/>
                    <a:pt x="12192000" y="1926046"/>
                  </a:cubicBezTo>
                  <a:lnTo>
                    <a:pt x="12192000" y="5310550"/>
                  </a:lnTo>
                  <a:lnTo>
                    <a:pt x="0" y="5310550"/>
                  </a:lnTo>
                  <a:lnTo>
                    <a:pt x="0" y="978620"/>
                  </a:lnTo>
                  <a:lnTo>
                    <a:pt x="7247690" y="139371"/>
                  </a:lnTo>
                  <a:cubicBezTo>
                    <a:pt x="7781609" y="77936"/>
                    <a:pt x="8258972" y="-4939"/>
                    <a:pt x="8678413" y="231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EC9CB84-BCA4-DC0D-078B-1C8BF5CDB63D}"/>
                </a:ext>
              </a:extLst>
            </p:cNvPr>
            <p:cNvSpPr/>
            <p:nvPr/>
          </p:nvSpPr>
          <p:spPr>
            <a:xfrm rot="10800000">
              <a:off x="0" y="1574171"/>
              <a:ext cx="12192000" cy="5283828"/>
            </a:xfrm>
            <a:custGeom>
              <a:avLst/>
              <a:gdLst>
                <a:gd name="connsiteX0" fmla="*/ 3513587 w 12192000"/>
                <a:gd name="connsiteY0" fmla="*/ 5283598 h 5283828"/>
                <a:gd name="connsiteX1" fmla="*/ 3113504 w 12192000"/>
                <a:gd name="connsiteY1" fmla="*/ 5245025 h 5283828"/>
                <a:gd name="connsiteX2" fmla="*/ 0 w 12192000"/>
                <a:gd name="connsiteY2" fmla="*/ 3357783 h 5283828"/>
                <a:gd name="connsiteX3" fmla="*/ 0 w 12192000"/>
                <a:gd name="connsiteY3" fmla="*/ 0 h 5283828"/>
                <a:gd name="connsiteX4" fmla="*/ 12192000 w 12192000"/>
                <a:gd name="connsiteY4" fmla="*/ 0 h 5283828"/>
                <a:gd name="connsiteX5" fmla="*/ 12192000 w 12192000"/>
                <a:gd name="connsiteY5" fmla="*/ 4305209 h 5283828"/>
                <a:gd name="connsiteX6" fmla="*/ 4944310 w 12192000"/>
                <a:gd name="connsiteY6" fmla="*/ 5144458 h 5283828"/>
                <a:gd name="connsiteX7" fmla="*/ 3513587 w 12192000"/>
                <a:gd name="connsiteY7" fmla="*/ 5283598 h 52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283828">
                  <a:moveTo>
                    <a:pt x="3513587" y="5283598"/>
                  </a:moveTo>
                  <a:cubicBezTo>
                    <a:pt x="3373773" y="5281875"/>
                    <a:pt x="3240395" y="5270369"/>
                    <a:pt x="3113504" y="5245025"/>
                  </a:cubicBezTo>
                  <a:cubicBezTo>
                    <a:pt x="2273506" y="5077954"/>
                    <a:pt x="1221887" y="4201242"/>
                    <a:pt x="0" y="3357783"/>
                  </a:cubicBezTo>
                  <a:lnTo>
                    <a:pt x="0" y="0"/>
                  </a:lnTo>
                  <a:lnTo>
                    <a:pt x="12192000" y="0"/>
                  </a:lnTo>
                  <a:lnTo>
                    <a:pt x="12192000" y="4305209"/>
                  </a:lnTo>
                  <a:lnTo>
                    <a:pt x="4944310" y="5144458"/>
                  </a:lnTo>
                  <a:cubicBezTo>
                    <a:pt x="4410392" y="5205893"/>
                    <a:pt x="3933028" y="5288768"/>
                    <a:pt x="3513587" y="5283598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ECDB9F-4C9F-3575-48C6-CCAD2E43A0FC}"/>
              </a:ext>
            </a:extLst>
          </p:cNvPr>
          <p:cNvGrpSpPr/>
          <p:nvPr/>
        </p:nvGrpSpPr>
        <p:grpSpPr>
          <a:xfrm>
            <a:off x="999355" y="-6243199"/>
            <a:ext cx="3324995" cy="3324994"/>
            <a:chOff x="999355" y="518747"/>
            <a:chExt cx="3324995" cy="332499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A11A14-2658-DAE6-9BE0-02274CA05019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6A15954-ADD5-1DE9-0718-40DF8FC8DA40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101ED8-5448-AE8C-A3FA-69333463A5E4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3917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74F69D3-7A4E-0804-AA5D-B3A0415E3D02}"/>
              </a:ext>
            </a:extLst>
          </p:cNvPr>
          <p:cNvGrpSpPr/>
          <p:nvPr/>
        </p:nvGrpSpPr>
        <p:grpSpPr>
          <a:xfrm>
            <a:off x="0" y="1547450"/>
            <a:ext cx="12192000" cy="5310550"/>
            <a:chOff x="0" y="1547450"/>
            <a:chExt cx="12192000" cy="5310550"/>
          </a:xfrm>
        </p:grpSpPr>
        <p:pic>
          <p:nvPicPr>
            <p:cNvPr id="20" name="Picture Placeholder 11">
              <a:extLst>
                <a:ext uri="{FF2B5EF4-FFF2-40B4-BE49-F238E27FC236}">
                  <a16:creationId xmlns:a16="http://schemas.microsoft.com/office/drawing/2014/main" id="{CBF6ADEC-8FA8-0EBE-F3A0-347B57037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912" b="39488"/>
            <a:stretch>
              <a:fillRect/>
            </a:stretch>
          </p:blipFill>
          <p:spPr>
            <a:xfrm>
              <a:off x="0" y="1547450"/>
              <a:ext cx="12192000" cy="5310550"/>
            </a:xfrm>
            <a:custGeom>
              <a:avLst/>
              <a:gdLst>
                <a:gd name="connsiteX0" fmla="*/ 8678413 w 12192000"/>
                <a:gd name="connsiteY0" fmla="*/ 231 h 5310550"/>
                <a:gd name="connsiteX1" fmla="*/ 9078496 w 12192000"/>
                <a:gd name="connsiteY1" fmla="*/ 38804 h 5310550"/>
                <a:gd name="connsiteX2" fmla="*/ 12192000 w 12192000"/>
                <a:gd name="connsiteY2" fmla="*/ 1926046 h 5310550"/>
                <a:gd name="connsiteX3" fmla="*/ 12192000 w 12192000"/>
                <a:gd name="connsiteY3" fmla="*/ 5310550 h 5310550"/>
                <a:gd name="connsiteX4" fmla="*/ 0 w 12192000"/>
                <a:gd name="connsiteY4" fmla="*/ 5310550 h 5310550"/>
                <a:gd name="connsiteX5" fmla="*/ 0 w 12192000"/>
                <a:gd name="connsiteY5" fmla="*/ 978620 h 5310550"/>
                <a:gd name="connsiteX6" fmla="*/ 7247690 w 12192000"/>
                <a:gd name="connsiteY6" fmla="*/ 139371 h 5310550"/>
                <a:gd name="connsiteX7" fmla="*/ 8678413 w 12192000"/>
                <a:gd name="connsiteY7" fmla="*/ 231 h 531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310550">
                  <a:moveTo>
                    <a:pt x="8678413" y="231"/>
                  </a:moveTo>
                  <a:cubicBezTo>
                    <a:pt x="8818227" y="1954"/>
                    <a:pt x="8951605" y="13460"/>
                    <a:pt x="9078496" y="38804"/>
                  </a:cubicBezTo>
                  <a:cubicBezTo>
                    <a:pt x="9918494" y="205875"/>
                    <a:pt x="10970113" y="1082587"/>
                    <a:pt x="12192000" y="1926046"/>
                  </a:cubicBezTo>
                  <a:lnTo>
                    <a:pt x="12192000" y="5310550"/>
                  </a:lnTo>
                  <a:lnTo>
                    <a:pt x="0" y="5310550"/>
                  </a:lnTo>
                  <a:lnTo>
                    <a:pt x="0" y="978620"/>
                  </a:lnTo>
                  <a:lnTo>
                    <a:pt x="7247690" y="139371"/>
                  </a:lnTo>
                  <a:cubicBezTo>
                    <a:pt x="7781609" y="77936"/>
                    <a:pt x="8258972" y="-4939"/>
                    <a:pt x="8678413" y="231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E92F5E-E295-4356-80A4-9828570DA226}"/>
                </a:ext>
              </a:extLst>
            </p:cNvPr>
            <p:cNvSpPr/>
            <p:nvPr/>
          </p:nvSpPr>
          <p:spPr>
            <a:xfrm rot="10800000">
              <a:off x="0" y="1574171"/>
              <a:ext cx="12192000" cy="5283828"/>
            </a:xfrm>
            <a:custGeom>
              <a:avLst/>
              <a:gdLst>
                <a:gd name="connsiteX0" fmla="*/ 3513587 w 12192000"/>
                <a:gd name="connsiteY0" fmla="*/ 5283598 h 5283828"/>
                <a:gd name="connsiteX1" fmla="*/ 3113504 w 12192000"/>
                <a:gd name="connsiteY1" fmla="*/ 5245025 h 5283828"/>
                <a:gd name="connsiteX2" fmla="*/ 0 w 12192000"/>
                <a:gd name="connsiteY2" fmla="*/ 3357783 h 5283828"/>
                <a:gd name="connsiteX3" fmla="*/ 0 w 12192000"/>
                <a:gd name="connsiteY3" fmla="*/ 0 h 5283828"/>
                <a:gd name="connsiteX4" fmla="*/ 12192000 w 12192000"/>
                <a:gd name="connsiteY4" fmla="*/ 0 h 5283828"/>
                <a:gd name="connsiteX5" fmla="*/ 12192000 w 12192000"/>
                <a:gd name="connsiteY5" fmla="*/ 4305209 h 5283828"/>
                <a:gd name="connsiteX6" fmla="*/ 4944310 w 12192000"/>
                <a:gd name="connsiteY6" fmla="*/ 5144458 h 5283828"/>
                <a:gd name="connsiteX7" fmla="*/ 3513587 w 12192000"/>
                <a:gd name="connsiteY7" fmla="*/ 5283598 h 52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283828">
                  <a:moveTo>
                    <a:pt x="3513587" y="5283598"/>
                  </a:moveTo>
                  <a:cubicBezTo>
                    <a:pt x="3373773" y="5281875"/>
                    <a:pt x="3240395" y="5270369"/>
                    <a:pt x="3113504" y="5245025"/>
                  </a:cubicBezTo>
                  <a:cubicBezTo>
                    <a:pt x="2273506" y="5077954"/>
                    <a:pt x="1221887" y="4201242"/>
                    <a:pt x="0" y="3357783"/>
                  </a:cubicBezTo>
                  <a:lnTo>
                    <a:pt x="0" y="0"/>
                  </a:lnTo>
                  <a:lnTo>
                    <a:pt x="12192000" y="0"/>
                  </a:lnTo>
                  <a:lnTo>
                    <a:pt x="12192000" y="4305209"/>
                  </a:lnTo>
                  <a:lnTo>
                    <a:pt x="4944310" y="5144458"/>
                  </a:lnTo>
                  <a:cubicBezTo>
                    <a:pt x="4410392" y="5205893"/>
                    <a:pt x="3933028" y="5288768"/>
                    <a:pt x="3513587" y="5283598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96671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Cybersecurity: Risk Management Of Cyber Incidents In Construction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93FD5E-46E0-4958-9B1E-F5B8FD609973}"/>
              </a:ext>
            </a:extLst>
          </p:cNvPr>
          <p:cNvGrpSpPr/>
          <p:nvPr/>
        </p:nvGrpSpPr>
        <p:grpSpPr>
          <a:xfrm>
            <a:off x="-12875089" y="797752"/>
            <a:ext cx="5592685" cy="5262496"/>
            <a:chOff x="550863" y="766592"/>
            <a:chExt cx="5592685" cy="526249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240360-1F18-6396-D4FC-7A4D174DA8B3}"/>
                </a:ext>
              </a:extLst>
            </p:cNvPr>
            <p:cNvGrpSpPr/>
            <p:nvPr/>
          </p:nvGrpSpPr>
          <p:grpSpPr>
            <a:xfrm>
              <a:off x="550863" y="766592"/>
              <a:ext cx="5592685" cy="5262496"/>
              <a:chOff x="681115" y="766592"/>
              <a:chExt cx="5592685" cy="52624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BEEB3A-0517-5F71-8B58-6F7C3484B996}"/>
                  </a:ext>
                </a:extLst>
              </p:cNvPr>
              <p:cNvSpPr txBox="1"/>
              <p:nvPr/>
            </p:nvSpPr>
            <p:spPr>
              <a:xfrm>
                <a:off x="681115" y="766592"/>
                <a:ext cx="559268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chemeClr val="accent1"/>
                    </a:solidFill>
                    <a:latin typeface="+mj-lt"/>
                  </a:rPr>
                  <a:t>Aerial Platforms  Unmanned Aerial Vehicles (</a:t>
                </a:r>
                <a:r>
                  <a:rPr lang="en-US" sz="3600" b="1" dirty="0" err="1">
                    <a:solidFill>
                      <a:schemeClr val="accent1"/>
                    </a:solidFill>
                    <a:latin typeface="+mj-lt"/>
                  </a:rPr>
                  <a:t>Uavs</a:t>
                </a:r>
                <a:r>
                  <a:rPr lang="en-US" sz="3600" b="1" dirty="0">
                    <a:solidFill>
                      <a:schemeClr val="accent1"/>
                    </a:solidFill>
                    <a:latin typeface="+mj-lt"/>
                  </a:rPr>
                  <a:t>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C6161D-8AA1-7ED9-7234-CACE2E24B629}"/>
                  </a:ext>
                </a:extLst>
              </p:cNvPr>
              <p:cNvSpPr txBox="1"/>
              <p:nvPr/>
            </p:nvSpPr>
            <p:spPr>
              <a:xfrm>
                <a:off x="1293057" y="2947821"/>
                <a:ext cx="46410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DJI Matrice 300 RTK: </a:t>
                </a:r>
                <a:r>
                  <a:rPr lang="en-US" sz="1600" dirty="0"/>
                  <a:t>industrial drone, RTK precision, 55 min flight time, modular payload (LiDAR, thermal, RGB, hyperspectral)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77257E-874B-9F02-1C94-C54A46BF0F4F}"/>
                  </a:ext>
                </a:extLst>
              </p:cNvPr>
              <p:cNvSpPr txBox="1"/>
              <p:nvPr/>
            </p:nvSpPr>
            <p:spPr>
              <a:xfrm>
                <a:off x="1293057" y="4077275"/>
                <a:ext cx="412984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Flyability Elios 3 </a:t>
                </a:r>
                <a:r>
                  <a:rPr lang="en-US" sz="1600" dirty="0"/>
                  <a:t>(being procured): collision-tolerant indoor drone, equipped with LiDAR and modular payloads.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FEBB66-5BB6-FC5F-AF12-D088F4F17413}"/>
                  </a:ext>
                </a:extLst>
              </p:cNvPr>
              <p:cNvSpPr txBox="1"/>
              <p:nvPr/>
            </p:nvSpPr>
            <p:spPr>
              <a:xfrm>
                <a:off x="1293057" y="5198091"/>
                <a:ext cx="427034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Both indoor and outdoor operation, </a:t>
                </a:r>
                <a:r>
                  <a:rPr lang="en-US" sz="1600" dirty="0"/>
                  <a:t>used for asset monitoring, inspection, and</a:t>
                </a:r>
                <a:r>
                  <a:rPr lang="en-US" sz="1600" b="1" dirty="0"/>
                  <a:t> data collection in </a:t>
                </a:r>
                <a:r>
                  <a:rPr lang="en-US" sz="1600" dirty="0"/>
                  <a:t>hard to reach areas</a:t>
                </a:r>
              </a:p>
            </p:txBody>
          </p:sp>
        </p:grp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5EE66CC0-5B6B-73AF-1E02-93D5DF181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1553" y="3187541"/>
              <a:ext cx="351557" cy="351557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24F212CF-3AC9-498D-8664-C657092CA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1553" y="4205721"/>
              <a:ext cx="351557" cy="351557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A670B74-860D-7991-E00A-629D27AD5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1553" y="5262032"/>
              <a:ext cx="351557" cy="351557"/>
            </a:xfrm>
            <a:prstGeom prst="rect">
              <a:avLst/>
            </a:prstGeom>
          </p:spPr>
        </p:pic>
      </p:grpSp>
      <p:pic>
        <p:nvPicPr>
          <p:cNvPr id="18" name="Picture 8" descr="Flyability Launches Tether Power Unit for the Elios 3 for Unlimited Flight  Time and Stress-Free Inspections - MundoGEO">
            <a:extLst>
              <a:ext uri="{FF2B5EF4-FFF2-40B4-BE49-F238E27FC236}">
                <a16:creationId xmlns:a16="http://schemas.microsoft.com/office/drawing/2014/main" id="{808BBCA6-D3A1-1F3E-ABD3-15E8CB6C1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r="2399"/>
          <a:stretch>
            <a:fillRect/>
          </a:stretch>
        </p:blipFill>
        <p:spPr bwMode="auto">
          <a:xfrm>
            <a:off x="8836025" y="8337567"/>
            <a:ext cx="280511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DJI Matrice 350 RTK | Drone for inspeksjon, kartleggning m.m.">
            <a:extLst>
              <a:ext uri="{FF2B5EF4-FFF2-40B4-BE49-F238E27FC236}">
                <a16:creationId xmlns:a16="http://schemas.microsoft.com/office/drawing/2014/main" id="{563C79AD-B8B7-0F3F-484C-B3BCC4AF1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3" r="21683"/>
          <a:stretch>
            <a:fillRect/>
          </a:stretch>
        </p:blipFill>
        <p:spPr bwMode="auto">
          <a:xfrm>
            <a:off x="5803900" y="-6767617"/>
            <a:ext cx="280511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8E1DF1F-BADF-4EBB-58DE-A54D11CDB8EE}"/>
              </a:ext>
            </a:extLst>
          </p:cNvPr>
          <p:cNvSpPr/>
          <p:nvPr/>
        </p:nvSpPr>
        <p:spPr>
          <a:xfrm>
            <a:off x="0" y="-5156520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A71638-DF69-4B9C-7C49-E46502F3D5A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770D967-0E48-D5E7-1509-688E1970C030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D4E06A0-147B-208E-13BD-36484EF5ECC7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6E5BEB-571F-4070-D60C-E5012C5C52EE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57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1">
            <a:extLst>
              <a:ext uri="{FF2B5EF4-FFF2-40B4-BE49-F238E27FC236}">
                <a16:creationId xmlns:a16="http://schemas.microsoft.com/office/drawing/2014/main" id="{2E427CA0-68E3-2245-4482-F0DD49D7F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" r="15612" b="33244"/>
          <a:stretch>
            <a:fillRect/>
          </a:stretch>
        </p:blipFill>
        <p:spPr>
          <a:xfrm>
            <a:off x="0" y="9380492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197734-92BB-C2F6-91AF-25F720DC2877}"/>
              </a:ext>
            </a:extLst>
          </p:cNvPr>
          <p:cNvSpPr/>
          <p:nvPr/>
        </p:nvSpPr>
        <p:spPr>
          <a:xfrm rot="10800000">
            <a:off x="0" y="9380492"/>
            <a:ext cx="12192000" cy="5310550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B35727-EE76-29D8-0E69-E67F7A2FE23A}"/>
              </a:ext>
            </a:extLst>
          </p:cNvPr>
          <p:cNvGrpSpPr/>
          <p:nvPr/>
        </p:nvGrpSpPr>
        <p:grpSpPr>
          <a:xfrm>
            <a:off x="-13404722" y="1547450"/>
            <a:ext cx="12192000" cy="5310550"/>
            <a:chOff x="0" y="1547450"/>
            <a:chExt cx="12192000" cy="5310550"/>
          </a:xfrm>
        </p:grpSpPr>
        <p:pic>
          <p:nvPicPr>
            <p:cNvPr id="37" name="Picture Placeholder 11">
              <a:extLst>
                <a:ext uri="{FF2B5EF4-FFF2-40B4-BE49-F238E27FC236}">
                  <a16:creationId xmlns:a16="http://schemas.microsoft.com/office/drawing/2014/main" id="{0FAAC8FD-DD94-5486-2E26-EFCD3854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912" b="39488"/>
            <a:stretch>
              <a:fillRect/>
            </a:stretch>
          </p:blipFill>
          <p:spPr>
            <a:xfrm>
              <a:off x="0" y="1547450"/>
              <a:ext cx="12192000" cy="5310550"/>
            </a:xfrm>
            <a:custGeom>
              <a:avLst/>
              <a:gdLst>
                <a:gd name="connsiteX0" fmla="*/ 8678413 w 12192000"/>
                <a:gd name="connsiteY0" fmla="*/ 231 h 5310550"/>
                <a:gd name="connsiteX1" fmla="*/ 9078496 w 12192000"/>
                <a:gd name="connsiteY1" fmla="*/ 38804 h 5310550"/>
                <a:gd name="connsiteX2" fmla="*/ 12192000 w 12192000"/>
                <a:gd name="connsiteY2" fmla="*/ 1926046 h 5310550"/>
                <a:gd name="connsiteX3" fmla="*/ 12192000 w 12192000"/>
                <a:gd name="connsiteY3" fmla="*/ 5310550 h 5310550"/>
                <a:gd name="connsiteX4" fmla="*/ 0 w 12192000"/>
                <a:gd name="connsiteY4" fmla="*/ 5310550 h 5310550"/>
                <a:gd name="connsiteX5" fmla="*/ 0 w 12192000"/>
                <a:gd name="connsiteY5" fmla="*/ 978620 h 5310550"/>
                <a:gd name="connsiteX6" fmla="*/ 7247690 w 12192000"/>
                <a:gd name="connsiteY6" fmla="*/ 139371 h 5310550"/>
                <a:gd name="connsiteX7" fmla="*/ 8678413 w 12192000"/>
                <a:gd name="connsiteY7" fmla="*/ 231 h 531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310550">
                  <a:moveTo>
                    <a:pt x="8678413" y="231"/>
                  </a:moveTo>
                  <a:cubicBezTo>
                    <a:pt x="8818227" y="1954"/>
                    <a:pt x="8951605" y="13460"/>
                    <a:pt x="9078496" y="38804"/>
                  </a:cubicBezTo>
                  <a:cubicBezTo>
                    <a:pt x="9918494" y="205875"/>
                    <a:pt x="10970113" y="1082587"/>
                    <a:pt x="12192000" y="1926046"/>
                  </a:cubicBezTo>
                  <a:lnTo>
                    <a:pt x="12192000" y="5310550"/>
                  </a:lnTo>
                  <a:lnTo>
                    <a:pt x="0" y="5310550"/>
                  </a:lnTo>
                  <a:lnTo>
                    <a:pt x="0" y="978620"/>
                  </a:lnTo>
                  <a:lnTo>
                    <a:pt x="7247690" y="139371"/>
                  </a:lnTo>
                  <a:cubicBezTo>
                    <a:pt x="7781609" y="77936"/>
                    <a:pt x="8258972" y="-4939"/>
                    <a:pt x="8678413" y="231"/>
                  </a:cubicBezTo>
                  <a:close/>
                </a:path>
              </a:pathLst>
            </a:custGeom>
            <a:solidFill>
              <a:schemeClr val="bg2">
                <a:lumMod val="85000"/>
              </a:schemeClr>
            </a:solidFill>
          </p:spPr>
        </p:pic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35511C3-85B1-DD08-EB96-5FF0EAACEE49}"/>
                </a:ext>
              </a:extLst>
            </p:cNvPr>
            <p:cNvSpPr/>
            <p:nvPr/>
          </p:nvSpPr>
          <p:spPr>
            <a:xfrm rot="10800000">
              <a:off x="0" y="1574171"/>
              <a:ext cx="12192000" cy="5283828"/>
            </a:xfrm>
            <a:custGeom>
              <a:avLst/>
              <a:gdLst>
                <a:gd name="connsiteX0" fmla="*/ 3513587 w 12192000"/>
                <a:gd name="connsiteY0" fmla="*/ 5283598 h 5283828"/>
                <a:gd name="connsiteX1" fmla="*/ 3113504 w 12192000"/>
                <a:gd name="connsiteY1" fmla="*/ 5245025 h 5283828"/>
                <a:gd name="connsiteX2" fmla="*/ 0 w 12192000"/>
                <a:gd name="connsiteY2" fmla="*/ 3357783 h 5283828"/>
                <a:gd name="connsiteX3" fmla="*/ 0 w 12192000"/>
                <a:gd name="connsiteY3" fmla="*/ 0 h 5283828"/>
                <a:gd name="connsiteX4" fmla="*/ 12192000 w 12192000"/>
                <a:gd name="connsiteY4" fmla="*/ 0 h 5283828"/>
                <a:gd name="connsiteX5" fmla="*/ 12192000 w 12192000"/>
                <a:gd name="connsiteY5" fmla="*/ 4305209 h 5283828"/>
                <a:gd name="connsiteX6" fmla="*/ 4944310 w 12192000"/>
                <a:gd name="connsiteY6" fmla="*/ 5144458 h 5283828"/>
                <a:gd name="connsiteX7" fmla="*/ 3513587 w 12192000"/>
                <a:gd name="connsiteY7" fmla="*/ 5283598 h 528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5283828">
                  <a:moveTo>
                    <a:pt x="3513587" y="5283598"/>
                  </a:moveTo>
                  <a:cubicBezTo>
                    <a:pt x="3373773" y="5281875"/>
                    <a:pt x="3240395" y="5270369"/>
                    <a:pt x="3113504" y="5245025"/>
                  </a:cubicBezTo>
                  <a:cubicBezTo>
                    <a:pt x="2273506" y="5077954"/>
                    <a:pt x="1221887" y="4201242"/>
                    <a:pt x="0" y="3357783"/>
                  </a:cubicBezTo>
                  <a:lnTo>
                    <a:pt x="0" y="0"/>
                  </a:lnTo>
                  <a:lnTo>
                    <a:pt x="12192000" y="0"/>
                  </a:lnTo>
                  <a:lnTo>
                    <a:pt x="12192000" y="4305209"/>
                  </a:lnTo>
                  <a:lnTo>
                    <a:pt x="4944310" y="5144458"/>
                  </a:lnTo>
                  <a:cubicBezTo>
                    <a:pt x="4410392" y="5205893"/>
                    <a:pt x="3933028" y="5288768"/>
                    <a:pt x="3513587" y="5283598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022CDB7-2451-8407-48BE-3DB1A9FAE536}"/>
              </a:ext>
            </a:extLst>
          </p:cNvPr>
          <p:cNvSpPr/>
          <p:nvPr/>
        </p:nvSpPr>
        <p:spPr>
          <a:xfrm>
            <a:off x="0" y="2229963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CCDF1B1-D008-3AB7-4366-8FABF6021613}"/>
              </a:ext>
            </a:extLst>
          </p:cNvPr>
          <p:cNvSpPr/>
          <p:nvPr/>
        </p:nvSpPr>
        <p:spPr>
          <a:xfrm>
            <a:off x="17855366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Picture Placeholder 34">
            <a:extLst>
              <a:ext uri="{FF2B5EF4-FFF2-40B4-BE49-F238E27FC236}">
                <a16:creationId xmlns:a16="http://schemas.microsoft.com/office/drawing/2014/main" id="{ECE155FE-EF42-C499-6DE4-2368DDF2B197}"/>
              </a:ext>
            </a:extLst>
          </p:cNvPr>
          <p:cNvSpPr txBox="1">
            <a:spLocks/>
          </p:cNvSpPr>
          <p:nvPr/>
        </p:nvSpPr>
        <p:spPr>
          <a:xfrm>
            <a:off x="15137499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7C16A4-84EB-CDA3-DFC1-7400B5D66F3E}"/>
              </a:ext>
            </a:extLst>
          </p:cNvPr>
          <p:cNvSpPr/>
          <p:nvPr/>
        </p:nvSpPr>
        <p:spPr>
          <a:xfrm>
            <a:off x="15059423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A00F89-86DC-9746-776B-77D863B96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15546375" y="1155547"/>
            <a:ext cx="1292123" cy="11965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D8D7DE-D601-F585-48A9-68D5F1CA06EF}"/>
              </a:ext>
            </a:extLst>
          </p:cNvPr>
          <p:cNvSpPr txBox="1"/>
          <p:nvPr/>
        </p:nvSpPr>
        <p:spPr>
          <a:xfrm>
            <a:off x="-13122801" y="4791422"/>
            <a:ext cx="99478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Cybersecurity: Risk Management Of Cyber Incidents In Construction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93BC11F-EC01-03C3-D311-BDD39A10FEDB}"/>
              </a:ext>
            </a:extLst>
          </p:cNvPr>
          <p:cNvSpPr/>
          <p:nvPr/>
        </p:nvSpPr>
        <p:spPr>
          <a:xfrm>
            <a:off x="10391005" y="12970395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Picture Placeholder 34">
            <a:extLst>
              <a:ext uri="{FF2B5EF4-FFF2-40B4-BE49-F238E27FC236}">
                <a16:creationId xmlns:a16="http://schemas.microsoft.com/office/drawing/2014/main" id="{F7ECA482-B812-41A1-5F84-8D8C0F70FCD2}"/>
              </a:ext>
            </a:extLst>
          </p:cNvPr>
          <p:cNvSpPr txBox="1">
            <a:spLocks/>
          </p:cNvSpPr>
          <p:nvPr/>
        </p:nvSpPr>
        <p:spPr>
          <a:xfrm>
            <a:off x="7673138" y="-5280708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D6A0CF2-9943-425D-2495-FBB70028BD9D}"/>
              </a:ext>
            </a:extLst>
          </p:cNvPr>
          <p:cNvSpPr/>
          <p:nvPr/>
        </p:nvSpPr>
        <p:spPr>
          <a:xfrm>
            <a:off x="7595062" y="-5365816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8891DD1-F43E-A72C-1A83-109D29EAE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-4729016"/>
            <a:ext cx="1292123" cy="119652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1F4DC73-0EB6-1F6E-91CA-1D2E69C8AECE}"/>
              </a:ext>
            </a:extLst>
          </p:cNvPr>
          <p:cNvSpPr txBox="1"/>
          <p:nvPr/>
        </p:nvSpPr>
        <p:spPr>
          <a:xfrm>
            <a:off x="723900" y="12477988"/>
            <a:ext cx="9059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Industry Engagement Options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59AC40-EA71-59C3-CEFF-259512C54833}"/>
              </a:ext>
            </a:extLst>
          </p:cNvPr>
          <p:cNvGrpSpPr/>
          <p:nvPr/>
        </p:nvGrpSpPr>
        <p:grpSpPr>
          <a:xfrm>
            <a:off x="-12916121" y="518747"/>
            <a:ext cx="3324995" cy="3324994"/>
            <a:chOff x="999355" y="518747"/>
            <a:chExt cx="3324995" cy="332499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CAD7478-B282-840F-2F43-DCDA65328BB1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A497049-BE01-039A-2998-61DC4F3D92DC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C02350-5B16-D6C8-92E1-58D0CC2AD253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05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6D7734-0EE8-2913-3974-B3E62DEADB99}"/>
              </a:ext>
            </a:extLst>
          </p:cNvPr>
          <p:cNvGrpSpPr/>
          <p:nvPr/>
        </p:nvGrpSpPr>
        <p:grpSpPr>
          <a:xfrm>
            <a:off x="999355" y="-5292436"/>
            <a:ext cx="3324995" cy="3324994"/>
            <a:chOff x="999355" y="518747"/>
            <a:chExt cx="3324995" cy="33249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A40288F-D117-7A59-306D-F621117AA1CF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D1107D-CB4C-D88E-73DA-5E2306C45197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5C6357-5DAA-D764-DD01-EF30DDD5F09B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916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" r="15612" b="33244"/>
          <a:stretch>
            <a:fillRect/>
          </a:stretch>
        </p:blipFill>
        <p:spPr>
          <a:xfrm>
            <a:off x="0" y="1547450"/>
            <a:ext cx="12192000" cy="5310550"/>
          </a:xfr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47450"/>
            <a:ext cx="12192000" cy="5310550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90591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Industry Engagement Options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A280F-20F0-28CC-BC03-10220F1FF950}"/>
              </a:ext>
            </a:extLst>
          </p:cNvPr>
          <p:cNvSpPr/>
          <p:nvPr/>
        </p:nvSpPr>
        <p:spPr>
          <a:xfrm>
            <a:off x="0" y="-5156520"/>
            <a:ext cx="12192000" cy="2260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63745C-59EA-D500-64D8-731E4CF5ED9C}"/>
              </a:ext>
            </a:extLst>
          </p:cNvPr>
          <p:cNvSpPr txBox="1"/>
          <p:nvPr/>
        </p:nvSpPr>
        <p:spPr>
          <a:xfrm>
            <a:off x="-7866306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Collaboration Roadmap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56C4666-120B-F7D1-C7DD-E1858FF9A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80075"/>
              </p:ext>
            </p:extLst>
          </p:nvPr>
        </p:nvGraphicFramePr>
        <p:xfrm>
          <a:off x="14265061" y="1306804"/>
          <a:ext cx="10821920" cy="48780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64384">
                  <a:extLst>
                    <a:ext uri="{9D8B030D-6E8A-4147-A177-3AD203B41FA5}">
                      <a16:colId xmlns:a16="http://schemas.microsoft.com/office/drawing/2014/main" val="3193255739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3871055913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1956571357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592055661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4260312687"/>
                    </a:ext>
                  </a:extLst>
                </a:gridCol>
              </a:tblGrid>
              <a:tr h="121952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Immediately</a:t>
                      </a:r>
                    </a:p>
                    <a:p>
                      <a:r>
                        <a:rPr lang="en-US" sz="1400" dirty="0">
                          <a:latin typeface="+mj-lt"/>
                        </a:rPr>
                        <a:t>2-3 days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Short term 3-6 months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Short term 3-6 months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Long term </a:t>
                      </a:r>
                      <a:br>
                        <a:rPr lang="en-US" sz="1400" dirty="0">
                          <a:latin typeface="+mj-lt"/>
                        </a:rPr>
                      </a:br>
                      <a:r>
                        <a:rPr lang="en-US" sz="1400" dirty="0">
                          <a:latin typeface="+mj-lt"/>
                        </a:rPr>
                        <a:t>4-5 yrs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88326600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Phone call, meeting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Consulting project with academics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4th year projects, grants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77705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dirty="0"/>
                        <a:t>Engaging NYUAD resources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Academics, researchers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Academics, researchers, Masters students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Undergraduates, academics, researchers Masters students,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PhD students, Academics, researchers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20080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dirty="0"/>
                        <a:t>NYUAD in-kind support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Equipment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(robotics, drones) &amp;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Equipment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(robotics, drones) &amp;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57647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14D0FD13-CD2D-C195-34A1-E449122E2CAB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2AA396-05AE-E546-B68D-BA068CA3AFB7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D1A452A-2FC2-F2AC-8BDA-E4AC59AB69B8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0C35A0-FCA9-89C3-24E5-4701DC59A01E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696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1">
            <a:extLst>
              <a:ext uri="{FF2B5EF4-FFF2-40B4-BE49-F238E27FC236}">
                <a16:creationId xmlns:a16="http://schemas.microsoft.com/office/drawing/2014/main" id="{BD21F57F-94CF-5061-BCBD-BFF537075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" r="15612" b="33244"/>
          <a:stretch>
            <a:fillRect/>
          </a:stretch>
        </p:blipFill>
        <p:spPr>
          <a:xfrm>
            <a:off x="0" y="9822713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1152CD-0449-0D15-7D8E-7F64CBFC3770}"/>
              </a:ext>
            </a:extLst>
          </p:cNvPr>
          <p:cNvSpPr/>
          <p:nvPr/>
        </p:nvSpPr>
        <p:spPr>
          <a:xfrm rot="10800000">
            <a:off x="0" y="9822713"/>
            <a:ext cx="12192000" cy="5310550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20DC8-8354-94BE-DF78-A91339D38199}"/>
              </a:ext>
            </a:extLst>
          </p:cNvPr>
          <p:cNvSpPr txBox="1"/>
          <p:nvPr/>
        </p:nvSpPr>
        <p:spPr>
          <a:xfrm>
            <a:off x="550863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Collaboration Roadmap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7C03B5-93F1-6D2F-8964-45ACD8062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584745"/>
              </p:ext>
            </p:extLst>
          </p:nvPr>
        </p:nvGraphicFramePr>
        <p:xfrm>
          <a:off x="671670" y="1306804"/>
          <a:ext cx="10821920" cy="48780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64384">
                  <a:extLst>
                    <a:ext uri="{9D8B030D-6E8A-4147-A177-3AD203B41FA5}">
                      <a16:colId xmlns:a16="http://schemas.microsoft.com/office/drawing/2014/main" val="3193255739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3871055913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1956571357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592055661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4260312687"/>
                    </a:ext>
                  </a:extLst>
                </a:gridCol>
              </a:tblGrid>
              <a:tr h="1219524">
                <a:tc>
                  <a:txBody>
                    <a:bodyPr/>
                    <a:lstStyle/>
                    <a:p>
                      <a:endParaRPr lang="en-US" sz="1400" b="0" i="0" dirty="0">
                        <a:latin typeface="Montserrat Light" pitchFamily="2" charset="7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Immediately</a:t>
                      </a:r>
                    </a:p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2-3 days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Short term 3-6 months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Short term 3-6 months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Long term </a:t>
                      </a:r>
                      <a:br>
                        <a:rPr lang="en-US" sz="1400" b="0" i="0" dirty="0">
                          <a:latin typeface="Montserrat Light" pitchFamily="2" charset="77"/>
                        </a:rPr>
                      </a:br>
                      <a:r>
                        <a:rPr lang="en-US" sz="1400" b="0" i="0" dirty="0">
                          <a:latin typeface="Montserrat Light" pitchFamily="2" charset="77"/>
                        </a:rPr>
                        <a:t>4-5 yrs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88326600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Method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Phone call, meeting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Consulting project with academics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4th year projects, grants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Grants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77705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Engaging NYUAD resources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Academics, researchers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Academics, researchers, Masters students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Undergraduates, academics, researchers Masters students,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PhD students, Academics, researchers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20080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NYUAD in-kind support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i="0">
                        <a:latin typeface="Montserrat Light" pitchFamily="2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Equipment </a:t>
                      </a:r>
                      <a:br>
                        <a:rPr lang="en-US" sz="1400" b="0" i="0" dirty="0">
                          <a:latin typeface="Montserrat Light" pitchFamily="2" charset="77"/>
                        </a:rPr>
                      </a:br>
                      <a:r>
                        <a:rPr lang="en-US" sz="1400" b="0" i="0" dirty="0">
                          <a:latin typeface="Montserrat Light" pitchFamily="2" charset="77"/>
                        </a:rPr>
                        <a:t>(robotics, drones) &amp; </a:t>
                      </a:r>
                      <a:br>
                        <a:rPr lang="en-US" sz="1400" b="0" i="0" dirty="0">
                          <a:latin typeface="Montserrat Light" pitchFamily="2" charset="77"/>
                        </a:rPr>
                      </a:br>
                      <a:r>
                        <a:rPr lang="en-US" sz="1400" b="0" i="0" dirty="0">
                          <a:latin typeface="Montserrat Light" pitchFamily="2" charset="77"/>
                        </a:rPr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Montserrat Light" pitchFamily="2" charset="77"/>
                        </a:rPr>
                        <a:t>Equipment </a:t>
                      </a:r>
                      <a:br>
                        <a:rPr lang="en-US" sz="1400" b="0" i="0" dirty="0">
                          <a:latin typeface="Montserrat Light" pitchFamily="2" charset="77"/>
                        </a:rPr>
                      </a:br>
                      <a:r>
                        <a:rPr lang="en-US" sz="1400" b="0" i="0" dirty="0">
                          <a:latin typeface="Montserrat Light" pitchFamily="2" charset="77"/>
                        </a:rPr>
                        <a:t>(robotics, drones) &amp; </a:t>
                      </a:r>
                      <a:br>
                        <a:rPr lang="en-US" sz="1400" b="0" i="0" dirty="0">
                          <a:latin typeface="Montserrat Light" pitchFamily="2" charset="77"/>
                        </a:rPr>
                      </a:br>
                      <a:r>
                        <a:rPr lang="en-US" sz="1400" b="0" i="0" dirty="0">
                          <a:latin typeface="Montserrat Light" pitchFamily="2" charset="77"/>
                        </a:rPr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57647"/>
                  </a:ext>
                </a:extLst>
              </a:tr>
            </a:tbl>
          </a:graphicData>
        </a:graphic>
      </p:graphicFrame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C289E12-EA54-049F-DD2C-1D6182C9E735}"/>
              </a:ext>
            </a:extLst>
          </p:cNvPr>
          <p:cNvSpPr/>
          <p:nvPr/>
        </p:nvSpPr>
        <p:spPr>
          <a:xfrm>
            <a:off x="10391005" y="12970395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3C231959-6553-886E-9440-992FBC394E6E}"/>
              </a:ext>
            </a:extLst>
          </p:cNvPr>
          <p:cNvSpPr txBox="1">
            <a:spLocks/>
          </p:cNvSpPr>
          <p:nvPr/>
        </p:nvSpPr>
        <p:spPr>
          <a:xfrm>
            <a:off x="7673138" y="-5280708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6E2211-5A82-F517-0E4D-4D93F255AEEA}"/>
              </a:ext>
            </a:extLst>
          </p:cNvPr>
          <p:cNvSpPr/>
          <p:nvPr/>
        </p:nvSpPr>
        <p:spPr>
          <a:xfrm>
            <a:off x="7595062" y="-5365816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CFD87D-BB46-DD8F-0CDA-75112DCF9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-4729016"/>
            <a:ext cx="1292123" cy="11965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1A7681-A035-E86D-A15F-73C720BDD4DE}"/>
              </a:ext>
            </a:extLst>
          </p:cNvPr>
          <p:cNvSpPr txBox="1"/>
          <p:nvPr/>
        </p:nvSpPr>
        <p:spPr>
          <a:xfrm>
            <a:off x="723900" y="12477988"/>
            <a:ext cx="99186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Industry Engagement Options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52943-5D35-BFCB-B641-51343E94B003}"/>
              </a:ext>
            </a:extLst>
          </p:cNvPr>
          <p:cNvSpPr txBox="1"/>
          <p:nvPr/>
        </p:nvSpPr>
        <p:spPr>
          <a:xfrm>
            <a:off x="-7909070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+mj-lt"/>
              </a:rPr>
              <a:t>Collaboration Roadmap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3A1C3CB-2D3C-8572-AFC9-1C7F6F3C7AEC}"/>
              </a:ext>
            </a:extLst>
          </p:cNvPr>
          <p:cNvGrpSpPr/>
          <p:nvPr/>
        </p:nvGrpSpPr>
        <p:grpSpPr>
          <a:xfrm>
            <a:off x="-16027141" y="1887133"/>
            <a:ext cx="3663063" cy="3485606"/>
            <a:chOff x="803772" y="1887133"/>
            <a:chExt cx="3663063" cy="348560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A1D5F0D-DEF8-4489-CF74-E6891D2079F1}"/>
                </a:ext>
              </a:extLst>
            </p:cNvPr>
            <p:cNvSpPr/>
            <p:nvPr/>
          </p:nvSpPr>
          <p:spPr>
            <a:xfrm rot="18900000">
              <a:off x="1470559" y="1887133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2" y="1379321"/>
                    <a:pt x="0" y="1070550"/>
                    <a:pt x="0" y="689661"/>
                  </a:cubicBezTo>
                  <a:cubicBezTo>
                    <a:pt x="0" y="308772"/>
                    <a:pt x="308772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7F8D444-26AA-3CC5-CEB8-A19D8FFB639C}"/>
                </a:ext>
              </a:extLst>
            </p:cNvPr>
            <p:cNvSpPr/>
            <p:nvPr/>
          </p:nvSpPr>
          <p:spPr>
            <a:xfrm>
              <a:off x="803772" y="2392511"/>
              <a:ext cx="3663063" cy="1318613"/>
            </a:xfrm>
            <a:custGeom>
              <a:avLst/>
              <a:gdLst>
                <a:gd name="connsiteX0" fmla="*/ 2169043 w 2169042"/>
                <a:gd name="connsiteY0" fmla="*/ 390401 h 780802"/>
                <a:gd name="connsiteX1" fmla="*/ 1964731 w 2169042"/>
                <a:gd name="connsiteY1" fmla="*/ 159658 h 780802"/>
                <a:gd name="connsiteX2" fmla="*/ 1426197 w 2169042"/>
                <a:gd name="connsiteY2" fmla="*/ 159658 h 780802"/>
                <a:gd name="connsiteX3" fmla="*/ 1368924 w 2169042"/>
                <a:gd name="connsiteY3" fmla="*/ 123111 h 780802"/>
                <a:gd name="connsiteX4" fmla="*/ 1084516 w 2169042"/>
                <a:gd name="connsiteY4" fmla="*/ 0 h 780802"/>
                <a:gd name="connsiteX5" fmla="*/ 800110 w 2169042"/>
                <a:gd name="connsiteY5" fmla="*/ 123111 h 780802"/>
                <a:gd name="connsiteX6" fmla="*/ 742836 w 2169042"/>
                <a:gd name="connsiteY6" fmla="*/ 159658 h 780802"/>
                <a:gd name="connsiteX7" fmla="*/ 0 w 2169042"/>
                <a:gd name="connsiteY7" fmla="*/ 159658 h 780802"/>
                <a:gd name="connsiteX8" fmla="*/ 204311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6 w 2169042"/>
                <a:gd name="connsiteY12" fmla="*/ 780802 h 780802"/>
                <a:gd name="connsiteX13" fmla="*/ 1368924 w 2169042"/>
                <a:gd name="connsiteY13" fmla="*/ 657692 h 780802"/>
                <a:gd name="connsiteX14" fmla="*/ 1426197 w 2169042"/>
                <a:gd name="connsiteY14" fmla="*/ 621144 h 780802"/>
                <a:gd name="connsiteX15" fmla="*/ 1964731 w 2169042"/>
                <a:gd name="connsiteY15" fmla="*/ 621144 h 780802"/>
                <a:gd name="connsiteX16" fmla="*/ 2169043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3" y="390401"/>
                  </a:moveTo>
                  <a:lnTo>
                    <a:pt x="1964731" y="159658"/>
                  </a:lnTo>
                  <a:lnTo>
                    <a:pt x="1426197" y="159658"/>
                  </a:lnTo>
                  <a:cubicBezTo>
                    <a:pt x="1404566" y="152638"/>
                    <a:pt x="1384859" y="140065"/>
                    <a:pt x="1368924" y="123111"/>
                  </a:cubicBezTo>
                  <a:cubicBezTo>
                    <a:pt x="1297734" y="47358"/>
                    <a:pt x="1196683" y="0"/>
                    <a:pt x="1084516" y="0"/>
                  </a:cubicBezTo>
                  <a:cubicBezTo>
                    <a:pt x="972350" y="0"/>
                    <a:pt x="871299" y="47358"/>
                    <a:pt x="800110" y="123111"/>
                  </a:cubicBezTo>
                  <a:cubicBezTo>
                    <a:pt x="784184" y="140065"/>
                    <a:pt x="764467" y="152629"/>
                    <a:pt x="742836" y="159658"/>
                  </a:cubicBezTo>
                  <a:lnTo>
                    <a:pt x="0" y="159658"/>
                  </a:lnTo>
                  <a:lnTo>
                    <a:pt x="204311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60" y="780802"/>
                    <a:pt x="1084516" y="780802"/>
                  </a:cubicBezTo>
                  <a:cubicBezTo>
                    <a:pt x="1196683" y="780802"/>
                    <a:pt x="1297734" y="733454"/>
                    <a:pt x="1368924" y="657692"/>
                  </a:cubicBezTo>
                  <a:cubicBezTo>
                    <a:pt x="1384859" y="640737"/>
                    <a:pt x="1404566" y="628174"/>
                    <a:pt x="1426197" y="621144"/>
                  </a:cubicBezTo>
                  <a:lnTo>
                    <a:pt x="1964731" y="621144"/>
                  </a:lnTo>
                  <a:lnTo>
                    <a:pt x="2169043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13C1E91-6954-6F82-A503-E2AC684E517E}"/>
                </a:ext>
              </a:extLst>
            </p:cNvPr>
            <p:cNvSpPr/>
            <p:nvPr/>
          </p:nvSpPr>
          <p:spPr>
            <a:xfrm>
              <a:off x="2096135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5264A61-C982-4BAA-550A-60B34F7AF489}"/>
                </a:ext>
              </a:extLst>
            </p:cNvPr>
            <p:cNvGrpSpPr/>
            <p:nvPr/>
          </p:nvGrpSpPr>
          <p:grpSpPr>
            <a:xfrm>
              <a:off x="1472630" y="4360363"/>
              <a:ext cx="2325258" cy="1012376"/>
              <a:chOff x="1472630" y="4525463"/>
              <a:chExt cx="2325258" cy="1012376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D7EF779-C4F9-9C8A-BFF7-756DF1771F75}"/>
                  </a:ext>
                </a:extLst>
              </p:cNvPr>
              <p:cNvSpPr txBox="1"/>
              <p:nvPr/>
            </p:nvSpPr>
            <p:spPr>
              <a:xfrm>
                <a:off x="1472630" y="4525463"/>
                <a:ext cx="23252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</a:rPr>
                  <a:t>Advisory &amp; Strategy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C90F9D-7C07-ACA4-D623-23B74BC2297D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PHASE 01 — SHORT TERM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FC17A2-35E7-0E7C-B87E-B7444D58A88C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Expert deployment for Digital Twin feasibility studies.</a:t>
                </a:r>
              </a:p>
            </p:txBody>
          </p:sp>
        </p:grp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0E50A50C-C3D4-3652-46AA-A8F88360A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61659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75CDF0-4915-F5AE-F751-6A00B876E0DD}"/>
              </a:ext>
            </a:extLst>
          </p:cNvPr>
          <p:cNvGrpSpPr/>
          <p:nvPr/>
        </p:nvGrpSpPr>
        <p:grpSpPr>
          <a:xfrm>
            <a:off x="-10130711" y="1887151"/>
            <a:ext cx="3663063" cy="3485588"/>
            <a:chOff x="4264462" y="1887151"/>
            <a:chExt cx="3663063" cy="3485588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7157490-82CB-3522-2E79-FE89C2B9FD3A}"/>
                </a:ext>
              </a:extLst>
            </p:cNvPr>
            <p:cNvSpPr/>
            <p:nvPr/>
          </p:nvSpPr>
          <p:spPr>
            <a:xfrm rot="18900000">
              <a:off x="4931239" y="1887151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1" y="1379321"/>
                    <a:pt x="0" y="1070550"/>
                    <a:pt x="0" y="689661"/>
                  </a:cubicBezTo>
                  <a:cubicBezTo>
                    <a:pt x="0" y="308772"/>
                    <a:pt x="308771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9F47A93-A56A-049F-6080-6B38F06BE794}"/>
                </a:ext>
              </a:extLst>
            </p:cNvPr>
            <p:cNvSpPr/>
            <p:nvPr/>
          </p:nvSpPr>
          <p:spPr>
            <a:xfrm>
              <a:off x="4264462" y="2392511"/>
              <a:ext cx="3663063" cy="1318613"/>
            </a:xfrm>
            <a:custGeom>
              <a:avLst/>
              <a:gdLst>
                <a:gd name="connsiteX0" fmla="*/ 2169042 w 2169042"/>
                <a:gd name="connsiteY0" fmla="*/ 390401 h 780802"/>
                <a:gd name="connsiteX1" fmla="*/ 1964741 w 2169042"/>
                <a:gd name="connsiteY1" fmla="*/ 159658 h 780802"/>
                <a:gd name="connsiteX2" fmla="*/ 1426207 w 2169042"/>
                <a:gd name="connsiteY2" fmla="*/ 159658 h 780802"/>
                <a:gd name="connsiteX3" fmla="*/ 1368933 w 2169042"/>
                <a:gd name="connsiteY3" fmla="*/ 123111 h 780802"/>
                <a:gd name="connsiteX4" fmla="*/ 1084526 w 2169042"/>
                <a:gd name="connsiteY4" fmla="*/ 0 h 780802"/>
                <a:gd name="connsiteX5" fmla="*/ 800119 w 2169042"/>
                <a:gd name="connsiteY5" fmla="*/ 123111 h 780802"/>
                <a:gd name="connsiteX6" fmla="*/ 742845 w 2169042"/>
                <a:gd name="connsiteY6" fmla="*/ 159658 h 780802"/>
                <a:gd name="connsiteX7" fmla="*/ 0 w 2169042"/>
                <a:gd name="connsiteY7" fmla="*/ 159658 h 780802"/>
                <a:gd name="connsiteX8" fmla="*/ 204311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6 w 2169042"/>
                <a:gd name="connsiteY12" fmla="*/ 780802 h 780802"/>
                <a:gd name="connsiteX13" fmla="*/ 1368923 w 2169042"/>
                <a:gd name="connsiteY13" fmla="*/ 657692 h 780802"/>
                <a:gd name="connsiteX14" fmla="*/ 1426197 w 2169042"/>
                <a:gd name="connsiteY14" fmla="*/ 621144 h 780802"/>
                <a:gd name="connsiteX15" fmla="*/ 1964731 w 2169042"/>
                <a:gd name="connsiteY15" fmla="*/ 621144 h 780802"/>
                <a:gd name="connsiteX16" fmla="*/ 2169042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2" y="390401"/>
                  </a:moveTo>
                  <a:lnTo>
                    <a:pt x="1964741" y="159658"/>
                  </a:lnTo>
                  <a:lnTo>
                    <a:pt x="1426207" y="159658"/>
                  </a:lnTo>
                  <a:cubicBezTo>
                    <a:pt x="1404576" y="152638"/>
                    <a:pt x="1384868" y="140065"/>
                    <a:pt x="1368933" y="123111"/>
                  </a:cubicBezTo>
                  <a:cubicBezTo>
                    <a:pt x="1297743" y="47358"/>
                    <a:pt x="1196692" y="0"/>
                    <a:pt x="1084526" y="0"/>
                  </a:cubicBezTo>
                  <a:cubicBezTo>
                    <a:pt x="972360" y="0"/>
                    <a:pt x="871309" y="47358"/>
                    <a:pt x="800119" y="123111"/>
                  </a:cubicBezTo>
                  <a:cubicBezTo>
                    <a:pt x="784193" y="140065"/>
                    <a:pt x="764476" y="152629"/>
                    <a:pt x="742845" y="159658"/>
                  </a:cubicBezTo>
                  <a:lnTo>
                    <a:pt x="0" y="159658"/>
                  </a:lnTo>
                  <a:lnTo>
                    <a:pt x="204311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50" y="780802"/>
                    <a:pt x="1084516" y="780802"/>
                  </a:cubicBezTo>
                  <a:cubicBezTo>
                    <a:pt x="1196683" y="780802"/>
                    <a:pt x="1297734" y="733454"/>
                    <a:pt x="1368923" y="657692"/>
                  </a:cubicBezTo>
                  <a:cubicBezTo>
                    <a:pt x="1384859" y="640737"/>
                    <a:pt x="1404566" y="628174"/>
                    <a:pt x="1426197" y="621144"/>
                  </a:cubicBezTo>
                  <a:lnTo>
                    <a:pt x="1964731" y="621144"/>
                  </a:lnTo>
                  <a:lnTo>
                    <a:pt x="2169042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DE22759-F9E7-4F0F-F4A0-F3F5FB109B92}"/>
                </a:ext>
              </a:extLst>
            </p:cNvPr>
            <p:cNvSpPr/>
            <p:nvPr/>
          </p:nvSpPr>
          <p:spPr>
            <a:xfrm>
              <a:off x="5556839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828C283-2B01-AC26-3BDE-942236152E32}"/>
                </a:ext>
              </a:extLst>
            </p:cNvPr>
            <p:cNvGrpSpPr/>
            <p:nvPr/>
          </p:nvGrpSpPr>
          <p:grpSpPr>
            <a:xfrm>
              <a:off x="4933371" y="4360363"/>
              <a:ext cx="2325258" cy="1012376"/>
              <a:chOff x="1472630" y="4525463"/>
              <a:chExt cx="2325258" cy="101237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068FDF2-AB06-E92B-5242-C3F81A30D89B}"/>
                  </a:ext>
                </a:extLst>
              </p:cNvPr>
              <p:cNvSpPr txBox="1"/>
              <p:nvPr/>
            </p:nvSpPr>
            <p:spPr>
              <a:xfrm>
                <a:off x="1472630" y="4525463"/>
                <a:ext cx="23252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</a:rPr>
                  <a:t>Living Lab Pilots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5B3167B-F4C4-AEDF-00B0-D78738173A0E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PHASE 02 — MEDIUM TERM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010ED44-FFAF-6CE1-6175-FC4B15F71A1E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Testing Twin algorithms for national rollout via testbeds.</a:t>
                </a:r>
              </a:p>
            </p:txBody>
          </p:sp>
        </p:grp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CA9C9002-8CCB-02EA-3C15-89B891FC8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817663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F843AE5-0923-E9CE-9BE8-9F5C16E39F7D}"/>
              </a:ext>
            </a:extLst>
          </p:cNvPr>
          <p:cNvGrpSpPr/>
          <p:nvPr/>
        </p:nvGrpSpPr>
        <p:grpSpPr>
          <a:xfrm>
            <a:off x="-4326159" y="1887180"/>
            <a:ext cx="3663063" cy="3485559"/>
            <a:chOff x="7725165" y="1887180"/>
            <a:chExt cx="3663063" cy="348555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9598E2F-219C-F83E-065B-6A37F10E29EF}"/>
                </a:ext>
              </a:extLst>
            </p:cNvPr>
            <p:cNvSpPr/>
            <p:nvPr/>
          </p:nvSpPr>
          <p:spPr>
            <a:xfrm rot="18900000">
              <a:off x="8391907" y="1887180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2" y="1379321"/>
                    <a:pt x="0" y="1070550"/>
                    <a:pt x="0" y="689661"/>
                  </a:cubicBezTo>
                  <a:cubicBezTo>
                    <a:pt x="0" y="308772"/>
                    <a:pt x="308772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22FD081-6BCA-F957-F710-ACA9C211B54A}"/>
                </a:ext>
              </a:extLst>
            </p:cNvPr>
            <p:cNvSpPr/>
            <p:nvPr/>
          </p:nvSpPr>
          <p:spPr>
            <a:xfrm>
              <a:off x="7725165" y="2392511"/>
              <a:ext cx="3663063" cy="1318613"/>
            </a:xfrm>
            <a:custGeom>
              <a:avLst/>
              <a:gdLst>
                <a:gd name="connsiteX0" fmla="*/ 2169042 w 2169042"/>
                <a:gd name="connsiteY0" fmla="*/ 390401 h 780802"/>
                <a:gd name="connsiteX1" fmla="*/ 1964732 w 2169042"/>
                <a:gd name="connsiteY1" fmla="*/ 159658 h 780802"/>
                <a:gd name="connsiteX2" fmla="*/ 1426198 w 2169042"/>
                <a:gd name="connsiteY2" fmla="*/ 159658 h 780802"/>
                <a:gd name="connsiteX3" fmla="*/ 1368924 w 2169042"/>
                <a:gd name="connsiteY3" fmla="*/ 123111 h 780802"/>
                <a:gd name="connsiteX4" fmla="*/ 1084517 w 2169042"/>
                <a:gd name="connsiteY4" fmla="*/ 0 h 780802"/>
                <a:gd name="connsiteX5" fmla="*/ 800110 w 2169042"/>
                <a:gd name="connsiteY5" fmla="*/ 123111 h 780802"/>
                <a:gd name="connsiteX6" fmla="*/ 742836 w 2169042"/>
                <a:gd name="connsiteY6" fmla="*/ 159658 h 780802"/>
                <a:gd name="connsiteX7" fmla="*/ 0 w 2169042"/>
                <a:gd name="connsiteY7" fmla="*/ 159658 h 780802"/>
                <a:gd name="connsiteX8" fmla="*/ 204302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7 w 2169042"/>
                <a:gd name="connsiteY12" fmla="*/ 780802 h 780802"/>
                <a:gd name="connsiteX13" fmla="*/ 1368924 w 2169042"/>
                <a:gd name="connsiteY13" fmla="*/ 657692 h 780802"/>
                <a:gd name="connsiteX14" fmla="*/ 1426198 w 2169042"/>
                <a:gd name="connsiteY14" fmla="*/ 621144 h 780802"/>
                <a:gd name="connsiteX15" fmla="*/ 1964732 w 2169042"/>
                <a:gd name="connsiteY15" fmla="*/ 621144 h 780802"/>
                <a:gd name="connsiteX16" fmla="*/ 2169042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2" y="390401"/>
                  </a:moveTo>
                  <a:lnTo>
                    <a:pt x="1964732" y="159658"/>
                  </a:lnTo>
                  <a:lnTo>
                    <a:pt x="1426198" y="159658"/>
                  </a:lnTo>
                  <a:cubicBezTo>
                    <a:pt x="1404566" y="152638"/>
                    <a:pt x="1384859" y="140065"/>
                    <a:pt x="1368924" y="123111"/>
                  </a:cubicBezTo>
                  <a:cubicBezTo>
                    <a:pt x="1297734" y="47358"/>
                    <a:pt x="1196683" y="0"/>
                    <a:pt x="1084517" y="0"/>
                  </a:cubicBezTo>
                  <a:cubicBezTo>
                    <a:pt x="972350" y="0"/>
                    <a:pt x="871299" y="47358"/>
                    <a:pt x="800110" y="123111"/>
                  </a:cubicBezTo>
                  <a:cubicBezTo>
                    <a:pt x="784184" y="140065"/>
                    <a:pt x="764467" y="152629"/>
                    <a:pt x="742836" y="159658"/>
                  </a:cubicBezTo>
                  <a:lnTo>
                    <a:pt x="0" y="159658"/>
                  </a:lnTo>
                  <a:lnTo>
                    <a:pt x="204302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50" y="780802"/>
                    <a:pt x="1084517" y="780802"/>
                  </a:cubicBezTo>
                  <a:cubicBezTo>
                    <a:pt x="1196683" y="780802"/>
                    <a:pt x="1297734" y="733454"/>
                    <a:pt x="1368924" y="657692"/>
                  </a:cubicBezTo>
                  <a:cubicBezTo>
                    <a:pt x="1384850" y="640737"/>
                    <a:pt x="1404566" y="628174"/>
                    <a:pt x="1426198" y="621144"/>
                  </a:cubicBezTo>
                  <a:lnTo>
                    <a:pt x="1964732" y="621144"/>
                  </a:lnTo>
                  <a:lnTo>
                    <a:pt x="2169042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C6C32CE-0D06-99CB-8DFC-6932419BF2A4}"/>
                </a:ext>
              </a:extLst>
            </p:cNvPr>
            <p:cNvSpPr/>
            <p:nvPr/>
          </p:nvSpPr>
          <p:spPr>
            <a:xfrm>
              <a:off x="9017439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2F55E61-19AC-2963-E902-FC79F10D298E}"/>
                </a:ext>
              </a:extLst>
            </p:cNvPr>
            <p:cNvGrpSpPr/>
            <p:nvPr/>
          </p:nvGrpSpPr>
          <p:grpSpPr>
            <a:xfrm>
              <a:off x="8115282" y="4360363"/>
              <a:ext cx="2882918" cy="1012376"/>
              <a:chOff x="1193800" y="4525463"/>
              <a:chExt cx="2882918" cy="1012376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11522FC-46EC-8ED9-4456-82B48DEFAA46}"/>
                  </a:ext>
                </a:extLst>
              </p:cNvPr>
              <p:cNvSpPr txBox="1"/>
              <p:nvPr/>
            </p:nvSpPr>
            <p:spPr>
              <a:xfrm>
                <a:off x="1193800" y="4525463"/>
                <a:ext cx="288291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</a:rPr>
                  <a:t>National Innovation Centre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8B0605B-FE64-6BA3-A78D-619AE887C1FA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PHASE 03 — LONG TERM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7DAC4A-3A03-2E1C-A078-A5E2AAE72C74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Establishing a joint </a:t>
                </a:r>
                <a:r>
                  <a:rPr lang="en-US" sz="1050" dirty="0" err="1"/>
                  <a:t>CoE</a:t>
                </a:r>
                <a:r>
                  <a:rPr lang="en-US" sz="1050" dirty="0"/>
                  <a:t> for sovereign IP and talent.</a:t>
                </a:r>
              </a:p>
            </p:txBody>
          </p:sp>
        </p:grp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058B5D7A-8D8B-4742-2009-A85AB1E87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273666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2A33365-942E-BC27-2A9F-E786C2D948D4}"/>
              </a:ext>
            </a:extLst>
          </p:cNvPr>
          <p:cNvGrpSpPr/>
          <p:nvPr/>
        </p:nvGrpSpPr>
        <p:grpSpPr>
          <a:xfrm>
            <a:off x="999355" y="-5873803"/>
            <a:ext cx="3324995" cy="3324994"/>
            <a:chOff x="999355" y="518747"/>
            <a:chExt cx="3324995" cy="332499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A2D43A4-FF13-A890-8181-4FC170EBE49F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0D31E64-5563-B859-F9E8-C05BDA6E0726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018795-AEAE-8C24-2263-D864C7369A27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190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E75C-FCD5-297B-A708-34945006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5E3A7-701C-BCC0-A317-B456B9670C49}"/>
              </a:ext>
            </a:extLst>
          </p:cNvPr>
          <p:cNvSpPr txBox="1"/>
          <p:nvPr/>
        </p:nvSpPr>
        <p:spPr>
          <a:xfrm>
            <a:off x="3040284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+mj-lt"/>
              </a:rPr>
              <a:t>Collaboration Roadmap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834676-3434-04E2-75F2-3058586C14EA}"/>
              </a:ext>
            </a:extLst>
          </p:cNvPr>
          <p:cNvGrpSpPr/>
          <p:nvPr/>
        </p:nvGrpSpPr>
        <p:grpSpPr>
          <a:xfrm>
            <a:off x="803772" y="1887133"/>
            <a:ext cx="3663063" cy="3485606"/>
            <a:chOff x="803772" y="1887133"/>
            <a:chExt cx="3663063" cy="3485606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E3F1739-6845-0D12-9111-BFF92C3F5B15}"/>
                </a:ext>
              </a:extLst>
            </p:cNvPr>
            <p:cNvSpPr/>
            <p:nvPr/>
          </p:nvSpPr>
          <p:spPr>
            <a:xfrm rot="18900000">
              <a:off x="1470559" y="1887133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2" y="1379321"/>
                    <a:pt x="0" y="1070550"/>
                    <a:pt x="0" y="689661"/>
                  </a:cubicBezTo>
                  <a:cubicBezTo>
                    <a:pt x="0" y="308772"/>
                    <a:pt x="308772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96DDFAB-F8AD-DF0B-1DB6-3E2B8D57D311}"/>
                </a:ext>
              </a:extLst>
            </p:cNvPr>
            <p:cNvSpPr/>
            <p:nvPr/>
          </p:nvSpPr>
          <p:spPr>
            <a:xfrm>
              <a:off x="803772" y="2392511"/>
              <a:ext cx="3663063" cy="1318613"/>
            </a:xfrm>
            <a:custGeom>
              <a:avLst/>
              <a:gdLst>
                <a:gd name="connsiteX0" fmla="*/ 2169043 w 2169042"/>
                <a:gd name="connsiteY0" fmla="*/ 390401 h 780802"/>
                <a:gd name="connsiteX1" fmla="*/ 1964731 w 2169042"/>
                <a:gd name="connsiteY1" fmla="*/ 159658 h 780802"/>
                <a:gd name="connsiteX2" fmla="*/ 1426197 w 2169042"/>
                <a:gd name="connsiteY2" fmla="*/ 159658 h 780802"/>
                <a:gd name="connsiteX3" fmla="*/ 1368924 w 2169042"/>
                <a:gd name="connsiteY3" fmla="*/ 123111 h 780802"/>
                <a:gd name="connsiteX4" fmla="*/ 1084516 w 2169042"/>
                <a:gd name="connsiteY4" fmla="*/ 0 h 780802"/>
                <a:gd name="connsiteX5" fmla="*/ 800110 w 2169042"/>
                <a:gd name="connsiteY5" fmla="*/ 123111 h 780802"/>
                <a:gd name="connsiteX6" fmla="*/ 742836 w 2169042"/>
                <a:gd name="connsiteY6" fmla="*/ 159658 h 780802"/>
                <a:gd name="connsiteX7" fmla="*/ 0 w 2169042"/>
                <a:gd name="connsiteY7" fmla="*/ 159658 h 780802"/>
                <a:gd name="connsiteX8" fmla="*/ 204311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6 w 2169042"/>
                <a:gd name="connsiteY12" fmla="*/ 780802 h 780802"/>
                <a:gd name="connsiteX13" fmla="*/ 1368924 w 2169042"/>
                <a:gd name="connsiteY13" fmla="*/ 657692 h 780802"/>
                <a:gd name="connsiteX14" fmla="*/ 1426197 w 2169042"/>
                <a:gd name="connsiteY14" fmla="*/ 621144 h 780802"/>
                <a:gd name="connsiteX15" fmla="*/ 1964731 w 2169042"/>
                <a:gd name="connsiteY15" fmla="*/ 621144 h 780802"/>
                <a:gd name="connsiteX16" fmla="*/ 2169043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3" y="390401"/>
                  </a:moveTo>
                  <a:lnTo>
                    <a:pt x="1964731" y="159658"/>
                  </a:lnTo>
                  <a:lnTo>
                    <a:pt x="1426197" y="159658"/>
                  </a:lnTo>
                  <a:cubicBezTo>
                    <a:pt x="1404566" y="152638"/>
                    <a:pt x="1384859" y="140065"/>
                    <a:pt x="1368924" y="123111"/>
                  </a:cubicBezTo>
                  <a:cubicBezTo>
                    <a:pt x="1297734" y="47358"/>
                    <a:pt x="1196683" y="0"/>
                    <a:pt x="1084516" y="0"/>
                  </a:cubicBezTo>
                  <a:cubicBezTo>
                    <a:pt x="972350" y="0"/>
                    <a:pt x="871299" y="47358"/>
                    <a:pt x="800110" y="123111"/>
                  </a:cubicBezTo>
                  <a:cubicBezTo>
                    <a:pt x="784184" y="140065"/>
                    <a:pt x="764467" y="152629"/>
                    <a:pt x="742836" y="159658"/>
                  </a:cubicBezTo>
                  <a:lnTo>
                    <a:pt x="0" y="159658"/>
                  </a:lnTo>
                  <a:lnTo>
                    <a:pt x="204311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60" y="780802"/>
                    <a:pt x="1084516" y="780802"/>
                  </a:cubicBezTo>
                  <a:cubicBezTo>
                    <a:pt x="1196683" y="780802"/>
                    <a:pt x="1297734" y="733454"/>
                    <a:pt x="1368924" y="657692"/>
                  </a:cubicBezTo>
                  <a:cubicBezTo>
                    <a:pt x="1384859" y="640737"/>
                    <a:pt x="1404566" y="628174"/>
                    <a:pt x="1426197" y="621144"/>
                  </a:cubicBezTo>
                  <a:lnTo>
                    <a:pt x="1964731" y="621144"/>
                  </a:lnTo>
                  <a:lnTo>
                    <a:pt x="2169043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46D41A9-05F6-CDD6-6872-2A4DF72C9D52}"/>
                </a:ext>
              </a:extLst>
            </p:cNvPr>
            <p:cNvSpPr/>
            <p:nvPr/>
          </p:nvSpPr>
          <p:spPr>
            <a:xfrm>
              <a:off x="2096135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5EB123F1-0830-F605-55AE-981ABE57DFF9}"/>
                </a:ext>
              </a:extLst>
            </p:cNvPr>
            <p:cNvGrpSpPr/>
            <p:nvPr/>
          </p:nvGrpSpPr>
          <p:grpSpPr>
            <a:xfrm>
              <a:off x="1472630" y="4360363"/>
              <a:ext cx="2325258" cy="1012376"/>
              <a:chOff x="1472630" y="4525463"/>
              <a:chExt cx="2325258" cy="1012376"/>
            </a:xfrm>
          </p:grpSpPr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7CD0622-EC45-6848-9F08-88936542AEDB}"/>
                  </a:ext>
                </a:extLst>
              </p:cNvPr>
              <p:cNvSpPr txBox="1"/>
              <p:nvPr/>
            </p:nvSpPr>
            <p:spPr>
              <a:xfrm>
                <a:off x="1472630" y="4525463"/>
                <a:ext cx="23252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+mj-lt"/>
                  </a:rPr>
                  <a:t>Advisory &amp; Strategy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984F326A-B8D1-17CE-7BD5-AFC781C21011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latin typeface="Montserrat Medium" pitchFamily="2" charset="77"/>
                  </a:rPr>
                  <a:t>PHASE 01 — SHORT TERM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4363035-1DCF-4FAF-DB2B-41EBD1EB98CD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>
                    <a:latin typeface="Montserrat Light" pitchFamily="2" charset="77"/>
                  </a:rPr>
                  <a:t>Expert deployment for Digital Twin feasibility studies.</a:t>
                </a:r>
              </a:p>
            </p:txBody>
          </p:sp>
        </p:grpSp>
        <p:pic>
          <p:nvPicPr>
            <p:cNvPr id="168" name="Graphic 167">
              <a:extLst>
                <a:ext uri="{FF2B5EF4-FFF2-40B4-BE49-F238E27FC236}">
                  <a16:creationId xmlns:a16="http://schemas.microsoft.com/office/drawing/2014/main" id="{95CA684B-BBBE-9410-DE3D-48422E742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61659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1C96333-88FB-C89E-9840-544199913BC7}"/>
              </a:ext>
            </a:extLst>
          </p:cNvPr>
          <p:cNvGrpSpPr/>
          <p:nvPr/>
        </p:nvGrpSpPr>
        <p:grpSpPr>
          <a:xfrm>
            <a:off x="4264462" y="1887151"/>
            <a:ext cx="3663063" cy="3485588"/>
            <a:chOff x="4264462" y="1887151"/>
            <a:chExt cx="3663063" cy="348558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69120CE-F0E9-8188-6F12-510289A2574D}"/>
                </a:ext>
              </a:extLst>
            </p:cNvPr>
            <p:cNvSpPr/>
            <p:nvPr/>
          </p:nvSpPr>
          <p:spPr>
            <a:xfrm rot="18900000">
              <a:off x="4931239" y="1887151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1" y="1379321"/>
                    <a:pt x="0" y="1070550"/>
                    <a:pt x="0" y="689661"/>
                  </a:cubicBezTo>
                  <a:cubicBezTo>
                    <a:pt x="0" y="308772"/>
                    <a:pt x="308771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74628D9-5A5C-F151-AAF3-5F5A687ACE36}"/>
                </a:ext>
              </a:extLst>
            </p:cNvPr>
            <p:cNvSpPr/>
            <p:nvPr/>
          </p:nvSpPr>
          <p:spPr>
            <a:xfrm>
              <a:off x="4264462" y="2392511"/>
              <a:ext cx="3663063" cy="1318613"/>
            </a:xfrm>
            <a:custGeom>
              <a:avLst/>
              <a:gdLst>
                <a:gd name="connsiteX0" fmla="*/ 2169042 w 2169042"/>
                <a:gd name="connsiteY0" fmla="*/ 390401 h 780802"/>
                <a:gd name="connsiteX1" fmla="*/ 1964741 w 2169042"/>
                <a:gd name="connsiteY1" fmla="*/ 159658 h 780802"/>
                <a:gd name="connsiteX2" fmla="*/ 1426207 w 2169042"/>
                <a:gd name="connsiteY2" fmla="*/ 159658 h 780802"/>
                <a:gd name="connsiteX3" fmla="*/ 1368933 w 2169042"/>
                <a:gd name="connsiteY3" fmla="*/ 123111 h 780802"/>
                <a:gd name="connsiteX4" fmla="*/ 1084526 w 2169042"/>
                <a:gd name="connsiteY4" fmla="*/ 0 h 780802"/>
                <a:gd name="connsiteX5" fmla="*/ 800119 w 2169042"/>
                <a:gd name="connsiteY5" fmla="*/ 123111 h 780802"/>
                <a:gd name="connsiteX6" fmla="*/ 742845 w 2169042"/>
                <a:gd name="connsiteY6" fmla="*/ 159658 h 780802"/>
                <a:gd name="connsiteX7" fmla="*/ 0 w 2169042"/>
                <a:gd name="connsiteY7" fmla="*/ 159658 h 780802"/>
                <a:gd name="connsiteX8" fmla="*/ 204311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6 w 2169042"/>
                <a:gd name="connsiteY12" fmla="*/ 780802 h 780802"/>
                <a:gd name="connsiteX13" fmla="*/ 1368923 w 2169042"/>
                <a:gd name="connsiteY13" fmla="*/ 657692 h 780802"/>
                <a:gd name="connsiteX14" fmla="*/ 1426197 w 2169042"/>
                <a:gd name="connsiteY14" fmla="*/ 621144 h 780802"/>
                <a:gd name="connsiteX15" fmla="*/ 1964731 w 2169042"/>
                <a:gd name="connsiteY15" fmla="*/ 621144 h 780802"/>
                <a:gd name="connsiteX16" fmla="*/ 2169042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2" y="390401"/>
                  </a:moveTo>
                  <a:lnTo>
                    <a:pt x="1964741" y="159658"/>
                  </a:lnTo>
                  <a:lnTo>
                    <a:pt x="1426207" y="159658"/>
                  </a:lnTo>
                  <a:cubicBezTo>
                    <a:pt x="1404576" y="152638"/>
                    <a:pt x="1384868" y="140065"/>
                    <a:pt x="1368933" y="123111"/>
                  </a:cubicBezTo>
                  <a:cubicBezTo>
                    <a:pt x="1297743" y="47358"/>
                    <a:pt x="1196692" y="0"/>
                    <a:pt x="1084526" y="0"/>
                  </a:cubicBezTo>
                  <a:cubicBezTo>
                    <a:pt x="972360" y="0"/>
                    <a:pt x="871309" y="47358"/>
                    <a:pt x="800119" y="123111"/>
                  </a:cubicBezTo>
                  <a:cubicBezTo>
                    <a:pt x="784193" y="140065"/>
                    <a:pt x="764476" y="152629"/>
                    <a:pt x="742845" y="159658"/>
                  </a:cubicBezTo>
                  <a:lnTo>
                    <a:pt x="0" y="159658"/>
                  </a:lnTo>
                  <a:lnTo>
                    <a:pt x="204311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50" y="780802"/>
                    <a:pt x="1084516" y="780802"/>
                  </a:cubicBezTo>
                  <a:cubicBezTo>
                    <a:pt x="1196683" y="780802"/>
                    <a:pt x="1297734" y="733454"/>
                    <a:pt x="1368923" y="657692"/>
                  </a:cubicBezTo>
                  <a:cubicBezTo>
                    <a:pt x="1384859" y="640737"/>
                    <a:pt x="1404566" y="628174"/>
                    <a:pt x="1426197" y="621144"/>
                  </a:cubicBezTo>
                  <a:lnTo>
                    <a:pt x="1964731" y="621144"/>
                  </a:lnTo>
                  <a:lnTo>
                    <a:pt x="2169042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98BD640-DE93-9B4B-95CE-8A67662362F3}"/>
                </a:ext>
              </a:extLst>
            </p:cNvPr>
            <p:cNvSpPr/>
            <p:nvPr/>
          </p:nvSpPr>
          <p:spPr>
            <a:xfrm>
              <a:off x="5556839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C95EDA15-EBE0-ACE3-D24E-DA6130D5AC35}"/>
                </a:ext>
              </a:extLst>
            </p:cNvPr>
            <p:cNvGrpSpPr/>
            <p:nvPr/>
          </p:nvGrpSpPr>
          <p:grpSpPr>
            <a:xfrm>
              <a:off x="4933371" y="4360363"/>
              <a:ext cx="2458030" cy="1012376"/>
              <a:chOff x="1472630" y="4525463"/>
              <a:chExt cx="2458030" cy="1012376"/>
            </a:xfrm>
          </p:grpSpPr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8D43579-55B1-BD8C-1E1E-B71741D84CF6}"/>
                  </a:ext>
                </a:extLst>
              </p:cNvPr>
              <p:cNvSpPr txBox="1"/>
              <p:nvPr/>
            </p:nvSpPr>
            <p:spPr>
              <a:xfrm>
                <a:off x="1472630" y="4525463"/>
                <a:ext cx="23252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+mj-lt"/>
                  </a:rPr>
                  <a:t>Living Lab Pilots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109434D0-8F76-0212-C7EC-A62FE08E180C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4580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latin typeface="Montserrat Medium" pitchFamily="2" charset="77"/>
                  </a:rPr>
                  <a:t>PHASE 02 — MEDIUM TERM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12FE676D-94B0-0663-9789-8F4C668BEE61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458030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>
                    <a:latin typeface="Montserrat Light" pitchFamily="2" charset="77"/>
                  </a:rPr>
                  <a:t>Testing Twin algorithms for national rollout via testbeds.</a:t>
                </a:r>
              </a:p>
            </p:txBody>
          </p:sp>
        </p:grpSp>
        <p:pic>
          <p:nvPicPr>
            <p:cNvPr id="169" name="Graphic 168">
              <a:extLst>
                <a:ext uri="{FF2B5EF4-FFF2-40B4-BE49-F238E27FC236}">
                  <a16:creationId xmlns:a16="http://schemas.microsoft.com/office/drawing/2014/main" id="{FEF7093F-2B25-3782-6553-A18F43399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817663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0BA149F-5648-337C-2C99-E9F6E155890B}"/>
              </a:ext>
            </a:extLst>
          </p:cNvPr>
          <p:cNvGrpSpPr/>
          <p:nvPr/>
        </p:nvGrpSpPr>
        <p:grpSpPr>
          <a:xfrm>
            <a:off x="7725165" y="1887180"/>
            <a:ext cx="3663063" cy="3485559"/>
            <a:chOff x="7725165" y="1887180"/>
            <a:chExt cx="3663063" cy="3485559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C4CF274-7701-58E5-C02C-2B84BBA4B59E}"/>
                </a:ext>
              </a:extLst>
            </p:cNvPr>
            <p:cNvSpPr/>
            <p:nvPr/>
          </p:nvSpPr>
          <p:spPr>
            <a:xfrm rot="18900000">
              <a:off x="8391907" y="1887180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2" y="1379321"/>
                    <a:pt x="0" y="1070550"/>
                    <a:pt x="0" y="689661"/>
                  </a:cubicBezTo>
                  <a:cubicBezTo>
                    <a:pt x="0" y="308772"/>
                    <a:pt x="308772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3CD6177-1CB7-89CF-8F8E-C3274F321AA6}"/>
                </a:ext>
              </a:extLst>
            </p:cNvPr>
            <p:cNvSpPr/>
            <p:nvPr/>
          </p:nvSpPr>
          <p:spPr>
            <a:xfrm>
              <a:off x="7725165" y="2392511"/>
              <a:ext cx="3663063" cy="1318613"/>
            </a:xfrm>
            <a:custGeom>
              <a:avLst/>
              <a:gdLst>
                <a:gd name="connsiteX0" fmla="*/ 2169042 w 2169042"/>
                <a:gd name="connsiteY0" fmla="*/ 390401 h 780802"/>
                <a:gd name="connsiteX1" fmla="*/ 1964732 w 2169042"/>
                <a:gd name="connsiteY1" fmla="*/ 159658 h 780802"/>
                <a:gd name="connsiteX2" fmla="*/ 1426198 w 2169042"/>
                <a:gd name="connsiteY2" fmla="*/ 159658 h 780802"/>
                <a:gd name="connsiteX3" fmla="*/ 1368924 w 2169042"/>
                <a:gd name="connsiteY3" fmla="*/ 123111 h 780802"/>
                <a:gd name="connsiteX4" fmla="*/ 1084517 w 2169042"/>
                <a:gd name="connsiteY4" fmla="*/ 0 h 780802"/>
                <a:gd name="connsiteX5" fmla="*/ 800110 w 2169042"/>
                <a:gd name="connsiteY5" fmla="*/ 123111 h 780802"/>
                <a:gd name="connsiteX6" fmla="*/ 742836 w 2169042"/>
                <a:gd name="connsiteY6" fmla="*/ 159658 h 780802"/>
                <a:gd name="connsiteX7" fmla="*/ 0 w 2169042"/>
                <a:gd name="connsiteY7" fmla="*/ 159658 h 780802"/>
                <a:gd name="connsiteX8" fmla="*/ 204302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7 w 2169042"/>
                <a:gd name="connsiteY12" fmla="*/ 780802 h 780802"/>
                <a:gd name="connsiteX13" fmla="*/ 1368924 w 2169042"/>
                <a:gd name="connsiteY13" fmla="*/ 657692 h 780802"/>
                <a:gd name="connsiteX14" fmla="*/ 1426198 w 2169042"/>
                <a:gd name="connsiteY14" fmla="*/ 621144 h 780802"/>
                <a:gd name="connsiteX15" fmla="*/ 1964732 w 2169042"/>
                <a:gd name="connsiteY15" fmla="*/ 621144 h 780802"/>
                <a:gd name="connsiteX16" fmla="*/ 2169042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2" y="390401"/>
                  </a:moveTo>
                  <a:lnTo>
                    <a:pt x="1964732" y="159658"/>
                  </a:lnTo>
                  <a:lnTo>
                    <a:pt x="1426198" y="159658"/>
                  </a:lnTo>
                  <a:cubicBezTo>
                    <a:pt x="1404566" y="152638"/>
                    <a:pt x="1384859" y="140065"/>
                    <a:pt x="1368924" y="123111"/>
                  </a:cubicBezTo>
                  <a:cubicBezTo>
                    <a:pt x="1297734" y="47358"/>
                    <a:pt x="1196683" y="0"/>
                    <a:pt x="1084517" y="0"/>
                  </a:cubicBezTo>
                  <a:cubicBezTo>
                    <a:pt x="972350" y="0"/>
                    <a:pt x="871299" y="47358"/>
                    <a:pt x="800110" y="123111"/>
                  </a:cubicBezTo>
                  <a:cubicBezTo>
                    <a:pt x="784184" y="140065"/>
                    <a:pt x="764467" y="152629"/>
                    <a:pt x="742836" y="159658"/>
                  </a:cubicBezTo>
                  <a:lnTo>
                    <a:pt x="0" y="159658"/>
                  </a:lnTo>
                  <a:lnTo>
                    <a:pt x="204302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50" y="780802"/>
                    <a:pt x="1084517" y="780802"/>
                  </a:cubicBezTo>
                  <a:cubicBezTo>
                    <a:pt x="1196683" y="780802"/>
                    <a:pt x="1297734" y="733454"/>
                    <a:pt x="1368924" y="657692"/>
                  </a:cubicBezTo>
                  <a:cubicBezTo>
                    <a:pt x="1384850" y="640737"/>
                    <a:pt x="1404566" y="628174"/>
                    <a:pt x="1426198" y="621144"/>
                  </a:cubicBezTo>
                  <a:lnTo>
                    <a:pt x="1964732" y="621144"/>
                  </a:lnTo>
                  <a:lnTo>
                    <a:pt x="2169042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01181F-7307-1BAA-AFB4-6C2547A5BD03}"/>
                </a:ext>
              </a:extLst>
            </p:cNvPr>
            <p:cNvSpPr/>
            <p:nvPr/>
          </p:nvSpPr>
          <p:spPr>
            <a:xfrm>
              <a:off x="9017439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BBAAF410-9F51-2C8E-80AE-832F101E9D3C}"/>
                </a:ext>
              </a:extLst>
            </p:cNvPr>
            <p:cNvGrpSpPr/>
            <p:nvPr/>
          </p:nvGrpSpPr>
          <p:grpSpPr>
            <a:xfrm>
              <a:off x="7909474" y="4360363"/>
              <a:ext cx="3088726" cy="1012376"/>
              <a:chOff x="987992" y="4525463"/>
              <a:chExt cx="3088726" cy="1012376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549C289D-C8ED-C5E9-98B4-6E40CBF4BA10}"/>
                  </a:ext>
                </a:extLst>
              </p:cNvPr>
              <p:cNvSpPr txBox="1"/>
              <p:nvPr/>
            </p:nvSpPr>
            <p:spPr>
              <a:xfrm>
                <a:off x="987992" y="4525463"/>
                <a:ext cx="308872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+mj-lt"/>
                  </a:rPr>
                  <a:t>National Innovation Centre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0BF4B7B-99D2-435B-D82F-67A682119154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latin typeface="Montserrat Medium" pitchFamily="2" charset="77"/>
                  </a:rPr>
                  <a:t>PHASE 03 — LONG TERM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6FE9A1E3-6276-BD6A-3B11-C86ECA1D0824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>
                    <a:latin typeface="Montserrat Light" pitchFamily="2" charset="77"/>
                  </a:rPr>
                  <a:t>Establishing a joint </a:t>
                </a:r>
                <a:r>
                  <a:rPr lang="en-US" sz="1050" dirty="0" err="1">
                    <a:latin typeface="Montserrat Light" pitchFamily="2" charset="77"/>
                  </a:rPr>
                  <a:t>CoE</a:t>
                </a:r>
                <a:r>
                  <a:rPr lang="en-US" sz="1050" dirty="0">
                    <a:latin typeface="Montserrat Light" pitchFamily="2" charset="77"/>
                  </a:rPr>
                  <a:t> for sovereign IP and talent.</a:t>
                </a:r>
              </a:p>
            </p:txBody>
          </p:sp>
        </p:grpSp>
        <p:pic>
          <p:nvPicPr>
            <p:cNvPr id="172" name="Graphic 171">
              <a:extLst>
                <a:ext uri="{FF2B5EF4-FFF2-40B4-BE49-F238E27FC236}">
                  <a16:creationId xmlns:a16="http://schemas.microsoft.com/office/drawing/2014/main" id="{11908495-05EF-924B-F9EC-BDE4C2964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273666" y="2773480"/>
              <a:ext cx="556675" cy="55667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06EB6F9-2600-0A45-CF37-CC02D4343C3C}"/>
              </a:ext>
            </a:extLst>
          </p:cNvPr>
          <p:cNvSpPr txBox="1"/>
          <p:nvPr/>
        </p:nvSpPr>
        <p:spPr>
          <a:xfrm>
            <a:off x="-7866306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Collaboration Roadmap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8379ED-1AA7-35D9-2069-DF5FA06FA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92279"/>
              </p:ext>
            </p:extLst>
          </p:nvPr>
        </p:nvGraphicFramePr>
        <p:xfrm>
          <a:off x="14265061" y="1306804"/>
          <a:ext cx="10821920" cy="487809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64384">
                  <a:extLst>
                    <a:ext uri="{9D8B030D-6E8A-4147-A177-3AD203B41FA5}">
                      <a16:colId xmlns:a16="http://schemas.microsoft.com/office/drawing/2014/main" val="3193255739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3871055913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1956571357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592055661"/>
                    </a:ext>
                  </a:extLst>
                </a:gridCol>
                <a:gridCol w="2164384">
                  <a:extLst>
                    <a:ext uri="{9D8B030D-6E8A-4147-A177-3AD203B41FA5}">
                      <a16:colId xmlns:a16="http://schemas.microsoft.com/office/drawing/2014/main" val="4260312687"/>
                    </a:ext>
                  </a:extLst>
                </a:gridCol>
              </a:tblGrid>
              <a:tr h="121952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Immediately</a:t>
                      </a:r>
                    </a:p>
                    <a:p>
                      <a:r>
                        <a:rPr lang="en-US" sz="1400" dirty="0">
                          <a:latin typeface="+mj-lt"/>
                        </a:rPr>
                        <a:t>2-3 days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Short term 3-6 months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Short term 3-6 months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Long term </a:t>
                      </a:r>
                      <a:br>
                        <a:rPr lang="en-US" sz="1400" dirty="0">
                          <a:latin typeface="+mj-lt"/>
                        </a:rPr>
                      </a:br>
                      <a:r>
                        <a:rPr lang="en-US" sz="1400" dirty="0">
                          <a:latin typeface="+mj-lt"/>
                        </a:rPr>
                        <a:t>4-5 yrs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88326600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Phone call, meeting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Consulting project with academics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4th year projects, grants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Grants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77705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dirty="0"/>
                        <a:t>Engaging NYUAD resources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Academics, researchers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Academics, researchers, Masters students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Undergraduates, academics, researchers Masters students,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PhD students, Academics, researchers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20080"/>
                  </a:ext>
                </a:extLst>
              </a:tr>
              <a:tr h="1219524">
                <a:tc>
                  <a:txBody>
                    <a:bodyPr/>
                    <a:lstStyle/>
                    <a:p>
                      <a:r>
                        <a:rPr lang="en-US" sz="1400" dirty="0"/>
                        <a:t>NYUAD in-kind support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Equipment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(robotics, drones) &amp;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Equipment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(robotics, drones) &amp;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Supervision 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6576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2D14C64-8A6C-F6CF-398D-094512A3E86B}"/>
              </a:ext>
            </a:extLst>
          </p:cNvPr>
          <p:cNvSpPr txBox="1"/>
          <p:nvPr/>
        </p:nvSpPr>
        <p:spPr>
          <a:xfrm>
            <a:off x="550863" y="-1926736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Scope of Collaboration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CD5F1D-1747-C677-1215-78CDD6FEDF8E}"/>
              </a:ext>
            </a:extLst>
          </p:cNvPr>
          <p:cNvSpPr/>
          <p:nvPr/>
        </p:nvSpPr>
        <p:spPr>
          <a:xfrm>
            <a:off x="673100" y="7384040"/>
            <a:ext cx="3494690" cy="4838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FA1C24-F5AC-1342-3105-D50FC291AD28}"/>
              </a:ext>
            </a:extLst>
          </p:cNvPr>
          <p:cNvSpPr/>
          <p:nvPr/>
        </p:nvSpPr>
        <p:spPr>
          <a:xfrm>
            <a:off x="4348655" y="9517640"/>
            <a:ext cx="349469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0C35E2-4AA9-F169-F877-80EBCC0E0179}"/>
              </a:ext>
            </a:extLst>
          </p:cNvPr>
          <p:cNvSpPr/>
          <p:nvPr/>
        </p:nvSpPr>
        <p:spPr>
          <a:xfrm>
            <a:off x="8024210" y="11435816"/>
            <a:ext cx="349469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D53A29-C2D7-879C-C85F-B47749F48BBD}"/>
              </a:ext>
            </a:extLst>
          </p:cNvPr>
          <p:cNvSpPr txBox="1"/>
          <p:nvPr/>
        </p:nvSpPr>
        <p:spPr>
          <a:xfrm>
            <a:off x="843280" y="820027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NYUAD Solution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781C32-1609-668E-9494-17D27AE3877B}"/>
              </a:ext>
            </a:extLst>
          </p:cNvPr>
          <p:cNvSpPr txBox="1"/>
          <p:nvPr/>
        </p:nvSpPr>
        <p:spPr>
          <a:xfrm>
            <a:off x="843280" y="8569604"/>
            <a:ext cx="2628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(12-Month </a:t>
            </a:r>
            <a:r>
              <a:rPr lang="en-US" sz="1400" b="1" dirty="0" err="1">
                <a:solidFill>
                  <a:schemeClr val="bg1"/>
                </a:solidFill>
                <a:latin typeface="+mj-lt"/>
              </a:rPr>
              <a:t>Programme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E07EC5-79CD-9267-438A-022C3D1D72CA}"/>
              </a:ext>
            </a:extLst>
          </p:cNvPr>
          <p:cNvSpPr txBox="1"/>
          <p:nvPr/>
        </p:nvSpPr>
        <p:spPr>
          <a:xfrm>
            <a:off x="843279" y="9004381"/>
            <a:ext cx="280976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Three-month architecture and value definition.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Nine-month living-lab operational impact.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Scalable blueprint for digital ecosystems.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58F75C-9CAC-3854-C4EB-48E9FBD39EB2}"/>
              </a:ext>
            </a:extLst>
          </p:cNvPr>
          <p:cNvSpPr txBox="1"/>
          <p:nvPr/>
        </p:nvSpPr>
        <p:spPr>
          <a:xfrm>
            <a:off x="4524029" y="1033387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Months 1–3: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F0DA6E-6B2C-78E3-38D5-020AD3D02292}"/>
              </a:ext>
            </a:extLst>
          </p:cNvPr>
          <p:cNvSpPr txBox="1"/>
          <p:nvPr/>
        </p:nvSpPr>
        <p:spPr>
          <a:xfrm>
            <a:off x="4524029" y="10703204"/>
            <a:ext cx="28673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Strategy, Value &amp; Blueprint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901A54-A733-C155-7B9C-5FB5B2FCCA90}"/>
              </a:ext>
            </a:extLst>
          </p:cNvPr>
          <p:cNvSpPr txBox="1"/>
          <p:nvPr/>
        </p:nvSpPr>
        <p:spPr>
          <a:xfrm>
            <a:off x="4524029" y="11137981"/>
            <a:ext cx="286737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Diagnostic stakeholder gap analysis.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Value models and KPI definition.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Integration, governance, and operating models.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Five-year scalable executive masterplan.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7215AE-2B50-48BE-93DD-904E7AC85CC9}"/>
              </a:ext>
            </a:extLst>
          </p:cNvPr>
          <p:cNvSpPr txBox="1"/>
          <p:nvPr/>
        </p:nvSpPr>
        <p:spPr>
          <a:xfrm>
            <a:off x="8231286" y="12252048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Months 4–12: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2CFD57-D876-488A-E3D2-F7FECDF7745E}"/>
              </a:ext>
            </a:extLst>
          </p:cNvPr>
          <p:cNvSpPr txBox="1"/>
          <p:nvPr/>
        </p:nvSpPr>
        <p:spPr>
          <a:xfrm>
            <a:off x="8231286" y="12621380"/>
            <a:ext cx="2766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Pilot Testing &amp; Living Labs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C6B389-932B-6ED9-982B-698C41DB9ACA}"/>
              </a:ext>
            </a:extLst>
          </p:cNvPr>
          <p:cNvSpPr txBox="1"/>
          <p:nvPr/>
        </p:nvSpPr>
        <p:spPr>
          <a:xfrm>
            <a:off x="8231286" y="13056157"/>
            <a:ext cx="26289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Prioritize zones and success metrics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Deploy pipelines and twin dashboards.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Iterate algorithms with end users.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Finalize ROI and rollout playbooks.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BCD66347-E958-D835-9F7F-3E97B1F25E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1379" y="7547100"/>
            <a:ext cx="483990" cy="48399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26315F8-036D-3927-7A3A-13AEB2785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98246" y="9680700"/>
            <a:ext cx="483990" cy="48399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59A6F7B8-A5A7-5D43-D3D5-52D2FC436B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315113" y="11598876"/>
            <a:ext cx="483990" cy="48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41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49B1-588D-E32C-62FC-0DF53092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C2DCC-F74B-23F9-9E64-115AA4160E80}"/>
              </a:ext>
            </a:extLst>
          </p:cNvPr>
          <p:cNvSpPr txBox="1"/>
          <p:nvPr/>
        </p:nvSpPr>
        <p:spPr>
          <a:xfrm>
            <a:off x="550863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Scope of Collaboration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26279-2438-998A-101D-0CBB157C6F60}"/>
              </a:ext>
            </a:extLst>
          </p:cNvPr>
          <p:cNvSpPr/>
          <p:nvPr/>
        </p:nvSpPr>
        <p:spPr>
          <a:xfrm>
            <a:off x="673100" y="1473200"/>
            <a:ext cx="3494690" cy="4838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6BD37-821D-2D14-6B4D-A6E12D04C917}"/>
              </a:ext>
            </a:extLst>
          </p:cNvPr>
          <p:cNvSpPr/>
          <p:nvPr/>
        </p:nvSpPr>
        <p:spPr>
          <a:xfrm>
            <a:off x="4348655" y="1473200"/>
            <a:ext cx="349469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D3D38-1C77-0C96-2B34-BC46AAEED4D0}"/>
              </a:ext>
            </a:extLst>
          </p:cNvPr>
          <p:cNvSpPr/>
          <p:nvPr/>
        </p:nvSpPr>
        <p:spPr>
          <a:xfrm>
            <a:off x="8024210" y="1473200"/>
            <a:ext cx="349469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EA5AD-90C2-F0B8-5964-9B47ED450EE8}"/>
              </a:ext>
            </a:extLst>
          </p:cNvPr>
          <p:cNvSpPr txBox="1"/>
          <p:nvPr/>
        </p:nvSpPr>
        <p:spPr>
          <a:xfrm>
            <a:off x="843280" y="228943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NYUAD 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751CD-C17D-495D-74C1-D644288635FF}"/>
              </a:ext>
            </a:extLst>
          </p:cNvPr>
          <p:cNvSpPr txBox="1"/>
          <p:nvPr/>
        </p:nvSpPr>
        <p:spPr>
          <a:xfrm>
            <a:off x="843280" y="2658764"/>
            <a:ext cx="2628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(12-Month </a:t>
            </a:r>
            <a:r>
              <a:rPr lang="en-US" sz="1400" b="1" dirty="0" err="1">
                <a:solidFill>
                  <a:schemeClr val="bg1"/>
                </a:solidFill>
                <a:latin typeface="+mj-lt"/>
              </a:rPr>
              <a:t>Programme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6E3DF-1036-1D14-F8E1-EE6F529B150F}"/>
              </a:ext>
            </a:extLst>
          </p:cNvPr>
          <p:cNvSpPr txBox="1"/>
          <p:nvPr/>
        </p:nvSpPr>
        <p:spPr>
          <a:xfrm>
            <a:off x="843279" y="3093541"/>
            <a:ext cx="280976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ontserrat Medium" pitchFamily="2" charset="77"/>
              </a:rPr>
              <a:t>Three-month architecture and value definition.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Montserrat Medium" pitchFamily="2" charset="77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ontserrat Medium" pitchFamily="2" charset="77"/>
              </a:rPr>
              <a:t>Nine-month living-lab operational impact.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Montserrat Medium" pitchFamily="2" charset="77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Montserrat Medium" pitchFamily="2" charset="77"/>
              </a:rPr>
              <a:t>Scalable blueprint for digital ecosystems.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FF703D-3EA8-590F-554F-8BE74B2E253B}"/>
              </a:ext>
            </a:extLst>
          </p:cNvPr>
          <p:cNvSpPr txBox="1"/>
          <p:nvPr/>
        </p:nvSpPr>
        <p:spPr>
          <a:xfrm>
            <a:off x="4524029" y="228943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Months 1–3: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77DDC3-2151-DC7F-5EB0-FB5D4C7A66D0}"/>
              </a:ext>
            </a:extLst>
          </p:cNvPr>
          <p:cNvSpPr txBox="1"/>
          <p:nvPr/>
        </p:nvSpPr>
        <p:spPr>
          <a:xfrm>
            <a:off x="4524029" y="2658764"/>
            <a:ext cx="283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Strategy, Value &amp; Blueprint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5928EA-6238-6AA2-49C1-36641A835506}"/>
              </a:ext>
            </a:extLst>
          </p:cNvPr>
          <p:cNvSpPr txBox="1"/>
          <p:nvPr/>
        </p:nvSpPr>
        <p:spPr>
          <a:xfrm>
            <a:off x="4524029" y="3093541"/>
            <a:ext cx="286737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Diagnostic stakeholder gap analysis.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Montserrat Medium" pitchFamily="2" charset="7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Value models and KPI definition.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Montserrat Medium" pitchFamily="2" charset="7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Integration, governance, and operating models.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Montserrat Medium" pitchFamily="2" charset="7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Five-year scalable executive masterplan.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8BE25-707B-7F3E-074E-F5F05E24FB9A}"/>
              </a:ext>
            </a:extLst>
          </p:cNvPr>
          <p:cNvSpPr txBox="1"/>
          <p:nvPr/>
        </p:nvSpPr>
        <p:spPr>
          <a:xfrm>
            <a:off x="8231286" y="228943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Months 4–12: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4F559-3D7B-AFDA-82F1-C32FAD106D6B}"/>
              </a:ext>
            </a:extLst>
          </p:cNvPr>
          <p:cNvSpPr txBox="1"/>
          <p:nvPr/>
        </p:nvSpPr>
        <p:spPr>
          <a:xfrm>
            <a:off x="8231286" y="2658764"/>
            <a:ext cx="283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Pilot Testing &amp; Living Labs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73E65-A482-48C4-9ADF-51A8A54C9944}"/>
              </a:ext>
            </a:extLst>
          </p:cNvPr>
          <p:cNvSpPr txBox="1"/>
          <p:nvPr/>
        </p:nvSpPr>
        <p:spPr>
          <a:xfrm>
            <a:off x="8231286" y="3093541"/>
            <a:ext cx="26289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Prioritize zones and success metrics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Montserrat Medium" pitchFamily="2" charset="7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Deploy pipelines and twin dashboards.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Montserrat Medium" pitchFamily="2" charset="7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Iterate algorithms with end users.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Montserrat Medium" pitchFamily="2" charset="7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itchFamily="2" charset="77"/>
              </a:rPr>
              <a:t>Finalize ROI and rollout playbooks.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99FCDD79-5AFF-497E-D495-F075FE2AE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379" y="1636260"/>
            <a:ext cx="483990" cy="48399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2BE797F-37C9-1CEC-9FB2-0613CACCC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98246" y="1636260"/>
            <a:ext cx="483990" cy="48399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0B294E25-9C9F-D2B1-FE5B-50C91A0B1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315113" y="1636260"/>
            <a:ext cx="483990" cy="483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ECC43-125D-C6A7-159A-81555F1F0783}"/>
              </a:ext>
            </a:extLst>
          </p:cNvPr>
          <p:cNvSpPr txBox="1"/>
          <p:nvPr/>
        </p:nvSpPr>
        <p:spPr>
          <a:xfrm>
            <a:off x="13134783" y="441325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+mj-lt"/>
              </a:rPr>
              <a:t>Collaboration Roadmap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5DE2C3-7F70-2F5B-8BB7-EC08DCC0E4AF}"/>
              </a:ext>
            </a:extLst>
          </p:cNvPr>
          <p:cNvGrpSpPr/>
          <p:nvPr/>
        </p:nvGrpSpPr>
        <p:grpSpPr>
          <a:xfrm>
            <a:off x="13819813" y="1887133"/>
            <a:ext cx="3663063" cy="3485606"/>
            <a:chOff x="803772" y="1887133"/>
            <a:chExt cx="3663063" cy="348560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BD898E9-04AE-2C37-F950-3E7BF713DF8E}"/>
                </a:ext>
              </a:extLst>
            </p:cNvPr>
            <p:cNvSpPr/>
            <p:nvPr/>
          </p:nvSpPr>
          <p:spPr>
            <a:xfrm rot="18900000">
              <a:off x="1470559" y="1887133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2" y="1379321"/>
                    <a:pt x="0" y="1070550"/>
                    <a:pt x="0" y="689661"/>
                  </a:cubicBezTo>
                  <a:cubicBezTo>
                    <a:pt x="0" y="308772"/>
                    <a:pt x="308772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A618500-0B54-1082-86B3-DAFDB420E12E}"/>
                </a:ext>
              </a:extLst>
            </p:cNvPr>
            <p:cNvSpPr/>
            <p:nvPr/>
          </p:nvSpPr>
          <p:spPr>
            <a:xfrm>
              <a:off x="803772" y="2392511"/>
              <a:ext cx="3663063" cy="1318613"/>
            </a:xfrm>
            <a:custGeom>
              <a:avLst/>
              <a:gdLst>
                <a:gd name="connsiteX0" fmla="*/ 2169043 w 2169042"/>
                <a:gd name="connsiteY0" fmla="*/ 390401 h 780802"/>
                <a:gd name="connsiteX1" fmla="*/ 1964731 w 2169042"/>
                <a:gd name="connsiteY1" fmla="*/ 159658 h 780802"/>
                <a:gd name="connsiteX2" fmla="*/ 1426197 w 2169042"/>
                <a:gd name="connsiteY2" fmla="*/ 159658 h 780802"/>
                <a:gd name="connsiteX3" fmla="*/ 1368924 w 2169042"/>
                <a:gd name="connsiteY3" fmla="*/ 123111 h 780802"/>
                <a:gd name="connsiteX4" fmla="*/ 1084516 w 2169042"/>
                <a:gd name="connsiteY4" fmla="*/ 0 h 780802"/>
                <a:gd name="connsiteX5" fmla="*/ 800110 w 2169042"/>
                <a:gd name="connsiteY5" fmla="*/ 123111 h 780802"/>
                <a:gd name="connsiteX6" fmla="*/ 742836 w 2169042"/>
                <a:gd name="connsiteY6" fmla="*/ 159658 h 780802"/>
                <a:gd name="connsiteX7" fmla="*/ 0 w 2169042"/>
                <a:gd name="connsiteY7" fmla="*/ 159658 h 780802"/>
                <a:gd name="connsiteX8" fmla="*/ 204311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6 w 2169042"/>
                <a:gd name="connsiteY12" fmla="*/ 780802 h 780802"/>
                <a:gd name="connsiteX13" fmla="*/ 1368924 w 2169042"/>
                <a:gd name="connsiteY13" fmla="*/ 657692 h 780802"/>
                <a:gd name="connsiteX14" fmla="*/ 1426197 w 2169042"/>
                <a:gd name="connsiteY14" fmla="*/ 621144 h 780802"/>
                <a:gd name="connsiteX15" fmla="*/ 1964731 w 2169042"/>
                <a:gd name="connsiteY15" fmla="*/ 621144 h 780802"/>
                <a:gd name="connsiteX16" fmla="*/ 2169043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3" y="390401"/>
                  </a:moveTo>
                  <a:lnTo>
                    <a:pt x="1964731" y="159658"/>
                  </a:lnTo>
                  <a:lnTo>
                    <a:pt x="1426197" y="159658"/>
                  </a:lnTo>
                  <a:cubicBezTo>
                    <a:pt x="1404566" y="152638"/>
                    <a:pt x="1384859" y="140065"/>
                    <a:pt x="1368924" y="123111"/>
                  </a:cubicBezTo>
                  <a:cubicBezTo>
                    <a:pt x="1297734" y="47358"/>
                    <a:pt x="1196683" y="0"/>
                    <a:pt x="1084516" y="0"/>
                  </a:cubicBezTo>
                  <a:cubicBezTo>
                    <a:pt x="972350" y="0"/>
                    <a:pt x="871299" y="47358"/>
                    <a:pt x="800110" y="123111"/>
                  </a:cubicBezTo>
                  <a:cubicBezTo>
                    <a:pt x="784184" y="140065"/>
                    <a:pt x="764467" y="152629"/>
                    <a:pt x="742836" y="159658"/>
                  </a:cubicBezTo>
                  <a:lnTo>
                    <a:pt x="0" y="159658"/>
                  </a:lnTo>
                  <a:lnTo>
                    <a:pt x="204311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60" y="780802"/>
                    <a:pt x="1084516" y="780802"/>
                  </a:cubicBezTo>
                  <a:cubicBezTo>
                    <a:pt x="1196683" y="780802"/>
                    <a:pt x="1297734" y="733454"/>
                    <a:pt x="1368924" y="657692"/>
                  </a:cubicBezTo>
                  <a:cubicBezTo>
                    <a:pt x="1384859" y="640737"/>
                    <a:pt x="1404566" y="628174"/>
                    <a:pt x="1426197" y="621144"/>
                  </a:cubicBezTo>
                  <a:lnTo>
                    <a:pt x="1964731" y="621144"/>
                  </a:lnTo>
                  <a:lnTo>
                    <a:pt x="2169043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2F1B6F6-BED9-B8FE-4159-84F1C70F1913}"/>
                </a:ext>
              </a:extLst>
            </p:cNvPr>
            <p:cNvSpPr/>
            <p:nvPr/>
          </p:nvSpPr>
          <p:spPr>
            <a:xfrm>
              <a:off x="2096135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AE09DE-02CC-45E8-F689-CDC257BA4410}"/>
                </a:ext>
              </a:extLst>
            </p:cNvPr>
            <p:cNvGrpSpPr/>
            <p:nvPr/>
          </p:nvGrpSpPr>
          <p:grpSpPr>
            <a:xfrm>
              <a:off x="1472630" y="4360363"/>
              <a:ext cx="2325258" cy="1012376"/>
              <a:chOff x="1472630" y="4525463"/>
              <a:chExt cx="2325258" cy="1012376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ED2A39-76E6-3FA5-59C8-F504A9FACF55}"/>
                  </a:ext>
                </a:extLst>
              </p:cNvPr>
              <p:cNvSpPr txBox="1"/>
              <p:nvPr/>
            </p:nvSpPr>
            <p:spPr>
              <a:xfrm>
                <a:off x="1472630" y="4525463"/>
                <a:ext cx="23252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</a:rPr>
                  <a:t>Advisory &amp; Strategy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D8BC88F-0D0F-F93C-7141-0A52403143F4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PHASE 01 — SHORT TERM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FF11A4-D1DD-99ED-5177-1EF30B261A35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Expert deployment for Digital Twin feasibility studies.</a:t>
                </a:r>
              </a:p>
            </p:txBody>
          </p: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52C7C8B5-7AFD-78A0-3752-5F624F9A9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61659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F6F86E-A5A5-2FE9-BCA2-2BC813A50151}"/>
              </a:ext>
            </a:extLst>
          </p:cNvPr>
          <p:cNvGrpSpPr/>
          <p:nvPr/>
        </p:nvGrpSpPr>
        <p:grpSpPr>
          <a:xfrm>
            <a:off x="19716243" y="1887151"/>
            <a:ext cx="3663063" cy="3485588"/>
            <a:chOff x="4264462" y="1887151"/>
            <a:chExt cx="3663063" cy="348558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EFE3773-895E-E2F1-1C89-B7B0C7FB2FF1}"/>
                </a:ext>
              </a:extLst>
            </p:cNvPr>
            <p:cNvSpPr/>
            <p:nvPr/>
          </p:nvSpPr>
          <p:spPr>
            <a:xfrm rot="18900000">
              <a:off x="4931239" y="1887151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1" y="1379321"/>
                    <a:pt x="0" y="1070550"/>
                    <a:pt x="0" y="689661"/>
                  </a:cubicBezTo>
                  <a:cubicBezTo>
                    <a:pt x="0" y="308772"/>
                    <a:pt x="308771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35517A0-154F-30AE-5368-CB813B1838FA}"/>
                </a:ext>
              </a:extLst>
            </p:cNvPr>
            <p:cNvSpPr/>
            <p:nvPr/>
          </p:nvSpPr>
          <p:spPr>
            <a:xfrm>
              <a:off x="4264462" y="2392511"/>
              <a:ext cx="3663063" cy="1318613"/>
            </a:xfrm>
            <a:custGeom>
              <a:avLst/>
              <a:gdLst>
                <a:gd name="connsiteX0" fmla="*/ 2169042 w 2169042"/>
                <a:gd name="connsiteY0" fmla="*/ 390401 h 780802"/>
                <a:gd name="connsiteX1" fmla="*/ 1964741 w 2169042"/>
                <a:gd name="connsiteY1" fmla="*/ 159658 h 780802"/>
                <a:gd name="connsiteX2" fmla="*/ 1426207 w 2169042"/>
                <a:gd name="connsiteY2" fmla="*/ 159658 h 780802"/>
                <a:gd name="connsiteX3" fmla="*/ 1368933 w 2169042"/>
                <a:gd name="connsiteY3" fmla="*/ 123111 h 780802"/>
                <a:gd name="connsiteX4" fmla="*/ 1084526 w 2169042"/>
                <a:gd name="connsiteY4" fmla="*/ 0 h 780802"/>
                <a:gd name="connsiteX5" fmla="*/ 800119 w 2169042"/>
                <a:gd name="connsiteY5" fmla="*/ 123111 h 780802"/>
                <a:gd name="connsiteX6" fmla="*/ 742845 w 2169042"/>
                <a:gd name="connsiteY6" fmla="*/ 159658 h 780802"/>
                <a:gd name="connsiteX7" fmla="*/ 0 w 2169042"/>
                <a:gd name="connsiteY7" fmla="*/ 159658 h 780802"/>
                <a:gd name="connsiteX8" fmla="*/ 204311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6 w 2169042"/>
                <a:gd name="connsiteY12" fmla="*/ 780802 h 780802"/>
                <a:gd name="connsiteX13" fmla="*/ 1368923 w 2169042"/>
                <a:gd name="connsiteY13" fmla="*/ 657692 h 780802"/>
                <a:gd name="connsiteX14" fmla="*/ 1426197 w 2169042"/>
                <a:gd name="connsiteY14" fmla="*/ 621144 h 780802"/>
                <a:gd name="connsiteX15" fmla="*/ 1964731 w 2169042"/>
                <a:gd name="connsiteY15" fmla="*/ 621144 h 780802"/>
                <a:gd name="connsiteX16" fmla="*/ 2169042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2" y="390401"/>
                  </a:moveTo>
                  <a:lnTo>
                    <a:pt x="1964741" y="159658"/>
                  </a:lnTo>
                  <a:lnTo>
                    <a:pt x="1426207" y="159658"/>
                  </a:lnTo>
                  <a:cubicBezTo>
                    <a:pt x="1404576" y="152638"/>
                    <a:pt x="1384868" y="140065"/>
                    <a:pt x="1368933" y="123111"/>
                  </a:cubicBezTo>
                  <a:cubicBezTo>
                    <a:pt x="1297743" y="47358"/>
                    <a:pt x="1196692" y="0"/>
                    <a:pt x="1084526" y="0"/>
                  </a:cubicBezTo>
                  <a:cubicBezTo>
                    <a:pt x="972360" y="0"/>
                    <a:pt x="871309" y="47358"/>
                    <a:pt x="800119" y="123111"/>
                  </a:cubicBezTo>
                  <a:cubicBezTo>
                    <a:pt x="784193" y="140065"/>
                    <a:pt x="764476" y="152629"/>
                    <a:pt x="742845" y="159658"/>
                  </a:cubicBezTo>
                  <a:lnTo>
                    <a:pt x="0" y="159658"/>
                  </a:lnTo>
                  <a:lnTo>
                    <a:pt x="204311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50" y="780802"/>
                    <a:pt x="1084516" y="780802"/>
                  </a:cubicBezTo>
                  <a:cubicBezTo>
                    <a:pt x="1196683" y="780802"/>
                    <a:pt x="1297734" y="733454"/>
                    <a:pt x="1368923" y="657692"/>
                  </a:cubicBezTo>
                  <a:cubicBezTo>
                    <a:pt x="1384859" y="640737"/>
                    <a:pt x="1404566" y="628174"/>
                    <a:pt x="1426197" y="621144"/>
                  </a:cubicBezTo>
                  <a:lnTo>
                    <a:pt x="1964731" y="621144"/>
                  </a:lnTo>
                  <a:lnTo>
                    <a:pt x="2169042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182F011-7256-EEAD-FBA1-D7F6686D516F}"/>
                </a:ext>
              </a:extLst>
            </p:cNvPr>
            <p:cNvSpPr/>
            <p:nvPr/>
          </p:nvSpPr>
          <p:spPr>
            <a:xfrm>
              <a:off x="5556839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0449E45-59DB-A86D-D0ED-E70577CAE681}"/>
                </a:ext>
              </a:extLst>
            </p:cNvPr>
            <p:cNvGrpSpPr/>
            <p:nvPr/>
          </p:nvGrpSpPr>
          <p:grpSpPr>
            <a:xfrm>
              <a:off x="4933371" y="4360363"/>
              <a:ext cx="2325258" cy="1012376"/>
              <a:chOff x="1472630" y="4525463"/>
              <a:chExt cx="2325258" cy="1012376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4C047EB-C2B8-7D93-5178-BDB517E5E48C}"/>
                  </a:ext>
                </a:extLst>
              </p:cNvPr>
              <p:cNvSpPr txBox="1"/>
              <p:nvPr/>
            </p:nvSpPr>
            <p:spPr>
              <a:xfrm>
                <a:off x="1472630" y="4525463"/>
                <a:ext cx="23252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</a:rPr>
                  <a:t>Living Lab Pilots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A8C1D62-8753-778B-318B-156D722BFB85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PHASE 02 — MEDIUM TERM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8432FF0-50C4-80E5-3F31-ADD5E970A82E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Testing Twin algorithms for national rollout via testbeds.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93BE83A-CE9F-8F3E-24FF-1F13CBF71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5817663" y="2773480"/>
              <a:ext cx="556675" cy="55667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2D20289-38E6-007B-93FE-FF1F35875F0F}"/>
              </a:ext>
            </a:extLst>
          </p:cNvPr>
          <p:cNvGrpSpPr/>
          <p:nvPr/>
        </p:nvGrpSpPr>
        <p:grpSpPr>
          <a:xfrm>
            <a:off x="25520795" y="1887180"/>
            <a:ext cx="3663063" cy="3485559"/>
            <a:chOff x="7725165" y="1887180"/>
            <a:chExt cx="3663063" cy="3485559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0E7735C-6436-D1D6-B245-25B65BC1A7EA}"/>
                </a:ext>
              </a:extLst>
            </p:cNvPr>
            <p:cNvSpPr/>
            <p:nvPr/>
          </p:nvSpPr>
          <p:spPr>
            <a:xfrm rot="18900000">
              <a:off x="8391907" y="1887180"/>
              <a:ext cx="2329388" cy="2329388"/>
            </a:xfrm>
            <a:custGeom>
              <a:avLst/>
              <a:gdLst>
                <a:gd name="connsiteX0" fmla="*/ 1379321 w 1379321"/>
                <a:gd name="connsiteY0" fmla="*/ 689661 h 1379321"/>
                <a:gd name="connsiteX1" fmla="*/ 689661 w 1379321"/>
                <a:gd name="connsiteY1" fmla="*/ 1379321 h 1379321"/>
                <a:gd name="connsiteX2" fmla="*/ 0 w 1379321"/>
                <a:gd name="connsiteY2" fmla="*/ 689661 h 1379321"/>
                <a:gd name="connsiteX3" fmla="*/ 689661 w 1379321"/>
                <a:gd name="connsiteY3" fmla="*/ 0 h 1379321"/>
                <a:gd name="connsiteX4" fmla="*/ 1379321 w 1379321"/>
                <a:gd name="connsiteY4" fmla="*/ 689661 h 1379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21" h="1379321">
                  <a:moveTo>
                    <a:pt x="1379321" y="689661"/>
                  </a:moveTo>
                  <a:cubicBezTo>
                    <a:pt x="1379321" y="1070550"/>
                    <a:pt x="1070550" y="1379321"/>
                    <a:pt x="689661" y="1379321"/>
                  </a:cubicBezTo>
                  <a:cubicBezTo>
                    <a:pt x="308772" y="1379321"/>
                    <a:pt x="0" y="1070550"/>
                    <a:pt x="0" y="689661"/>
                  </a:cubicBezTo>
                  <a:cubicBezTo>
                    <a:pt x="0" y="308772"/>
                    <a:pt x="308772" y="0"/>
                    <a:pt x="689661" y="0"/>
                  </a:cubicBezTo>
                  <a:cubicBezTo>
                    <a:pt x="1070550" y="0"/>
                    <a:pt x="1379321" y="308772"/>
                    <a:pt x="1379321" y="689661"/>
                  </a:cubicBezTo>
                  <a:close/>
                </a:path>
              </a:pathLst>
            </a:custGeom>
            <a:solidFill>
              <a:srgbClr val="F1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256B7C7-2977-719D-951B-53E5399076BA}"/>
                </a:ext>
              </a:extLst>
            </p:cNvPr>
            <p:cNvSpPr/>
            <p:nvPr/>
          </p:nvSpPr>
          <p:spPr>
            <a:xfrm>
              <a:off x="7725165" y="2392511"/>
              <a:ext cx="3663063" cy="1318613"/>
            </a:xfrm>
            <a:custGeom>
              <a:avLst/>
              <a:gdLst>
                <a:gd name="connsiteX0" fmla="*/ 2169042 w 2169042"/>
                <a:gd name="connsiteY0" fmla="*/ 390401 h 780802"/>
                <a:gd name="connsiteX1" fmla="*/ 1964732 w 2169042"/>
                <a:gd name="connsiteY1" fmla="*/ 159658 h 780802"/>
                <a:gd name="connsiteX2" fmla="*/ 1426198 w 2169042"/>
                <a:gd name="connsiteY2" fmla="*/ 159658 h 780802"/>
                <a:gd name="connsiteX3" fmla="*/ 1368924 w 2169042"/>
                <a:gd name="connsiteY3" fmla="*/ 123111 h 780802"/>
                <a:gd name="connsiteX4" fmla="*/ 1084517 w 2169042"/>
                <a:gd name="connsiteY4" fmla="*/ 0 h 780802"/>
                <a:gd name="connsiteX5" fmla="*/ 800110 w 2169042"/>
                <a:gd name="connsiteY5" fmla="*/ 123111 h 780802"/>
                <a:gd name="connsiteX6" fmla="*/ 742836 w 2169042"/>
                <a:gd name="connsiteY6" fmla="*/ 159658 h 780802"/>
                <a:gd name="connsiteX7" fmla="*/ 0 w 2169042"/>
                <a:gd name="connsiteY7" fmla="*/ 159658 h 780802"/>
                <a:gd name="connsiteX8" fmla="*/ 204302 w 2169042"/>
                <a:gd name="connsiteY8" fmla="*/ 390401 h 780802"/>
                <a:gd name="connsiteX9" fmla="*/ 0 w 2169042"/>
                <a:gd name="connsiteY9" fmla="*/ 621144 h 780802"/>
                <a:gd name="connsiteX10" fmla="*/ 742836 w 2169042"/>
                <a:gd name="connsiteY10" fmla="*/ 621144 h 780802"/>
                <a:gd name="connsiteX11" fmla="*/ 800110 w 2169042"/>
                <a:gd name="connsiteY11" fmla="*/ 657692 h 780802"/>
                <a:gd name="connsiteX12" fmla="*/ 1084517 w 2169042"/>
                <a:gd name="connsiteY12" fmla="*/ 780802 h 780802"/>
                <a:gd name="connsiteX13" fmla="*/ 1368924 w 2169042"/>
                <a:gd name="connsiteY13" fmla="*/ 657692 h 780802"/>
                <a:gd name="connsiteX14" fmla="*/ 1426198 w 2169042"/>
                <a:gd name="connsiteY14" fmla="*/ 621144 h 780802"/>
                <a:gd name="connsiteX15" fmla="*/ 1964732 w 2169042"/>
                <a:gd name="connsiteY15" fmla="*/ 621144 h 780802"/>
                <a:gd name="connsiteX16" fmla="*/ 2169042 w 2169042"/>
                <a:gd name="connsiteY16" fmla="*/ 390401 h 78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9042" h="780802">
                  <a:moveTo>
                    <a:pt x="2169042" y="390401"/>
                  </a:moveTo>
                  <a:lnTo>
                    <a:pt x="1964732" y="159658"/>
                  </a:lnTo>
                  <a:lnTo>
                    <a:pt x="1426198" y="159658"/>
                  </a:lnTo>
                  <a:cubicBezTo>
                    <a:pt x="1404566" y="152638"/>
                    <a:pt x="1384859" y="140065"/>
                    <a:pt x="1368924" y="123111"/>
                  </a:cubicBezTo>
                  <a:cubicBezTo>
                    <a:pt x="1297734" y="47358"/>
                    <a:pt x="1196683" y="0"/>
                    <a:pt x="1084517" y="0"/>
                  </a:cubicBezTo>
                  <a:cubicBezTo>
                    <a:pt x="972350" y="0"/>
                    <a:pt x="871299" y="47358"/>
                    <a:pt x="800110" y="123111"/>
                  </a:cubicBezTo>
                  <a:cubicBezTo>
                    <a:pt x="784184" y="140065"/>
                    <a:pt x="764467" y="152629"/>
                    <a:pt x="742836" y="159658"/>
                  </a:cubicBezTo>
                  <a:lnTo>
                    <a:pt x="0" y="159658"/>
                  </a:lnTo>
                  <a:lnTo>
                    <a:pt x="204302" y="390401"/>
                  </a:lnTo>
                  <a:lnTo>
                    <a:pt x="0" y="621144"/>
                  </a:lnTo>
                  <a:lnTo>
                    <a:pt x="742836" y="621144"/>
                  </a:lnTo>
                  <a:cubicBezTo>
                    <a:pt x="764467" y="628174"/>
                    <a:pt x="784184" y="640737"/>
                    <a:pt x="800110" y="657692"/>
                  </a:cubicBezTo>
                  <a:cubicBezTo>
                    <a:pt x="871299" y="733454"/>
                    <a:pt x="972350" y="780802"/>
                    <a:pt x="1084517" y="780802"/>
                  </a:cubicBezTo>
                  <a:cubicBezTo>
                    <a:pt x="1196683" y="780802"/>
                    <a:pt x="1297734" y="733454"/>
                    <a:pt x="1368924" y="657692"/>
                  </a:cubicBezTo>
                  <a:cubicBezTo>
                    <a:pt x="1384850" y="640737"/>
                    <a:pt x="1404566" y="628174"/>
                    <a:pt x="1426198" y="621144"/>
                  </a:cubicBezTo>
                  <a:lnTo>
                    <a:pt x="1964732" y="621144"/>
                  </a:lnTo>
                  <a:lnTo>
                    <a:pt x="2169042" y="390401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1C049F-3CD0-5D79-928D-FACF7468E204}"/>
                </a:ext>
              </a:extLst>
            </p:cNvPr>
            <p:cNvSpPr/>
            <p:nvPr/>
          </p:nvSpPr>
          <p:spPr>
            <a:xfrm>
              <a:off x="9017439" y="2512657"/>
              <a:ext cx="1078323" cy="1078323"/>
            </a:xfrm>
            <a:custGeom>
              <a:avLst/>
              <a:gdLst>
                <a:gd name="connsiteX0" fmla="*/ 638518 w 638517"/>
                <a:gd name="connsiteY0" fmla="*/ 319259 h 638517"/>
                <a:gd name="connsiteX1" fmla="*/ 319259 w 638517"/>
                <a:gd name="connsiteY1" fmla="*/ 638518 h 638517"/>
                <a:gd name="connsiteX2" fmla="*/ 0 w 638517"/>
                <a:gd name="connsiteY2" fmla="*/ 319259 h 638517"/>
                <a:gd name="connsiteX3" fmla="*/ 319259 w 638517"/>
                <a:gd name="connsiteY3" fmla="*/ 0 h 638517"/>
                <a:gd name="connsiteX4" fmla="*/ 638518 w 638517"/>
                <a:gd name="connsiteY4" fmla="*/ 319259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517" h="638517">
                  <a:moveTo>
                    <a:pt x="638518" y="319259"/>
                  </a:moveTo>
                  <a:cubicBezTo>
                    <a:pt x="638518" y="495581"/>
                    <a:pt x="495581" y="638518"/>
                    <a:pt x="319259" y="638518"/>
                  </a:cubicBezTo>
                  <a:cubicBezTo>
                    <a:pt x="142937" y="638518"/>
                    <a:pt x="0" y="495581"/>
                    <a:pt x="0" y="319259"/>
                  </a:cubicBezTo>
                  <a:cubicBezTo>
                    <a:pt x="0" y="142937"/>
                    <a:pt x="142937" y="0"/>
                    <a:pt x="319259" y="0"/>
                  </a:cubicBezTo>
                  <a:cubicBezTo>
                    <a:pt x="495581" y="0"/>
                    <a:pt x="638518" y="142937"/>
                    <a:pt x="638518" y="319259"/>
                  </a:cubicBezTo>
                  <a:close/>
                </a:path>
              </a:pathLst>
            </a:custGeom>
            <a:solidFill>
              <a:srgbClr val="F6F7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F455FBD-1950-7CEF-1DA0-67950A9CA5EB}"/>
                </a:ext>
              </a:extLst>
            </p:cNvPr>
            <p:cNvGrpSpPr/>
            <p:nvPr/>
          </p:nvGrpSpPr>
          <p:grpSpPr>
            <a:xfrm>
              <a:off x="8115282" y="4360363"/>
              <a:ext cx="2882918" cy="1012376"/>
              <a:chOff x="1193800" y="4525463"/>
              <a:chExt cx="2882918" cy="1012376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8EB5540-21FA-E560-3209-E9E8FB0A7498}"/>
                  </a:ext>
                </a:extLst>
              </p:cNvPr>
              <p:cNvSpPr txBox="1"/>
              <p:nvPr/>
            </p:nvSpPr>
            <p:spPr>
              <a:xfrm>
                <a:off x="1193800" y="4525463"/>
                <a:ext cx="288291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</a:rPr>
                  <a:t>National Innovation Centre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9F31D87-8E7A-E2A2-EC50-70AC2D2AA125}"/>
                  </a:ext>
                </a:extLst>
              </p:cNvPr>
              <p:cNvSpPr txBox="1"/>
              <p:nvPr/>
            </p:nvSpPr>
            <p:spPr>
              <a:xfrm>
                <a:off x="1472630" y="4864475"/>
                <a:ext cx="2325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/>
                  <a:t>PHASE 03 — LONG TERM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D7EADEF-742F-22EF-5E82-F4FFB843C7D0}"/>
                  </a:ext>
                </a:extLst>
              </p:cNvPr>
              <p:cNvSpPr txBox="1"/>
              <p:nvPr/>
            </p:nvSpPr>
            <p:spPr>
              <a:xfrm>
                <a:off x="1472630" y="5122341"/>
                <a:ext cx="2325258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dirty="0"/>
                  <a:t>Establishing a joint </a:t>
                </a:r>
                <a:r>
                  <a:rPr lang="en-US" sz="1050" dirty="0" err="1"/>
                  <a:t>CoE</a:t>
                </a:r>
                <a:r>
                  <a:rPr lang="en-US" sz="1050" dirty="0"/>
                  <a:t> for sovereign IP and talent.</a:t>
                </a:r>
              </a:p>
            </p:txBody>
          </p:sp>
        </p:grp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C0769BC0-B1D9-D726-0826-1EEFD52ED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9273666" y="2773480"/>
              <a:ext cx="556675" cy="556675"/>
            </a:xfrm>
            <a:prstGeom prst="rect">
              <a:avLst/>
            </a:prstGeom>
          </p:spPr>
        </p:pic>
      </p:grpSp>
      <p:pic>
        <p:nvPicPr>
          <p:cNvPr id="46" name="Picture Placeholder 8">
            <a:extLst>
              <a:ext uri="{FF2B5EF4-FFF2-40B4-BE49-F238E27FC236}">
                <a16:creationId xmlns:a16="http://schemas.microsoft.com/office/drawing/2014/main" id="{37813287-4B2B-558F-1F61-A1D4683CC2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>
          <a:xfrm>
            <a:off x="0" y="-6929484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74FE490-1818-A284-5FDB-C1EC4ADECD31}"/>
              </a:ext>
            </a:extLst>
          </p:cNvPr>
          <p:cNvSpPr/>
          <p:nvPr/>
        </p:nvSpPr>
        <p:spPr>
          <a:xfrm>
            <a:off x="0" y="-6929484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0E09B83-A5A1-6D48-603C-78738366541C}"/>
              </a:ext>
            </a:extLst>
          </p:cNvPr>
          <p:cNvSpPr/>
          <p:nvPr/>
        </p:nvSpPr>
        <p:spPr>
          <a:xfrm flipH="1">
            <a:off x="-2810" y="9021904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49" name="Picture 48" descr="A black and white logo&#10;&#10;AI-generated content may be incorrect.">
            <a:extLst>
              <a:ext uri="{FF2B5EF4-FFF2-40B4-BE49-F238E27FC236}">
                <a16:creationId xmlns:a16="http://schemas.microsoft.com/office/drawing/2014/main" id="{2FAC4215-6CFF-8CC0-AF56-73B568FA75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-6488158"/>
            <a:ext cx="2071687" cy="61212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416A12A-20B6-001A-C472-08DDD153403F}"/>
              </a:ext>
            </a:extLst>
          </p:cNvPr>
          <p:cNvSpPr/>
          <p:nvPr/>
        </p:nvSpPr>
        <p:spPr>
          <a:xfrm>
            <a:off x="-8702236" y="1575427"/>
            <a:ext cx="65804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spc="-15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24F1B37-5C54-CD7C-18B7-C4A94A179EA9}"/>
              </a:ext>
            </a:extLst>
          </p:cNvPr>
          <p:cNvGrpSpPr/>
          <p:nvPr/>
        </p:nvGrpSpPr>
        <p:grpSpPr>
          <a:xfrm>
            <a:off x="-8609638" y="3093541"/>
            <a:ext cx="5437581" cy="1206053"/>
            <a:chOff x="5153254" y="3111556"/>
            <a:chExt cx="5437581" cy="1206053"/>
          </a:xfrm>
        </p:grpSpPr>
        <p:pic>
          <p:nvPicPr>
            <p:cNvPr id="52" name="Picture 51" descr="A person in a suit&#10;&#10;AI-generated content may be incorrect.">
              <a:extLst>
                <a:ext uri="{FF2B5EF4-FFF2-40B4-BE49-F238E27FC236}">
                  <a16:creationId xmlns:a16="http://schemas.microsoft.com/office/drawing/2014/main" id="{2110ED2F-7564-F5A6-E35F-D8217D53F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2" t="56" b="-56"/>
            <a:stretch/>
          </p:blipFill>
          <p:spPr>
            <a:xfrm>
              <a:off x="5153254" y="3111556"/>
              <a:ext cx="1221196" cy="1206053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FB72746-58F7-5277-5164-3C38A8104D64}"/>
                </a:ext>
              </a:extLst>
            </p:cNvPr>
            <p:cNvSpPr txBox="1"/>
            <p:nvPr/>
          </p:nvSpPr>
          <p:spPr>
            <a:xfrm>
              <a:off x="6588889" y="3252917"/>
              <a:ext cx="40019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Borja García de Soto, PhD, PE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Associate Professor 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garcia.de.soto@nyu.edu</a:t>
              </a: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0FD64667-B0C0-A170-AC7D-6D3F1C80DE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8280085"/>
            <a:ext cx="1559406" cy="61363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7A4C06C-D659-3AA1-736F-56F79461654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487" y="8365060"/>
            <a:ext cx="399088" cy="4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43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/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6"/>
            <a:ext cx="2071687" cy="6121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DB5D2A-DA2A-47CC-A84D-EDFCEDD8CB51}"/>
              </a:ext>
            </a:extLst>
          </p:cNvPr>
          <p:cNvSpPr/>
          <p:nvPr/>
        </p:nvSpPr>
        <p:spPr>
          <a:xfrm>
            <a:off x="5060656" y="1524729"/>
            <a:ext cx="65804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spc="-15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A68369D-4684-7A40-87D2-09772E4C392A}"/>
              </a:ext>
            </a:extLst>
          </p:cNvPr>
          <p:cNvGrpSpPr/>
          <p:nvPr/>
        </p:nvGrpSpPr>
        <p:grpSpPr>
          <a:xfrm>
            <a:off x="5153254" y="3042843"/>
            <a:ext cx="5437581" cy="1206053"/>
            <a:chOff x="5153254" y="3111556"/>
            <a:chExt cx="5437581" cy="1206053"/>
          </a:xfrm>
        </p:grpSpPr>
        <p:pic>
          <p:nvPicPr>
            <p:cNvPr id="5" name="Picture 4" descr="A person in a suit&#10;&#10;AI-generated content may be incorrect.">
              <a:extLst>
                <a:ext uri="{FF2B5EF4-FFF2-40B4-BE49-F238E27FC236}">
                  <a16:creationId xmlns:a16="http://schemas.microsoft.com/office/drawing/2014/main" id="{CB89E33D-7622-7227-DF06-C36E7DD09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2" t="56" b="-56"/>
            <a:stretch/>
          </p:blipFill>
          <p:spPr>
            <a:xfrm>
              <a:off x="5153254" y="3111556"/>
              <a:ext cx="1221196" cy="1206053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DCD8E3-CEFC-1221-2D91-8553DDE806BD}"/>
                </a:ext>
              </a:extLst>
            </p:cNvPr>
            <p:cNvSpPr txBox="1"/>
            <p:nvPr/>
          </p:nvSpPr>
          <p:spPr>
            <a:xfrm>
              <a:off x="6588889" y="3252917"/>
              <a:ext cx="40019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Borja García de Soto, PhD, PE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Associate Professor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garcia.de.soto@nyu.edu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914E23-EC89-83E1-20D1-79D6C4B46F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487" y="6130451"/>
            <a:ext cx="399088" cy="408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4F72CA-F5E8-E855-1867-C71344ABB7B3}"/>
              </a:ext>
            </a:extLst>
          </p:cNvPr>
          <p:cNvSpPr txBox="1"/>
          <p:nvPr/>
        </p:nvSpPr>
        <p:spPr>
          <a:xfrm>
            <a:off x="550863" y="-1926736"/>
            <a:ext cx="6111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Scope of Collaboration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19E7D-F07E-458D-2C5C-105B9F934968}"/>
              </a:ext>
            </a:extLst>
          </p:cNvPr>
          <p:cNvSpPr/>
          <p:nvPr/>
        </p:nvSpPr>
        <p:spPr>
          <a:xfrm>
            <a:off x="673100" y="7384040"/>
            <a:ext cx="3494690" cy="4838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F6CAF-62A8-92EC-9933-F33897963756}"/>
              </a:ext>
            </a:extLst>
          </p:cNvPr>
          <p:cNvSpPr/>
          <p:nvPr/>
        </p:nvSpPr>
        <p:spPr>
          <a:xfrm>
            <a:off x="4348655" y="9517640"/>
            <a:ext cx="349469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3ECF4-DCC1-59F6-DB30-7A55D881C508}"/>
              </a:ext>
            </a:extLst>
          </p:cNvPr>
          <p:cNvSpPr/>
          <p:nvPr/>
        </p:nvSpPr>
        <p:spPr>
          <a:xfrm>
            <a:off x="8024210" y="11435816"/>
            <a:ext cx="349469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02801-3B08-C7E0-75F0-FB4CE3569721}"/>
              </a:ext>
            </a:extLst>
          </p:cNvPr>
          <p:cNvSpPr txBox="1"/>
          <p:nvPr/>
        </p:nvSpPr>
        <p:spPr>
          <a:xfrm>
            <a:off x="843280" y="820027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NYUAD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2FA22-DD4C-BA81-E21A-70B537C6A3A1}"/>
              </a:ext>
            </a:extLst>
          </p:cNvPr>
          <p:cNvSpPr txBox="1"/>
          <p:nvPr/>
        </p:nvSpPr>
        <p:spPr>
          <a:xfrm>
            <a:off x="843280" y="8569604"/>
            <a:ext cx="2628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(12-Month </a:t>
            </a:r>
            <a:r>
              <a:rPr lang="en-US" sz="1400" b="1" dirty="0" err="1">
                <a:solidFill>
                  <a:schemeClr val="bg1"/>
                </a:solidFill>
                <a:latin typeface="+mj-lt"/>
              </a:rPr>
              <a:t>Programme</a:t>
            </a:r>
            <a:r>
              <a:rPr lang="en-US" sz="14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7951A-6EA8-A166-5041-2D3D1133FDA5}"/>
              </a:ext>
            </a:extLst>
          </p:cNvPr>
          <p:cNvSpPr txBox="1"/>
          <p:nvPr/>
        </p:nvSpPr>
        <p:spPr>
          <a:xfrm>
            <a:off x="843279" y="9004381"/>
            <a:ext cx="280976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Three-month architecture and value definition.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Nine-month living-lab operational impact.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Scalable blueprint for digital ecosystems.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4D2C2-A4ED-111C-17D0-9AAA19C47EC5}"/>
              </a:ext>
            </a:extLst>
          </p:cNvPr>
          <p:cNvSpPr txBox="1"/>
          <p:nvPr/>
        </p:nvSpPr>
        <p:spPr>
          <a:xfrm>
            <a:off x="4524029" y="1033387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Months 1–3: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2FA8F-5D47-C15F-CA86-33D66C8EADD7}"/>
              </a:ext>
            </a:extLst>
          </p:cNvPr>
          <p:cNvSpPr txBox="1"/>
          <p:nvPr/>
        </p:nvSpPr>
        <p:spPr>
          <a:xfrm>
            <a:off x="4524029" y="10703204"/>
            <a:ext cx="3042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Strategy, Value &amp; Blueprint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4E397-E055-ADD7-A7E2-F3F110D231ED}"/>
              </a:ext>
            </a:extLst>
          </p:cNvPr>
          <p:cNvSpPr txBox="1"/>
          <p:nvPr/>
        </p:nvSpPr>
        <p:spPr>
          <a:xfrm>
            <a:off x="4524029" y="11137981"/>
            <a:ext cx="286737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Diagnostic stakeholder gap analysis.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Value models and KPI definition.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Integration, governance, and operating models.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Five-year scalable executive masterplan.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1D8B54-DB76-2C17-7826-78D46003F258}"/>
              </a:ext>
            </a:extLst>
          </p:cNvPr>
          <p:cNvSpPr txBox="1"/>
          <p:nvPr/>
        </p:nvSpPr>
        <p:spPr>
          <a:xfrm>
            <a:off x="8231286" y="12252048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Months 4–12: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205101-5E4E-1033-674B-D61CA39B4D7D}"/>
              </a:ext>
            </a:extLst>
          </p:cNvPr>
          <p:cNvSpPr txBox="1"/>
          <p:nvPr/>
        </p:nvSpPr>
        <p:spPr>
          <a:xfrm>
            <a:off x="8231286" y="12621380"/>
            <a:ext cx="2817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Pilot Testing &amp; Living Labs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6DF91-9E0F-D567-EB01-94D4CB7F004D}"/>
              </a:ext>
            </a:extLst>
          </p:cNvPr>
          <p:cNvSpPr txBox="1"/>
          <p:nvPr/>
        </p:nvSpPr>
        <p:spPr>
          <a:xfrm>
            <a:off x="8231286" y="13056157"/>
            <a:ext cx="26289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Prioritize zones and success metrics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Deploy pipelines and twin dashboards.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Iterate algorithms with end users.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Finalize ROI and rollout playbooks.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A43A34C5-DC66-3E1F-A2CA-EF5C3ADDD6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1379" y="7547100"/>
            <a:ext cx="483990" cy="48399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7778271-B0D9-C868-5F62-A55A6AAE11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598246" y="9680700"/>
            <a:ext cx="483990" cy="48399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C226AE9-0C08-4800-EBA4-D02CB53084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315113" y="11598876"/>
            <a:ext cx="483990" cy="48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0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0F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42">
      <a:majorFont>
        <a:latin typeface="Montserrat"/>
        <a:ea typeface=""/>
        <a:cs typeface=""/>
      </a:majorFont>
      <a:minorFont>
        <a:latin typeface="Montserrat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3944</Words>
  <Application>Microsoft Office PowerPoint</Application>
  <PresentationFormat>Widescreen</PresentationFormat>
  <Paragraphs>765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Montserrat Medium</vt:lpstr>
      <vt:lpstr>Arial</vt:lpstr>
      <vt:lpstr>Calibri</vt:lpstr>
      <vt:lpstr>Montserrat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</dc:creator>
  <cp:lastModifiedBy>Aklile Tilahun Mengiste</cp:lastModifiedBy>
  <cp:revision>109</cp:revision>
  <dcterms:created xsi:type="dcterms:W3CDTF">2026-02-21T11:05:10Z</dcterms:created>
  <dcterms:modified xsi:type="dcterms:W3CDTF">2026-10-24T11:51:51Z</dcterms:modified>
</cp:coreProperties>
</file>
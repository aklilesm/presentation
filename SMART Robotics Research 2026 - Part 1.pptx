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37.svg" ContentType="image/svg+xml"/>
  <Override PartName="/ppt/media/image6.svg" ContentType="image/svg+xml"/>
  <Override PartName="/ppt/media/image91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264" r:id="rId6"/>
    <p:sldId id="323" r:id="rId53"/>
    <p:sldId id="311" r:id="rId21"/>
    <p:sldId id="324" r:id="rId54"/>
    <p:sldId id="282" r:id="rId24"/>
    <p:sldId id="322" r:id="rId52"/>
    <p:sldId id="321" r:id="rId51"/>
    <p:sldId id="320" r:id="rId50"/>
    <p:sldId id="325" r:id="rId55"/>
    <p:sldId id="326" r:id="rId56"/>
    <p:sldId id="327" r:id="rId57"/>
    <p:sldId id="328" r:id="rId58"/>
    <p:sldId id="329" r:id="rId59"/>
    <p:sldId id="330" r:id="rId60"/>
    <p:sldId id="319" r:id="rId49"/>
    <p:sldId id="331" r:id="rId61"/>
    <p:sldId id="332" r:id="rId62"/>
    <p:sldId id="333" r:id="rId63"/>
    <p:sldId id="334" r:id="rId64"/>
    <p:sldId id="335" r:id="rId65"/>
    <p:sldId id="318" r:id="rId48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07" r:id="rId33"/>
  </p:sldIdLst>
  <p:sldSz cx="12192000" cy="68580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Light" panose="00000400000000000000" pitchFamily="2" charset="0"/>
      <p:regular r:id="rId39"/>
      <p:italic r:id="rId40"/>
    </p:embeddedFont>
    <p:embeddedFont>
      <p:font typeface="Montserrat Medium" panose="00000600000000000000" pitchFamily="2" charset="0"/>
      <p:regular r:id="rId41"/>
      <p:italic r:id="rId42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C29"/>
    <a:srgbClr val="282828"/>
    <a:srgbClr val="1A2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1" autoAdjust="0"/>
    <p:restoredTop sz="94668" autoAdjust="0"/>
  </p:normalViewPr>
  <p:slideViewPr>
    <p:cSldViewPr snapToGrid="0" showGuides="1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9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21" Type="http://schemas.openxmlformats.org/officeDocument/2006/relationships/slide" Target="slides/slide20.xml"/><Relationship Id="rId24" Type="http://schemas.openxmlformats.org/officeDocument/2006/relationships/slide" Target="slides/slide27.xml"/><Relationship Id="rId33" Type="http://schemas.openxmlformats.org/officeDocument/2006/relationships/slide" Target="slides/slide38.xml"/><Relationship Id="rId3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Relationship Id="rId41" Type="http://schemas.openxmlformats.org/officeDocument/2006/relationships/font" Target="fonts/font7.fntdata"/><Relationship Id="rId42" Type="http://schemas.openxmlformats.org/officeDocument/2006/relationships/font" Target="fonts/font8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8" Type="http://schemas.openxmlformats.org/officeDocument/2006/relationships/slide" Target="slides/slide23.xml"/><Relationship Id="rId49" Type="http://schemas.openxmlformats.org/officeDocument/2006/relationships/slide" Target="slides/slide22.xml"/><Relationship Id="rId50" Type="http://schemas.openxmlformats.org/officeDocument/2006/relationships/slide" Target="slides/slide21.xml"/><Relationship Id="rId51" Type="http://schemas.openxmlformats.org/officeDocument/2006/relationships/slide" Target="slides/slide29.xml"/><Relationship Id="rId52" Type="http://schemas.openxmlformats.org/officeDocument/2006/relationships/slide" Target="slides/slide2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Explored area vs. BIM floor plan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Explored area vs. BIM (%)</c:v>
                </c:pt>
              </c:strCache>
            </c:strRef>
          </c:tx>
          <c:spPr>
            <a:solidFill>
              <a:srgbClr val="5B0F8B"/>
            </a:solidFill>
          </c:spPr>
          <c:dPt>
            <c:idx val="1"/>
            <c:spPr>
              <a:solidFill>
                <a:srgbClr val="B78FD9"/>
              </a:solidFill>
            </c:spPr>
          </c:dPt>
          <c:cat>
            <c:strRef>
              <c:f>Sheet1!$A$2:$A$4</c:f>
              <c:strCache>
                <c:ptCount val="3"/>
                <c:pt idx="0">
                  <c:v>Exploring</c:v>
                </c:pt>
                <c:pt idx="1">
                  <c:v>Blocked</c:v>
                </c:pt>
                <c:pt idx="2">
                  <c:v>Cleared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49.54</c:v>
                </c:pt>
                <c:pt idx="1">
                  <c:v>84.53</c:v>
                </c:pt>
                <c:pt idx="2">
                  <c:v>95.79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Mean LLM delay per step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3.01</c:v>
                </c:pt>
                <c:pt idx="2">
                  <c:v>3.11</c:v>
                </c:pt>
                <c:pt idx="3">
                  <c:v>2.36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3.98</c:v>
                </c:pt>
                <c:pt idx="1">
                  <c:v>6.19</c:v>
                </c:pt>
                <c:pt idx="2">
                  <c:v>5.83</c:v>
                </c:pt>
                <c:pt idx="3">
                  <c:v>4.81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Step success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83.3</c:v>
                </c:pt>
                <c:pt idx="3">
                  <c:v>76.5</c:v>
                </c:pt>
              </c:numCache>
            </c:numRef>
          </c:val>
        </c:ser>
        <c:dLbls>
          <c:numFmt formatCode="[=100]0&quot;%&quot;;0.0&quot;%&quot;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Average delay by task type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Sheet1!$A$2:$A$4</c:f>
              <c:strCache>
                <c:ptCount val="3"/>
                <c:pt idx="0">
                  <c:v>Take picture</c:v>
                </c:pt>
                <c:pt idx="1">
                  <c:v>Image analysis</c:v>
                </c:pt>
                <c:pt idx="2">
                  <c:v>Navigation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1.58</c:v>
                </c:pt>
                <c:pt idx="1">
                  <c:v>4.0</c:v>
                </c:pt>
                <c:pt idx="2">
                  <c:v>3.24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Sheet1!$A$2:$A$4</c:f>
              <c:strCache>
                <c:ptCount val="3"/>
                <c:pt idx="0">
                  <c:v>Take picture</c:v>
                </c:pt>
                <c:pt idx="1">
                  <c:v>Image analysis</c:v>
                </c:pt>
                <c:pt idx="2">
                  <c:v>Navigation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3.36</c:v>
                </c:pt>
                <c:pt idx="1">
                  <c:v>11.98</c:v>
                </c:pt>
                <c:pt idx="2">
                  <c:v>4.73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12E3D-D5E8-4289-BF58-E13AD8E68C2A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C24FA-C163-4AD1-A539-A7EB13D21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1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3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2B7198-A4A3-4860-9D39-F84D7B3C2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8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CD6642-189D-0C15-C5BB-5737769C13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5282" y="0"/>
            <a:ext cx="3569110" cy="6858000"/>
          </a:xfrm>
          <a:custGeom>
            <a:avLst/>
            <a:gdLst>
              <a:gd name="connsiteX0" fmla="*/ 0 w 3569110"/>
              <a:gd name="connsiteY0" fmla="*/ 0 h 6858000"/>
              <a:gd name="connsiteX1" fmla="*/ 3569110 w 3569110"/>
              <a:gd name="connsiteY1" fmla="*/ 0 h 6858000"/>
              <a:gd name="connsiteX2" fmla="*/ 3569110 w 3569110"/>
              <a:gd name="connsiteY2" fmla="*/ 6858000 h 6858000"/>
              <a:gd name="connsiteX3" fmla="*/ 0 w 35691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9110" h="6858000">
                <a:moveTo>
                  <a:pt x="0" y="0"/>
                </a:moveTo>
                <a:lnTo>
                  <a:pt x="3569110" y="0"/>
                </a:lnTo>
                <a:lnTo>
                  <a:pt x="35691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AAE2F7B9-BFBB-4FB2-A6FC-2053D7F1A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350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71DF27BB-AFA8-48A2-9FDA-158B84995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726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A86930AD-A4AF-45B4-943A-0C44C3A73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945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35A2BA7-C589-4CB6-AB8C-BB578F067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00948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D53B7A1-0718-4E9C-BF19-CEE2D1387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E3B75DF0-0FE5-4F56-BF6E-A12CF1F6FB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726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7B8A6963-7D8D-45D7-B820-46B337D694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945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2F11556F-66DF-410F-B1C6-030171BCC5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948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8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4E4F43-2327-1F0A-78CE-226FC7F609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3182654"/>
          </a:xfrm>
          <a:custGeom>
            <a:avLst/>
            <a:gdLst>
              <a:gd name="connsiteX0" fmla="*/ 0 w 12191998"/>
              <a:gd name="connsiteY0" fmla="*/ 0 h 3182654"/>
              <a:gd name="connsiteX1" fmla="*/ 12191998 w 12191998"/>
              <a:gd name="connsiteY1" fmla="*/ 0 h 3182654"/>
              <a:gd name="connsiteX2" fmla="*/ 12191998 w 12191998"/>
              <a:gd name="connsiteY2" fmla="*/ 2017357 h 3182654"/>
              <a:gd name="connsiteX3" fmla="*/ 6096001 w 12191998"/>
              <a:gd name="connsiteY3" fmla="*/ 3182654 h 3182654"/>
              <a:gd name="connsiteX4" fmla="*/ 0 w 12191998"/>
              <a:gd name="connsiteY4" fmla="*/ 2017357 h 318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3182654">
                <a:moveTo>
                  <a:pt x="0" y="0"/>
                </a:moveTo>
                <a:lnTo>
                  <a:pt x="12191998" y="0"/>
                </a:lnTo>
                <a:lnTo>
                  <a:pt x="12191998" y="2017357"/>
                </a:lnTo>
                <a:lnTo>
                  <a:pt x="6096001" y="3182654"/>
                </a:lnTo>
                <a:lnTo>
                  <a:pt x="0" y="201735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529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wwr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B0F3A3-F859-4178-9628-AAD7ED63BA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960670" cy="6858000"/>
          </a:xfrm>
          <a:prstGeom prst="rect">
            <a:avLst/>
          </a:prstGeom>
        </p:spPr>
        <p:txBody>
          <a:bodyPr/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5643B10-764A-42B4-A85B-2E110BA18C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30318"/>
            <a:ext cx="6096000" cy="5827682"/>
          </a:xfrm>
          <a:custGeom>
            <a:avLst/>
            <a:gdLst>
              <a:gd name="connsiteX0" fmla="*/ 0 w 10832122"/>
              <a:gd name="connsiteY0" fmla="*/ 0 h 9324291"/>
              <a:gd name="connsiteX1" fmla="*/ 10832122 w 10832122"/>
              <a:gd name="connsiteY1" fmla="*/ 0 h 9324291"/>
              <a:gd name="connsiteX2" fmla="*/ 10832122 w 10832122"/>
              <a:gd name="connsiteY2" fmla="*/ 9324291 h 9324291"/>
              <a:gd name="connsiteX3" fmla="*/ 0 w 10832122"/>
              <a:gd name="connsiteY3" fmla="*/ 9324291 h 932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2122" h="9324291">
                <a:moveTo>
                  <a:pt x="0" y="0"/>
                </a:moveTo>
                <a:lnTo>
                  <a:pt x="10832122" y="0"/>
                </a:lnTo>
                <a:lnTo>
                  <a:pt x="10832122" y="9324291"/>
                </a:lnTo>
                <a:lnTo>
                  <a:pt x="0" y="93242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8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52AB4-AA04-892B-7FD0-742D303D4E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03900" y="0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BBAE86-B830-D0A2-5D3F-AB6CFD9E5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35261" y="1905001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7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420CF5-980C-43E3-9644-6E25F95C7282}"/>
              </a:ext>
            </a:extLst>
          </p:cNvPr>
          <p:cNvSpPr/>
          <p:nvPr userDrawn="1"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7923D0C-6220-4370-9F98-13988C29B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2247A0-311F-E038-BEF2-682E0E52A2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2844" y="2647465"/>
            <a:ext cx="872856" cy="1327573"/>
          </a:xfrm>
          <a:custGeom>
            <a:avLst/>
            <a:gdLst>
              <a:gd name="connsiteX0" fmla="*/ 845948 w 872856"/>
              <a:gd name="connsiteY0" fmla="*/ 0 h 1327573"/>
              <a:gd name="connsiteX1" fmla="*/ 840458 w 872856"/>
              <a:gd name="connsiteY1" fmla="*/ 31471 h 1327573"/>
              <a:gd name="connsiteX2" fmla="*/ 830125 w 872856"/>
              <a:gd name="connsiteY2" fmla="*/ 682619 h 1327573"/>
              <a:gd name="connsiteX3" fmla="*/ 864406 w 872856"/>
              <a:gd name="connsiteY3" fmla="*/ 1267502 h 1327573"/>
              <a:gd name="connsiteX4" fmla="*/ 872856 w 872856"/>
              <a:gd name="connsiteY4" fmla="*/ 1327573 h 1327573"/>
              <a:gd name="connsiteX5" fmla="*/ 778796 w 872856"/>
              <a:gd name="connsiteY5" fmla="*/ 1289320 h 1327573"/>
              <a:gd name="connsiteX6" fmla="*/ 496468 w 872856"/>
              <a:gd name="connsiteY6" fmla="*/ 1126585 h 1327573"/>
              <a:gd name="connsiteX7" fmla="*/ 176914 w 872856"/>
              <a:gd name="connsiteY7" fmla="*/ 744264 h 1327573"/>
              <a:gd name="connsiteX8" fmla="*/ 2979 w 872856"/>
              <a:gd name="connsiteY8" fmla="*/ 253191 h 1327573"/>
              <a:gd name="connsiteX9" fmla="*/ 17225 w 872856"/>
              <a:gd name="connsiteY9" fmla="*/ 214084 h 1327573"/>
              <a:gd name="connsiteX10" fmla="*/ 314609 w 872856"/>
              <a:gd name="connsiteY10" fmla="*/ 62989 h 1327573"/>
              <a:gd name="connsiteX11" fmla="*/ 715750 w 872856"/>
              <a:gd name="connsiteY11" fmla="*/ 6139 h 132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2856" h="1327573">
                <a:moveTo>
                  <a:pt x="845948" y="0"/>
                </a:moveTo>
                <a:lnTo>
                  <a:pt x="840458" y="31471"/>
                </a:lnTo>
                <a:cubicBezTo>
                  <a:pt x="827391" y="139040"/>
                  <a:pt x="822690" y="390208"/>
                  <a:pt x="830125" y="682619"/>
                </a:cubicBezTo>
                <a:cubicBezTo>
                  <a:pt x="836320" y="926294"/>
                  <a:pt x="849477" y="1140938"/>
                  <a:pt x="864406" y="1267502"/>
                </a:cubicBezTo>
                <a:lnTo>
                  <a:pt x="872856" y="1327573"/>
                </a:lnTo>
                <a:lnTo>
                  <a:pt x="778796" y="1289320"/>
                </a:lnTo>
                <a:cubicBezTo>
                  <a:pt x="680348" y="1247686"/>
                  <a:pt x="584069" y="1199746"/>
                  <a:pt x="496468" y="1126585"/>
                </a:cubicBezTo>
                <a:cubicBezTo>
                  <a:pt x="379665" y="1029036"/>
                  <a:pt x="259162" y="889830"/>
                  <a:pt x="176914" y="744264"/>
                </a:cubicBezTo>
                <a:cubicBezTo>
                  <a:pt x="94666" y="598699"/>
                  <a:pt x="-19970" y="366737"/>
                  <a:pt x="2979" y="253191"/>
                </a:cubicBezTo>
                <a:cubicBezTo>
                  <a:pt x="5848" y="238998"/>
                  <a:pt x="10685" y="226016"/>
                  <a:pt x="17225" y="214084"/>
                </a:cubicBezTo>
                <a:cubicBezTo>
                  <a:pt x="63006" y="130562"/>
                  <a:pt x="192283" y="98522"/>
                  <a:pt x="314609" y="62989"/>
                </a:cubicBezTo>
                <a:cubicBezTo>
                  <a:pt x="419460" y="32532"/>
                  <a:pt x="566881" y="15474"/>
                  <a:pt x="715750" y="613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6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9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microsoft.com/office/2007/relationships/hdphoto" Target="../media/hdphoto2.wdp"/><Relationship Id="rId4" Type="http://schemas.openxmlformats.org/officeDocument/2006/relationships/image" Target="../media/image10.jpe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image" Target="../media/image12.png"/><Relationship Id="rId8" Type="http://schemas.openxmlformats.org/officeDocument/2006/relationships/image" Target="../media/image13.jpeg"/><Relationship Id="rId9" Type="http://schemas.openxmlformats.org/officeDocument/2006/relationships/image" Target="../media/image14.jpeg"/><Relationship Id="rId10" Type="http://schemas.openxmlformats.org/officeDocument/2006/relationships/image" Target="../media/image15.png"/><Relationship Id="rId11" Type="http://schemas.openxmlformats.org/officeDocument/2006/relationships/image" Target="../media/image16.jpeg"/><Relationship Id="rId12" Type="http://schemas.openxmlformats.org/officeDocument/2006/relationships/image" Target="../media/image17.jpeg"/><Relationship Id="rId13" Type="http://schemas.openxmlformats.org/officeDocument/2006/relationships/image" Target="../media/image18.png"/><Relationship Id="rId14" Type="http://schemas.openxmlformats.org/officeDocument/2006/relationships/image" Target="../media/image19.jpeg"/><Relationship Id="rId15" Type="http://schemas.openxmlformats.org/officeDocument/2006/relationships/image" Target="../media/image20.jpeg"/><Relationship Id="rId16" Type="http://schemas.openxmlformats.org/officeDocument/2006/relationships/image" Target="../media/image21.jpeg"/><Relationship Id="rId17" Type="http://schemas.openxmlformats.org/officeDocument/2006/relationships/image" Target="../media/image22.jpg"/><Relationship Id="rId18" Type="http://schemas.openxmlformats.org/officeDocument/2006/relationships/image" Target="../media/image2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7.jpg"/><Relationship Id="rId7" Type="http://schemas.openxmlformats.org/officeDocument/2006/relationships/image" Target="../media/image30.png"/><Relationship Id="rId8" Type="http://schemas.openxmlformats.org/officeDocument/2006/relationships/image" Target="../media/image96.png"/><Relationship Id="rId9" Type="http://schemas.openxmlformats.org/officeDocument/2006/relationships/image" Target="../media/image97.svg"/><Relationship Id="rId10" Type="http://schemas.openxmlformats.org/officeDocument/2006/relationships/image" Target="../media/image90.png"/><Relationship Id="rId11" Type="http://schemas.openxmlformats.org/officeDocument/2006/relationships/image" Target="../media/image91.svg"/><Relationship Id="rId12" Type="http://schemas.openxmlformats.org/officeDocument/2006/relationships/image" Target="../media/image98.png"/><Relationship Id="rId13" Type="http://schemas.openxmlformats.org/officeDocument/2006/relationships/image" Target="../media/image99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7.jpg"/><Relationship Id="rId3" Type="http://schemas.openxmlformats.org/officeDocument/2006/relationships/image" Target="../media/image108.jpg"/><Relationship Id="rId4" Type="http://schemas.openxmlformats.org/officeDocument/2006/relationships/image" Target="../media/image109.jpg"/><Relationship Id="rId5" Type="http://schemas.openxmlformats.org/officeDocument/2006/relationships/image" Target="../media/image110.jpg"/><Relationship Id="rId6" Type="http://schemas.openxmlformats.org/officeDocument/2006/relationships/image" Target="../media/image11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jpg"/><Relationship Id="rId3" Type="http://schemas.openxmlformats.org/officeDocument/2006/relationships/image" Target="../media/image113.jpg"/><Relationship Id="rId4" Type="http://schemas.openxmlformats.org/officeDocument/2006/relationships/image" Target="../media/image114.jpg"/><Relationship Id="rId5" Type="http://schemas.openxmlformats.org/officeDocument/2006/relationships/image" Target="../media/image115.jpg"/><Relationship Id="rId6" Type="http://schemas.openxmlformats.org/officeDocument/2006/relationships/image" Target="../media/image11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jpg"/><Relationship Id="rId3" Type="http://schemas.openxmlformats.org/officeDocument/2006/relationships/image" Target="../media/image114.jpg"/><Relationship Id="rId4" Type="http://schemas.openxmlformats.org/officeDocument/2006/relationships/image" Target="../media/image118.jpg"/><Relationship Id="rId5" Type="http://schemas.openxmlformats.org/officeDocument/2006/relationships/image" Target="../media/image119.jpg"/><Relationship Id="rId6" Type="http://schemas.openxmlformats.org/officeDocument/2006/relationships/image" Target="../media/image12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Relationship Id="rId4" Type="http://schemas.openxmlformats.org/officeDocument/2006/relationships/image" Target="../media/image123.jpg"/><Relationship Id="rId5" Type="http://schemas.openxmlformats.org/officeDocument/2006/relationships/chart" Target="../charts/char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8.jpg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jpg"/><Relationship Id="rId6" Type="http://schemas.openxmlformats.org/officeDocument/2006/relationships/image" Target="../media/image127.jpg"/><Relationship Id="rId7" Type="http://schemas.openxmlformats.org/officeDocument/2006/relationships/image" Target="../media/image12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2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1.jpg"/><Relationship Id="rId3" Type="http://schemas.openxmlformats.org/officeDocument/2006/relationships/image" Target="../media/image13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Relationship Id="rId4" Type="http://schemas.openxmlformats.org/officeDocument/2006/relationships/image" Target="../media/image135.jpg"/><Relationship Id="rId5" Type="http://schemas.openxmlformats.org/officeDocument/2006/relationships/image" Target="../media/image136.jpg"/><Relationship Id="rId6" Type="http://schemas.openxmlformats.org/officeDocument/2006/relationships/image" Target="../media/image13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3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0.jpg"/><Relationship Id="rId3" Type="http://schemas.openxmlformats.org/officeDocument/2006/relationships/image" Target="../media/image14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image" Target="../media/image14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44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0"/>
            <a:ext cx="12192000" cy="6434499"/>
          </a:xfr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5"/>
            <a:ext cx="2469428" cy="72964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426839E-4E71-38BD-AC2F-663D6DA204D9}"/>
              </a:ext>
            </a:extLst>
          </p:cNvPr>
          <p:cNvGrpSpPr/>
          <p:nvPr/>
        </p:nvGrpSpPr>
        <p:grpSpPr>
          <a:xfrm>
            <a:off x="5060656" y="1524729"/>
            <a:ext cx="6580482" cy="2480845"/>
            <a:chOff x="5060656" y="1524729"/>
            <a:chExt cx="6580482" cy="24808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7FD29E-AC9E-4BE2-BF89-D1F03B97F6B9}"/>
                </a:ext>
              </a:extLst>
            </p:cNvPr>
            <p:cNvSpPr/>
            <p:nvPr/>
          </p:nvSpPr>
          <p:spPr>
            <a:xfrm>
              <a:off x="5060656" y="3602937"/>
              <a:ext cx="3645798" cy="402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DB5D2A-DA2A-47CC-A84D-EDFCEDD8CB51}"/>
                </a:ext>
              </a:extLst>
            </p:cNvPr>
            <p:cNvSpPr/>
            <p:nvPr/>
          </p:nvSpPr>
          <p:spPr>
            <a:xfrm>
              <a:off x="5060656" y="1524729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Robotics Research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B98F79-F044-4C07-B816-90906E2D44B4}"/>
                </a:ext>
              </a:extLst>
            </p:cNvPr>
            <p:cNvSpPr/>
            <p:nvPr/>
          </p:nvSpPr>
          <p:spPr>
            <a:xfrm>
              <a:off x="5060656" y="3619589"/>
              <a:ext cx="3741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b="1" dirty="0">
                  <a:solidFill>
                    <a:schemeClr val="accent1"/>
                  </a:solidFill>
                  <a:latin typeface="+mj-lt"/>
                </a:rPr>
                <a:t>Borja García de Soto, PhD, PE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CFF614-7703-4BD3-9828-A54324FC91AD}"/>
                </a:ext>
              </a:extLst>
            </p:cNvPr>
            <p:cNvSpPr/>
            <p:nvPr/>
          </p:nvSpPr>
          <p:spPr>
            <a:xfrm>
              <a:off x="5060656" y="2082580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at S.M.A.R.T.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AB627F-9A36-4BC8-9E81-089B183DEA96}"/>
                </a:ext>
              </a:extLst>
            </p:cNvPr>
            <p:cNvSpPr/>
            <p:nvPr/>
          </p:nvSpPr>
          <p:spPr>
            <a:xfrm>
              <a:off x="5060656" y="2640432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Part 1 of 2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9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5EE40A3-4609-47BD-B1BD-0C9BDDC56A9D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16418F-073B-459D-AC5A-C842C4E0AE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734528"/>
            <a:ext cx="3352800" cy="6123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4C2B51-A2D3-4B17-BF11-6CD0A978DACE}"/>
              </a:ext>
            </a:extLst>
          </p:cNvPr>
          <p:cNvSpPr/>
          <p:nvPr/>
        </p:nvSpPr>
        <p:spPr>
          <a:xfrm>
            <a:off x="4419600" y="734528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6DA9D-BA98-420C-80FF-D120086D39B1}"/>
              </a:ext>
            </a:extLst>
          </p:cNvPr>
          <p:cNvGrpSpPr/>
          <p:nvPr/>
        </p:nvGrpSpPr>
        <p:grpSpPr>
          <a:xfrm>
            <a:off x="685800" y="1592110"/>
            <a:ext cx="3219451" cy="2165794"/>
            <a:chOff x="685800" y="1263206"/>
            <a:chExt cx="3219451" cy="21657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50C168-13BE-4ED9-92D0-AD4E35EE87F2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360444-5A2C-40DF-8DE0-A7513EE6A1BF}"/>
                </a:ext>
              </a:extLst>
            </p:cNvPr>
            <p:cNvSpPr/>
            <p:nvPr/>
          </p:nvSpPr>
          <p:spPr>
            <a:xfrm>
              <a:off x="685801" y="2044005"/>
              <a:ext cx="321945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Light" pitchFamily="2" charset="77"/>
                </a:rPr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4757A1-B81F-47F6-B2C3-65001A9EB59D}"/>
              </a:ext>
            </a:extLst>
          </p:cNvPr>
          <p:cNvCxnSpPr>
            <a:cxnSpLocks/>
          </p:cNvCxnSpPr>
          <p:nvPr/>
        </p:nvCxnSpPr>
        <p:spPr>
          <a:xfrm>
            <a:off x="8234622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C86449-FC0C-42A6-AF92-9B87313A76BD}"/>
              </a:ext>
            </a:extLst>
          </p:cNvPr>
          <p:cNvCxnSpPr>
            <a:cxnSpLocks/>
          </p:cNvCxnSpPr>
          <p:nvPr/>
        </p:nvCxnSpPr>
        <p:spPr>
          <a:xfrm>
            <a:off x="8234622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4482E-AF57-43D5-A478-13F2C892B9E4}"/>
              </a:ext>
            </a:extLst>
          </p:cNvPr>
          <p:cNvCxnSpPr>
            <a:cxnSpLocks/>
          </p:cNvCxnSpPr>
          <p:nvPr/>
        </p:nvCxnSpPr>
        <p:spPr>
          <a:xfrm>
            <a:off x="8234622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4BC62D-C4AF-4BD0-8623-71D16536B9FB}"/>
              </a:ext>
            </a:extLst>
          </p:cNvPr>
          <p:cNvCxnSpPr>
            <a:cxnSpLocks/>
          </p:cNvCxnSpPr>
          <p:nvPr/>
        </p:nvCxnSpPr>
        <p:spPr>
          <a:xfrm>
            <a:off x="8234622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631518-03BE-73F3-D1D7-971FE236FF95}"/>
              </a:ext>
            </a:extLst>
          </p:cNvPr>
          <p:cNvGrpSpPr/>
          <p:nvPr/>
        </p:nvGrpSpPr>
        <p:grpSpPr>
          <a:xfrm>
            <a:off x="7453312" y="1176736"/>
            <a:ext cx="4434416" cy="638176"/>
            <a:chOff x="7453312" y="1176736"/>
            <a:chExt cx="4434416" cy="6381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990A2-ECF2-44CC-9327-397B19BF3AC6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32E0B-1846-4005-91A4-E683595126F2}"/>
                </a:ext>
              </a:extLst>
            </p:cNvPr>
            <p:cNvSpPr/>
            <p:nvPr/>
          </p:nvSpPr>
          <p:spPr>
            <a:xfrm>
              <a:off x="8206912" y="1300371"/>
              <a:ext cx="36808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S</a:t>
              </a:r>
              <a:r>
                <a:rPr lang="en-GB" sz="1400" dirty="0">
                  <a:latin typeface="Montserrat Medium" pitchFamily="2" charset="77"/>
                </a:rPr>
                <a:t>ustainable and resilient construction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F816099-1684-5DA6-2158-DBB6F7C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E7303D-EE63-C4EE-AB0E-539BDC6BF449}"/>
              </a:ext>
            </a:extLst>
          </p:cNvPr>
          <p:cNvGrpSpPr/>
          <p:nvPr/>
        </p:nvGrpSpPr>
        <p:grpSpPr>
          <a:xfrm>
            <a:off x="7453312" y="2008034"/>
            <a:ext cx="4424798" cy="638176"/>
            <a:chOff x="7453312" y="2008034"/>
            <a:chExt cx="4424798" cy="638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4B0933-6DE8-4C90-AC63-269DC86D5130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E433B8-74CF-434D-8286-62E7F60F0A5C}"/>
                </a:ext>
              </a:extLst>
            </p:cNvPr>
            <p:cNvSpPr/>
            <p:nvPr/>
          </p:nvSpPr>
          <p:spPr>
            <a:xfrm>
              <a:off x="8206912" y="2104543"/>
              <a:ext cx="3671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M</a:t>
              </a:r>
              <a:r>
                <a:rPr lang="en-GB" sz="1400" dirty="0">
                  <a:latin typeface="Montserrat Medium" pitchFamily="2" charset="77"/>
                </a:rPr>
                <a:t>odularization and lean construction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45CB31-9B38-F1D4-1EEB-A0830553C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180186-BAD8-FF2A-F6D2-68467F81AEEB}"/>
              </a:ext>
            </a:extLst>
          </p:cNvPr>
          <p:cNvGrpSpPr/>
          <p:nvPr/>
        </p:nvGrpSpPr>
        <p:grpSpPr>
          <a:xfrm>
            <a:off x="7453312" y="2839332"/>
            <a:ext cx="2868281" cy="638176"/>
            <a:chOff x="7453312" y="2839332"/>
            <a:chExt cx="2868281" cy="638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D1466B-7512-422D-B7EE-CB2E59E9B038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62F32A-5975-4373-879B-0549E8EC57E6}"/>
                </a:ext>
              </a:extLst>
            </p:cNvPr>
            <p:cNvSpPr/>
            <p:nvPr/>
          </p:nvSpPr>
          <p:spPr>
            <a:xfrm>
              <a:off x="8206912" y="2962967"/>
              <a:ext cx="2114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A</a:t>
              </a:r>
              <a:r>
                <a:rPr lang="en-GB" sz="1400" dirty="0">
                  <a:latin typeface="Montserrat Medium" pitchFamily="2" charset="77"/>
                </a:rPr>
                <a:t>rtificial intelligence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4B8E763-198F-5099-4CCF-0805B158B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C1722C-5AF1-C63F-4759-BB799870E3B3}"/>
              </a:ext>
            </a:extLst>
          </p:cNvPr>
          <p:cNvGrpSpPr/>
          <p:nvPr/>
        </p:nvGrpSpPr>
        <p:grpSpPr>
          <a:xfrm>
            <a:off x="7453312" y="3670630"/>
            <a:ext cx="4011223" cy="638176"/>
            <a:chOff x="7453312" y="3670630"/>
            <a:chExt cx="4011223" cy="638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2B12DE-4EDE-4BE0-8461-9720DBAEACAD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CD669C-D60A-4A26-AAD0-A654AC02569E}"/>
                </a:ext>
              </a:extLst>
            </p:cNvPr>
            <p:cNvSpPr/>
            <p:nvPr/>
          </p:nvSpPr>
          <p:spPr>
            <a:xfrm>
              <a:off x="8206912" y="3794265"/>
              <a:ext cx="3257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R</a:t>
              </a:r>
              <a:r>
                <a:rPr lang="en-GB" sz="1400" dirty="0">
                  <a:latin typeface="Montserrat Medium" pitchFamily="2" charset="77"/>
                </a:rPr>
                <a:t>obotic systems and automation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B9F4BA4-21DE-CC4B-2462-FD235B34E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59B1F5-2E8B-7CFB-12C0-8C2B7CD0B756}"/>
              </a:ext>
            </a:extLst>
          </p:cNvPr>
          <p:cNvGrpSpPr/>
          <p:nvPr/>
        </p:nvGrpSpPr>
        <p:grpSpPr>
          <a:xfrm>
            <a:off x="7453312" y="4501927"/>
            <a:ext cx="4187825" cy="638176"/>
            <a:chOff x="7453312" y="4501927"/>
            <a:chExt cx="4187825" cy="638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B50EDB-1FAD-48D9-94F1-84361939302C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EADE07-6DA1-48DC-88C7-815245969754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T</a:t>
              </a:r>
              <a:r>
                <a:rPr lang="en-GB" sz="1400" dirty="0">
                  <a:latin typeface="Montserrat Medium" pitchFamily="2" charset="77"/>
                </a:rPr>
                <a:t>echnology integration &amp; information modelling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1731A0D-8A21-5793-7206-CA0A8E91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4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5A80CFD-4A0D-4553-8264-FE390932BCB5}"/>
              </a:ext>
            </a:extLst>
          </p:cNvPr>
          <p:cNvSpPr/>
          <p:nvPr/>
        </p:nvSpPr>
        <p:spPr>
          <a:xfrm>
            <a:off x="344725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337466-BDF5-4575-8902-C3210326B3BD}"/>
              </a:ext>
            </a:extLst>
          </p:cNvPr>
          <p:cNvSpPr/>
          <p:nvPr/>
        </p:nvSpPr>
        <p:spPr>
          <a:xfrm>
            <a:off x="865108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973921-29F2-4F65-A2E2-89BCBBDD1840}"/>
              </a:ext>
            </a:extLst>
          </p:cNvPr>
          <p:cNvSpPr/>
          <p:nvPr/>
        </p:nvSpPr>
        <p:spPr>
          <a:xfrm>
            <a:off x="604917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422CA2-E32B-43BC-A3C8-4E04C3452974}"/>
              </a:ext>
            </a:extLst>
          </p:cNvPr>
          <p:cNvSpPr/>
          <p:nvPr/>
        </p:nvSpPr>
        <p:spPr>
          <a:xfrm>
            <a:off x="842966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6CD29B-C437-4540-81C3-BA348E9AB3E3}"/>
              </a:ext>
            </a:extLst>
          </p:cNvPr>
          <p:cNvSpPr/>
          <p:nvPr/>
        </p:nvSpPr>
        <p:spPr>
          <a:xfrm>
            <a:off x="8651082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91C84A-511F-485E-8AF5-1F279DC13D21}"/>
              </a:ext>
            </a:extLst>
          </p:cNvPr>
          <p:cNvSpPr/>
          <p:nvPr/>
        </p:nvSpPr>
        <p:spPr>
          <a:xfrm>
            <a:off x="6049170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8C4B42-E8C5-44A7-B22A-8C37A2C90748}"/>
              </a:ext>
            </a:extLst>
          </p:cNvPr>
          <p:cNvSpPr/>
          <p:nvPr/>
        </p:nvSpPr>
        <p:spPr>
          <a:xfrm>
            <a:off x="3447258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2D998D-B3DB-4CC2-BAB5-6792FCB48004}"/>
              </a:ext>
            </a:extLst>
          </p:cNvPr>
          <p:cNvSpPr/>
          <p:nvPr/>
        </p:nvSpPr>
        <p:spPr>
          <a:xfrm>
            <a:off x="842966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7350B-3DF7-4F9B-9667-9A59FB9A9689}"/>
              </a:ext>
            </a:extLst>
          </p:cNvPr>
          <p:cNvSpPr/>
          <p:nvPr/>
        </p:nvSpPr>
        <p:spPr>
          <a:xfrm>
            <a:off x="668252" y="520184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1629B2-A71C-861E-A30C-85E9E46BCDD4}"/>
              </a:ext>
            </a:extLst>
          </p:cNvPr>
          <p:cNvGrpSpPr/>
          <p:nvPr/>
        </p:nvGrpSpPr>
        <p:grpSpPr>
          <a:xfrm>
            <a:off x="809625" y="3081477"/>
            <a:ext cx="2063385" cy="520147"/>
            <a:chOff x="809625" y="3081477"/>
            <a:chExt cx="2063385" cy="5201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B02691-81C7-43E8-A3B6-CD47ED95B1BA}"/>
                </a:ext>
              </a:extLst>
            </p:cNvPr>
            <p:cNvSpPr/>
            <p:nvPr/>
          </p:nvSpPr>
          <p:spPr>
            <a:xfrm>
              <a:off x="809625" y="3081477"/>
              <a:ext cx="206338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Borja García De Soto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247FE3-7895-4242-B02A-BA04C662A354}"/>
                </a:ext>
              </a:extLst>
            </p:cNvPr>
            <p:cNvSpPr/>
            <p:nvPr/>
          </p:nvSpPr>
          <p:spPr>
            <a:xfrm>
              <a:off x="809625" y="3324625"/>
              <a:ext cx="17059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Associate Professor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121985-1B00-BFFD-0ACB-B9CE3D76B8FE}"/>
              </a:ext>
            </a:extLst>
          </p:cNvPr>
          <p:cNvGrpSpPr/>
          <p:nvPr/>
        </p:nvGrpSpPr>
        <p:grpSpPr>
          <a:xfrm>
            <a:off x="3408041" y="3081477"/>
            <a:ext cx="2222083" cy="520147"/>
            <a:chOff x="3408041" y="3081477"/>
            <a:chExt cx="2222083" cy="52014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822E70-8D47-47B0-92B9-4110A9704487}"/>
                </a:ext>
              </a:extLst>
            </p:cNvPr>
            <p:cNvSpPr/>
            <p:nvPr/>
          </p:nvSpPr>
          <p:spPr>
            <a:xfrm>
              <a:off x="3408041" y="3081477"/>
              <a:ext cx="15408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Mengiste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B8AE3A-E613-4D09-90A1-8AFC81E02E65}"/>
                </a:ext>
              </a:extLst>
            </p:cNvPr>
            <p:cNvSpPr/>
            <p:nvPr/>
          </p:nvSpPr>
          <p:spPr>
            <a:xfrm>
              <a:off x="3408041" y="3324625"/>
              <a:ext cx="22220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Instructor and Researcher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3A1269-2FBF-1A1E-F4F5-CFB3FC1DABC3}"/>
              </a:ext>
            </a:extLst>
          </p:cNvPr>
          <p:cNvGrpSpPr/>
          <p:nvPr/>
        </p:nvGrpSpPr>
        <p:grpSpPr>
          <a:xfrm>
            <a:off x="6008366" y="3081477"/>
            <a:ext cx="1625766" cy="520147"/>
            <a:chOff x="6008366" y="3081477"/>
            <a:chExt cx="1625766" cy="52014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394284-2D3F-405D-925D-ADC07412499E}"/>
                </a:ext>
              </a:extLst>
            </p:cNvPr>
            <p:cNvSpPr/>
            <p:nvPr/>
          </p:nvSpPr>
          <p:spPr>
            <a:xfrm>
              <a:off x="6008366" y="3081477"/>
              <a:ext cx="13468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Pärn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84AB72-7E8F-4A3B-BB9C-DD76FFB45395}"/>
                </a:ext>
              </a:extLst>
            </p:cNvPr>
            <p:cNvSpPr/>
            <p:nvPr/>
          </p:nvSpPr>
          <p:spPr>
            <a:xfrm>
              <a:off x="6008366" y="3324625"/>
              <a:ext cx="162576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Scientist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B6C102-23E2-DD74-F1BD-5C4B5A3B96FE}"/>
              </a:ext>
            </a:extLst>
          </p:cNvPr>
          <p:cNvGrpSpPr/>
          <p:nvPr/>
        </p:nvGrpSpPr>
        <p:grpSpPr>
          <a:xfrm>
            <a:off x="8624566" y="3081477"/>
            <a:ext cx="1970411" cy="520147"/>
            <a:chOff x="8624566" y="3081477"/>
            <a:chExt cx="1970411" cy="5201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79B844-DDA3-494D-B146-FE8C6214DA8F}"/>
                </a:ext>
              </a:extLst>
            </p:cNvPr>
            <p:cNvSpPr/>
            <p:nvPr/>
          </p:nvSpPr>
          <p:spPr>
            <a:xfrm>
              <a:off x="8624566" y="3081477"/>
              <a:ext cx="13404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Zheng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79BD68-FFDE-4023-BAE9-01FEB71F938D}"/>
                </a:ext>
              </a:extLst>
            </p:cNvPr>
            <p:cNvSpPr/>
            <p:nvPr/>
          </p:nvSpPr>
          <p:spPr>
            <a:xfrm>
              <a:off x="8624566" y="3324625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7E2679-74BE-A7A8-BDCC-7B25BFCC34AC}"/>
              </a:ext>
            </a:extLst>
          </p:cNvPr>
          <p:cNvGrpSpPr/>
          <p:nvPr/>
        </p:nvGrpSpPr>
        <p:grpSpPr>
          <a:xfrm>
            <a:off x="809625" y="5629051"/>
            <a:ext cx="1462260" cy="520147"/>
            <a:chOff x="809625" y="5629051"/>
            <a:chExt cx="1462260" cy="52014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93DDCE-6231-4490-B5FD-4EF08773A0E4}"/>
                </a:ext>
              </a:extLst>
            </p:cNvPr>
            <p:cNvSpPr/>
            <p:nvPr/>
          </p:nvSpPr>
          <p:spPr>
            <a:xfrm>
              <a:off x="809625" y="5629051"/>
              <a:ext cx="14622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Sonkor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46782A-8193-4BF3-80B8-29D3E8DB35C1}"/>
                </a:ext>
              </a:extLst>
            </p:cNvPr>
            <p:cNvSpPr/>
            <p:nvPr/>
          </p:nvSpPr>
          <p:spPr>
            <a:xfrm>
              <a:off x="809625" y="5872199"/>
              <a:ext cx="11993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PhD Student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D39959-F375-07AA-84D7-1F77436E9F9C}"/>
              </a:ext>
            </a:extLst>
          </p:cNvPr>
          <p:cNvGrpSpPr/>
          <p:nvPr/>
        </p:nvGrpSpPr>
        <p:grpSpPr>
          <a:xfrm>
            <a:off x="3408041" y="5629051"/>
            <a:ext cx="2109873" cy="520147"/>
            <a:chOff x="3408041" y="5629051"/>
            <a:chExt cx="2109873" cy="5201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535875-F975-42EB-B979-DD1BE91538EB}"/>
                </a:ext>
              </a:extLst>
            </p:cNvPr>
            <p:cNvSpPr/>
            <p:nvPr/>
          </p:nvSpPr>
          <p:spPr>
            <a:xfrm>
              <a:off x="3408041" y="5629051"/>
              <a:ext cx="21098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(Daniel) Yao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D37AA5-91CC-4B0B-90BA-AE41A14EC302}"/>
                </a:ext>
              </a:extLst>
            </p:cNvPr>
            <p:cNvSpPr/>
            <p:nvPr/>
          </p:nvSpPr>
          <p:spPr>
            <a:xfrm>
              <a:off x="3408041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EB26A7-32DD-3728-48DB-56F2A06010DF}"/>
              </a:ext>
            </a:extLst>
          </p:cNvPr>
          <p:cNvGrpSpPr/>
          <p:nvPr/>
        </p:nvGrpSpPr>
        <p:grpSpPr>
          <a:xfrm>
            <a:off x="6008366" y="5629051"/>
            <a:ext cx="1661032" cy="520147"/>
            <a:chOff x="6008366" y="5629051"/>
            <a:chExt cx="1661032" cy="5201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F09F3B-CE49-45AF-A6F8-E67CA9419BC6}"/>
                </a:ext>
              </a:extLst>
            </p:cNvPr>
            <p:cNvSpPr/>
            <p:nvPr/>
          </p:nvSpPr>
          <p:spPr>
            <a:xfrm>
              <a:off x="6008366" y="5629051"/>
              <a:ext cx="117051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Gopee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D7E7E9-5D34-45CC-B973-67625B7AB433}"/>
                </a:ext>
              </a:extLst>
            </p:cNvPr>
            <p:cNvSpPr/>
            <p:nvPr/>
          </p:nvSpPr>
          <p:spPr>
            <a:xfrm>
              <a:off x="6008366" y="5872199"/>
              <a:ext cx="16610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Assistant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FF77F2-A078-7BDC-DB83-28A69EB6BDCA}"/>
              </a:ext>
            </a:extLst>
          </p:cNvPr>
          <p:cNvGrpSpPr/>
          <p:nvPr/>
        </p:nvGrpSpPr>
        <p:grpSpPr>
          <a:xfrm>
            <a:off x="8624566" y="5629051"/>
            <a:ext cx="1970411" cy="520147"/>
            <a:chOff x="8624566" y="5629051"/>
            <a:chExt cx="1970411" cy="5201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4A10A6D-0062-44C9-A162-BA20F5A56DD3}"/>
                </a:ext>
              </a:extLst>
            </p:cNvPr>
            <p:cNvSpPr/>
            <p:nvPr/>
          </p:nvSpPr>
          <p:spPr>
            <a:xfrm>
              <a:off x="8624566" y="5629051"/>
              <a:ext cx="12602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Wang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31ECE8-A3CD-44D4-B427-F85AE240A6E0}"/>
                </a:ext>
              </a:extLst>
            </p:cNvPr>
            <p:cNvSpPr/>
            <p:nvPr/>
          </p:nvSpPr>
          <p:spPr>
            <a:xfrm>
              <a:off x="8624566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pic>
        <p:nvPicPr>
          <p:cNvPr id="43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4FE99F1C-DB50-45CE-97BF-05B7B231EA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895350" y="1560513"/>
            <a:ext cx="1485900" cy="1373187"/>
          </a:xfrm>
          <a:prstGeom prst="rect">
            <a:avLst/>
          </a:prstGeom>
        </p:spPr>
      </p:pic>
      <p:pic>
        <p:nvPicPr>
          <p:cNvPr id="45" name="Picture 6" descr="Eyob Mengiste, PhD, Instructor and Researcher">
            <a:extLst>
              <a:ext uri="{FF2B5EF4-FFF2-40B4-BE49-F238E27FC236}">
                <a16:creationId xmlns:a16="http://schemas.microsoft.com/office/drawing/2014/main" id="{D99F8848-2751-4123-93E7-AF33C0729C3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F2B1BB0D-2834-4BC3-9358-245C5DCE8D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6099175" y="1560513"/>
            <a:ext cx="1485900" cy="1373187"/>
          </a:xfrm>
          <a:prstGeom prst="rect">
            <a:avLst/>
          </a:prstGeom>
        </p:spPr>
      </p:pic>
      <p:pic>
        <p:nvPicPr>
          <p:cNvPr id="47" name="Picture 10" descr="Zihao Zheng, PhD, Post-Doctoral Associate">
            <a:extLst>
              <a:ext uri="{FF2B5EF4-FFF2-40B4-BE49-F238E27FC236}">
                <a16:creationId xmlns:a16="http://schemas.microsoft.com/office/drawing/2014/main" id="{119B6BFA-9BF3-470D-A3FC-AD41BE48601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8701088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Semih Sonkor, PhD Student, NYUAD">
            <a:extLst>
              <a:ext uri="{FF2B5EF4-FFF2-40B4-BE49-F238E27FC236}">
                <a16:creationId xmlns:a16="http://schemas.microsoft.com/office/drawing/2014/main" id="{FE316733-ED87-41B0-97BE-81C0DA33B857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89535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aniel Yao, PhD Student, NYUAD">
            <a:extLst>
              <a:ext uri="{FF2B5EF4-FFF2-40B4-BE49-F238E27FC236}">
                <a16:creationId xmlns:a16="http://schemas.microsoft.com/office/drawing/2014/main" id="{F369EA2D-EED4-40B4-83CC-1972F4A90933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8" descr="Nas Gopee, Research Assistant">
            <a:extLst>
              <a:ext uri="{FF2B5EF4-FFF2-40B4-BE49-F238E27FC236}">
                <a16:creationId xmlns:a16="http://schemas.microsoft.com/office/drawing/2014/main" id="{94F055F1-330A-4DC2-8E2B-93C9E8FC9DEF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609917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4" descr="Boyu Wang, PhD, Post-Doctoral Associate">
            <a:extLst>
              <a:ext uri="{FF2B5EF4-FFF2-40B4-BE49-F238E27FC236}">
                <a16:creationId xmlns:a16="http://schemas.microsoft.com/office/drawing/2014/main" id="{F1A2C0B5-8243-42AB-85CB-E2C149705103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8701088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7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 Platforms: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Our Robot Fleet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Multi-Agent Robotic Systems: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Data Collection on Site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PACA: Personal Autonomous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Construction Assistant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LISA: Local Intelligent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Safety Assistant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Robotnik SUMMIT-XL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Explorer &amp; 3D Scanner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Omnidirectional mecanum wheels for tight, cluttered rooms.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Ouster OS1 LiDAR (150 m) for SLAM and navigation.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Emesent Hovermap ST: 3D scanning while moving (100 m).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MANET radio (up to 120 Mbps, AES-256) running ROS.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Boston Dynamics Spot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&amp; Spot with Arm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Agile quadruped: stairs, narrow paths, rough ground.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6-DOF arm + gripper: opens doors, moves obstacles.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GPU compute, RGB-zoom/thermal gimbal, 360° camera.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Used in Multi-Agent (RA2), PACA and the Logistics demo.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sp>
        <p:nvSpPr>
          <p:cNvPr id="47" name="Rounded Rectangle 46"/>
          <p:cNvSpPr/>
          <p:nvPr/>
        </p:nvSpPr>
        <p:spPr>
          <a:xfrm>
            <a:off x="274320" y="274320"/>
            <a:ext cx="512064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Spot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749039"/>
            <a:ext cx="1458468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Spot with Arm</a:t>
            </a:r>
          </a:p>
        </p:txBody>
      </p: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Unitree Go2 &amp; Go2-W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Edge-AI Assistants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Go2: compact quadruped with built-in camera and speakers.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Go2-W: wheeled-legged hybrid with a Livox MID-360 LiDAR.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NVIDIA Jetson Orin NX 16 GB runs the LLM on the robot.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Wireless mic and push-to-talk clicker: hands-free control.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sp>
        <p:nvSpPr>
          <p:cNvPr id="47" name="Rounded Rectangle 46"/>
          <p:cNvSpPr/>
          <p:nvPr/>
        </p:nvSpPr>
        <p:spPr>
          <a:xfrm>
            <a:off x="274320" y="274320"/>
            <a:ext cx="406908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Go2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6355080"/>
            <a:ext cx="617220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Go2-W</a:t>
            </a:r>
          </a:p>
        </p:txBody>
      </p: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/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6"/>
            <a:ext cx="2071687" cy="6121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DB5D2A-DA2A-47CC-A84D-EDFCEDD8CB51}"/>
              </a:ext>
            </a:extLst>
          </p:cNvPr>
          <p:cNvSpPr/>
          <p:nvPr/>
        </p:nvSpPr>
        <p:spPr>
          <a:xfrm>
            <a:off x="5060656" y="1524729"/>
            <a:ext cx="6580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spc="-15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8369D-4684-7A40-87D2-09772E4C392A}"/>
              </a:ext>
            </a:extLst>
          </p:cNvPr>
          <p:cNvGrpSpPr/>
          <p:nvPr/>
        </p:nvGrpSpPr>
        <p:grpSpPr>
          <a:xfrm>
            <a:off x="5153254" y="3042843"/>
            <a:ext cx="5437581" cy="1206053"/>
            <a:chOff x="5153254" y="3111556"/>
            <a:chExt cx="5437581" cy="1206053"/>
          </a:xfrm>
        </p:grpSpPr>
        <p:pic>
          <p:nvPicPr>
            <p:cNvPr id="5" name="Picture 4" descr="A person in a suit&#10;&#10;AI-generated content may be incorrect.">
              <a:extLst>
                <a:ext uri="{FF2B5EF4-FFF2-40B4-BE49-F238E27FC236}">
                  <a16:creationId xmlns:a16="http://schemas.microsoft.com/office/drawing/2014/main" id="{CB89E33D-7622-7227-DF06-C36E7DD09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2" t="56" b="-56"/>
            <a:stretch/>
          </p:blipFill>
          <p:spPr>
            <a:xfrm>
              <a:off x="5153254" y="3111556"/>
              <a:ext cx="1221196" cy="1206053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DCD8E3-CEFC-1221-2D91-8553DDE806BD}"/>
                </a:ext>
              </a:extLst>
            </p:cNvPr>
            <p:cNvSpPr txBox="1"/>
            <p:nvPr/>
          </p:nvSpPr>
          <p:spPr>
            <a:xfrm>
              <a:off x="6588889" y="3252917"/>
              <a:ext cx="40019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Borja García de Soto, PhD, PE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Associate Professor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garcia.de.soto@nyu.edu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914E23-EC89-83E1-20D1-79D6C4B46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87" y="6130451"/>
            <a:ext cx="399088" cy="4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Our Robotics Research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Band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multi_hero.jpg"/>
          <p:cNvPicPr>
            <a:picLocks noChangeAspect="1"/>
          </p:cNvPicPr>
          <p:nvPr/>
        </p:nvPicPr>
        <p:blipFill>
          <a:blip r:embed="rId2"/>
          <a:srcRect l="17214" r="17214"/>
          <a:stretch>
            <a:fillRect/>
          </a:stretch>
        </p:blipFill>
        <p:spPr>
          <a:xfrm>
            <a:off x="658368" y="1481328"/>
            <a:ext cx="1865376" cy="1600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85800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Multi-Agent Robotic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Robots and a human split the work to digitize a cluttered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with 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J. Field Robotics 2024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4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paca_hero.jpg"/>
          <p:cNvPicPr>
            <a:picLocks noChangeAspect="1"/>
          </p:cNvPicPr>
          <p:nvPr/>
        </p:nvPicPr>
        <p:blipFill>
          <a:blip r:embed="rId3"/>
          <a:srcRect l="17214" r="17214"/>
          <a:stretch>
            <a:fillRect/>
          </a:stretch>
        </p:blipFill>
        <p:spPr>
          <a:xfrm>
            <a:off x="2907792" y="1481328"/>
            <a:ext cx="1865376" cy="1600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935224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Workers talk to a robot assistant; a cloud multimodal LLM plans its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Spot with 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ICRA 2025 Workshop</a:t>
            </a:r>
          </a:p>
        </p:txBody>
      </p:sp>
      <p:sp>
        <p:nvSpPr>
          <p:cNvPr id="19" name="Chevron 18"/>
          <p:cNvSpPr/>
          <p:nvPr/>
        </p:nvSpPr>
        <p:spPr>
          <a:xfrm>
            <a:off x="4901183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isa_hero.jpg"/>
          <p:cNvPicPr>
            <a:picLocks noChangeAspect="1"/>
          </p:cNvPicPr>
          <p:nvPr/>
        </p:nvPicPr>
        <p:blipFill>
          <a:blip r:embed="rId4"/>
          <a:srcRect l="17214" r="17214"/>
          <a:stretch>
            <a:fillRect/>
          </a:stretch>
        </p:blipFill>
        <p:spPr>
          <a:xfrm>
            <a:off x="5157216" y="1481328"/>
            <a:ext cx="1865376" cy="160020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184648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The same idea running locally: private, offline, speech-driven safety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 · Go2-W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CCC 2025 · AutCon 2026</a:t>
            </a:r>
          </a:p>
        </p:txBody>
      </p:sp>
      <p:sp>
        <p:nvSpPr>
          <p:cNvPr id="27" name="Chevron 26"/>
          <p:cNvSpPr/>
          <p:nvPr/>
        </p:nvSpPr>
        <p:spPr>
          <a:xfrm>
            <a:off x="7150607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s_75_robot.jpg"/>
          <p:cNvPicPr>
            <a:picLocks noChangeAspect="1"/>
          </p:cNvPicPr>
          <p:nvPr/>
        </p:nvPicPr>
        <p:blipFill>
          <a:blip r:embed="rId5"/>
          <a:srcRect t="22200" b="22200"/>
          <a:stretch>
            <a:fillRect/>
          </a:stretch>
        </p:blipFill>
        <p:spPr>
          <a:xfrm>
            <a:off x="7406640" y="1481328"/>
            <a:ext cx="1865376" cy="16002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434071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Schedule-driven robot inspections, from capture to published report.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Go2-W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IROS 2026 Workshop</a:t>
            </a:r>
          </a:p>
        </p:txBody>
      </p:sp>
      <p:sp>
        <p:nvSpPr>
          <p:cNvPr id="35" name="Chevron 34"/>
          <p:cNvSpPr/>
          <p:nvPr/>
        </p:nvSpPr>
        <p:spPr>
          <a:xfrm>
            <a:off x="9400032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46336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el_100.jpg"/>
          <p:cNvPicPr>
            <a:picLocks noChangeAspect="1"/>
          </p:cNvPicPr>
          <p:nvPr/>
        </p:nvPicPr>
        <p:blipFill>
          <a:blip r:embed="rId6"/>
          <a:srcRect l="17214" r="17214"/>
          <a:stretch>
            <a:fillRect/>
          </a:stretch>
        </p:blipFill>
        <p:spPr>
          <a:xfrm>
            <a:off x="9656063" y="1481328"/>
            <a:ext cx="1865376" cy="16002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9683496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6415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Logistics 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1784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Three robots and five people fill delivery orders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1784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· FR3 arm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Lab demonstration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Our Robot Fleet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ROBOTS</a:t>
            </a:r>
          </a:p>
        </p:txBody>
      </p:sp>
      <p:sp>
        <p:nvSpPr>
          <p:cNvPr id="4" name="Band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6372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r_summi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455" y="1481328"/>
            <a:ext cx="1883663" cy="1883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917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SUMMIT-XL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17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Robotnik · omnidirectional wheeled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7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Logistics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400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_spot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13735" y="1481328"/>
            <a:ext cx="1883663" cy="18836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5945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45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Boston Dynamics · agile quadruped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945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945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Logistics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428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r_spotarm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54015" y="1481328"/>
            <a:ext cx="1883663" cy="18836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973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Spot with 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973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6-DOF arm with two-finger gripper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73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973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PACA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456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_go2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94295" y="1481328"/>
            <a:ext cx="1883663" cy="18836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4001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Go2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001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Unitree · compact quadruped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001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001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LISA (2025)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484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r_go2w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634575" y="1481328"/>
            <a:ext cx="1883663" cy="18836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8029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Go2-W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029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Unitree · wheeled-legged 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029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029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LISA (2026) · SiteScope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Sites change every day: clutter, closed doors and materials block a single robot.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3347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3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No single robot can scan, open doors and move obstacles.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649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5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Standard exploration stops when it runs out of frontiers, not when the job is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A team of robots and a human on one shared network, which splits the work, asks each other for help, and uses the BIM to know how much is left to explore.</a:t>
            </a:r>
          </a:p>
        </p:txBody>
      </p:sp>
      <p:pic>
        <p:nvPicPr>
          <p:cNvPr id="13" name="Picture 12" descr="multi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2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robots + human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~80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occluded space digitized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[1] Prieto, Giakoumidis &amp; García de Soto (2024). Journal of Field Robotics 41(4), 1187–1203. doi:10.1002/rob.22316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7315200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3053"/>
            <a:ext cx="7040880" cy="421769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79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19" y="135331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Start in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19" y="1645920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All agents launch at once; agent i is the master.</a:t>
            </a:r>
          </a:p>
        </p:txBody>
      </p:sp>
      <p:sp>
        <p:nvSpPr>
          <p:cNvPr id="9" name="Oval 8"/>
          <p:cNvSpPr/>
          <p:nvPr/>
        </p:nvSpPr>
        <p:spPr>
          <a:xfrm>
            <a:off x="8183879" y="2578608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256032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2852927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Frontier-based exploration maps the site in real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785615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19" y="376732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Ask for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4059935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 blocked agent calls the best-suited agent (i+1 … n).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4992623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497433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Stop using BIM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5266943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Finish when the explored area reaches the BIM floor plan:  φ = ΣPexp / ΣPGT ×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BPMN of the multi-agent methodology [1]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System Components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_summit.jpg"/>
          <p:cNvPicPr>
            <a:picLocks noChangeAspect="1"/>
          </p:cNvPicPr>
          <p:nvPr/>
        </p:nvPicPr>
        <p:blipFill>
          <a:blip r:embed="rId2"/>
          <a:srcRect t="26093" b="26093"/>
          <a:stretch>
            <a:fillRect/>
          </a:stretch>
        </p:blipFill>
        <p:spPr>
          <a:xfrm>
            <a:off x="658368" y="1435608"/>
            <a:ext cx="3346704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RA1 · SUMMIT-XL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Explores and scans: builds the navigation map and the 3D point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r_spotarm.jpg"/>
          <p:cNvPicPr>
            <a:picLocks noChangeAspect="1"/>
          </p:cNvPicPr>
          <p:nvPr/>
        </p:nvPicPr>
        <p:blipFill>
          <a:blip r:embed="rId3"/>
          <a:srcRect t="26093" b="26093"/>
          <a:stretch>
            <a:fillRect/>
          </a:stretch>
        </p:blipFill>
        <p:spPr>
          <a:xfrm>
            <a:off x="4407407" y="1435608"/>
            <a:ext cx="3346704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59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RA2 · Spot with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Assists: opens doors and removes obstacles that block RA1.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_click.jpg"/>
          <p:cNvPicPr>
            <a:picLocks noChangeAspect="1"/>
          </p:cNvPicPr>
          <p:nvPr/>
        </p:nvPicPr>
        <p:blipFill>
          <a:blip r:embed="rId4"/>
          <a:srcRect t="22869" b="22869"/>
          <a:stretch>
            <a:fillRect/>
          </a:stretch>
        </p:blipFill>
        <p:spPr>
          <a:xfrm>
            <a:off x="8156447" y="1435608"/>
            <a:ext cx="3346704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599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Human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Supervises remotely and marks a grasp point when the robot 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58978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f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45996"/>
            <a:ext cx="1783080" cy="1505902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2542032" y="5166360"/>
            <a:ext cx="274320" cy="228600"/>
          </a:xfrm>
          <a:prstGeom prst="rightArrow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_ifcbi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101" y="4544568"/>
            <a:ext cx="1755597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80" y="4572000"/>
            <a:ext cx="1600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BIM → ground truth</a:t>
            </a:r>
          </a:p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IFC floor plan sliced into a free-space map for the stopping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4434840"/>
            <a:ext cx="5010912" cy="1874519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One shared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5604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MANET radios: 2.42 GHz · 3×3 MIMO · AES-256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ROS master links all agents and the control station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Custom help-request topic dispatches the right agent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m_ma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40623"/>
            <a:ext cx="1965960" cy="2330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49.5%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Exploring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_ma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452346"/>
            <a:ext cx="1965960" cy="23073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84.5%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Blocked: help requested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_ma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1429873"/>
            <a:ext cx="1965960" cy="23523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57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95.8%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Path cleared: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4096512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635240" y="1417320"/>
          <a:ext cx="3913632" cy="3429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Why the BIM matters: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standard exploration would have stopped at 84.5%, with no frontiers left. Because the explored area was compared with the BIM, the system knew a room was missing and called Spot to clear the way.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Collaboration &amp; Output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pic>
        <p:nvPicPr>
          <p:cNvPr id="4" name="Picture 3" descr="m_click.jpg"/>
          <p:cNvPicPr>
            <a:picLocks noChangeAspect="1"/>
          </p:cNvPicPr>
          <p:nvPr/>
        </p:nvPicPr>
        <p:blipFill>
          <a:blip r:embed="rId2"/>
          <a:srcRect t="12171" b="12171"/>
          <a:stretch>
            <a:fillRect/>
          </a:stretch>
        </p:blipFill>
        <p:spPr>
          <a:xfrm>
            <a:off x="548640" y="1325880"/>
            <a:ext cx="2743200" cy="1828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278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Human marks the grasp point remotely</a:t>
            </a:r>
          </a:p>
        </p:txBody>
      </p:sp>
      <p:pic>
        <p:nvPicPr>
          <p:cNvPr id="7" name="Picture 6" descr="m_grasp1.jpg"/>
          <p:cNvPicPr>
            <a:picLocks noChangeAspect="1"/>
          </p:cNvPicPr>
          <p:nvPr/>
        </p:nvPicPr>
        <p:blipFill>
          <a:blip r:embed="rId3"/>
          <a:srcRect t="5612" b="5612"/>
          <a:stretch>
            <a:fillRect/>
          </a:stretch>
        </p:blipFill>
        <p:spPr>
          <a:xfrm>
            <a:off x="3474720" y="1325880"/>
            <a:ext cx="2743200" cy="18288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56616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278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Spot grasps the obstacle</a:t>
            </a:r>
          </a:p>
        </p:txBody>
      </p:sp>
      <p:pic>
        <p:nvPicPr>
          <p:cNvPr id="10" name="Picture 9" descr="m_grasp2.jpg"/>
          <p:cNvPicPr>
            <a:picLocks noChangeAspect="1"/>
          </p:cNvPicPr>
          <p:nvPr/>
        </p:nvPicPr>
        <p:blipFill>
          <a:blip r:embed="rId4"/>
          <a:srcRect t="5499" b="5499"/>
          <a:stretch>
            <a:fillRect/>
          </a:stretch>
        </p:blipFill>
        <p:spPr>
          <a:xfrm>
            <a:off x="548640" y="3840480"/>
            <a:ext cx="2743200" cy="18288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39319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…and clears the doorway</a:t>
            </a:r>
          </a:p>
        </p:txBody>
      </p:sp>
      <p:pic>
        <p:nvPicPr>
          <p:cNvPr id="13" name="Picture 12" descr="m_rescue.jpg"/>
          <p:cNvPicPr>
            <a:picLocks noChangeAspect="1"/>
          </p:cNvPicPr>
          <p:nvPr/>
        </p:nvPicPr>
        <p:blipFill>
          <a:blip r:embed="rId5"/>
          <a:srcRect t="5520" b="5520"/>
          <a:stretch>
            <a:fillRect/>
          </a:stretch>
        </p:blipFill>
        <p:spPr>
          <a:xfrm>
            <a:off x="3474720" y="3840480"/>
            <a:ext cx="2743200" cy="18288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566160" y="39319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742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SUMMIT-XL resumes exploring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325880"/>
            <a:ext cx="5285232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p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214" y="1463040"/>
            <a:ext cx="4468963" cy="3291840"/>
          </a:xfrm>
          <a:prstGeom prst="rect">
            <a:avLst/>
          </a:prstGeom>
        </p:spPr>
      </p:pic>
      <p:pic>
        <p:nvPicPr>
          <p:cNvPr id="18" name="Picture 17" descr="m_pct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499" y="4800600"/>
            <a:ext cx="171884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8920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Output</a:t>
            </a:r>
          </a:p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Registered 3D point cloud of the whole space, plus the global map, from a single mission.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multi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two robots and a remote human agent digitize an occluded space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Most site workers have no training in robotics.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19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32887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Tablets and programming interfaces don't work well on site.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18687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91255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Multinational crews need to be understood in their own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Workers simply talk to the robot. A multimodal LLM understands the request, looks at the scene when needed, answers by voice, and turns intent into robot actions.</a:t>
            </a:r>
          </a:p>
        </p:txBody>
      </p:sp>
      <p:pic>
        <p:nvPicPr>
          <p:cNvPr id="13" name="Picture 12" descr="paca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in and out, any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image-based reasoning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[2] Prieto &amp; García de Soto (2025). PACA. 4th Future of Construction Workshop, IEEE ICRA 2025 (construction-robots.github.io/papers/112.pdf)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84632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p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80" y="1417320"/>
            <a:ext cx="4302239" cy="4754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76072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35331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645920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The worker presses a button and talks; a hard-hat microphone captures the audio.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532888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51460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807208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Speech-to-text (whisper-1) feeds a multimodal LLM (gpt-4-turbo) whose system prompt lists the tasks and the robot API.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3694176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67588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68496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When needed, the arm camera takes a picture for image-based reasoning.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4855464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837176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Act and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129784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Outputs are parsed into Spot API actions; text-to-speech (tts-1) streams the reply.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Implementation on Spot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4612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aca_sp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22100"/>
            <a:ext cx="3063240" cy="35565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639" y="1325880"/>
            <a:ext cx="3749039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aca_h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612244"/>
            <a:ext cx="3566160" cy="31763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38928"/>
            <a:ext cx="7178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Spot with Arm carrying the PACA payload [2]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325880"/>
            <a:ext cx="3639312" cy="237744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Jetson Orin NX 16 GB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Hard-hat mic + wireless receiver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Speaker · arm RGB camera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Insta360 X4 · remote 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886200"/>
            <a:ext cx="363931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891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ASR: whisper-1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LLM: gpt-4-turbo (cloud)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TTS: tts-1, streamed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Boston Dynamics Python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7178040" cy="73152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Robot actions: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go to inventory · go to worker · take picture · pick up tool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Case Study: Fetching a Tool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pic>
        <p:nvPicPr>
          <p:cNvPr id="4" name="Picture 3" descr="paca_s26.jpg"/>
          <p:cNvPicPr>
            <a:picLocks noChangeAspect="1"/>
          </p:cNvPicPr>
          <p:nvPr/>
        </p:nvPicPr>
        <p:blipFill>
          <a:blip r:embed="rId2"/>
          <a:srcRect t="41" b="41"/>
          <a:stretch>
            <a:fillRect/>
          </a:stretch>
        </p:blipFill>
        <p:spPr>
          <a:xfrm>
            <a:off x="548640" y="1325880"/>
            <a:ext cx="3566160" cy="200253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A worker asks PACA for a box cutter.</a:t>
            </a:r>
          </a:p>
        </p:txBody>
      </p:sp>
      <p:pic>
        <p:nvPicPr>
          <p:cNvPr id="7" name="Picture 6" descr="paca_s79.jpg"/>
          <p:cNvPicPr>
            <a:picLocks noChangeAspect="1"/>
          </p:cNvPicPr>
          <p:nvPr/>
        </p:nvPicPr>
        <p:blipFill>
          <a:blip r:embed="rId3"/>
          <a:srcRect t="41" b="41"/>
          <a:stretch>
            <a:fillRect/>
          </a:stretch>
        </p:blipFill>
        <p:spPr>
          <a:xfrm>
            <a:off x="4311396" y="1325880"/>
            <a:ext cx="3566160" cy="200253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402836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1396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Wrong tool shown: PACA sees pliers and asks again.</a:t>
            </a:r>
          </a:p>
        </p:txBody>
      </p:sp>
      <p:pic>
        <p:nvPicPr>
          <p:cNvPr id="10" name="Picture 9" descr="paca_s116.jpg"/>
          <p:cNvPicPr>
            <a:picLocks noChangeAspect="1"/>
          </p:cNvPicPr>
          <p:nvPr/>
        </p:nvPicPr>
        <p:blipFill>
          <a:blip r:embed="rId4"/>
          <a:srcRect t="41" b="41"/>
          <a:stretch>
            <a:fillRect/>
          </a:stretch>
        </p:blipFill>
        <p:spPr>
          <a:xfrm>
            <a:off x="8074152" y="1325880"/>
            <a:ext cx="3566160" cy="200253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165592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The right tool is shown and confirmed.</a:t>
            </a:r>
          </a:p>
        </p:txBody>
      </p:sp>
      <p:pic>
        <p:nvPicPr>
          <p:cNvPr id="13" name="Picture 12" descr="paca_s146.jpg"/>
          <p:cNvPicPr>
            <a:picLocks noChangeAspect="1"/>
          </p:cNvPicPr>
          <p:nvPr/>
        </p:nvPicPr>
        <p:blipFill>
          <a:blip r:embed="rId5"/>
          <a:srcRect t="41" b="41"/>
          <a:stretch>
            <a:fillRect/>
          </a:stretch>
        </p:blipFill>
        <p:spPr>
          <a:xfrm>
            <a:off x="548640" y="3986784"/>
            <a:ext cx="3566160" cy="2002536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40080" y="4078224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624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PACA asks the manager to hold it out and grasps it.</a:t>
            </a:r>
          </a:p>
        </p:txBody>
      </p:sp>
      <p:pic>
        <p:nvPicPr>
          <p:cNvPr id="16" name="Picture 15" descr="paca_s214.jpg"/>
          <p:cNvPicPr>
            <a:picLocks noChangeAspect="1"/>
          </p:cNvPicPr>
          <p:nvPr/>
        </p:nvPicPr>
        <p:blipFill>
          <a:blip r:embed="rId6"/>
          <a:srcRect t="41" b="41"/>
          <a:stretch>
            <a:fillRect/>
          </a:stretch>
        </p:blipFill>
        <p:spPr>
          <a:xfrm>
            <a:off x="4311396" y="3986784"/>
            <a:ext cx="3566160" cy="2002536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402836" y="4078224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1396" y="60624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The tool is delivered back to the worker.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986783"/>
            <a:ext cx="3566160" cy="2459736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2752" y="41239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535423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Dialogue with two people: worker and inventory manager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Vision rejects the wrong tool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Next: cloud dependency adds latency, which led to LISA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ac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PACA fetches a tool for a worker through spoken dialogue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Cloud LLMs need a stable connection, which construction sites rarely have.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3347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3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Latency: cloud replies took over 45 s on low bandwidth.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649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5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Site images and workers' voices are sensitive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Run speech, vision and the LLM on site, on the robot or a nearby edge server, so the assistant keeps working offline and data never leaves the site.</a:t>
            </a:r>
          </a:p>
        </p:txBody>
      </p:sp>
      <p:pic>
        <p:nvPicPr>
          <p:cNvPr id="13" name="Picture 12" descr="lisa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&gt; 45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cloud reply, low bandwidth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5–10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LISA reply, fully on-device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[3] Gopee, Prieto &amp; García de Soto (2025). CCC 2025. doi:10.22260/CCC2025/0041   [4] Gopee, Prieto &amp; García de Soto (2026). Autom. Constr. 183, 106805. doi:10.1016/j.autcon.2026.106805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7726679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l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00002"/>
            <a:ext cx="7507224" cy="3995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Five robot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navigate_to(location)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258568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0" y="225856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take_picture()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734056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0" y="273405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analyze_image()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209544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0" y="32095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speak(text)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685031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0" y="368503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activate_safety_protocol()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4251959"/>
            <a:ext cx="3090672" cy="14173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32520" y="434339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ontserrat"/>
              </a:rPr>
              <a:t>Guardrails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Every call is checked against a fixed schema before it runs; anything invalid falls back to dialogue.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7726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BPMN of the LISA framework; navigation runs through ROS 2 (Nav2 + AMCL) [4]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v1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Fully On-Device on Go2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2578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cc_h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0351"/>
            <a:ext cx="5074920" cy="2005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Everything runs on the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62272"/>
            <a:ext cx="1214323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2143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Gemma 3 12B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2691" y="4462272"/>
            <a:ext cx="1841601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72691" y="4462272"/>
            <a:ext cx="18416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Whisper base (ASR)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4020" y="4462272"/>
            <a:ext cx="1035100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24020" y="4462272"/>
            <a:ext cx="10351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Piper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2020824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Jetson Orin NX 16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2" y="4937760"/>
            <a:ext cx="1303934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79192" y="4937760"/>
            <a:ext cx="13039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Push-to-talk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5–10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1616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typical spoken reply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534924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29000" y="54406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91616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cloud calls</a:t>
            </a:r>
          </a:p>
        </p:txBody>
      </p:sp>
      <p:pic>
        <p:nvPicPr>
          <p:cNvPr id="23" name="Picture 22" descr="ccc_p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7036"/>
            <a:ext cx="5559552" cy="2100807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80760" y="3657600"/>
          <a:ext cx="5559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993392"/>
                <a:gridCol w="19659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Activity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Required PPE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LISA's verdict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Cutting wood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gloves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Montserrat"/>
                        </a:rPr>
                        <a:t>✓ Compliant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Aerosol use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mask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Montserrat"/>
                        </a:rPr>
                        <a:t>✗ Missing hard hat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Climbing ladder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harness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Montserrat"/>
                        </a:rPr>
                        <a:t>✗ Missing vest, harness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80760" y="5943600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PPE compliance test: images captured by the Go2's own camera [3]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On-Robot vs. Edge Server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_go2w_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48109"/>
            <a:ext cx="5212080" cy="19329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325880"/>
            <a:ext cx="2688336" cy="2377440"/>
          </a:xfrm>
          <a:prstGeom prst="rect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55080" y="1444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ON-ROBOT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5B0F8B"/>
                </a:solidFill>
                <a:latin typeface="Montserrat"/>
              </a:rPr>
              <a:t>Gemma 3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Jetson Orin NX 16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Works fully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1976" y="1325880"/>
            <a:ext cx="2688336" cy="237744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34855" y="1444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EDGE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5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Gemma 3 27B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855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RTX 4090 workstation, same 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More reasoning; data stays on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Four workflows of increasing complexity  ·  2 models × 4 experiments × 5 runs = 40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 · Exp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“Go to the work area.”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A single navigation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47872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“Inspect the work area.”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Navigate, photo, analyze, speak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64224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“Inspect and report back at the station.”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Adds a return trip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80576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PPE violation detected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Warn worker, fetch hard hat, report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40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257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99632" y="1325880"/>
            <a:ext cx="5440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91072" y="1417320"/>
          <a:ext cx="52578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2.45–3.18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faster per step with 27B (p &lt; 0.001)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9704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27B success, 0 extra steps, all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76.5%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4B success in Exp 4, with 46% more steps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Where Each Model Wins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263640" y="1325880"/>
            <a:ext cx="5376672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lisa_waypoi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70160"/>
            <a:ext cx="5193792" cy="2043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3721608"/>
            <a:ext cx="5376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Go2-W at the station, storage area and work area during the tests [4]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4160520"/>
            <a:ext cx="5376672" cy="21031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Takeaway: hybrid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709160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Send vision tasks to the 27B edge model (about 2.7× faster).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Keep the 4B model on the robot for navigation and as an offline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Image tasks: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2.79 s vs 7.67 s.  </a:t>
            </a:r>
            <a:r>
              <a:rPr sz="1200" b="1" i="0">
                <a:solidFill>
                  <a:srgbClr val="5B0F8B"/>
                </a:solidFill>
                <a:latin typeface="Montserrat"/>
              </a:rPr>
              <a:t>Navigation: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3.24 s vs 4.73 s; the 4B model was faster in one case.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lis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LISA runs a PPE safety check entirely on the Go2, with no cloud connection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44168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Prieto, S. A., Giakoumidis, N., &amp; García de Soto, B. (2024). Multiagent robotic systems and exploration algorithms: Applications for data collection in construction sites. Journal of Field Robotics, 41(4), 1187–1203.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https://doi.org/10.1002/rob.22316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32888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Prieto, S. A., &amp; García de Soto, B. (2025). PACA: A Personal Autonomous Construction Assistant to facilitate human-robot interaction. 4th Workshop on the Future of Construction, IEEE ICRA 2025, Atlanta, USA.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No DOI · https://construction-robots.github.io/papers/112.pdf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749039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21607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Gopee, M. A., Prieto, S. A., &amp; García de Soto, B. (2025). Enhancing human-machine interaction with on-device large language models in construction robotics: A case study on safety applications. Proc. Creative Construction Conference 2025.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https://doi.org/10.22260/CCC2025/0041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937759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910327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Gopee, M. A., Prieto, S. A., &amp; García de Soto, B. (2026). Self-hosted multimodal large language models for speech-driven perception and navigation in construction robotics. Automation in Construction, 183, 106805.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https://doi.org/10.1016/j.autcon.2026.106805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0F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42">
      <a:majorFont>
        <a:latin typeface="Montserrat"/>
        <a:ea typeface=""/>
        <a:cs typeface=""/>
      </a:majorFont>
      <a:minorFont>
        <a:latin typeface="Montserrat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3944</Words>
  <Application>Microsoft Office PowerPoint</Application>
  <PresentationFormat>Widescreen</PresentationFormat>
  <Paragraphs>765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Montserrat Medium</vt:lpstr>
      <vt:lpstr>Arial</vt:lpstr>
      <vt:lpstr>Calibri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Aklile Tilahun Mengiste</cp:lastModifiedBy>
  <cp:revision>109</cp:revision>
  <dcterms:created xsi:type="dcterms:W3CDTF">2026-02-21T11:05:10Z</dcterms:created>
  <dcterms:modified xsi:type="dcterms:W3CDTF">2026-10-24T11:51:51Z</dcterms:modified>
</cp:coreProperties>
</file>